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447" r:id="rId6"/>
    <p:sldId id="448" r:id="rId7"/>
    <p:sldId id="449" r:id="rId8"/>
    <p:sldId id="450" r:id="rId9"/>
    <p:sldId id="451" r:id="rId10"/>
    <p:sldId id="452" r:id="rId11"/>
    <p:sldId id="453" r:id="rId12"/>
    <p:sldId id="454" r:id="rId13"/>
    <p:sldId id="455" r:id="rId14"/>
    <p:sldId id="456" r:id="rId15"/>
    <p:sldId id="457" r:id="rId16"/>
    <p:sldId id="458" r:id="rId17"/>
    <p:sldId id="459" r:id="rId18"/>
    <p:sldId id="460" r:id="rId19"/>
    <p:sldId id="461" r:id="rId20"/>
    <p:sldId id="462" r:id="rId21"/>
    <p:sldId id="463" r:id="rId22"/>
    <p:sldId id="464" r:id="rId23"/>
    <p:sldId id="465" r:id="rId24"/>
    <p:sldId id="466" r:id="rId25"/>
    <p:sldId id="321" r:id="rId26"/>
    <p:sldId id="322" r:id="rId27"/>
    <p:sldId id="281" r:id="rId28"/>
  </p:sldIdLst>
  <p:sldSz cx="12192000" cy="6858000"/>
  <p:notesSz cx="6858000" cy="9144000"/>
  <p:custDataLst>
    <p:tags r:id="rId3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需要涉及的要点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第一课时</a:t>
            </a:r>
            <a:r>
              <a:rPr lang="en-US" altLang="zh-CN"/>
              <a:t>：</a:t>
            </a:r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的逐渐演化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由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AI/ML workload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引导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逐渐展示出多种多样的架构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如华为达芬奇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、AMD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等等</a:t>
            </a:r>
            <a:endParaRPr lang="zh-CN" altLang="en-US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第二课时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互联的硬件基础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core、Tensor core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的编程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可能还需要涉及的点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课程整体设计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（Syllabus、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各个模块的内容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根据教学大纲生成了个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的图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）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图片来源：Triton 官方文档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图片来源：向量加法并行计算示意图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图片来源：Triton 官方文档 https://triton-lang.org/main/python-api/generated/triton.language.load.html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99A1AF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图片来源：Triton 官方文档 https://triton-lang.org/main/python-api/generated/triton.language.store.html</a:t>
            </a:r>
            <a:endParaRPr lang="en-US" sz="1200" b="0" i="0" u="none" strike="noStrike">
              <a:solidFill>
                <a:srgbClr val="99A1AF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sz="3200" b="1" i="0" u="none" strike="noStrik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  <a:endParaRPr lang="en-US" sz="2400" b="0" i="0" u="none" strike="noStrike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  <a:sym typeface="Calibri Light" panose="020F03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people/95-22-20-18/posts" TargetMode="External"/><Relationship Id="rId8" Type="http://schemas.openxmlformats.org/officeDocument/2006/relationships/hyperlink" Target="https://space.bilibili.com/3546791834290849" TargetMode="External"/><Relationship Id="rId7" Type="http://schemas.openxmlformats.org/officeDocument/2006/relationships/hyperlink" Target="https://github.com/flagos-ai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16.png"/><Relationship Id="rId11" Type="http://schemas.openxmlformats.org/officeDocument/2006/relationships/image" Target="../media/image15.jpeg"/><Relationship Id="rId10" Type="http://schemas.openxmlformats.org/officeDocument/2006/relationships/hyperlink" Target="https://flagos.io/Home" TargetMode="Externa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1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  <a:endParaRPr lang="en-US" sz="4000" b="0" i="0" u="none" strike="noStrike">
              <a:solidFill>
                <a:srgbClr val="44546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06: Vector Computation Basics </a:t>
            </a:r>
            <a:b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b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3600" b="0" i="0" u="none" strike="noStrike">
                <a:solidFill>
                  <a:srgbClr val="76717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Vector Add in Triton</a:t>
            </a:r>
            <a:endParaRPr lang="en-US" sz="3600" b="0" i="0" u="none" strike="noStrike">
              <a:solidFill>
                <a:srgbClr val="76717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800225" y="4846638"/>
            <a:ext cx="10391775" cy="4746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767171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767171"/>
              </a:buClr>
              <a:buChar char="•"/>
            </a:pPr>
            <a:r>
              <a:rPr lang="en-US" sz="2000" b="0" i="0" u="none" strike="noStrike">
                <a:solidFill>
                  <a:srgbClr val="767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Understanding the GPU Kernel Execution Model and Triton Programming Model</a:t>
            </a:r>
            <a:endParaRPr lang="en-US" sz="2000" b="0" i="0" u="none" strike="noStrike">
              <a:solidFill>
                <a:srgbClr val="7671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5528" y="60937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Starting with Vector Add 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471854" y="2202376"/>
            <a:ext cx="5720146" cy="2693813"/>
            <a:chOff x="6471854" y="2202376"/>
            <a:chExt cx="5720146" cy="2693813"/>
          </a:xfrm>
        </p:grpSpPr>
        <p:sp>
          <p:nvSpPr>
            <p:cNvPr id="4" name="Freeform 4"/>
            <p:cNvSpPr/>
            <p:nvPr/>
          </p:nvSpPr>
          <p:spPr>
            <a:xfrm>
              <a:off x="6518271" y="2202376"/>
              <a:ext cx="445602" cy="457200"/>
            </a:xfrm>
            <a:custGeom>
              <a:avLst/>
              <a:gdLst/>
              <a:ahLst/>
              <a:cxnLst/>
              <a:rect l="l" t="t" r="r" b="b"/>
              <a:pathLst>
                <a:path w="445602" h="457200">
                  <a:moveTo>
                    <a:pt x="74268" y="0"/>
                  </a:moveTo>
                  <a:lnTo>
                    <a:pt x="371333" y="0"/>
                  </a:lnTo>
                  <a:cubicBezTo>
                    <a:pt x="412323" y="0"/>
                    <a:pt x="445602" y="34145"/>
                    <a:pt x="445602" y="76203"/>
                  </a:cubicBezTo>
                  <a:lnTo>
                    <a:pt x="445602" y="380997"/>
                  </a:lnTo>
                  <a:cubicBezTo>
                    <a:pt x="445602" y="423055"/>
                    <a:pt x="412323" y="457200"/>
                    <a:pt x="371333" y="457200"/>
                  </a:cubicBezTo>
                  <a:lnTo>
                    <a:pt x="74268" y="457200"/>
                  </a:lnTo>
                  <a:cubicBezTo>
                    <a:pt x="33279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3279" y="0"/>
                    <a:pt x="74268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6471854" y="2202376"/>
              <a:ext cx="538435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7112336" y="2202376"/>
              <a:ext cx="4845918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Parallel Task Partitioning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7112336" y="2545273"/>
              <a:ext cx="5079664" cy="5619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Decompose large-scale vector addition into multiple independent subtasks, each processing a portion of the data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518271" y="3331100"/>
              <a:ext cx="445602" cy="457200"/>
            </a:xfrm>
            <a:custGeom>
              <a:avLst/>
              <a:gdLst/>
              <a:ahLst/>
              <a:cxnLst/>
              <a:rect l="l" t="t" r="r" b="b"/>
              <a:pathLst>
                <a:path w="445602" h="457200">
                  <a:moveTo>
                    <a:pt x="74268" y="0"/>
                  </a:moveTo>
                  <a:lnTo>
                    <a:pt x="371333" y="0"/>
                  </a:lnTo>
                  <a:cubicBezTo>
                    <a:pt x="412323" y="0"/>
                    <a:pt x="445602" y="34145"/>
                    <a:pt x="445602" y="76203"/>
                  </a:cubicBezTo>
                  <a:lnTo>
                    <a:pt x="445602" y="380997"/>
                  </a:lnTo>
                  <a:cubicBezTo>
                    <a:pt x="445602" y="423055"/>
                    <a:pt x="412323" y="457200"/>
                    <a:pt x="371333" y="457200"/>
                  </a:cubicBezTo>
                  <a:lnTo>
                    <a:pt x="74268" y="457200"/>
                  </a:lnTo>
                  <a:cubicBezTo>
                    <a:pt x="33279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3279" y="0"/>
                    <a:pt x="74268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471854" y="3331100"/>
              <a:ext cx="538435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112336" y="3331100"/>
              <a:ext cx="3871164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Memory Access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112336" y="3673997"/>
              <a:ext cx="4756453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Understand GPU global memory read/write patterns and optimize memory access efficiency</a:t>
              </a: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518271" y="4243633"/>
              <a:ext cx="445602" cy="457200"/>
            </a:xfrm>
            <a:custGeom>
              <a:avLst/>
              <a:gdLst/>
              <a:ahLst/>
              <a:cxnLst/>
              <a:rect l="l" t="t" r="r" b="b"/>
              <a:pathLst>
                <a:path w="445602" h="457200">
                  <a:moveTo>
                    <a:pt x="74268" y="0"/>
                  </a:moveTo>
                  <a:lnTo>
                    <a:pt x="371333" y="0"/>
                  </a:lnTo>
                  <a:cubicBezTo>
                    <a:pt x="412323" y="0"/>
                    <a:pt x="445602" y="34145"/>
                    <a:pt x="445602" y="76203"/>
                  </a:cubicBezTo>
                  <a:lnTo>
                    <a:pt x="445602" y="380997"/>
                  </a:lnTo>
                  <a:cubicBezTo>
                    <a:pt x="445602" y="423055"/>
                    <a:pt x="412323" y="457200"/>
                    <a:pt x="371333" y="457200"/>
                  </a:cubicBezTo>
                  <a:lnTo>
                    <a:pt x="74268" y="457200"/>
                  </a:lnTo>
                  <a:cubicBezTo>
                    <a:pt x="33279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3279" y="0"/>
                    <a:pt x="74268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471854" y="4181197"/>
              <a:ext cx="538435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3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056706" y="4243633"/>
              <a:ext cx="310064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Bounds Control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112336" y="4619964"/>
              <a:ext cx="4916013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Handle data block boundary cases to ensure safe program execution</a:t>
              </a:r>
              <a:endParaRPr lang="en-US" sz="11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94462" y="2084135"/>
            <a:ext cx="5486400" cy="3169061"/>
            <a:chOff x="494462" y="2084135"/>
            <a:chExt cx="5486400" cy="3169061"/>
          </a:xfrm>
        </p:grpSpPr>
        <p:sp>
          <p:nvSpPr>
            <p:cNvPr id="17" name="Freeform 17"/>
            <p:cNvSpPr/>
            <p:nvPr/>
          </p:nvSpPr>
          <p:spPr>
            <a:xfrm>
              <a:off x="494462" y="2084135"/>
              <a:ext cx="5486400" cy="3169061"/>
            </a:xfrm>
            <a:custGeom>
              <a:avLst/>
              <a:gdLst/>
              <a:ahLst/>
              <a:cxnLst/>
              <a:rect l="l" t="t" r="r" b="b"/>
              <a:pathLst>
                <a:path w="5486400" h="3169061">
                  <a:moveTo>
                    <a:pt x="114306" y="0"/>
                  </a:moveTo>
                  <a:lnTo>
                    <a:pt x="5372094" y="0"/>
                  </a:lnTo>
                  <a:cubicBezTo>
                    <a:pt x="5435223" y="0"/>
                    <a:pt x="5486400" y="55463"/>
                    <a:pt x="5486400" y="123878"/>
                  </a:cubicBezTo>
                  <a:lnTo>
                    <a:pt x="5486400" y="3045183"/>
                  </a:lnTo>
                  <a:cubicBezTo>
                    <a:pt x="5486400" y="3113599"/>
                    <a:pt x="5435223" y="3169061"/>
                    <a:pt x="5372094" y="3169061"/>
                  </a:cubicBezTo>
                  <a:lnTo>
                    <a:pt x="114306" y="3169061"/>
                  </a:lnTo>
                  <a:cubicBezTo>
                    <a:pt x="51177" y="3169061"/>
                    <a:pt x="0" y="3113599"/>
                    <a:pt x="0" y="3045183"/>
                  </a:cubicBezTo>
                  <a:lnTo>
                    <a:pt x="0" y="123878"/>
                  </a:lnTo>
                  <a:cubicBezTo>
                    <a:pt x="0" y="55463"/>
                    <a:pt x="51177" y="0"/>
                    <a:pt x="114306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951962" y="2412365"/>
              <a:ext cx="571500" cy="623475"/>
            </a:xfrm>
            <a:custGeom>
              <a:avLst/>
              <a:gdLst/>
              <a:ahLst/>
              <a:cxnLst/>
              <a:rect l="l" t="t" r="r" b="b"/>
              <a:pathLst>
                <a:path w="571500" h="623475">
                  <a:moveTo>
                    <a:pt x="259519" y="8347"/>
                  </a:moveTo>
                  <a:cubicBezTo>
                    <a:pt x="276151" y="0"/>
                    <a:pt x="295349" y="0"/>
                    <a:pt x="311981" y="8347"/>
                  </a:cubicBezTo>
                  <a:lnTo>
                    <a:pt x="555984" y="130526"/>
                  </a:lnTo>
                  <a:cubicBezTo>
                    <a:pt x="565473" y="135244"/>
                    <a:pt x="571500" y="145526"/>
                    <a:pt x="571500" y="156897"/>
                  </a:cubicBezTo>
                  <a:cubicBezTo>
                    <a:pt x="571500" y="168268"/>
                    <a:pt x="565473" y="178550"/>
                    <a:pt x="555984" y="183268"/>
                  </a:cubicBezTo>
                  <a:lnTo>
                    <a:pt x="311981" y="305447"/>
                  </a:lnTo>
                  <a:cubicBezTo>
                    <a:pt x="295349" y="313795"/>
                    <a:pt x="276151" y="313795"/>
                    <a:pt x="259519" y="305447"/>
                  </a:cubicBezTo>
                  <a:lnTo>
                    <a:pt x="15516" y="183268"/>
                  </a:lnTo>
                  <a:cubicBezTo>
                    <a:pt x="6027" y="178431"/>
                    <a:pt x="0" y="168148"/>
                    <a:pt x="0" y="156897"/>
                  </a:cubicBezTo>
                  <a:cubicBezTo>
                    <a:pt x="0" y="145647"/>
                    <a:pt x="6027" y="135244"/>
                    <a:pt x="15516" y="130526"/>
                  </a:cubicBezTo>
                  <a:lnTo>
                    <a:pt x="259519" y="8347"/>
                  </a:lnTo>
                  <a:close/>
                  <a:moveTo>
                    <a:pt x="53691" y="266253"/>
                  </a:moveTo>
                  <a:lnTo>
                    <a:pt x="237084" y="358068"/>
                  </a:lnTo>
                  <a:cubicBezTo>
                    <a:pt x="268002" y="373552"/>
                    <a:pt x="303609" y="373552"/>
                    <a:pt x="334528" y="358068"/>
                  </a:cubicBezTo>
                  <a:lnTo>
                    <a:pt x="517923" y="266253"/>
                  </a:lnTo>
                  <a:lnTo>
                    <a:pt x="555984" y="285367"/>
                  </a:lnTo>
                  <a:cubicBezTo>
                    <a:pt x="565473" y="290084"/>
                    <a:pt x="571500" y="300367"/>
                    <a:pt x="571500" y="311738"/>
                  </a:cubicBezTo>
                  <a:cubicBezTo>
                    <a:pt x="571500" y="323108"/>
                    <a:pt x="565473" y="333391"/>
                    <a:pt x="555984" y="338108"/>
                  </a:cubicBezTo>
                  <a:lnTo>
                    <a:pt x="311981" y="460288"/>
                  </a:lnTo>
                  <a:cubicBezTo>
                    <a:pt x="295349" y="468635"/>
                    <a:pt x="276151" y="468635"/>
                    <a:pt x="259519" y="460288"/>
                  </a:cubicBezTo>
                  <a:lnTo>
                    <a:pt x="15516" y="338108"/>
                  </a:lnTo>
                  <a:cubicBezTo>
                    <a:pt x="6027" y="333270"/>
                    <a:pt x="0" y="322987"/>
                    <a:pt x="0" y="311738"/>
                  </a:cubicBezTo>
                  <a:cubicBezTo>
                    <a:pt x="0" y="300487"/>
                    <a:pt x="6027" y="290084"/>
                    <a:pt x="15516" y="285367"/>
                  </a:cubicBezTo>
                  <a:lnTo>
                    <a:pt x="53577" y="266253"/>
                  </a:lnTo>
                  <a:close/>
                  <a:moveTo>
                    <a:pt x="15516" y="440207"/>
                  </a:moveTo>
                  <a:lnTo>
                    <a:pt x="53577" y="421093"/>
                  </a:lnTo>
                  <a:lnTo>
                    <a:pt x="236972" y="512909"/>
                  </a:lnTo>
                  <a:cubicBezTo>
                    <a:pt x="267891" y="528392"/>
                    <a:pt x="303498" y="528392"/>
                    <a:pt x="334416" y="512909"/>
                  </a:cubicBezTo>
                  <a:lnTo>
                    <a:pt x="517809" y="421093"/>
                  </a:lnTo>
                  <a:lnTo>
                    <a:pt x="555873" y="440207"/>
                  </a:lnTo>
                  <a:cubicBezTo>
                    <a:pt x="565361" y="444925"/>
                    <a:pt x="571388" y="455207"/>
                    <a:pt x="571388" y="466577"/>
                  </a:cubicBezTo>
                  <a:cubicBezTo>
                    <a:pt x="571388" y="477949"/>
                    <a:pt x="565361" y="488231"/>
                    <a:pt x="555873" y="492949"/>
                  </a:cubicBezTo>
                  <a:lnTo>
                    <a:pt x="311869" y="615128"/>
                  </a:lnTo>
                  <a:cubicBezTo>
                    <a:pt x="295238" y="623474"/>
                    <a:pt x="276040" y="623474"/>
                    <a:pt x="259406" y="615128"/>
                  </a:cubicBezTo>
                  <a:lnTo>
                    <a:pt x="15516" y="492949"/>
                  </a:lnTo>
                  <a:cubicBezTo>
                    <a:pt x="6027" y="488110"/>
                    <a:pt x="0" y="477828"/>
                    <a:pt x="0" y="466577"/>
                  </a:cubicBezTo>
                  <a:cubicBezTo>
                    <a:pt x="0" y="455328"/>
                    <a:pt x="6027" y="444925"/>
                    <a:pt x="15516" y="44020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742076" y="3300163"/>
              <a:ext cx="4991100" cy="33032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Vector addition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756364" y="3795514"/>
              <a:ext cx="4962525" cy="29935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GPU the most classic introductory GPU programming operator, where each element's computation is independent</a:t>
              </a:r>
              <a:endParaRPr lang="en-US" sz="1100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818181" y="4345189"/>
              <a:ext cx="4857655" cy="578070"/>
            </a:xfrm>
            <a:custGeom>
              <a:avLst/>
              <a:gdLst/>
              <a:ahLst/>
              <a:cxnLst/>
              <a:rect l="l" t="t" r="r" b="b"/>
              <a:pathLst>
                <a:path w="4857655" h="578070">
                  <a:moveTo>
                    <a:pt x="37909" y="0"/>
                  </a:moveTo>
                  <a:lnTo>
                    <a:pt x="4781453" y="0"/>
                  </a:lnTo>
                  <a:cubicBezTo>
                    <a:pt x="4823539" y="0"/>
                    <a:pt x="4857655" y="36975"/>
                    <a:pt x="4857655" y="82583"/>
                  </a:cubicBezTo>
                  <a:lnTo>
                    <a:pt x="4857655" y="495487"/>
                  </a:lnTo>
                  <a:cubicBezTo>
                    <a:pt x="4857655" y="541096"/>
                    <a:pt x="4823539" y="578070"/>
                    <a:pt x="4781453" y="578070"/>
                  </a:cubicBezTo>
                  <a:lnTo>
                    <a:pt x="37909" y="578070"/>
                  </a:lnTo>
                  <a:cubicBezTo>
                    <a:pt x="16974" y="578070"/>
                    <a:pt x="0" y="559675"/>
                    <a:pt x="0" y="536985"/>
                  </a:cubicBezTo>
                  <a:lnTo>
                    <a:pt x="0" y="41085"/>
                  </a:lnTo>
                  <a:cubicBezTo>
                    <a:pt x="0" y="18410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818181" y="4345189"/>
              <a:ext cx="37909" cy="578070"/>
            </a:xfrm>
            <a:custGeom>
              <a:avLst/>
              <a:gdLst/>
              <a:ahLst/>
              <a:cxnLst/>
              <a:rect l="l" t="t" r="r" b="b"/>
              <a:pathLst>
                <a:path w="37909" h="578070">
                  <a:moveTo>
                    <a:pt x="37909" y="0"/>
                  </a:moveTo>
                  <a:lnTo>
                    <a:pt x="37909" y="0"/>
                  </a:lnTo>
                  <a:lnTo>
                    <a:pt x="37909" y="578070"/>
                  </a:lnTo>
                  <a:lnTo>
                    <a:pt x="37909" y="578070"/>
                  </a:lnTo>
                  <a:cubicBezTo>
                    <a:pt x="16974" y="578070"/>
                    <a:pt x="0" y="559675"/>
                    <a:pt x="0" y="536985"/>
                  </a:cubicBezTo>
                  <a:lnTo>
                    <a:pt x="0" y="41085"/>
                  </a:lnTo>
                  <a:cubicBezTo>
                    <a:pt x="0" y="18410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989519" y="4510333"/>
              <a:ext cx="4610100" cy="24774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c[i] = a[i] + b[i]</a:t>
              </a:r>
              <a:endParaRPr lang="en-US" sz="1100"/>
            </a:p>
          </p:txBody>
        </p:sp>
      </p:grpSp>
      <p:sp>
        <p:nvSpPr>
          <p:cNvPr id="24" name="AutoShape 24"/>
          <p:cNvSpPr/>
          <p:nvPr/>
        </p:nvSpPr>
        <p:spPr>
          <a:xfrm>
            <a:off x="931857" y="4846517"/>
            <a:ext cx="4725423" cy="4616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7671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For each index i, add the corresponding elements of arrays A and B , storing results in array C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0080" y="629177"/>
            <a:ext cx="3724639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What is Triton?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4580898" y="1500393"/>
            <a:ext cx="3423285" cy="1295400"/>
            <a:chOff x="4580898" y="1500393"/>
            <a:chExt cx="3423285" cy="1295400"/>
          </a:xfrm>
        </p:grpSpPr>
        <p:sp>
          <p:nvSpPr>
            <p:cNvPr id="4" name="Freeform 4"/>
            <p:cNvSpPr/>
            <p:nvPr/>
          </p:nvSpPr>
          <p:spPr>
            <a:xfrm>
              <a:off x="4629166" y="150039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57200" y="0"/>
                  </a:lnTo>
                  <a:cubicBezTo>
                    <a:pt x="709536" y="0"/>
                    <a:pt x="914400" y="204864"/>
                    <a:pt x="914400" y="457200"/>
                  </a:cubicBezTo>
                  <a:lnTo>
                    <a:pt x="914400" y="457200"/>
                  </a:lnTo>
                  <a:cubicBezTo>
                    <a:pt x="914400" y="709536"/>
                    <a:pt x="709536" y="914400"/>
                    <a:pt x="457200" y="914400"/>
                  </a:cubicBezTo>
                  <a:lnTo>
                    <a:pt x="457200" y="914400"/>
                  </a:lnTo>
                  <a:cubicBezTo>
                    <a:pt x="204864" y="914400"/>
                    <a:pt x="0" y="709536"/>
                    <a:pt x="0" y="457200"/>
                  </a:cubicBezTo>
                  <a:lnTo>
                    <a:pt x="0" y="457200"/>
                  </a:lnTo>
                  <a:cubicBezTo>
                    <a:pt x="0" y="204864"/>
                    <a:pt x="204864" y="0"/>
                    <a:pt x="4572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4934516" y="1806487"/>
              <a:ext cx="303855" cy="303521"/>
            </a:xfrm>
            <a:custGeom>
              <a:avLst/>
              <a:gdLst/>
              <a:ahLst/>
              <a:cxnLst/>
              <a:rect l="l" t="t" r="r" b="b"/>
              <a:pathLst>
                <a:path w="303855" h="303521">
                  <a:moveTo>
                    <a:pt x="296354" y="113921"/>
                  </a:moveTo>
                  <a:cubicBezTo>
                    <a:pt x="291197" y="93227"/>
                    <a:pt x="281419" y="77621"/>
                    <a:pt x="260590" y="77621"/>
                  </a:cubicBezTo>
                  <a:lnTo>
                    <a:pt x="233734" y="77621"/>
                  </a:lnTo>
                  <a:lnTo>
                    <a:pt x="233734" y="109366"/>
                  </a:lnTo>
                  <a:cubicBezTo>
                    <a:pt x="233734" y="134013"/>
                    <a:pt x="212839" y="154774"/>
                    <a:pt x="188997" y="154774"/>
                  </a:cubicBezTo>
                  <a:lnTo>
                    <a:pt x="117469" y="154774"/>
                  </a:lnTo>
                  <a:cubicBezTo>
                    <a:pt x="97914" y="154774"/>
                    <a:pt x="81706" y="171518"/>
                    <a:pt x="81706" y="191140"/>
                  </a:cubicBezTo>
                  <a:lnTo>
                    <a:pt x="81706" y="259319"/>
                  </a:lnTo>
                  <a:cubicBezTo>
                    <a:pt x="81706" y="278741"/>
                    <a:pt x="98583" y="290126"/>
                    <a:pt x="117469" y="295686"/>
                  </a:cubicBezTo>
                  <a:cubicBezTo>
                    <a:pt x="140107" y="302315"/>
                    <a:pt x="161872" y="303521"/>
                    <a:pt x="188997" y="295686"/>
                  </a:cubicBezTo>
                  <a:cubicBezTo>
                    <a:pt x="207012" y="290461"/>
                    <a:pt x="224760" y="279946"/>
                    <a:pt x="224760" y="259319"/>
                  </a:cubicBezTo>
                  <a:lnTo>
                    <a:pt x="224760" y="232061"/>
                  </a:lnTo>
                  <a:lnTo>
                    <a:pt x="153300" y="232061"/>
                  </a:lnTo>
                  <a:lnTo>
                    <a:pt x="153300" y="222953"/>
                  </a:lnTo>
                  <a:lnTo>
                    <a:pt x="260590" y="222953"/>
                  </a:lnTo>
                  <a:cubicBezTo>
                    <a:pt x="281419" y="222953"/>
                    <a:pt x="289121" y="208420"/>
                    <a:pt x="296354" y="186654"/>
                  </a:cubicBezTo>
                  <a:cubicBezTo>
                    <a:pt x="303855" y="164218"/>
                    <a:pt x="303521" y="142652"/>
                    <a:pt x="296354" y="113921"/>
                  </a:cubicBezTo>
                  <a:close/>
                  <a:moveTo>
                    <a:pt x="193484" y="277467"/>
                  </a:moveTo>
                  <a:cubicBezTo>
                    <a:pt x="188388" y="277826"/>
                    <a:pt x="183516" y="275308"/>
                    <a:pt x="180858" y="270945"/>
                  </a:cubicBezTo>
                  <a:cubicBezTo>
                    <a:pt x="178201" y="266581"/>
                    <a:pt x="178201" y="261098"/>
                    <a:pt x="180858" y="256733"/>
                  </a:cubicBezTo>
                  <a:cubicBezTo>
                    <a:pt x="183516" y="252370"/>
                    <a:pt x="188388" y="249853"/>
                    <a:pt x="193484" y="250211"/>
                  </a:cubicBezTo>
                  <a:cubicBezTo>
                    <a:pt x="198581" y="249853"/>
                    <a:pt x="203452" y="252370"/>
                    <a:pt x="206109" y="256733"/>
                  </a:cubicBezTo>
                  <a:cubicBezTo>
                    <a:pt x="208767" y="261098"/>
                    <a:pt x="208767" y="266581"/>
                    <a:pt x="206109" y="270945"/>
                  </a:cubicBezTo>
                  <a:cubicBezTo>
                    <a:pt x="203452" y="275308"/>
                    <a:pt x="198581" y="277826"/>
                    <a:pt x="193484" y="277467"/>
                  </a:cubicBezTo>
                  <a:close/>
                  <a:moveTo>
                    <a:pt x="114188" y="145800"/>
                  </a:moveTo>
                  <a:lnTo>
                    <a:pt x="185715" y="145800"/>
                  </a:lnTo>
                  <a:cubicBezTo>
                    <a:pt x="205606" y="145800"/>
                    <a:pt x="221479" y="129392"/>
                    <a:pt x="221479" y="109434"/>
                  </a:cubicBezTo>
                  <a:lnTo>
                    <a:pt x="221479" y="41189"/>
                  </a:lnTo>
                  <a:cubicBezTo>
                    <a:pt x="221479" y="21767"/>
                    <a:pt x="205138" y="7234"/>
                    <a:pt x="185715" y="3953"/>
                  </a:cubicBezTo>
                  <a:cubicBezTo>
                    <a:pt x="161739" y="0"/>
                    <a:pt x="135686" y="202"/>
                    <a:pt x="114188" y="4019"/>
                  </a:cubicBezTo>
                  <a:cubicBezTo>
                    <a:pt x="83916" y="9377"/>
                    <a:pt x="78425" y="20560"/>
                    <a:pt x="78425" y="41256"/>
                  </a:cubicBezTo>
                  <a:lnTo>
                    <a:pt x="78425" y="68514"/>
                  </a:lnTo>
                  <a:lnTo>
                    <a:pt x="150018" y="68514"/>
                  </a:lnTo>
                  <a:lnTo>
                    <a:pt x="150018" y="77621"/>
                  </a:lnTo>
                  <a:lnTo>
                    <a:pt x="51569" y="77621"/>
                  </a:lnTo>
                  <a:cubicBezTo>
                    <a:pt x="30740" y="77621"/>
                    <a:pt x="12524" y="90146"/>
                    <a:pt x="6831" y="113921"/>
                  </a:cubicBezTo>
                  <a:cubicBezTo>
                    <a:pt x="267" y="141179"/>
                    <a:pt x="0" y="158190"/>
                    <a:pt x="6831" y="186654"/>
                  </a:cubicBezTo>
                  <a:cubicBezTo>
                    <a:pt x="11921" y="207817"/>
                    <a:pt x="24043" y="222953"/>
                    <a:pt x="44871" y="222953"/>
                  </a:cubicBezTo>
                  <a:lnTo>
                    <a:pt x="69449" y="222953"/>
                  </a:lnTo>
                  <a:lnTo>
                    <a:pt x="69449" y="190271"/>
                  </a:lnTo>
                  <a:cubicBezTo>
                    <a:pt x="69449" y="166629"/>
                    <a:pt x="89877" y="145800"/>
                    <a:pt x="114188" y="145800"/>
                  </a:cubicBezTo>
                  <a:close/>
                  <a:moveTo>
                    <a:pt x="109768" y="22972"/>
                  </a:moveTo>
                  <a:cubicBezTo>
                    <a:pt x="117308" y="22972"/>
                    <a:pt x="123430" y="29094"/>
                    <a:pt x="123430" y="36635"/>
                  </a:cubicBezTo>
                  <a:cubicBezTo>
                    <a:pt x="123430" y="44175"/>
                    <a:pt x="117308" y="50297"/>
                    <a:pt x="109768" y="50297"/>
                  </a:cubicBezTo>
                  <a:cubicBezTo>
                    <a:pt x="102227" y="50297"/>
                    <a:pt x="96106" y="44175"/>
                    <a:pt x="96106" y="36635"/>
                  </a:cubicBezTo>
                  <a:cubicBezTo>
                    <a:pt x="96106" y="29094"/>
                    <a:pt x="102227" y="22972"/>
                    <a:pt x="109768" y="229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4580898" y="2529010"/>
              <a:ext cx="1009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Python DSL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5853703" y="1957540"/>
              <a:ext cx="514350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92000"/>
                </a:lnSpc>
                <a:defRPr/>
              </a:pPr>
              <a:r>
                <a:rPr lang="en-US" sz="2700" b="0" i="0" u="none" strike="noStrike">
                  <a:solidFill>
                    <a:srgbClr val="D1D5DC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→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579259" y="1500393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57200" y="0"/>
                  </a:lnTo>
                  <a:cubicBezTo>
                    <a:pt x="709536" y="0"/>
                    <a:pt x="914400" y="204864"/>
                    <a:pt x="914400" y="457200"/>
                  </a:cubicBezTo>
                  <a:lnTo>
                    <a:pt x="914400" y="457200"/>
                  </a:lnTo>
                  <a:cubicBezTo>
                    <a:pt x="914400" y="709536"/>
                    <a:pt x="709536" y="914400"/>
                    <a:pt x="457200" y="914400"/>
                  </a:cubicBezTo>
                  <a:lnTo>
                    <a:pt x="457200" y="914400"/>
                  </a:lnTo>
                  <a:cubicBezTo>
                    <a:pt x="204864" y="914400"/>
                    <a:pt x="0" y="709536"/>
                    <a:pt x="0" y="457200"/>
                  </a:cubicBezTo>
                  <a:lnTo>
                    <a:pt x="0" y="457200"/>
                  </a:lnTo>
                  <a:cubicBezTo>
                    <a:pt x="0" y="204864"/>
                    <a:pt x="204864" y="0"/>
                    <a:pt x="457200" y="0"/>
                  </a:cubicBezTo>
                  <a:close/>
                </a:path>
              </a:pathLst>
            </a:custGeom>
            <a:solidFill>
              <a:srgbClr val="1E2939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Freeform 9"/>
            <p:cNvSpPr/>
            <p:nvPr/>
          </p:nvSpPr>
          <p:spPr>
            <a:xfrm>
              <a:off x="6864985" y="1786128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17873" y="16073"/>
                  </a:moveTo>
                  <a:cubicBezTo>
                    <a:pt x="117873" y="7167"/>
                    <a:pt x="110706" y="0"/>
                    <a:pt x="101798" y="0"/>
                  </a:cubicBezTo>
                  <a:cubicBezTo>
                    <a:pt x="92892" y="0"/>
                    <a:pt x="85725" y="7167"/>
                    <a:pt x="85725" y="16073"/>
                  </a:cubicBezTo>
                  <a:lnTo>
                    <a:pt x="85725" y="42862"/>
                  </a:lnTo>
                  <a:cubicBezTo>
                    <a:pt x="62084" y="42862"/>
                    <a:pt x="42862" y="62084"/>
                    <a:pt x="42862" y="85725"/>
                  </a:cubicBezTo>
                  <a:lnTo>
                    <a:pt x="16073" y="85725"/>
                  </a:lnTo>
                  <a:cubicBezTo>
                    <a:pt x="7167" y="85725"/>
                    <a:pt x="0" y="92892"/>
                    <a:pt x="0" y="101798"/>
                  </a:cubicBezTo>
                  <a:cubicBezTo>
                    <a:pt x="0" y="110706"/>
                    <a:pt x="7167" y="117873"/>
                    <a:pt x="16073" y="117873"/>
                  </a:cubicBezTo>
                  <a:lnTo>
                    <a:pt x="42862" y="117873"/>
                  </a:lnTo>
                  <a:lnTo>
                    <a:pt x="42862" y="155377"/>
                  </a:lnTo>
                  <a:lnTo>
                    <a:pt x="16073" y="155377"/>
                  </a:lnTo>
                  <a:cubicBezTo>
                    <a:pt x="7167" y="155377"/>
                    <a:pt x="0" y="162543"/>
                    <a:pt x="0" y="171450"/>
                  </a:cubicBezTo>
                  <a:cubicBezTo>
                    <a:pt x="0" y="180357"/>
                    <a:pt x="7167" y="187523"/>
                    <a:pt x="16073" y="187523"/>
                  </a:cubicBezTo>
                  <a:lnTo>
                    <a:pt x="42862" y="187523"/>
                  </a:lnTo>
                  <a:lnTo>
                    <a:pt x="42862" y="225027"/>
                  </a:lnTo>
                  <a:lnTo>
                    <a:pt x="16073" y="225027"/>
                  </a:lnTo>
                  <a:cubicBezTo>
                    <a:pt x="7167" y="225027"/>
                    <a:pt x="0" y="232194"/>
                    <a:pt x="0" y="241102"/>
                  </a:cubicBezTo>
                  <a:cubicBezTo>
                    <a:pt x="0" y="250008"/>
                    <a:pt x="7167" y="257175"/>
                    <a:pt x="16073" y="257175"/>
                  </a:cubicBezTo>
                  <a:lnTo>
                    <a:pt x="42862" y="257175"/>
                  </a:lnTo>
                  <a:cubicBezTo>
                    <a:pt x="42862" y="280816"/>
                    <a:pt x="62084" y="300037"/>
                    <a:pt x="85725" y="300037"/>
                  </a:cubicBezTo>
                  <a:lnTo>
                    <a:pt x="85725" y="326827"/>
                  </a:lnTo>
                  <a:cubicBezTo>
                    <a:pt x="85725" y="335733"/>
                    <a:pt x="92892" y="342900"/>
                    <a:pt x="101798" y="342900"/>
                  </a:cubicBezTo>
                  <a:cubicBezTo>
                    <a:pt x="110706" y="342900"/>
                    <a:pt x="117873" y="335733"/>
                    <a:pt x="117873" y="326827"/>
                  </a:cubicBezTo>
                  <a:lnTo>
                    <a:pt x="117873" y="300037"/>
                  </a:lnTo>
                  <a:lnTo>
                    <a:pt x="155377" y="300037"/>
                  </a:lnTo>
                  <a:lnTo>
                    <a:pt x="155377" y="326827"/>
                  </a:lnTo>
                  <a:cubicBezTo>
                    <a:pt x="155377" y="335733"/>
                    <a:pt x="162543" y="342900"/>
                    <a:pt x="171450" y="342900"/>
                  </a:cubicBezTo>
                  <a:cubicBezTo>
                    <a:pt x="180357" y="342900"/>
                    <a:pt x="187523" y="335733"/>
                    <a:pt x="187523" y="326827"/>
                  </a:cubicBezTo>
                  <a:lnTo>
                    <a:pt x="187523" y="300037"/>
                  </a:lnTo>
                  <a:lnTo>
                    <a:pt x="225027" y="300037"/>
                  </a:lnTo>
                  <a:lnTo>
                    <a:pt x="225027" y="326827"/>
                  </a:lnTo>
                  <a:cubicBezTo>
                    <a:pt x="225027" y="335733"/>
                    <a:pt x="232194" y="342900"/>
                    <a:pt x="241102" y="342900"/>
                  </a:cubicBezTo>
                  <a:cubicBezTo>
                    <a:pt x="250008" y="342900"/>
                    <a:pt x="257175" y="335733"/>
                    <a:pt x="257175" y="326827"/>
                  </a:cubicBezTo>
                  <a:lnTo>
                    <a:pt x="257175" y="300037"/>
                  </a:lnTo>
                  <a:cubicBezTo>
                    <a:pt x="280816" y="300037"/>
                    <a:pt x="300037" y="280816"/>
                    <a:pt x="300037" y="257175"/>
                  </a:cubicBezTo>
                  <a:lnTo>
                    <a:pt x="326827" y="257175"/>
                  </a:lnTo>
                  <a:cubicBezTo>
                    <a:pt x="335733" y="257175"/>
                    <a:pt x="342900" y="250008"/>
                    <a:pt x="342900" y="241102"/>
                  </a:cubicBezTo>
                  <a:cubicBezTo>
                    <a:pt x="342900" y="232194"/>
                    <a:pt x="335733" y="225027"/>
                    <a:pt x="326827" y="225027"/>
                  </a:cubicBezTo>
                  <a:lnTo>
                    <a:pt x="300037" y="225027"/>
                  </a:lnTo>
                  <a:lnTo>
                    <a:pt x="300037" y="187523"/>
                  </a:lnTo>
                  <a:lnTo>
                    <a:pt x="326827" y="187523"/>
                  </a:lnTo>
                  <a:cubicBezTo>
                    <a:pt x="335733" y="187523"/>
                    <a:pt x="342900" y="180357"/>
                    <a:pt x="342900" y="171450"/>
                  </a:cubicBezTo>
                  <a:cubicBezTo>
                    <a:pt x="342900" y="162543"/>
                    <a:pt x="335733" y="155377"/>
                    <a:pt x="326827" y="155377"/>
                  </a:cubicBezTo>
                  <a:lnTo>
                    <a:pt x="300037" y="155377"/>
                  </a:lnTo>
                  <a:lnTo>
                    <a:pt x="300037" y="117873"/>
                  </a:lnTo>
                  <a:lnTo>
                    <a:pt x="326827" y="117873"/>
                  </a:lnTo>
                  <a:cubicBezTo>
                    <a:pt x="335733" y="117873"/>
                    <a:pt x="342900" y="110706"/>
                    <a:pt x="342900" y="101798"/>
                  </a:cubicBezTo>
                  <a:cubicBezTo>
                    <a:pt x="342900" y="92892"/>
                    <a:pt x="335733" y="85725"/>
                    <a:pt x="326827" y="85725"/>
                  </a:cubicBezTo>
                  <a:lnTo>
                    <a:pt x="300037" y="85725"/>
                  </a:lnTo>
                  <a:cubicBezTo>
                    <a:pt x="300037" y="62084"/>
                    <a:pt x="280816" y="42862"/>
                    <a:pt x="257175" y="42862"/>
                  </a:cubicBezTo>
                  <a:lnTo>
                    <a:pt x="257175" y="16073"/>
                  </a:lnTo>
                  <a:cubicBezTo>
                    <a:pt x="257175" y="7167"/>
                    <a:pt x="250008" y="0"/>
                    <a:pt x="241102" y="0"/>
                  </a:cubicBezTo>
                  <a:cubicBezTo>
                    <a:pt x="232194" y="0"/>
                    <a:pt x="225027" y="7167"/>
                    <a:pt x="225027" y="16073"/>
                  </a:cubicBezTo>
                  <a:lnTo>
                    <a:pt x="225027" y="42862"/>
                  </a:lnTo>
                  <a:lnTo>
                    <a:pt x="187523" y="42862"/>
                  </a:lnTo>
                  <a:lnTo>
                    <a:pt x="187523" y="16073"/>
                  </a:lnTo>
                  <a:cubicBezTo>
                    <a:pt x="187523" y="7167"/>
                    <a:pt x="180357" y="0"/>
                    <a:pt x="171450" y="0"/>
                  </a:cubicBezTo>
                  <a:cubicBezTo>
                    <a:pt x="162543" y="0"/>
                    <a:pt x="155377" y="7167"/>
                    <a:pt x="155377" y="16073"/>
                  </a:cubicBezTo>
                  <a:lnTo>
                    <a:pt x="155377" y="42862"/>
                  </a:lnTo>
                  <a:lnTo>
                    <a:pt x="117873" y="42862"/>
                  </a:lnTo>
                  <a:lnTo>
                    <a:pt x="117873" y="16073"/>
                  </a:lnTo>
                  <a:close/>
                  <a:moveTo>
                    <a:pt x="107156" y="85725"/>
                  </a:moveTo>
                  <a:lnTo>
                    <a:pt x="235744" y="85725"/>
                  </a:lnTo>
                  <a:cubicBezTo>
                    <a:pt x="247598" y="85725"/>
                    <a:pt x="257175" y="95302"/>
                    <a:pt x="257175" y="107156"/>
                  </a:cubicBezTo>
                  <a:lnTo>
                    <a:pt x="257175" y="235744"/>
                  </a:lnTo>
                  <a:cubicBezTo>
                    <a:pt x="257175" y="247598"/>
                    <a:pt x="247598" y="257175"/>
                    <a:pt x="235744" y="257175"/>
                  </a:cubicBezTo>
                  <a:lnTo>
                    <a:pt x="107156" y="257175"/>
                  </a:lnTo>
                  <a:cubicBezTo>
                    <a:pt x="95302" y="257175"/>
                    <a:pt x="85725" y="247598"/>
                    <a:pt x="85725" y="235744"/>
                  </a:cubicBezTo>
                  <a:lnTo>
                    <a:pt x="85725" y="107156"/>
                  </a:lnTo>
                  <a:cubicBezTo>
                    <a:pt x="85725" y="95302"/>
                    <a:pt x="95302" y="85725"/>
                    <a:pt x="107156" y="85725"/>
                  </a:cubicBezTo>
                  <a:close/>
                  <a:moveTo>
                    <a:pt x="117873" y="117873"/>
                  </a:moveTo>
                  <a:lnTo>
                    <a:pt x="117873" y="225027"/>
                  </a:lnTo>
                  <a:lnTo>
                    <a:pt x="225027" y="225027"/>
                  </a:lnTo>
                  <a:lnTo>
                    <a:pt x="225027" y="117873"/>
                  </a:lnTo>
                  <a:lnTo>
                    <a:pt x="117873" y="1178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458593" y="2529093"/>
              <a:ext cx="154559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High-Performance Kernel</a:t>
              </a:r>
              <a:endParaRPr lang="en-US" sz="11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8762" y="3167710"/>
            <a:ext cx="3657600" cy="1371600"/>
            <a:chOff x="1578762" y="3167710"/>
            <a:chExt cx="3657600" cy="1371600"/>
          </a:xfrm>
        </p:grpSpPr>
        <p:sp>
          <p:nvSpPr>
            <p:cNvPr id="12" name="Freeform 12"/>
            <p:cNvSpPr/>
            <p:nvPr/>
          </p:nvSpPr>
          <p:spPr>
            <a:xfrm>
              <a:off x="1578762" y="3167710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20238" y="3413660"/>
              <a:ext cx="259988" cy="231905"/>
            </a:xfrm>
            <a:custGeom>
              <a:avLst/>
              <a:gdLst/>
              <a:ahLst/>
              <a:cxnLst/>
              <a:rect l="l" t="t" r="r" b="b"/>
              <a:pathLst>
                <a:path w="259988" h="231905">
                  <a:moveTo>
                    <a:pt x="162476" y="2188"/>
                  </a:moveTo>
                  <a:cubicBezTo>
                    <a:pt x="154885" y="0"/>
                    <a:pt x="146983" y="4421"/>
                    <a:pt x="144795" y="12010"/>
                  </a:cubicBezTo>
                  <a:lnTo>
                    <a:pt x="87645" y="212035"/>
                  </a:lnTo>
                  <a:cubicBezTo>
                    <a:pt x="85457" y="219626"/>
                    <a:pt x="89878" y="227528"/>
                    <a:pt x="97467" y="229716"/>
                  </a:cubicBezTo>
                  <a:cubicBezTo>
                    <a:pt x="105058" y="231904"/>
                    <a:pt x="112960" y="227483"/>
                    <a:pt x="115148" y="219894"/>
                  </a:cubicBezTo>
                  <a:lnTo>
                    <a:pt x="172298" y="19869"/>
                  </a:lnTo>
                  <a:cubicBezTo>
                    <a:pt x="174486" y="12278"/>
                    <a:pt x="170065" y="4376"/>
                    <a:pt x="162476" y="2188"/>
                  </a:cubicBezTo>
                  <a:close/>
                  <a:moveTo>
                    <a:pt x="191318" y="62954"/>
                  </a:moveTo>
                  <a:cubicBezTo>
                    <a:pt x="185737" y="68535"/>
                    <a:pt x="185737" y="77599"/>
                    <a:pt x="191318" y="83180"/>
                  </a:cubicBezTo>
                  <a:lnTo>
                    <a:pt x="224090" y="115952"/>
                  </a:lnTo>
                  <a:lnTo>
                    <a:pt x="191318" y="148724"/>
                  </a:lnTo>
                  <a:cubicBezTo>
                    <a:pt x="185737" y="154305"/>
                    <a:pt x="185737" y="163369"/>
                    <a:pt x="191318" y="168950"/>
                  </a:cubicBezTo>
                  <a:cubicBezTo>
                    <a:pt x="196900" y="174531"/>
                    <a:pt x="205963" y="174531"/>
                    <a:pt x="211544" y="168950"/>
                  </a:cubicBezTo>
                  <a:lnTo>
                    <a:pt x="254407" y="126087"/>
                  </a:lnTo>
                  <a:cubicBezTo>
                    <a:pt x="259988" y="120506"/>
                    <a:pt x="259988" y="111443"/>
                    <a:pt x="254407" y="105861"/>
                  </a:cubicBezTo>
                  <a:lnTo>
                    <a:pt x="211544" y="62999"/>
                  </a:lnTo>
                  <a:cubicBezTo>
                    <a:pt x="205963" y="57418"/>
                    <a:pt x="196900" y="57418"/>
                    <a:pt x="191318" y="62999"/>
                  </a:cubicBezTo>
                  <a:close/>
                  <a:moveTo>
                    <a:pt x="68669" y="62954"/>
                  </a:moveTo>
                  <a:cubicBezTo>
                    <a:pt x="63088" y="57373"/>
                    <a:pt x="54026" y="57373"/>
                    <a:pt x="48443" y="62954"/>
                  </a:cubicBezTo>
                  <a:lnTo>
                    <a:pt x="5581" y="105817"/>
                  </a:lnTo>
                  <a:cubicBezTo>
                    <a:pt x="0" y="111398"/>
                    <a:pt x="0" y="120460"/>
                    <a:pt x="5581" y="126043"/>
                  </a:cubicBezTo>
                  <a:lnTo>
                    <a:pt x="48443" y="168905"/>
                  </a:lnTo>
                  <a:cubicBezTo>
                    <a:pt x="54026" y="174486"/>
                    <a:pt x="63088" y="174486"/>
                    <a:pt x="68669" y="168905"/>
                  </a:cubicBezTo>
                  <a:cubicBezTo>
                    <a:pt x="74250" y="163324"/>
                    <a:pt x="74250" y="154260"/>
                    <a:pt x="68669" y="148679"/>
                  </a:cubicBezTo>
                  <a:lnTo>
                    <a:pt x="35898" y="115952"/>
                  </a:lnTo>
                  <a:lnTo>
                    <a:pt x="68625" y="83180"/>
                  </a:lnTo>
                  <a:cubicBezTo>
                    <a:pt x="74206" y="77599"/>
                    <a:pt x="74206" y="68535"/>
                    <a:pt x="68625" y="6295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2207319" y="3396283"/>
              <a:ext cx="2610157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OpenAI Open Source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1807335" y="3815371"/>
              <a:ext cx="3276600" cy="4953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 GPU programming language developed by OpenAI, using a Python-style Domain Specific Language (DSL)</a:t>
              </a:r>
              <a:endParaRPr lang="en-US" sz="110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41929" y="3128128"/>
            <a:ext cx="3657600" cy="1371600"/>
            <a:chOff x="6941929" y="3128128"/>
            <a:chExt cx="3657600" cy="1371600"/>
          </a:xfrm>
        </p:grpSpPr>
        <p:sp>
          <p:nvSpPr>
            <p:cNvPr id="17" name="Freeform 17"/>
            <p:cNvSpPr/>
            <p:nvPr/>
          </p:nvSpPr>
          <p:spPr>
            <a:xfrm>
              <a:off x="6941929" y="3128128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192067" y="3386714"/>
              <a:ext cx="224626" cy="224626"/>
            </a:xfrm>
            <a:custGeom>
              <a:avLst/>
              <a:gdLst/>
              <a:ahLst/>
              <a:cxnLst/>
              <a:rect l="l" t="t" r="r" b="b"/>
              <a:pathLst>
                <a:path w="224626" h="224626">
                  <a:moveTo>
                    <a:pt x="64160" y="131891"/>
                  </a:moveTo>
                  <a:lnTo>
                    <a:pt x="17949" y="131891"/>
                  </a:lnTo>
                  <a:cubicBezTo>
                    <a:pt x="6831" y="131891"/>
                    <a:pt x="0" y="119790"/>
                    <a:pt x="5715" y="110238"/>
                  </a:cubicBezTo>
                  <a:lnTo>
                    <a:pt x="29334" y="70857"/>
                  </a:lnTo>
                  <a:cubicBezTo>
                    <a:pt x="33219" y="64383"/>
                    <a:pt x="40184" y="60454"/>
                    <a:pt x="47729" y="60454"/>
                  </a:cubicBezTo>
                  <a:lnTo>
                    <a:pt x="90145" y="60454"/>
                  </a:lnTo>
                  <a:cubicBezTo>
                    <a:pt x="124123" y="2902"/>
                    <a:pt x="174799" y="0"/>
                    <a:pt x="208687" y="4954"/>
                  </a:cubicBezTo>
                  <a:cubicBezTo>
                    <a:pt x="214402" y="5804"/>
                    <a:pt x="218868" y="10269"/>
                    <a:pt x="219671" y="15939"/>
                  </a:cubicBezTo>
                  <a:cubicBezTo>
                    <a:pt x="224626" y="49827"/>
                    <a:pt x="221724" y="100503"/>
                    <a:pt x="164173" y="134481"/>
                  </a:cubicBezTo>
                  <a:lnTo>
                    <a:pt x="164173" y="176897"/>
                  </a:lnTo>
                  <a:cubicBezTo>
                    <a:pt x="164173" y="184442"/>
                    <a:pt x="160243" y="191407"/>
                    <a:pt x="153769" y="195292"/>
                  </a:cubicBezTo>
                  <a:lnTo>
                    <a:pt x="114389" y="218911"/>
                  </a:lnTo>
                  <a:cubicBezTo>
                    <a:pt x="104879" y="224626"/>
                    <a:pt x="92735" y="217751"/>
                    <a:pt x="92735" y="206677"/>
                  </a:cubicBezTo>
                  <a:lnTo>
                    <a:pt x="92735" y="160466"/>
                  </a:lnTo>
                  <a:cubicBezTo>
                    <a:pt x="92735" y="144705"/>
                    <a:pt x="79921" y="131891"/>
                    <a:pt x="64160" y="131891"/>
                  </a:cubicBezTo>
                  <a:lnTo>
                    <a:pt x="64116" y="131891"/>
                  </a:lnTo>
                  <a:close/>
                  <a:moveTo>
                    <a:pt x="185604" y="60454"/>
                  </a:moveTo>
                  <a:cubicBezTo>
                    <a:pt x="185604" y="48625"/>
                    <a:pt x="176001" y="39022"/>
                    <a:pt x="164173" y="39022"/>
                  </a:cubicBezTo>
                  <a:cubicBezTo>
                    <a:pt x="152344" y="39022"/>
                    <a:pt x="142741" y="48625"/>
                    <a:pt x="142741" y="60454"/>
                  </a:cubicBezTo>
                  <a:cubicBezTo>
                    <a:pt x="142741" y="72282"/>
                    <a:pt x="152344" y="81885"/>
                    <a:pt x="164173" y="81885"/>
                  </a:cubicBezTo>
                  <a:cubicBezTo>
                    <a:pt x="176001" y="81885"/>
                    <a:pt x="185604" y="72282"/>
                    <a:pt x="185604" y="6045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7570487" y="3356701"/>
              <a:ext cx="2799891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Auto-generate Kernels</a:t>
              </a: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7170502" y="3775789"/>
              <a:ext cx="3276600" cy="4953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Compiler automatically converts Python code into high-performance GPU kernels — no handwritten CUDA required</a:t>
              </a:r>
              <a:endParaRPr lang="en-US" sz="110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21729" y="5059591"/>
            <a:ext cx="3657600" cy="1371600"/>
            <a:chOff x="6921729" y="5059591"/>
            <a:chExt cx="3657600" cy="1371600"/>
          </a:xfrm>
        </p:grpSpPr>
        <p:sp>
          <p:nvSpPr>
            <p:cNvPr id="22" name="Freeform 22"/>
            <p:cNvSpPr/>
            <p:nvPr/>
          </p:nvSpPr>
          <p:spPr>
            <a:xfrm>
              <a:off x="6921729" y="5059591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149543" y="5307193"/>
              <a:ext cx="286777" cy="228600"/>
            </a:xfrm>
            <a:custGeom>
              <a:avLst/>
              <a:gdLst/>
              <a:ahLst/>
              <a:cxnLst/>
              <a:rect l="l" t="t" r="r" b="b"/>
              <a:pathLst>
                <a:path w="286777" h="228600">
                  <a:moveTo>
                    <a:pt x="172209" y="14287"/>
                  </a:moveTo>
                  <a:lnTo>
                    <a:pt x="229359" y="14287"/>
                  </a:lnTo>
                  <a:cubicBezTo>
                    <a:pt x="237262" y="14287"/>
                    <a:pt x="243647" y="20672"/>
                    <a:pt x="243647" y="28575"/>
                  </a:cubicBezTo>
                  <a:cubicBezTo>
                    <a:pt x="243647" y="36478"/>
                    <a:pt x="237262" y="42863"/>
                    <a:pt x="229359" y="42863"/>
                  </a:cubicBezTo>
                  <a:lnTo>
                    <a:pt x="178638" y="42863"/>
                  </a:lnTo>
                  <a:cubicBezTo>
                    <a:pt x="176317" y="54381"/>
                    <a:pt x="168414" y="63892"/>
                    <a:pt x="157922" y="68445"/>
                  </a:cubicBezTo>
                  <a:lnTo>
                    <a:pt x="157922" y="200025"/>
                  </a:lnTo>
                  <a:lnTo>
                    <a:pt x="229359" y="200025"/>
                  </a:lnTo>
                  <a:cubicBezTo>
                    <a:pt x="237262" y="200025"/>
                    <a:pt x="243647" y="206411"/>
                    <a:pt x="243647" y="214313"/>
                  </a:cubicBezTo>
                  <a:cubicBezTo>
                    <a:pt x="243647" y="222214"/>
                    <a:pt x="237262" y="228600"/>
                    <a:pt x="229359" y="228600"/>
                  </a:cubicBezTo>
                  <a:lnTo>
                    <a:pt x="57909" y="228600"/>
                  </a:lnTo>
                  <a:cubicBezTo>
                    <a:pt x="50006" y="228600"/>
                    <a:pt x="43622" y="222214"/>
                    <a:pt x="43622" y="214313"/>
                  </a:cubicBezTo>
                  <a:cubicBezTo>
                    <a:pt x="43622" y="206411"/>
                    <a:pt x="50006" y="200025"/>
                    <a:pt x="57909" y="200025"/>
                  </a:cubicBezTo>
                  <a:lnTo>
                    <a:pt x="129347" y="200025"/>
                  </a:lnTo>
                  <a:lnTo>
                    <a:pt x="129347" y="68445"/>
                  </a:lnTo>
                  <a:cubicBezTo>
                    <a:pt x="118854" y="63847"/>
                    <a:pt x="110951" y="54337"/>
                    <a:pt x="108630" y="42863"/>
                  </a:cubicBezTo>
                  <a:lnTo>
                    <a:pt x="57909" y="42863"/>
                  </a:lnTo>
                  <a:cubicBezTo>
                    <a:pt x="50006" y="42863"/>
                    <a:pt x="43622" y="36478"/>
                    <a:pt x="43622" y="28575"/>
                  </a:cubicBezTo>
                  <a:cubicBezTo>
                    <a:pt x="43622" y="20672"/>
                    <a:pt x="50006" y="14287"/>
                    <a:pt x="57909" y="14287"/>
                  </a:cubicBezTo>
                  <a:lnTo>
                    <a:pt x="115059" y="14287"/>
                  </a:lnTo>
                  <a:cubicBezTo>
                    <a:pt x="121578" y="5626"/>
                    <a:pt x="131936" y="0"/>
                    <a:pt x="143634" y="0"/>
                  </a:cubicBezTo>
                  <a:cubicBezTo>
                    <a:pt x="155332" y="0"/>
                    <a:pt x="165690" y="5626"/>
                    <a:pt x="172209" y="14287"/>
                  </a:cubicBezTo>
                  <a:close/>
                  <a:moveTo>
                    <a:pt x="197034" y="142875"/>
                  </a:moveTo>
                  <a:lnTo>
                    <a:pt x="261684" y="142875"/>
                  </a:lnTo>
                  <a:lnTo>
                    <a:pt x="229359" y="87422"/>
                  </a:lnTo>
                  <a:lnTo>
                    <a:pt x="197034" y="142875"/>
                  </a:lnTo>
                  <a:close/>
                  <a:moveTo>
                    <a:pt x="229359" y="185737"/>
                  </a:moveTo>
                  <a:cubicBezTo>
                    <a:pt x="201275" y="185737"/>
                    <a:pt x="177924" y="170557"/>
                    <a:pt x="173102" y="150510"/>
                  </a:cubicBezTo>
                  <a:cubicBezTo>
                    <a:pt x="171941" y="145599"/>
                    <a:pt x="173548" y="140553"/>
                    <a:pt x="176093" y="136178"/>
                  </a:cubicBezTo>
                  <a:lnTo>
                    <a:pt x="218600" y="63311"/>
                  </a:lnTo>
                  <a:cubicBezTo>
                    <a:pt x="220831" y="59472"/>
                    <a:pt x="224939" y="57150"/>
                    <a:pt x="229359" y="57150"/>
                  </a:cubicBezTo>
                  <a:cubicBezTo>
                    <a:pt x="233779" y="57150"/>
                    <a:pt x="237887" y="59516"/>
                    <a:pt x="240118" y="63311"/>
                  </a:cubicBezTo>
                  <a:lnTo>
                    <a:pt x="282625" y="136178"/>
                  </a:lnTo>
                  <a:cubicBezTo>
                    <a:pt x="285170" y="140553"/>
                    <a:pt x="286777" y="145599"/>
                    <a:pt x="285616" y="150510"/>
                  </a:cubicBezTo>
                  <a:cubicBezTo>
                    <a:pt x="280794" y="170511"/>
                    <a:pt x="257443" y="185737"/>
                    <a:pt x="229359" y="185737"/>
                  </a:cubicBezTo>
                  <a:close/>
                  <a:moveTo>
                    <a:pt x="57373" y="87422"/>
                  </a:moveTo>
                  <a:lnTo>
                    <a:pt x="25048" y="142875"/>
                  </a:lnTo>
                  <a:lnTo>
                    <a:pt x="89743" y="142875"/>
                  </a:lnTo>
                  <a:lnTo>
                    <a:pt x="57373" y="87422"/>
                  </a:lnTo>
                  <a:close/>
                  <a:moveTo>
                    <a:pt x="1162" y="150510"/>
                  </a:moveTo>
                  <a:cubicBezTo>
                    <a:pt x="0" y="145599"/>
                    <a:pt x="1607" y="140553"/>
                    <a:pt x="4152" y="136178"/>
                  </a:cubicBezTo>
                  <a:lnTo>
                    <a:pt x="46658" y="63311"/>
                  </a:lnTo>
                  <a:cubicBezTo>
                    <a:pt x="48889" y="59472"/>
                    <a:pt x="52998" y="57150"/>
                    <a:pt x="57418" y="57150"/>
                  </a:cubicBezTo>
                  <a:cubicBezTo>
                    <a:pt x="61838" y="57150"/>
                    <a:pt x="65946" y="59516"/>
                    <a:pt x="68178" y="63311"/>
                  </a:cubicBezTo>
                  <a:lnTo>
                    <a:pt x="110683" y="136178"/>
                  </a:lnTo>
                  <a:cubicBezTo>
                    <a:pt x="113228" y="140553"/>
                    <a:pt x="114835" y="145599"/>
                    <a:pt x="113675" y="150510"/>
                  </a:cubicBezTo>
                  <a:cubicBezTo>
                    <a:pt x="108853" y="170511"/>
                    <a:pt x="85502" y="185737"/>
                    <a:pt x="57418" y="185737"/>
                  </a:cubicBezTo>
                  <a:cubicBezTo>
                    <a:pt x="29334" y="185737"/>
                    <a:pt x="5983" y="170557"/>
                    <a:pt x="1162" y="15051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7550287" y="5288164"/>
              <a:ext cx="8572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Design Goals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7150302" y="5802466"/>
              <a:ext cx="3276600" cy="2476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Performance close to CUDA</a:t>
              </a: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，</a:t>
              </a:r>
              <a:r>
                <a:rPr lang="en-US" sz="12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Development cost close to PyTorch</a:t>
              </a:r>
              <a:endParaRPr lang="en-US" sz="110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8728" y="5059591"/>
            <a:ext cx="3827634" cy="1371600"/>
            <a:chOff x="1408728" y="5059591"/>
            <a:chExt cx="3827634" cy="1371600"/>
          </a:xfrm>
        </p:grpSpPr>
        <p:sp>
          <p:nvSpPr>
            <p:cNvPr id="27" name="Freeform 27"/>
            <p:cNvSpPr/>
            <p:nvPr/>
          </p:nvSpPr>
          <p:spPr>
            <a:xfrm>
              <a:off x="1578762" y="5059591"/>
              <a:ext cx="3657600" cy="1371600"/>
            </a:xfrm>
            <a:custGeom>
              <a:avLst/>
              <a:gdLst/>
              <a:ahLst/>
              <a:cxnLst/>
              <a:rect l="l" t="t" r="r" b="b"/>
              <a:pathLst>
                <a:path w="3657600" h="1371600">
                  <a:moveTo>
                    <a:pt x="114295" y="0"/>
                  </a:moveTo>
                  <a:lnTo>
                    <a:pt x="3543305" y="0"/>
                  </a:lnTo>
                  <a:cubicBezTo>
                    <a:pt x="3606386" y="0"/>
                    <a:pt x="3657600" y="51214"/>
                    <a:pt x="3657600" y="114295"/>
                  </a:cubicBezTo>
                  <a:lnTo>
                    <a:pt x="3657600" y="1257305"/>
                  </a:lnTo>
                  <a:cubicBezTo>
                    <a:pt x="3657600" y="1320386"/>
                    <a:pt x="3606386" y="1371600"/>
                    <a:pt x="3543305" y="1371600"/>
                  </a:cubicBezTo>
                  <a:lnTo>
                    <a:pt x="114295" y="1371600"/>
                  </a:lnTo>
                  <a:cubicBezTo>
                    <a:pt x="51214" y="1371600"/>
                    <a:pt x="0" y="1320386"/>
                    <a:pt x="0" y="1257305"/>
                  </a:cubicBezTo>
                  <a:lnTo>
                    <a:pt x="0" y="114295"/>
                  </a:lnTo>
                  <a:cubicBezTo>
                    <a:pt x="0" y="51214"/>
                    <a:pt x="51214" y="0"/>
                    <a:pt x="11429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895724" y="5238950"/>
              <a:ext cx="208490" cy="233362"/>
            </a:xfrm>
            <a:custGeom>
              <a:avLst/>
              <a:gdLst/>
              <a:ahLst/>
              <a:cxnLst/>
              <a:rect l="l" t="t" r="r" b="b"/>
              <a:pathLst>
                <a:path w="208490" h="233362">
                  <a:moveTo>
                    <a:pt x="13031" y="0"/>
                  </a:moveTo>
                  <a:cubicBezTo>
                    <a:pt x="5823" y="0"/>
                    <a:pt x="0" y="7448"/>
                    <a:pt x="0" y="16667"/>
                  </a:cubicBezTo>
                  <a:lnTo>
                    <a:pt x="0" y="208360"/>
                  </a:lnTo>
                  <a:cubicBezTo>
                    <a:pt x="0" y="222163"/>
                    <a:pt x="8755" y="233362"/>
                    <a:pt x="19547" y="233362"/>
                  </a:cubicBezTo>
                  <a:lnTo>
                    <a:pt x="188943" y="233362"/>
                  </a:lnTo>
                  <a:cubicBezTo>
                    <a:pt x="199734" y="233362"/>
                    <a:pt x="208490" y="222163"/>
                    <a:pt x="208490" y="208360"/>
                  </a:cubicBezTo>
                  <a:lnTo>
                    <a:pt x="208490" y="62612"/>
                  </a:lnTo>
                  <a:cubicBezTo>
                    <a:pt x="208490" y="53131"/>
                    <a:pt x="200589" y="47141"/>
                    <a:pt x="194075" y="51621"/>
                  </a:cubicBezTo>
                  <a:lnTo>
                    <a:pt x="130306" y="95533"/>
                  </a:lnTo>
                  <a:lnTo>
                    <a:pt x="130306" y="62612"/>
                  </a:lnTo>
                  <a:cubicBezTo>
                    <a:pt x="130306" y="53131"/>
                    <a:pt x="122405" y="47141"/>
                    <a:pt x="115890" y="51621"/>
                  </a:cubicBezTo>
                  <a:lnTo>
                    <a:pt x="52122" y="95533"/>
                  </a:lnTo>
                  <a:lnTo>
                    <a:pt x="52122" y="16667"/>
                  </a:lnTo>
                  <a:cubicBezTo>
                    <a:pt x="52122" y="7448"/>
                    <a:pt x="46299" y="0"/>
                    <a:pt x="39092" y="0"/>
                  </a:cubicBezTo>
                  <a:lnTo>
                    <a:pt x="13031" y="0"/>
                  </a:lnTo>
                  <a:close/>
                </a:path>
              </a:pathLst>
            </a:custGeom>
            <a:solidFill>
              <a:srgbClr val="8B001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2264535" y="5223533"/>
              <a:ext cx="118110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Applied to</a:t>
              </a:r>
              <a:endParaRPr lang="en-US" sz="1100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408728" y="5746099"/>
              <a:ext cx="1571625" cy="444469"/>
              <a:chOff x="1408728" y="5746099"/>
              <a:chExt cx="1571625" cy="44446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2099340" y="5746099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65484" y="8929"/>
                    </a:moveTo>
                    <a:cubicBezTo>
                      <a:pt x="65484" y="3981"/>
                      <a:pt x="61504" y="0"/>
                      <a:pt x="56554" y="0"/>
                    </a:cubicBezTo>
                    <a:cubicBezTo>
                      <a:pt x="51606" y="0"/>
                      <a:pt x="47625" y="3981"/>
                      <a:pt x="47625" y="8929"/>
                    </a:cubicBezTo>
                    <a:lnTo>
                      <a:pt x="47625" y="23813"/>
                    </a:lnTo>
                    <a:cubicBezTo>
                      <a:pt x="34491" y="23813"/>
                      <a:pt x="23812" y="34491"/>
                      <a:pt x="23812" y="47625"/>
                    </a:cubicBezTo>
                    <a:lnTo>
                      <a:pt x="8929" y="47625"/>
                    </a:lnTo>
                    <a:cubicBezTo>
                      <a:pt x="3981" y="47625"/>
                      <a:pt x="0" y="51606"/>
                      <a:pt x="0" y="56554"/>
                    </a:cubicBezTo>
                    <a:cubicBezTo>
                      <a:pt x="0" y="61504"/>
                      <a:pt x="3981" y="65484"/>
                      <a:pt x="8929" y="65484"/>
                    </a:cubicBezTo>
                    <a:lnTo>
                      <a:pt x="23812" y="65484"/>
                    </a:lnTo>
                    <a:lnTo>
                      <a:pt x="23812" y="86321"/>
                    </a:lnTo>
                    <a:lnTo>
                      <a:pt x="8929" y="86321"/>
                    </a:lnTo>
                    <a:cubicBezTo>
                      <a:pt x="3981" y="86321"/>
                      <a:pt x="0" y="90301"/>
                      <a:pt x="0" y="95250"/>
                    </a:cubicBezTo>
                    <a:cubicBezTo>
                      <a:pt x="0" y="100199"/>
                      <a:pt x="3981" y="104179"/>
                      <a:pt x="8929" y="104179"/>
                    </a:cubicBezTo>
                    <a:lnTo>
                      <a:pt x="23812" y="104179"/>
                    </a:lnTo>
                    <a:lnTo>
                      <a:pt x="23812" y="125016"/>
                    </a:lnTo>
                    <a:lnTo>
                      <a:pt x="8929" y="125016"/>
                    </a:lnTo>
                    <a:cubicBezTo>
                      <a:pt x="3981" y="125016"/>
                      <a:pt x="0" y="128996"/>
                      <a:pt x="0" y="133946"/>
                    </a:cubicBezTo>
                    <a:cubicBezTo>
                      <a:pt x="0" y="138894"/>
                      <a:pt x="3981" y="142875"/>
                      <a:pt x="8929" y="142875"/>
                    </a:cubicBezTo>
                    <a:lnTo>
                      <a:pt x="23812" y="142875"/>
                    </a:lnTo>
                    <a:cubicBezTo>
                      <a:pt x="23812" y="156009"/>
                      <a:pt x="34491" y="166687"/>
                      <a:pt x="47625" y="166687"/>
                    </a:cubicBezTo>
                    <a:lnTo>
                      <a:pt x="47625" y="181571"/>
                    </a:lnTo>
                    <a:cubicBezTo>
                      <a:pt x="47625" y="186519"/>
                      <a:pt x="51606" y="190500"/>
                      <a:pt x="56554" y="190500"/>
                    </a:cubicBezTo>
                    <a:cubicBezTo>
                      <a:pt x="61504" y="190500"/>
                      <a:pt x="65484" y="186519"/>
                      <a:pt x="65484" y="181571"/>
                    </a:cubicBezTo>
                    <a:lnTo>
                      <a:pt x="65484" y="166687"/>
                    </a:lnTo>
                    <a:lnTo>
                      <a:pt x="86321" y="166687"/>
                    </a:lnTo>
                    <a:lnTo>
                      <a:pt x="86321" y="181571"/>
                    </a:lnTo>
                    <a:cubicBezTo>
                      <a:pt x="86321" y="186519"/>
                      <a:pt x="90301" y="190500"/>
                      <a:pt x="95250" y="190500"/>
                    </a:cubicBezTo>
                    <a:cubicBezTo>
                      <a:pt x="100199" y="190500"/>
                      <a:pt x="104179" y="186519"/>
                      <a:pt x="104179" y="181571"/>
                    </a:cubicBezTo>
                    <a:lnTo>
                      <a:pt x="104179" y="166687"/>
                    </a:lnTo>
                    <a:lnTo>
                      <a:pt x="125016" y="166687"/>
                    </a:lnTo>
                    <a:lnTo>
                      <a:pt x="125016" y="181571"/>
                    </a:lnTo>
                    <a:cubicBezTo>
                      <a:pt x="125016" y="186519"/>
                      <a:pt x="128996" y="190500"/>
                      <a:pt x="133946" y="190500"/>
                    </a:cubicBezTo>
                    <a:cubicBezTo>
                      <a:pt x="138894" y="190500"/>
                      <a:pt x="142875" y="186519"/>
                      <a:pt x="142875" y="181571"/>
                    </a:cubicBezTo>
                    <a:lnTo>
                      <a:pt x="142875" y="166687"/>
                    </a:lnTo>
                    <a:cubicBezTo>
                      <a:pt x="156009" y="166687"/>
                      <a:pt x="166688" y="156009"/>
                      <a:pt x="166688" y="142875"/>
                    </a:cubicBezTo>
                    <a:lnTo>
                      <a:pt x="181571" y="142875"/>
                    </a:lnTo>
                    <a:cubicBezTo>
                      <a:pt x="186519" y="142875"/>
                      <a:pt x="190500" y="138894"/>
                      <a:pt x="190500" y="133946"/>
                    </a:cubicBezTo>
                    <a:cubicBezTo>
                      <a:pt x="190500" y="128996"/>
                      <a:pt x="186519" y="125016"/>
                      <a:pt x="181571" y="125016"/>
                    </a:cubicBezTo>
                    <a:lnTo>
                      <a:pt x="166688" y="125016"/>
                    </a:lnTo>
                    <a:lnTo>
                      <a:pt x="166688" y="104179"/>
                    </a:lnTo>
                    <a:lnTo>
                      <a:pt x="181571" y="104179"/>
                    </a:lnTo>
                    <a:cubicBezTo>
                      <a:pt x="186519" y="104179"/>
                      <a:pt x="190500" y="100199"/>
                      <a:pt x="190500" y="95250"/>
                    </a:cubicBezTo>
                    <a:cubicBezTo>
                      <a:pt x="190500" y="90301"/>
                      <a:pt x="186519" y="86321"/>
                      <a:pt x="181571" y="86321"/>
                    </a:cubicBezTo>
                    <a:lnTo>
                      <a:pt x="166688" y="86321"/>
                    </a:lnTo>
                    <a:lnTo>
                      <a:pt x="166688" y="65484"/>
                    </a:lnTo>
                    <a:lnTo>
                      <a:pt x="181571" y="65484"/>
                    </a:lnTo>
                    <a:cubicBezTo>
                      <a:pt x="186519" y="65484"/>
                      <a:pt x="190500" y="61504"/>
                      <a:pt x="190500" y="56554"/>
                    </a:cubicBezTo>
                    <a:cubicBezTo>
                      <a:pt x="190500" y="51606"/>
                      <a:pt x="186519" y="47625"/>
                      <a:pt x="181571" y="47625"/>
                    </a:cubicBezTo>
                    <a:lnTo>
                      <a:pt x="166688" y="47625"/>
                    </a:lnTo>
                    <a:cubicBezTo>
                      <a:pt x="166688" y="34491"/>
                      <a:pt x="156009" y="23813"/>
                      <a:pt x="142875" y="23813"/>
                    </a:cubicBezTo>
                    <a:lnTo>
                      <a:pt x="142875" y="8929"/>
                    </a:lnTo>
                    <a:cubicBezTo>
                      <a:pt x="142875" y="3981"/>
                      <a:pt x="138894" y="0"/>
                      <a:pt x="133946" y="0"/>
                    </a:cubicBezTo>
                    <a:cubicBezTo>
                      <a:pt x="128996" y="0"/>
                      <a:pt x="125016" y="3981"/>
                      <a:pt x="125016" y="8929"/>
                    </a:cubicBezTo>
                    <a:lnTo>
                      <a:pt x="125016" y="23813"/>
                    </a:lnTo>
                    <a:lnTo>
                      <a:pt x="104179" y="23813"/>
                    </a:lnTo>
                    <a:lnTo>
                      <a:pt x="104179" y="8929"/>
                    </a:lnTo>
                    <a:cubicBezTo>
                      <a:pt x="104179" y="3981"/>
                      <a:pt x="100199" y="0"/>
                      <a:pt x="95250" y="0"/>
                    </a:cubicBezTo>
                    <a:cubicBezTo>
                      <a:pt x="90301" y="0"/>
                      <a:pt x="86321" y="3981"/>
                      <a:pt x="86321" y="8929"/>
                    </a:cubicBezTo>
                    <a:lnTo>
                      <a:pt x="86321" y="23813"/>
                    </a:lnTo>
                    <a:lnTo>
                      <a:pt x="65484" y="23813"/>
                    </a:lnTo>
                    <a:lnTo>
                      <a:pt x="65484" y="8929"/>
                    </a:lnTo>
                    <a:close/>
                    <a:moveTo>
                      <a:pt x="59531" y="47625"/>
                    </a:moveTo>
                    <a:lnTo>
                      <a:pt x="130969" y="47625"/>
                    </a:lnTo>
                    <a:cubicBezTo>
                      <a:pt x="137554" y="47625"/>
                      <a:pt x="142875" y="52946"/>
                      <a:pt x="142875" y="59531"/>
                    </a:cubicBezTo>
                    <a:lnTo>
                      <a:pt x="142875" y="130969"/>
                    </a:lnTo>
                    <a:cubicBezTo>
                      <a:pt x="142875" y="137554"/>
                      <a:pt x="137554" y="142875"/>
                      <a:pt x="130969" y="142875"/>
                    </a:cubicBezTo>
                    <a:lnTo>
                      <a:pt x="59531" y="142875"/>
                    </a:lnTo>
                    <a:cubicBezTo>
                      <a:pt x="52946" y="142875"/>
                      <a:pt x="47625" y="137554"/>
                      <a:pt x="47625" y="130969"/>
                    </a:cubicBezTo>
                    <a:lnTo>
                      <a:pt x="47625" y="59531"/>
                    </a:lnTo>
                    <a:cubicBezTo>
                      <a:pt x="47625" y="52946"/>
                      <a:pt x="52946" y="47625"/>
                      <a:pt x="59531" y="47625"/>
                    </a:cubicBezTo>
                    <a:close/>
                    <a:moveTo>
                      <a:pt x="65484" y="65484"/>
                    </a:moveTo>
                    <a:lnTo>
                      <a:pt x="65484" y="125016"/>
                    </a:lnTo>
                    <a:lnTo>
                      <a:pt x="125016" y="125016"/>
                    </a:lnTo>
                    <a:lnTo>
                      <a:pt x="125016" y="65484"/>
                    </a:lnTo>
                    <a:lnTo>
                      <a:pt x="65484" y="65484"/>
                    </a:lnTo>
                    <a:close/>
                  </a:path>
                </a:pathLst>
              </a:custGeom>
              <a:solidFill>
                <a:srgbClr val="E07A5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32" name="AutoShape 32"/>
              <p:cNvSpPr/>
              <p:nvPr/>
            </p:nvSpPr>
            <p:spPr>
              <a:xfrm>
                <a:off x="1408728" y="6000068"/>
                <a:ext cx="157162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ctr">
                  <a:lnSpc>
                    <a:spcPct val="133000"/>
                  </a:lnSpc>
                  <a:defRPr/>
                </a:pPr>
                <a:r>
                  <a:rPr lang="en-US" sz="1100" b="0" i="0" u="none" strike="noStrike">
                    <a:solidFill>
                      <a:srgbClr val="767171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Kernel</a:t>
                </a:r>
                <a:endParaRPr lang="en-US" sz="1100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515047" y="5756525"/>
              <a:ext cx="1571625" cy="444469"/>
              <a:chOff x="2515047" y="5756525"/>
              <a:chExt cx="1571625" cy="44446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3208697" y="5756525"/>
                <a:ext cx="184546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84546" h="190500">
                    <a:moveTo>
                      <a:pt x="41671" y="20836"/>
                    </a:moveTo>
                    <a:cubicBezTo>
                      <a:pt x="41671" y="9340"/>
                      <a:pt x="51009" y="0"/>
                      <a:pt x="62507" y="0"/>
                    </a:cubicBezTo>
                    <a:lnTo>
                      <a:pt x="71437" y="0"/>
                    </a:lnTo>
                    <a:cubicBezTo>
                      <a:pt x="78024" y="0"/>
                      <a:pt x="83344" y="5321"/>
                      <a:pt x="83344" y="11906"/>
                    </a:cubicBezTo>
                    <a:lnTo>
                      <a:pt x="83344" y="178594"/>
                    </a:lnTo>
                    <a:cubicBezTo>
                      <a:pt x="83344" y="185179"/>
                      <a:pt x="78024" y="190500"/>
                      <a:pt x="71437" y="190500"/>
                    </a:cubicBezTo>
                    <a:lnTo>
                      <a:pt x="59531" y="190500"/>
                    </a:lnTo>
                    <a:cubicBezTo>
                      <a:pt x="48443" y="190500"/>
                      <a:pt x="39104" y="182910"/>
                      <a:pt x="36462" y="172641"/>
                    </a:cubicBezTo>
                    <a:cubicBezTo>
                      <a:pt x="36203" y="172641"/>
                      <a:pt x="35979" y="172641"/>
                      <a:pt x="35719" y="172641"/>
                    </a:cubicBezTo>
                    <a:cubicBezTo>
                      <a:pt x="19273" y="172641"/>
                      <a:pt x="5952" y="159321"/>
                      <a:pt x="5952" y="142875"/>
                    </a:cubicBezTo>
                    <a:cubicBezTo>
                      <a:pt x="5952" y="136178"/>
                      <a:pt x="8185" y="130001"/>
                      <a:pt x="11906" y="125016"/>
                    </a:cubicBezTo>
                    <a:cubicBezTo>
                      <a:pt x="4687" y="119583"/>
                      <a:pt x="0" y="110951"/>
                      <a:pt x="0" y="101202"/>
                    </a:cubicBezTo>
                    <a:cubicBezTo>
                      <a:pt x="0" y="89706"/>
                      <a:pt x="6548" y="79698"/>
                      <a:pt x="16073" y="74748"/>
                    </a:cubicBezTo>
                    <a:cubicBezTo>
                      <a:pt x="13431" y="70284"/>
                      <a:pt x="11906" y="65075"/>
                      <a:pt x="11906" y="59531"/>
                    </a:cubicBezTo>
                    <a:cubicBezTo>
                      <a:pt x="11906" y="43086"/>
                      <a:pt x="25226" y="29766"/>
                      <a:pt x="41671" y="29766"/>
                    </a:cubicBezTo>
                    <a:lnTo>
                      <a:pt x="41671" y="20836"/>
                    </a:lnTo>
                    <a:close/>
                    <a:moveTo>
                      <a:pt x="142875" y="20836"/>
                    </a:moveTo>
                    <a:lnTo>
                      <a:pt x="142875" y="29766"/>
                    </a:lnTo>
                    <a:cubicBezTo>
                      <a:pt x="159320" y="29766"/>
                      <a:pt x="172640" y="43086"/>
                      <a:pt x="172640" y="59531"/>
                    </a:cubicBezTo>
                    <a:cubicBezTo>
                      <a:pt x="172640" y="65112"/>
                      <a:pt x="171115" y="70321"/>
                      <a:pt x="168473" y="74748"/>
                    </a:cubicBezTo>
                    <a:cubicBezTo>
                      <a:pt x="178035" y="79698"/>
                      <a:pt x="184546" y="89670"/>
                      <a:pt x="184546" y="101202"/>
                    </a:cubicBezTo>
                    <a:cubicBezTo>
                      <a:pt x="184546" y="110951"/>
                      <a:pt x="179859" y="119583"/>
                      <a:pt x="172640" y="125016"/>
                    </a:cubicBezTo>
                    <a:cubicBezTo>
                      <a:pt x="176361" y="130001"/>
                      <a:pt x="178594" y="136178"/>
                      <a:pt x="178594" y="142875"/>
                    </a:cubicBezTo>
                    <a:cubicBezTo>
                      <a:pt x="178594" y="159321"/>
                      <a:pt x="165273" y="172641"/>
                      <a:pt x="148827" y="172641"/>
                    </a:cubicBezTo>
                    <a:cubicBezTo>
                      <a:pt x="148567" y="172641"/>
                      <a:pt x="148344" y="172641"/>
                      <a:pt x="148084" y="172641"/>
                    </a:cubicBezTo>
                    <a:cubicBezTo>
                      <a:pt x="145442" y="182910"/>
                      <a:pt x="136103" y="190500"/>
                      <a:pt x="125015" y="190500"/>
                    </a:cubicBezTo>
                    <a:lnTo>
                      <a:pt x="113109" y="190500"/>
                    </a:lnTo>
                    <a:cubicBezTo>
                      <a:pt x="106522" y="190500"/>
                      <a:pt x="101202" y="185179"/>
                      <a:pt x="101202" y="178594"/>
                    </a:cubicBezTo>
                    <a:lnTo>
                      <a:pt x="101202" y="11906"/>
                    </a:lnTo>
                    <a:cubicBezTo>
                      <a:pt x="101202" y="5321"/>
                      <a:pt x="106522" y="0"/>
                      <a:pt x="113109" y="0"/>
                    </a:cubicBezTo>
                    <a:lnTo>
                      <a:pt x="122039" y="0"/>
                    </a:lnTo>
                    <a:cubicBezTo>
                      <a:pt x="133537" y="0"/>
                      <a:pt x="142875" y="9340"/>
                      <a:pt x="142875" y="20836"/>
                    </a:cubicBezTo>
                    <a:close/>
                  </a:path>
                </a:pathLst>
              </a:custGeom>
              <a:solidFill>
                <a:srgbClr val="4A6C8C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35" name="AutoShape 35"/>
              <p:cNvSpPr/>
              <p:nvPr/>
            </p:nvSpPr>
            <p:spPr>
              <a:xfrm>
                <a:off x="2515047" y="6010494"/>
                <a:ext cx="157162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ctr">
                  <a:lnSpc>
                    <a:spcPct val="133000"/>
                  </a:lnSpc>
                  <a:defRPr/>
                </a:pPr>
                <a:r>
                  <a:rPr lang="en-US" sz="1100" b="0" i="0" u="none" strike="noStrike">
                    <a:solidFill>
                      <a:srgbClr val="767171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Deep Learning</a:t>
                </a:r>
                <a:endParaRPr lang="en-US" sz="1100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3577000" y="5756524"/>
              <a:ext cx="1571625" cy="457194"/>
              <a:chOff x="3577000" y="5756524"/>
              <a:chExt cx="1571625" cy="45719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4279518" y="5756524"/>
                <a:ext cx="166649" cy="203189"/>
              </a:xfrm>
              <a:custGeom>
                <a:avLst/>
                <a:gdLst/>
                <a:ahLst/>
                <a:cxnLst/>
                <a:rect l="l" t="t" r="r" b="b"/>
                <a:pathLst>
                  <a:path w="166649" h="203189">
                    <a:moveTo>
                      <a:pt x="59717" y="2902"/>
                    </a:moveTo>
                    <a:cubicBezTo>
                      <a:pt x="63177" y="0"/>
                      <a:pt x="68275" y="113"/>
                      <a:pt x="71586" y="3237"/>
                    </a:cubicBezTo>
                    <a:cubicBezTo>
                      <a:pt x="76163" y="7554"/>
                      <a:pt x="80256" y="12316"/>
                      <a:pt x="84200" y="17153"/>
                    </a:cubicBezTo>
                    <a:cubicBezTo>
                      <a:pt x="89223" y="23291"/>
                      <a:pt x="95250" y="31403"/>
                      <a:pt x="101054" y="41040"/>
                    </a:cubicBezTo>
                    <a:cubicBezTo>
                      <a:pt x="102989" y="38509"/>
                      <a:pt x="104775" y="36277"/>
                      <a:pt x="106338" y="34378"/>
                    </a:cubicBezTo>
                    <a:cubicBezTo>
                      <a:pt x="106747" y="33896"/>
                      <a:pt x="107156" y="33375"/>
                      <a:pt x="107566" y="32854"/>
                    </a:cubicBezTo>
                    <a:cubicBezTo>
                      <a:pt x="110505" y="29208"/>
                      <a:pt x="114151" y="24631"/>
                      <a:pt x="119024" y="24631"/>
                    </a:cubicBezTo>
                    <a:cubicBezTo>
                      <a:pt x="124010" y="24631"/>
                      <a:pt x="127508" y="29058"/>
                      <a:pt x="130485" y="32854"/>
                    </a:cubicBezTo>
                    <a:cubicBezTo>
                      <a:pt x="130969" y="33487"/>
                      <a:pt x="131453" y="34083"/>
                      <a:pt x="131936" y="34640"/>
                    </a:cubicBezTo>
                    <a:cubicBezTo>
                      <a:pt x="135768" y="39254"/>
                      <a:pt x="140866" y="45914"/>
                      <a:pt x="145962" y="54136"/>
                    </a:cubicBezTo>
                    <a:cubicBezTo>
                      <a:pt x="156083" y="70471"/>
                      <a:pt x="166649" y="93726"/>
                      <a:pt x="166649" y="119844"/>
                    </a:cubicBezTo>
                    <a:cubicBezTo>
                      <a:pt x="166649" y="165869"/>
                      <a:pt x="129332" y="203188"/>
                      <a:pt x="83307" y="203188"/>
                    </a:cubicBezTo>
                    <a:cubicBezTo>
                      <a:pt x="37281" y="203188"/>
                      <a:pt x="0" y="165906"/>
                      <a:pt x="0" y="119881"/>
                    </a:cubicBezTo>
                    <a:cubicBezTo>
                      <a:pt x="0" y="85986"/>
                      <a:pt x="15292" y="56629"/>
                      <a:pt x="29952" y="36165"/>
                    </a:cubicBezTo>
                    <a:cubicBezTo>
                      <a:pt x="37356" y="25859"/>
                      <a:pt x="44723" y="17599"/>
                      <a:pt x="50267" y="11944"/>
                    </a:cubicBezTo>
                    <a:cubicBezTo>
                      <a:pt x="53318" y="8818"/>
                      <a:pt x="56406" y="5730"/>
                      <a:pt x="59754" y="2940"/>
                    </a:cubicBezTo>
                    <a:close/>
                    <a:moveTo>
                      <a:pt x="83976" y="167506"/>
                    </a:moveTo>
                    <a:cubicBezTo>
                      <a:pt x="93389" y="167506"/>
                      <a:pt x="101724" y="164901"/>
                      <a:pt x="109576" y="159693"/>
                    </a:cubicBezTo>
                    <a:cubicBezTo>
                      <a:pt x="125239" y="148753"/>
                      <a:pt x="129443" y="126876"/>
                      <a:pt x="120030" y="109687"/>
                    </a:cubicBezTo>
                    <a:cubicBezTo>
                      <a:pt x="118356" y="106338"/>
                      <a:pt x="114076" y="106114"/>
                      <a:pt x="111658" y="108941"/>
                    </a:cubicBezTo>
                    <a:lnTo>
                      <a:pt x="102282" y="119844"/>
                    </a:lnTo>
                    <a:cubicBezTo>
                      <a:pt x="99826" y="122671"/>
                      <a:pt x="95399" y="122597"/>
                      <a:pt x="93092" y="119658"/>
                    </a:cubicBezTo>
                    <a:cubicBezTo>
                      <a:pt x="86655" y="111434"/>
                      <a:pt x="74823" y="96441"/>
                      <a:pt x="68796" y="88776"/>
                    </a:cubicBezTo>
                    <a:cubicBezTo>
                      <a:pt x="66787" y="86208"/>
                      <a:pt x="63141" y="85800"/>
                      <a:pt x="60796" y="88069"/>
                    </a:cubicBezTo>
                    <a:cubicBezTo>
                      <a:pt x="53986" y="94692"/>
                      <a:pt x="41634" y="109203"/>
                      <a:pt x="41634" y="126876"/>
                    </a:cubicBezTo>
                    <a:cubicBezTo>
                      <a:pt x="41634" y="152400"/>
                      <a:pt x="60461" y="167506"/>
                      <a:pt x="83939" y="167506"/>
                    </a:cubicBezTo>
                    <a:close/>
                  </a:path>
                </a:pathLst>
              </a:custGeom>
              <a:solidFill>
                <a:srgbClr val="E07A5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38" name="AutoShape 38"/>
              <p:cNvSpPr/>
              <p:nvPr/>
            </p:nvSpPr>
            <p:spPr>
              <a:xfrm>
                <a:off x="3577000" y="6023218"/>
                <a:ext cx="157162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ctr">
                  <a:lnSpc>
                    <a:spcPct val="133000"/>
                  </a:lnSpc>
                  <a:defRPr/>
                </a:pPr>
                <a:r>
                  <a:rPr lang="en-US" sz="1100" b="0" i="0" u="none" strike="noStrike">
                    <a:solidFill>
                      <a:srgbClr val="767171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PyTorch</a:t>
                </a:r>
                <a:endParaRPr lang="en-US" sz="1100"/>
              </a:p>
            </p:txBody>
          </p:sp>
        </p:grpSp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9796" y="623039"/>
            <a:ext cx="10529386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 Execution Model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0956" y="1694493"/>
            <a:ext cx="11515725" cy="276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 basic execution unit </a:t>
            </a:r>
            <a:r>
              <a:rPr lang="en-US" sz="15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</a:t>
            </a: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, multiple programs form a </a:t>
            </a:r>
            <a:r>
              <a:rPr lang="en-US" sz="15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grid</a:t>
            </a: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, each program handles one data block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380956" y="2354076"/>
            <a:ext cx="11430000" cy="2771775"/>
          </a:xfrm>
          <a:custGeom>
            <a:avLst/>
            <a:gdLst/>
            <a:ahLst/>
            <a:cxnLst/>
            <a:rect l="l" t="t" r="r" b="b"/>
            <a:pathLst>
              <a:path w="11430000" h="2771775">
                <a:moveTo>
                  <a:pt x="114308" y="0"/>
                </a:moveTo>
                <a:lnTo>
                  <a:pt x="11315692" y="0"/>
                </a:lnTo>
                <a:cubicBezTo>
                  <a:pt x="11378823" y="0"/>
                  <a:pt x="11430000" y="51177"/>
                  <a:pt x="11430000" y="114308"/>
                </a:cubicBezTo>
                <a:lnTo>
                  <a:pt x="11430000" y="2657467"/>
                </a:lnTo>
                <a:cubicBezTo>
                  <a:pt x="11430000" y="2720598"/>
                  <a:pt x="11378823" y="2771775"/>
                  <a:pt x="11315692" y="2771775"/>
                </a:cubicBezTo>
                <a:lnTo>
                  <a:pt x="114308" y="2771775"/>
                </a:lnTo>
                <a:cubicBezTo>
                  <a:pt x="51177" y="2771775"/>
                  <a:pt x="0" y="2720598"/>
                  <a:pt x="0" y="265746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09529" y="2582649"/>
          <a:ext cx="10972800" cy="231457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153025"/>
                <a:gridCol w="1733550"/>
                <a:gridCol w="4086225"/>
              </a:tblGrid>
              <a:tr h="57864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01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CUDA Concept</a:t>
                      </a:r>
                      <a:endParaRPr lang="en-US" sz="1100"/>
                    </a:p>
                  </a:txBody>
                  <a:tcPr marL="152400" marR="152400" marT="114300" marB="1143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⇄</a:t>
                      </a:r>
                      <a:endParaRPr lang="en-US" sz="1100"/>
                    </a:p>
                  </a:txBody>
                  <a:tcPr marL="152400" marR="152400" marT="114300" marB="1143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018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Triton Concept</a:t>
                      </a:r>
                      <a:endParaRPr lang="en-US" sz="1100"/>
                    </a:p>
                  </a:txBody>
                  <a:tcPr marL="152400" marR="152400" marT="114300" marB="1143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thread block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=</a:t>
                      </a:r>
                      <a:endParaRPr lang="en-US" sz="1100"/>
                    </a:p>
                  </a:txBody>
                  <a:tcPr marL="0" marR="0" marT="0" marB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program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2527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blockIdx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=</a:t>
                      </a:r>
                      <a:endParaRPr lang="en-US" sz="1100"/>
                    </a:p>
                  </a:txBody>
                  <a:tcPr marL="0" marR="0" marT="0" marB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program_id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78644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gridDim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9A1A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=</a:t>
                      </a:r>
                      <a:endParaRPr lang="en-US" sz="1100"/>
                    </a:p>
                  </a:txBody>
                  <a:tcPr marL="0" marR="0" marT="0" marB="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6415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微软雅黑" panose="020B0503020204020204" charset="-122"/>
                        </a:rPr>
                        <a:t>launch grid</a:t>
                      </a:r>
                      <a:endParaRPr lang="en-US" sz="1100"/>
                    </a:p>
                  </a:txBody>
                  <a:tcPr marL="152400" marR="152400" marT="152400" marB="15240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63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380956" y="5353739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457197"/>
                </a:lnTo>
                <a:cubicBezTo>
                  <a:pt x="11430000" y="499283"/>
                  <a:pt x="11395883" y="533400"/>
                  <a:pt x="11353797" y="533400"/>
                </a:cubicBezTo>
                <a:lnTo>
                  <a:pt x="76203" y="533400"/>
                </a:lnTo>
                <a:cubicBezTo>
                  <a:pt x="34117" y="533400"/>
                  <a:pt x="0" y="499283"/>
                  <a:pt x="0" y="4571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90488" y="5506123"/>
            <a:ext cx="171450" cy="235744"/>
          </a:xfrm>
          <a:custGeom>
            <a:avLst/>
            <a:gdLst/>
            <a:ahLst/>
            <a:cxnLst/>
            <a:rect l="l" t="t" r="r" b="b"/>
            <a:pathLst>
              <a:path w="171450" h="235744">
                <a:moveTo>
                  <a:pt x="130774" y="171450"/>
                </a:moveTo>
                <a:cubicBezTo>
                  <a:pt x="134035" y="161493"/>
                  <a:pt x="140553" y="152474"/>
                  <a:pt x="147919" y="144706"/>
                </a:cubicBezTo>
                <a:cubicBezTo>
                  <a:pt x="162521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29" y="129347"/>
                  <a:pt x="23531" y="144706"/>
                </a:cubicBezTo>
                <a:cubicBezTo>
                  <a:pt x="30897" y="152474"/>
                  <a:pt x="37460" y="161493"/>
                  <a:pt x="40676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2" y="192881"/>
                </a:lnTo>
                <a:lnTo>
                  <a:pt x="42862" y="200025"/>
                </a:lnTo>
                <a:cubicBezTo>
                  <a:pt x="42862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2" y="50006"/>
                </a:moveTo>
                <a:cubicBezTo>
                  <a:pt x="64383" y="50006"/>
                  <a:pt x="50006" y="64383"/>
                  <a:pt x="50006" y="82152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1" y="92869"/>
                  <a:pt x="28575" y="88091"/>
                  <a:pt x="28575" y="82152"/>
                </a:cubicBezTo>
                <a:cubicBezTo>
                  <a:pt x="28575" y="52551"/>
                  <a:pt x="52551" y="28575"/>
                  <a:pt x="82152" y="28575"/>
                </a:cubicBezTo>
                <a:cubicBezTo>
                  <a:pt x="88091" y="28575"/>
                  <a:pt x="92869" y="33351"/>
                  <a:pt x="92869" y="39291"/>
                </a:cubicBezTo>
                <a:cubicBezTo>
                  <a:pt x="92869" y="45229"/>
                  <a:pt x="88091" y="50006"/>
                  <a:pt x="82152" y="5000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71455" y="5506123"/>
            <a:ext cx="9565624" cy="15211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Key Insight:</a:t>
            </a:r>
            <a:r>
              <a:rPr lang="en-US" sz="12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Triton's program corresponds to CUDA's thread block, but Triton operates on data in a vectorized manner rather than per-thread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80956" y="6324603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6897" y="62303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Vector Add Problem Definition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56854"/>
            <a:ext cx="3916625" cy="1575526"/>
          </a:xfrm>
          <a:custGeom>
            <a:avLst/>
            <a:gdLst/>
            <a:ahLst/>
            <a:cxnLst/>
            <a:rect l="l" t="t" r="r" b="b"/>
            <a:pathLst>
              <a:path w="3916625" h="1575526">
                <a:moveTo>
                  <a:pt x="147805" y="0"/>
                </a:moveTo>
                <a:lnTo>
                  <a:pt x="3768822" y="0"/>
                </a:lnTo>
                <a:cubicBezTo>
                  <a:pt x="3850452" y="0"/>
                  <a:pt x="3916625" y="47028"/>
                  <a:pt x="3916625" y="105040"/>
                </a:cubicBezTo>
                <a:lnTo>
                  <a:pt x="3916625" y="1470486"/>
                </a:lnTo>
                <a:cubicBezTo>
                  <a:pt x="3916625" y="1528498"/>
                  <a:pt x="3850452" y="1575526"/>
                  <a:pt x="3768822" y="1575526"/>
                </a:cubicBezTo>
                <a:lnTo>
                  <a:pt x="147805" y="1575526"/>
                </a:lnTo>
                <a:cubicBezTo>
                  <a:pt x="66175" y="1575526"/>
                  <a:pt x="0" y="1528498"/>
                  <a:pt x="0" y="1470486"/>
                </a:cubicBezTo>
                <a:lnTo>
                  <a:pt x="0" y="105040"/>
                </a:lnTo>
                <a:cubicBezTo>
                  <a:pt x="0" y="47067"/>
                  <a:pt x="66229" y="0"/>
                  <a:pt x="14780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494853" y="1522995"/>
            <a:ext cx="3514725" cy="1180919"/>
            <a:chOff x="494853" y="1522995"/>
            <a:chExt cx="3514725" cy="1180919"/>
          </a:xfrm>
        </p:grpSpPr>
        <p:sp>
          <p:nvSpPr>
            <p:cNvPr id="5" name="Freeform 5"/>
            <p:cNvSpPr/>
            <p:nvPr/>
          </p:nvSpPr>
          <p:spPr>
            <a:xfrm>
              <a:off x="556671" y="1522995"/>
              <a:ext cx="3409855" cy="762000"/>
            </a:xfrm>
            <a:custGeom>
              <a:avLst/>
              <a:gdLst/>
              <a:ahLst/>
              <a:cxnLst/>
              <a:rect l="l" t="t" r="r" b="b"/>
              <a:pathLst>
                <a:path w="3409855" h="762000">
                  <a:moveTo>
                    <a:pt x="37909" y="0"/>
                  </a:moveTo>
                  <a:lnTo>
                    <a:pt x="3333655" y="0"/>
                  </a:lnTo>
                  <a:cubicBezTo>
                    <a:pt x="3375711" y="0"/>
                    <a:pt x="3409855" y="34144"/>
                    <a:pt x="3409855" y="76200"/>
                  </a:cubicBezTo>
                  <a:lnTo>
                    <a:pt x="3409855" y="685800"/>
                  </a:lnTo>
                  <a:cubicBezTo>
                    <a:pt x="3409855" y="727856"/>
                    <a:pt x="3375711" y="762000"/>
                    <a:pt x="3333655" y="762000"/>
                  </a:cubicBezTo>
                  <a:lnTo>
                    <a:pt x="37909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Freeform 6"/>
            <p:cNvSpPr/>
            <p:nvPr/>
          </p:nvSpPr>
          <p:spPr>
            <a:xfrm>
              <a:off x="556671" y="1522995"/>
              <a:ext cx="37909" cy="762000"/>
            </a:xfrm>
            <a:custGeom>
              <a:avLst/>
              <a:gdLst/>
              <a:ahLst/>
              <a:cxnLst/>
              <a:rect l="l" t="t" r="r" b="b"/>
              <a:pathLst>
                <a:path w="37909" h="762000">
                  <a:moveTo>
                    <a:pt x="37909" y="0"/>
                  </a:moveTo>
                  <a:lnTo>
                    <a:pt x="37909" y="0"/>
                  </a:lnTo>
                  <a:lnTo>
                    <a:pt x="37909" y="762000"/>
                  </a:lnTo>
                  <a:lnTo>
                    <a:pt x="37909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747049" y="1751567"/>
              <a:ext cx="30480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c[i] = a[i] + b[i]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494853" y="2437214"/>
              <a:ext cx="35147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Element-wise addition of two vectors, storing results in a third vector</a:t>
              </a:r>
              <a:endParaRPr lang="en-US" sz="11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80956" y="3052629"/>
            <a:ext cx="5325128" cy="1575128"/>
            <a:chOff x="380956" y="3052629"/>
            <a:chExt cx="5325128" cy="1575128"/>
          </a:xfrm>
        </p:grpSpPr>
        <p:sp>
          <p:nvSpPr>
            <p:cNvPr id="10" name="Freeform 10"/>
            <p:cNvSpPr/>
            <p:nvPr/>
          </p:nvSpPr>
          <p:spPr>
            <a:xfrm>
              <a:off x="380956" y="3052629"/>
              <a:ext cx="5144185" cy="1485688"/>
            </a:xfrm>
            <a:custGeom>
              <a:avLst/>
              <a:gdLst/>
              <a:ahLst/>
              <a:cxnLst/>
              <a:rect l="l" t="t" r="r" b="b"/>
              <a:pathLst>
                <a:path w="5144185" h="1485688">
                  <a:moveTo>
                    <a:pt x="105694" y="0"/>
                  </a:moveTo>
                  <a:lnTo>
                    <a:pt x="5038489" y="0"/>
                  </a:lnTo>
                  <a:cubicBezTo>
                    <a:pt x="5096863" y="0"/>
                    <a:pt x="5144185" y="37648"/>
                    <a:pt x="5144185" y="84089"/>
                  </a:cubicBezTo>
                  <a:lnTo>
                    <a:pt x="5144185" y="1401599"/>
                  </a:lnTo>
                  <a:cubicBezTo>
                    <a:pt x="5144185" y="1448040"/>
                    <a:pt x="5096863" y="1485688"/>
                    <a:pt x="5038489" y="1485688"/>
                  </a:cubicBezTo>
                  <a:lnTo>
                    <a:pt x="105694" y="1485688"/>
                  </a:lnTo>
                  <a:cubicBezTo>
                    <a:pt x="47321" y="1485688"/>
                    <a:pt x="0" y="1448040"/>
                    <a:pt x="0" y="1401599"/>
                  </a:cubicBezTo>
                  <a:lnTo>
                    <a:pt x="0" y="84089"/>
                  </a:lnTo>
                  <a:cubicBezTo>
                    <a:pt x="0" y="37680"/>
                    <a:pt x="47361" y="0"/>
                    <a:pt x="105694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93091" y="3281201"/>
              <a:ext cx="249531" cy="228600"/>
            </a:xfrm>
            <a:custGeom>
              <a:avLst/>
              <a:gdLst/>
              <a:ahLst/>
              <a:cxnLst/>
              <a:rect l="l" t="t" r="r" b="b"/>
              <a:pathLst>
                <a:path w="249531" h="228600">
                  <a:moveTo>
                    <a:pt x="218340" y="114300"/>
                  </a:moveTo>
                  <a:cubicBezTo>
                    <a:pt x="218340" y="66987"/>
                    <a:pt x="176411" y="28575"/>
                    <a:pt x="124766" y="28575"/>
                  </a:cubicBezTo>
                  <a:cubicBezTo>
                    <a:pt x="73120" y="28575"/>
                    <a:pt x="31191" y="66987"/>
                    <a:pt x="31191" y="114300"/>
                  </a:cubicBezTo>
                  <a:cubicBezTo>
                    <a:pt x="31191" y="161613"/>
                    <a:pt x="73120" y="200025"/>
                    <a:pt x="124766" y="200025"/>
                  </a:cubicBezTo>
                  <a:cubicBezTo>
                    <a:pt x="176411" y="200025"/>
                    <a:pt x="218340" y="161613"/>
                    <a:pt x="218340" y="114300"/>
                  </a:cubicBezTo>
                  <a:close/>
                  <a:moveTo>
                    <a:pt x="0" y="114300"/>
                  </a:moveTo>
                  <a:cubicBezTo>
                    <a:pt x="0" y="51217"/>
                    <a:pt x="55905" y="0"/>
                    <a:pt x="124766" y="0"/>
                  </a:cubicBezTo>
                  <a:cubicBezTo>
                    <a:pt x="193625" y="0"/>
                    <a:pt x="249531" y="51217"/>
                    <a:pt x="249531" y="114300"/>
                  </a:cubicBezTo>
                  <a:cubicBezTo>
                    <a:pt x="249531" y="177383"/>
                    <a:pt x="193625" y="228600"/>
                    <a:pt x="124766" y="228600"/>
                  </a:cubicBezTo>
                  <a:cubicBezTo>
                    <a:pt x="55905" y="228600"/>
                    <a:pt x="0" y="177383"/>
                    <a:pt x="0" y="114300"/>
                  </a:cubicBezTo>
                  <a:close/>
                  <a:moveTo>
                    <a:pt x="124766" y="150019"/>
                  </a:moveTo>
                  <a:cubicBezTo>
                    <a:pt x="146285" y="150019"/>
                    <a:pt x="163755" y="134014"/>
                    <a:pt x="163755" y="114300"/>
                  </a:cubicBezTo>
                  <a:cubicBezTo>
                    <a:pt x="163755" y="94586"/>
                    <a:pt x="146285" y="78581"/>
                    <a:pt x="124766" y="78581"/>
                  </a:cubicBezTo>
                  <a:cubicBezTo>
                    <a:pt x="103246" y="78581"/>
                    <a:pt x="85776" y="94586"/>
                    <a:pt x="85776" y="114300"/>
                  </a:cubicBezTo>
                  <a:cubicBezTo>
                    <a:pt x="85776" y="134014"/>
                    <a:pt x="103246" y="150019"/>
                    <a:pt x="124766" y="150019"/>
                  </a:cubicBezTo>
                  <a:close/>
                  <a:moveTo>
                    <a:pt x="124766" y="50006"/>
                  </a:moveTo>
                  <a:cubicBezTo>
                    <a:pt x="163500" y="50006"/>
                    <a:pt x="194946" y="78815"/>
                    <a:pt x="194946" y="114300"/>
                  </a:cubicBezTo>
                  <a:cubicBezTo>
                    <a:pt x="194946" y="149785"/>
                    <a:pt x="163500" y="178594"/>
                    <a:pt x="124766" y="178594"/>
                  </a:cubicBezTo>
                  <a:cubicBezTo>
                    <a:pt x="86031" y="178594"/>
                    <a:pt x="54585" y="149785"/>
                    <a:pt x="54585" y="114300"/>
                  </a:cubicBezTo>
                  <a:cubicBezTo>
                    <a:pt x="54585" y="78815"/>
                    <a:pt x="86031" y="50006"/>
                    <a:pt x="124766" y="50006"/>
                  </a:cubicBezTo>
                  <a:close/>
                  <a:moveTo>
                    <a:pt x="109170" y="114300"/>
                  </a:moveTo>
                  <a:cubicBezTo>
                    <a:pt x="109170" y="106415"/>
                    <a:pt x="116158" y="100013"/>
                    <a:pt x="124766" y="100013"/>
                  </a:cubicBezTo>
                  <a:cubicBezTo>
                    <a:pt x="133373" y="100013"/>
                    <a:pt x="140362" y="106415"/>
                    <a:pt x="140362" y="114300"/>
                  </a:cubicBezTo>
                  <a:cubicBezTo>
                    <a:pt x="140362" y="122185"/>
                    <a:pt x="133373" y="128587"/>
                    <a:pt x="124766" y="128587"/>
                  </a:cubicBezTo>
                  <a:cubicBezTo>
                    <a:pt x="116158" y="128587"/>
                    <a:pt x="109170" y="122185"/>
                    <a:pt x="109170" y="11430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998508" y="3262172"/>
              <a:ext cx="719828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Goals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561900" y="3681260"/>
              <a:ext cx="280722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32255" y="3681260"/>
              <a:ext cx="4873829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Parallel computation</a:t>
              </a: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fully leverage GPU parallel capabilities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561900" y="4062216"/>
              <a:ext cx="280722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827070" y="4142070"/>
              <a:ext cx="4692886" cy="48568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36415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Block processing</a:t>
              </a:r>
              <a:r>
                <a:rPr lang="en-US" sz="1400" b="0" i="0" u="none" strike="noStrike">
                  <a:solidFill>
                    <a:srgbClr val="36415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: each program handles BLOCK_SIZE elements</a:t>
              </a:r>
              <a:endParaRPr lang="en-US" sz="11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0803" y="4662117"/>
            <a:ext cx="5202197" cy="2019300"/>
            <a:chOff x="400803" y="4662117"/>
            <a:chExt cx="5202197" cy="2019300"/>
          </a:xfrm>
        </p:grpSpPr>
        <p:sp>
          <p:nvSpPr>
            <p:cNvPr id="18" name="Freeform 18"/>
            <p:cNvSpPr/>
            <p:nvPr/>
          </p:nvSpPr>
          <p:spPr>
            <a:xfrm>
              <a:off x="400803" y="4662117"/>
              <a:ext cx="5202197" cy="2019300"/>
            </a:xfrm>
            <a:custGeom>
              <a:avLst/>
              <a:gdLst/>
              <a:ahLst/>
              <a:cxnLst/>
              <a:rect l="l" t="t" r="r" b="b"/>
              <a:pathLst>
                <a:path w="5202197" h="2019300">
                  <a:moveTo>
                    <a:pt x="106887" y="0"/>
                  </a:moveTo>
                  <a:lnTo>
                    <a:pt x="5095310" y="0"/>
                  </a:lnTo>
                  <a:cubicBezTo>
                    <a:pt x="5154342" y="0"/>
                    <a:pt x="5202197" y="51170"/>
                    <a:pt x="5202197" y="114292"/>
                  </a:cubicBezTo>
                  <a:lnTo>
                    <a:pt x="5202197" y="1905008"/>
                  </a:lnTo>
                  <a:cubicBezTo>
                    <a:pt x="5202197" y="1968130"/>
                    <a:pt x="5154342" y="2019300"/>
                    <a:pt x="5095310" y="2019300"/>
                  </a:cubicBezTo>
                  <a:lnTo>
                    <a:pt x="106887" y="2019300"/>
                  </a:lnTo>
                  <a:cubicBezTo>
                    <a:pt x="47855" y="2019300"/>
                    <a:pt x="0" y="1968130"/>
                    <a:pt x="0" y="1905008"/>
                  </a:cubicBezTo>
                  <a:lnTo>
                    <a:pt x="0" y="114292"/>
                  </a:lnTo>
                  <a:cubicBezTo>
                    <a:pt x="0" y="51213"/>
                    <a:pt x="47896" y="0"/>
                    <a:pt x="106887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1291" y="4924006"/>
              <a:ext cx="213789" cy="200025"/>
            </a:xfrm>
            <a:custGeom>
              <a:avLst/>
              <a:gdLst/>
              <a:ahLst/>
              <a:cxnLst/>
              <a:rect l="l" t="t" r="r" b="b"/>
              <a:pathLst>
                <a:path w="213789" h="200025">
                  <a:moveTo>
                    <a:pt x="80171" y="14287"/>
                  </a:moveTo>
                  <a:cubicBezTo>
                    <a:pt x="80171" y="6384"/>
                    <a:pt x="86142" y="0"/>
                    <a:pt x="93533" y="0"/>
                  </a:cubicBezTo>
                  <a:lnTo>
                    <a:pt x="120256" y="0"/>
                  </a:lnTo>
                  <a:cubicBezTo>
                    <a:pt x="127646" y="0"/>
                    <a:pt x="133618" y="6384"/>
                    <a:pt x="133618" y="14287"/>
                  </a:cubicBezTo>
                  <a:lnTo>
                    <a:pt x="133618" y="42862"/>
                  </a:lnTo>
                  <a:cubicBezTo>
                    <a:pt x="133618" y="50765"/>
                    <a:pt x="127646" y="57150"/>
                    <a:pt x="120256" y="57150"/>
                  </a:cubicBezTo>
                  <a:lnTo>
                    <a:pt x="116916" y="57150"/>
                  </a:lnTo>
                  <a:lnTo>
                    <a:pt x="116916" y="85724"/>
                  </a:lnTo>
                  <a:lnTo>
                    <a:pt x="167023" y="85724"/>
                  </a:lnTo>
                  <a:cubicBezTo>
                    <a:pt x="183642" y="85724"/>
                    <a:pt x="197087" y="100101"/>
                    <a:pt x="197087" y="117871"/>
                  </a:cubicBezTo>
                  <a:lnTo>
                    <a:pt x="197087" y="142874"/>
                  </a:lnTo>
                  <a:lnTo>
                    <a:pt x="200428" y="142874"/>
                  </a:lnTo>
                  <a:cubicBezTo>
                    <a:pt x="207818" y="142874"/>
                    <a:pt x="213789" y="149259"/>
                    <a:pt x="213789" y="157162"/>
                  </a:cubicBezTo>
                  <a:lnTo>
                    <a:pt x="213789" y="185737"/>
                  </a:lnTo>
                  <a:cubicBezTo>
                    <a:pt x="213789" y="193640"/>
                    <a:pt x="207818" y="200024"/>
                    <a:pt x="200428" y="200024"/>
                  </a:cubicBezTo>
                  <a:lnTo>
                    <a:pt x="173704" y="200024"/>
                  </a:lnTo>
                  <a:cubicBezTo>
                    <a:pt x="166313" y="200024"/>
                    <a:pt x="160341" y="193640"/>
                    <a:pt x="160341" y="185737"/>
                  </a:cubicBezTo>
                  <a:lnTo>
                    <a:pt x="160341" y="157162"/>
                  </a:lnTo>
                  <a:cubicBezTo>
                    <a:pt x="160341" y="149259"/>
                    <a:pt x="166313" y="142874"/>
                    <a:pt x="173704" y="142874"/>
                  </a:cubicBezTo>
                  <a:lnTo>
                    <a:pt x="177043" y="142874"/>
                  </a:lnTo>
                  <a:lnTo>
                    <a:pt x="177043" y="117871"/>
                  </a:lnTo>
                  <a:cubicBezTo>
                    <a:pt x="177043" y="111933"/>
                    <a:pt x="172576" y="107156"/>
                    <a:pt x="167023" y="107156"/>
                  </a:cubicBezTo>
                  <a:lnTo>
                    <a:pt x="116916" y="107156"/>
                  </a:lnTo>
                  <a:lnTo>
                    <a:pt x="116916" y="142874"/>
                  </a:lnTo>
                  <a:lnTo>
                    <a:pt x="120256" y="142874"/>
                  </a:lnTo>
                  <a:cubicBezTo>
                    <a:pt x="127646" y="142874"/>
                    <a:pt x="133618" y="149259"/>
                    <a:pt x="133618" y="157162"/>
                  </a:cubicBezTo>
                  <a:lnTo>
                    <a:pt x="133618" y="185737"/>
                  </a:lnTo>
                  <a:cubicBezTo>
                    <a:pt x="133618" y="193640"/>
                    <a:pt x="127646" y="200024"/>
                    <a:pt x="120256" y="200024"/>
                  </a:cubicBezTo>
                  <a:lnTo>
                    <a:pt x="93533" y="200024"/>
                  </a:lnTo>
                  <a:cubicBezTo>
                    <a:pt x="86142" y="200024"/>
                    <a:pt x="80171" y="193640"/>
                    <a:pt x="80171" y="185737"/>
                  </a:cubicBezTo>
                  <a:lnTo>
                    <a:pt x="80171" y="157162"/>
                  </a:lnTo>
                  <a:cubicBezTo>
                    <a:pt x="80171" y="149259"/>
                    <a:pt x="86142" y="142874"/>
                    <a:pt x="93533" y="142874"/>
                  </a:cubicBezTo>
                  <a:lnTo>
                    <a:pt x="96873" y="142874"/>
                  </a:lnTo>
                  <a:lnTo>
                    <a:pt x="96873" y="107156"/>
                  </a:lnTo>
                  <a:lnTo>
                    <a:pt x="46766" y="107156"/>
                  </a:lnTo>
                  <a:cubicBezTo>
                    <a:pt x="41213" y="107156"/>
                    <a:pt x="36745" y="111933"/>
                    <a:pt x="36745" y="117871"/>
                  </a:cubicBezTo>
                  <a:lnTo>
                    <a:pt x="36745" y="142874"/>
                  </a:lnTo>
                  <a:lnTo>
                    <a:pt x="40086" y="142874"/>
                  </a:lnTo>
                  <a:cubicBezTo>
                    <a:pt x="47476" y="142874"/>
                    <a:pt x="53447" y="149259"/>
                    <a:pt x="53447" y="157162"/>
                  </a:cubicBezTo>
                  <a:lnTo>
                    <a:pt x="53447" y="185737"/>
                  </a:lnTo>
                  <a:cubicBezTo>
                    <a:pt x="53447" y="193640"/>
                    <a:pt x="47476" y="200024"/>
                    <a:pt x="40086" y="200024"/>
                  </a:cubicBezTo>
                  <a:lnTo>
                    <a:pt x="13362" y="200024"/>
                  </a:lnTo>
                  <a:cubicBezTo>
                    <a:pt x="5972" y="200024"/>
                    <a:pt x="0" y="193640"/>
                    <a:pt x="0" y="185737"/>
                  </a:cubicBezTo>
                  <a:lnTo>
                    <a:pt x="0" y="157162"/>
                  </a:lnTo>
                  <a:cubicBezTo>
                    <a:pt x="0" y="149259"/>
                    <a:pt x="5972" y="142874"/>
                    <a:pt x="13362" y="142874"/>
                  </a:cubicBezTo>
                  <a:lnTo>
                    <a:pt x="16702" y="142874"/>
                  </a:lnTo>
                  <a:lnTo>
                    <a:pt x="16702" y="117871"/>
                  </a:lnTo>
                  <a:cubicBezTo>
                    <a:pt x="16702" y="100101"/>
                    <a:pt x="30147" y="85724"/>
                    <a:pt x="46766" y="85724"/>
                  </a:cubicBezTo>
                  <a:lnTo>
                    <a:pt x="96873" y="85724"/>
                  </a:lnTo>
                  <a:lnTo>
                    <a:pt x="96873" y="57150"/>
                  </a:lnTo>
                  <a:lnTo>
                    <a:pt x="93533" y="57150"/>
                  </a:lnTo>
                  <a:cubicBezTo>
                    <a:pt x="86142" y="57150"/>
                    <a:pt x="80171" y="50765"/>
                    <a:pt x="80171" y="42862"/>
                  </a:cubicBezTo>
                  <a:lnTo>
                    <a:pt x="80171" y="14287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988638" y="4890689"/>
              <a:ext cx="2337569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Parallel Strategy</a:t>
              </a:r>
              <a:endParaRPr lang="en-US" sz="1100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14568" y="5309777"/>
              <a:ext cx="285051" cy="304800"/>
            </a:xfrm>
            <a:custGeom>
              <a:avLst/>
              <a:gdLst/>
              <a:ahLst/>
              <a:cxnLst/>
              <a:rect l="l" t="t" r="r" b="b"/>
              <a:pathLst>
                <a:path w="285051" h="304800">
                  <a:moveTo>
                    <a:pt x="35631" y="0"/>
                  </a:moveTo>
                  <a:lnTo>
                    <a:pt x="249420" y="0"/>
                  </a:lnTo>
                  <a:cubicBezTo>
                    <a:pt x="269086" y="0"/>
                    <a:pt x="285051" y="17073"/>
                    <a:pt x="285051" y="38100"/>
                  </a:cubicBezTo>
                  <a:lnTo>
                    <a:pt x="285051" y="266700"/>
                  </a:lnTo>
                  <a:cubicBezTo>
                    <a:pt x="285051" y="287727"/>
                    <a:pt x="269086" y="304800"/>
                    <a:pt x="249420" y="304800"/>
                  </a:cubicBezTo>
                  <a:lnTo>
                    <a:pt x="35631" y="304800"/>
                  </a:lnTo>
                  <a:cubicBezTo>
                    <a:pt x="15966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5966" y="0"/>
                    <a:pt x="3563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583391" y="5309777"/>
              <a:ext cx="347407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1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006434" y="5328806"/>
              <a:ext cx="2743749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Divide the vector into multiple data blocks</a:t>
              </a:r>
              <a:endParaRPr lang="en-US" sz="110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14568" y="5728791"/>
              <a:ext cx="285051" cy="304800"/>
            </a:xfrm>
            <a:custGeom>
              <a:avLst/>
              <a:gdLst/>
              <a:ahLst/>
              <a:cxnLst/>
              <a:rect l="l" t="t" r="r" b="b"/>
              <a:pathLst>
                <a:path w="285051" h="304800">
                  <a:moveTo>
                    <a:pt x="35631" y="0"/>
                  </a:moveTo>
                  <a:lnTo>
                    <a:pt x="249420" y="0"/>
                  </a:lnTo>
                  <a:cubicBezTo>
                    <a:pt x="269086" y="0"/>
                    <a:pt x="285051" y="17073"/>
                    <a:pt x="285051" y="38100"/>
                  </a:cubicBezTo>
                  <a:lnTo>
                    <a:pt x="285051" y="266700"/>
                  </a:lnTo>
                  <a:cubicBezTo>
                    <a:pt x="285051" y="287727"/>
                    <a:pt x="269086" y="304800"/>
                    <a:pt x="249420" y="304800"/>
                  </a:cubicBezTo>
                  <a:lnTo>
                    <a:pt x="35631" y="304800"/>
                  </a:lnTo>
                  <a:cubicBezTo>
                    <a:pt x="15966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5966" y="0"/>
                    <a:pt x="3563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583391" y="5728791"/>
              <a:ext cx="347407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1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1006434" y="5747820"/>
              <a:ext cx="2826892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Each program handles one block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614568" y="6147805"/>
              <a:ext cx="285051" cy="304800"/>
            </a:xfrm>
            <a:custGeom>
              <a:avLst/>
              <a:gdLst/>
              <a:ahLst/>
              <a:cxnLst/>
              <a:rect l="l" t="t" r="r" b="b"/>
              <a:pathLst>
                <a:path w="285051" h="304800">
                  <a:moveTo>
                    <a:pt x="35631" y="0"/>
                  </a:moveTo>
                  <a:lnTo>
                    <a:pt x="249420" y="0"/>
                  </a:lnTo>
                  <a:cubicBezTo>
                    <a:pt x="269086" y="0"/>
                    <a:pt x="285051" y="17073"/>
                    <a:pt x="285051" y="38100"/>
                  </a:cubicBezTo>
                  <a:lnTo>
                    <a:pt x="285051" y="266700"/>
                  </a:lnTo>
                  <a:cubicBezTo>
                    <a:pt x="285051" y="287727"/>
                    <a:pt x="269086" y="304800"/>
                    <a:pt x="249420" y="304800"/>
                  </a:cubicBezTo>
                  <a:lnTo>
                    <a:pt x="35631" y="304800"/>
                  </a:lnTo>
                  <a:cubicBezTo>
                    <a:pt x="15966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5966" y="0"/>
                    <a:pt x="3563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83391" y="6147805"/>
              <a:ext cx="347407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1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3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1006433" y="6166834"/>
              <a:ext cx="217278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Elements within a block computed in parallel</a:t>
              </a:r>
              <a:endParaRPr lang="en-US" sz="1100"/>
            </a:p>
          </p:txBody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991918" y="1352439"/>
            <a:ext cx="5638182" cy="444284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1" name="AutoShape 31"/>
          <p:cNvSpPr/>
          <p:nvPr/>
        </p:nvSpPr>
        <p:spPr>
          <a:xfrm>
            <a:off x="5520299" y="6542917"/>
            <a:ext cx="6799699" cy="27699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Image source: https://www.learnpdc.org/PDCBeginners/4-cuda/6-VectorAddTiming.html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439" y="60945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Official Kernel Example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333235"/>
            <a:ext cx="11267980" cy="4953000"/>
          </a:xfrm>
          <a:custGeom>
            <a:avLst/>
            <a:gdLst/>
            <a:ahLst/>
            <a:cxnLst/>
            <a:rect l="l" t="t" r="r" b="b"/>
            <a:pathLst>
              <a:path w="11267980" h="4953000">
                <a:moveTo>
                  <a:pt x="37909" y="0"/>
                </a:moveTo>
                <a:lnTo>
                  <a:pt x="11153665" y="0"/>
                </a:lnTo>
                <a:cubicBezTo>
                  <a:pt x="11216800" y="0"/>
                  <a:pt x="11267980" y="51181"/>
                  <a:pt x="11267980" y="114315"/>
                </a:cubicBezTo>
                <a:lnTo>
                  <a:pt x="11267980" y="4838685"/>
                </a:lnTo>
                <a:cubicBezTo>
                  <a:pt x="11267980" y="4901819"/>
                  <a:pt x="11216800" y="4953000"/>
                  <a:pt x="11153665" y="4953000"/>
                </a:cubicBez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99911" y="1333235"/>
            <a:ext cx="37909" cy="4953000"/>
          </a:xfrm>
          <a:custGeom>
            <a:avLst/>
            <a:gdLst/>
            <a:ahLst/>
            <a:cxnLst/>
            <a:rect l="l" t="t" r="r" b="b"/>
            <a:pathLst>
              <a:path w="37909" h="4953000">
                <a:moveTo>
                  <a:pt x="37909" y="0"/>
                </a:moveTo>
                <a:lnTo>
                  <a:pt x="37909" y="0"/>
                </a:lnTo>
                <a:lnTo>
                  <a:pt x="37909" y="4953000"/>
                </a:ln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9888" y="704537"/>
            <a:ext cx="10868025" cy="594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8B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@triton.jit </a:t>
            </a:r>
            <a:br>
              <a:rPr lang="en-US" sz="1200" b="1" i="0" u="none" strike="noStrike">
                <a:solidFill>
                  <a:srgbClr val="8B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200" b="1" i="0" u="none" strike="noStrike">
                <a:solidFill>
                  <a:srgbClr val="0066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 </a:t>
            </a:r>
            <a:r>
              <a:rPr lang="en-US" sz="1200" b="1" i="0" u="none" strike="noStrike">
                <a:solidFill>
                  <a:srgbClr val="8B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add_kernel</a:t>
            </a: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(x_ptr, y_ptr, output_ptr, n_elements,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           BLOCK_SIZE: tl.constexpr):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Get the ID of the current program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pid = tl.program_id(axis=</a:t>
            </a:r>
            <a:r>
              <a:rPr lang="en-US" sz="1200" b="0" i="0" u="none" strike="noStrike">
                <a:solidFill>
                  <a:srgbClr val="009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)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Calculate the starting position of the current block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block_start = pid * BLOCK_SIZE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Generate local offset array [0, 1, 2, ..., BLOCK_SIZE-1]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offsets = block_start + tl.arange(</a:t>
            </a:r>
            <a:r>
              <a:rPr lang="en-US" sz="1200" b="0" i="0" u="none" strike="noStrike">
                <a:solidFill>
                  <a:srgbClr val="009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0</a:t>
            </a: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, BLOCK_SIZE)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Create mask to prevent out-of-bounds access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mask = offsets &lt; n_elements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Load data from global memory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x = tl.load(x_ptr + offsets, mask=mask)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y = tl.load(y_ptr + offsets, mask=mask)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Perform vector addition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output = x + y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r>
              <a:rPr lang="en-US" sz="12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# Write results back to global memory</a:t>
            </a:r>
            <a:endParaRPr lang="en-US" sz="1200" b="0" i="0" u="none" strike="noStrike">
              <a:solidFill>
                <a:srgbClr val="6666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tl.store(output_ptr + offsets, output, mask=mask)</a:t>
            </a:r>
            <a:endParaRPr lang="en-US" sz="12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0956" y="6571937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Source: Triton Official Tutorial https://triton-lang.org/main/getting-started/tutorials/01-vector-add.html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5532" y="62917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program_id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78890" y="2830298"/>
            <a:ext cx="5505355" cy="2133540"/>
            <a:chOff x="378890" y="2830298"/>
            <a:chExt cx="5505355" cy="2133540"/>
          </a:xfrm>
        </p:grpSpPr>
        <p:sp>
          <p:nvSpPr>
            <p:cNvPr id="4" name="Freeform 4"/>
            <p:cNvSpPr/>
            <p:nvPr/>
          </p:nvSpPr>
          <p:spPr>
            <a:xfrm>
              <a:off x="378890" y="2830298"/>
              <a:ext cx="5505355" cy="762000"/>
            </a:xfrm>
            <a:custGeom>
              <a:avLst/>
              <a:gdLst/>
              <a:ahLst/>
              <a:cxnLst/>
              <a:rect l="l" t="t" r="r" b="b"/>
              <a:pathLst>
                <a:path w="5505355" h="762000">
                  <a:moveTo>
                    <a:pt x="37910" y="0"/>
                  </a:moveTo>
                  <a:lnTo>
                    <a:pt x="5391055" y="0"/>
                  </a:lnTo>
                  <a:cubicBezTo>
                    <a:pt x="5454139" y="0"/>
                    <a:pt x="5505355" y="51217"/>
                    <a:pt x="5505355" y="114300"/>
                  </a:cubicBezTo>
                  <a:lnTo>
                    <a:pt x="5505355" y="647700"/>
                  </a:lnTo>
                  <a:cubicBezTo>
                    <a:pt x="5505355" y="710783"/>
                    <a:pt x="5454139" y="762000"/>
                    <a:pt x="5391055" y="762000"/>
                  </a:cubicBezTo>
                  <a:lnTo>
                    <a:pt x="37910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78890" y="2830298"/>
              <a:ext cx="37909" cy="762000"/>
            </a:xfrm>
            <a:custGeom>
              <a:avLst/>
              <a:gdLst/>
              <a:ahLst/>
              <a:cxnLst/>
              <a:rect l="l" t="t" r="r" b="b"/>
              <a:pathLst>
                <a:path w="37909" h="762000">
                  <a:moveTo>
                    <a:pt x="37910" y="0"/>
                  </a:moveTo>
                  <a:lnTo>
                    <a:pt x="37910" y="0"/>
                  </a:lnTo>
                  <a:lnTo>
                    <a:pt x="37910" y="762000"/>
                  </a:lnTo>
                  <a:lnTo>
                    <a:pt x="37910" y="762000"/>
                  </a:lnTo>
                  <a:cubicBezTo>
                    <a:pt x="16974" y="762000"/>
                    <a:pt x="0" y="745026"/>
                    <a:pt x="0" y="7240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26418" y="3058870"/>
              <a:ext cx="5124450" cy="3143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pid = tl.program_id(axis=0)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383747" y="3863654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7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712309" y="3825596"/>
              <a:ext cx="3190875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Returns the index of the current program in dimension 0 of the grid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383747" y="429466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7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12309" y="4256602"/>
              <a:ext cx="2219325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Similar to CUDA's </a:t>
              </a:r>
              <a:r>
                <a:rPr lang="en-US" sz="1200" b="0" i="0" u="none" strike="noStrike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blockIdx.x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83747" y="4725671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7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12309" y="4687613"/>
              <a:ext cx="3429000" cy="27622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Used to determine which data block the current program should handle</a:t>
              </a:r>
              <a:endParaRPr lang="en-US" sz="11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15345" y="1494066"/>
            <a:ext cx="5524500" cy="3619500"/>
            <a:chOff x="6415345" y="1494066"/>
            <a:chExt cx="5524500" cy="3619500"/>
          </a:xfrm>
        </p:grpSpPr>
        <p:sp>
          <p:nvSpPr>
            <p:cNvPr id="14" name="Freeform 14"/>
            <p:cNvSpPr/>
            <p:nvPr/>
          </p:nvSpPr>
          <p:spPr>
            <a:xfrm>
              <a:off x="6415345" y="1494066"/>
              <a:ext cx="5524500" cy="3619500"/>
            </a:xfrm>
            <a:custGeom>
              <a:avLst/>
              <a:gdLst/>
              <a:ahLst/>
              <a:cxnLst/>
              <a:rect l="l" t="t" r="r" b="b"/>
              <a:pathLst>
                <a:path w="5524500" h="3619500">
                  <a:moveTo>
                    <a:pt x="114304" y="0"/>
                  </a:moveTo>
                  <a:lnTo>
                    <a:pt x="5410196" y="0"/>
                  </a:lnTo>
                  <a:cubicBezTo>
                    <a:pt x="5473324" y="0"/>
                    <a:pt x="5524500" y="51176"/>
                    <a:pt x="5524500" y="114304"/>
                  </a:cubicBezTo>
                  <a:lnTo>
                    <a:pt x="5524500" y="3505196"/>
                  </a:lnTo>
                  <a:cubicBezTo>
                    <a:pt x="5524500" y="3568324"/>
                    <a:pt x="5473324" y="3619500"/>
                    <a:pt x="5410196" y="3619500"/>
                  </a:cubicBezTo>
                  <a:lnTo>
                    <a:pt x="114304" y="3619500"/>
                  </a:lnTo>
                  <a:cubicBezTo>
                    <a:pt x="51176" y="3619500"/>
                    <a:pt x="0" y="3568324"/>
                    <a:pt x="0" y="3505196"/>
                  </a:cubicBezTo>
                  <a:lnTo>
                    <a:pt x="0" y="114304"/>
                  </a:lnTo>
                  <a:cubicBezTo>
                    <a:pt x="0" y="51218"/>
                    <a:pt x="51218" y="0"/>
                    <a:pt x="114304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596294" y="1722641"/>
              <a:ext cx="51625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Program distribution in the Grid</a:t>
              </a:r>
              <a:endParaRPr lang="en-US" sz="11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643919" y="221792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605819" y="2217922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0</a:t>
              </a:r>
              <a:endParaRPr lang="en-US" sz="110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7215315" y="2217922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7215315" y="2217922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52400" tIns="0" rIns="15240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Handles data block 0</a:t>
              </a:r>
              <a:endParaRPr lang="en-US" sz="110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643919" y="278931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605819" y="2789315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7215315" y="2789315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7215315" y="2789315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52400" tIns="0" rIns="15240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Handles data block 1</a:t>
              </a:r>
              <a:endParaRPr lang="en-US" sz="110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643919" y="336071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6605819" y="3360713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7215315" y="3360713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7215315" y="3360713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52400" tIns="0" rIns="15240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Handles data block 2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6605819" y="3932110"/>
              <a:ext cx="5143500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76200" rIns="0" bIns="762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99A1A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...</a:t>
              </a:r>
              <a:endParaRPr lang="en-US" sz="1100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6643919" y="442731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097" y="0"/>
                  </a:moveTo>
                  <a:lnTo>
                    <a:pt x="419103" y="0"/>
                  </a:lnTo>
                  <a:cubicBezTo>
                    <a:pt x="440143" y="0"/>
                    <a:pt x="457200" y="17057"/>
                    <a:pt x="457200" y="38097"/>
                  </a:cubicBezTo>
                  <a:lnTo>
                    <a:pt x="457200" y="419103"/>
                  </a:lnTo>
                  <a:cubicBezTo>
                    <a:pt x="457200" y="440143"/>
                    <a:pt x="440143" y="457200"/>
                    <a:pt x="4191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0" name="AutoShape 30"/>
            <p:cNvSpPr/>
            <p:nvPr/>
          </p:nvSpPr>
          <p:spPr>
            <a:xfrm>
              <a:off x="6605819" y="4427313"/>
              <a:ext cx="5334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</a:t>
              </a:r>
              <a:endParaRPr lang="en-US" sz="110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7215315" y="4427313"/>
              <a:ext cx="4495800" cy="457200"/>
            </a:xfrm>
            <a:custGeom>
              <a:avLst/>
              <a:gdLst/>
              <a:ahLst/>
              <a:cxnLst/>
              <a:rect l="l" t="t" r="r" b="b"/>
              <a:pathLst>
                <a:path w="4495800" h="457200">
                  <a:moveTo>
                    <a:pt x="38097" y="0"/>
                  </a:moveTo>
                  <a:lnTo>
                    <a:pt x="4457703" y="0"/>
                  </a:lnTo>
                  <a:cubicBezTo>
                    <a:pt x="4478743" y="0"/>
                    <a:pt x="4495800" y="17057"/>
                    <a:pt x="4495800" y="38097"/>
                  </a:cubicBezTo>
                  <a:lnTo>
                    <a:pt x="4495800" y="419103"/>
                  </a:lnTo>
                  <a:cubicBezTo>
                    <a:pt x="4495800" y="440143"/>
                    <a:pt x="4478743" y="457200"/>
                    <a:pt x="4457703" y="457200"/>
                  </a:cubicBezTo>
                  <a:lnTo>
                    <a:pt x="38097" y="457200"/>
                  </a:lnTo>
                  <a:cubicBezTo>
                    <a:pt x="17057" y="457200"/>
                    <a:pt x="0" y="440143"/>
                    <a:pt x="0" y="4191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2" name="AutoShape 32"/>
            <p:cNvSpPr/>
            <p:nvPr/>
          </p:nvSpPr>
          <p:spPr>
            <a:xfrm>
              <a:off x="7215315" y="4427313"/>
              <a:ext cx="4572000" cy="4572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152400" tIns="0" rIns="15240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Handles data block N</a:t>
              </a:r>
              <a:endParaRPr lang="en-US" sz="110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380956" y="6533258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9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Triton Official Docs https://triton-lang.org/main/python-api/generated/triton.language.program_id.html</a:t>
            </a:r>
            <a:endParaRPr lang="en-US" sz="110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80957" y="1494066"/>
            <a:ext cx="5715044" cy="97901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2349" y="63880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Offset Calculation Method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9911" y="1570620"/>
            <a:ext cx="5543455" cy="1847850"/>
          </a:xfrm>
          <a:custGeom>
            <a:avLst/>
            <a:gdLst/>
            <a:ahLst/>
            <a:cxnLst/>
            <a:rect l="l" t="t" r="r" b="b"/>
            <a:pathLst>
              <a:path w="5543455" h="1847850">
                <a:moveTo>
                  <a:pt x="37909" y="0"/>
                </a:moveTo>
                <a:lnTo>
                  <a:pt x="5429147" y="0"/>
                </a:lnTo>
                <a:cubicBezTo>
                  <a:pt x="5492278" y="0"/>
                  <a:pt x="5543455" y="51177"/>
                  <a:pt x="5543455" y="114308"/>
                </a:cubicBezTo>
                <a:lnTo>
                  <a:pt x="5543455" y="1733542"/>
                </a:lnTo>
                <a:cubicBezTo>
                  <a:pt x="5543455" y="1796673"/>
                  <a:pt x="5492278" y="1847850"/>
                  <a:pt x="5429147" y="1847850"/>
                </a:cubicBezTo>
                <a:lnTo>
                  <a:pt x="37909" y="1847850"/>
                </a:lnTo>
                <a:cubicBezTo>
                  <a:pt x="16974" y="1847850"/>
                  <a:pt x="0" y="1830876"/>
                  <a:pt x="0" y="180994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99911" y="1570620"/>
            <a:ext cx="37909" cy="1847850"/>
          </a:xfrm>
          <a:custGeom>
            <a:avLst/>
            <a:gdLst/>
            <a:ahLst/>
            <a:cxnLst/>
            <a:rect l="l" t="t" r="r" b="b"/>
            <a:pathLst>
              <a:path w="37909" h="1847850">
                <a:moveTo>
                  <a:pt x="37909" y="0"/>
                </a:moveTo>
                <a:lnTo>
                  <a:pt x="37909" y="0"/>
                </a:lnTo>
                <a:lnTo>
                  <a:pt x="37909" y="1847850"/>
                </a:lnTo>
                <a:lnTo>
                  <a:pt x="37909" y="1847850"/>
                </a:lnTo>
                <a:cubicBezTo>
                  <a:pt x="16974" y="1847850"/>
                  <a:pt x="0" y="1830876"/>
                  <a:pt x="0" y="180994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47439" y="1799193"/>
            <a:ext cx="5153025" cy="1390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Calculate the starting position of the current block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block_start = pid * BLOCK_SIZE</a:t>
            </a:r>
            <a:endParaRPr lang="en-US" sz="14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Generate global offsets</a:t>
            </a:r>
            <a:endParaRPr lang="en-US" sz="1400" b="0" i="0" u="none" strike="noStrike">
              <a:solidFill>
                <a:srgbClr val="66666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offsets = block_start + tl.arange(</a:t>
            </a:r>
            <a:r>
              <a:rPr lang="en-US" sz="1400" b="0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0</a:t>
            </a:r>
            <a:r>
              <a:rPr lang="en-US" sz="14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, BLOCK_SIZE)</a:t>
            </a:r>
            <a:endParaRPr lang="en-US" sz="14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248338" y="177194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10238" y="1771948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743543" y="1771948"/>
            <a:ext cx="3495675" cy="3143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3810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program handles </a:t>
            </a:r>
            <a:r>
              <a:rPr lang="en-US" sz="14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BLOCK_SIZE</a:t>
            </a: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consecutive elements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6248338" y="230528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10238" y="2305283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43543" y="2305283"/>
            <a:ext cx="47244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3810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tl.arange </a:t>
            </a: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Generates local indices </a:t>
            </a:r>
            <a:r>
              <a:rPr lang="en-US" sz="1400" b="0" i="0" u="none" strike="noStrike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[0, 1, ..., BLOCK_SIZE-1]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6248338" y="28386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10238" y="2838622"/>
            <a:ext cx="457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43543" y="2838622"/>
            <a:ext cx="27432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38100" rIns="0" bIns="0" rtlCol="0" anchor="ctr">
            <a:noAutofit/>
          </a:bodyPr>
          <a:lstStyle/>
          <a:p>
            <a:pPr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Adding </a:t>
            </a:r>
            <a:r>
              <a:rPr lang="en-US" sz="1400" b="0" i="0" u="none" strike="noStrike">
                <a:solidFill>
                  <a:srgbClr val="364153"/>
                </a:solidFill>
                <a:highlight>
                  <a:srgbClr val="E5E7EB">
                    <a:alpha val="100000"/>
                  </a:srgbClr>
                </a:highlight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block_start </a:t>
            </a:r>
            <a:r>
              <a:rPr lang="en-US" sz="14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to get global indices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380956" y="3649475"/>
            <a:ext cx="11430000" cy="2362200"/>
          </a:xfrm>
          <a:custGeom>
            <a:avLst/>
            <a:gdLst/>
            <a:ahLst/>
            <a:cxnLst/>
            <a:rect l="l" t="t" r="r" b="b"/>
            <a:pathLst>
              <a:path w="11430000" h="2362200">
                <a:moveTo>
                  <a:pt x="114308" y="0"/>
                </a:moveTo>
                <a:lnTo>
                  <a:pt x="11315692" y="0"/>
                </a:lnTo>
                <a:cubicBezTo>
                  <a:pt x="11378781" y="0"/>
                  <a:pt x="11430000" y="51219"/>
                  <a:pt x="11430000" y="114308"/>
                </a:cubicBezTo>
                <a:lnTo>
                  <a:pt x="11430000" y="2247892"/>
                </a:lnTo>
                <a:cubicBezTo>
                  <a:pt x="11430000" y="2310981"/>
                  <a:pt x="11378781" y="2362200"/>
                  <a:pt x="11315692" y="2362200"/>
                </a:cubicBezTo>
                <a:lnTo>
                  <a:pt x="114308" y="2362200"/>
                </a:lnTo>
                <a:cubicBezTo>
                  <a:pt x="51219" y="2362200"/>
                  <a:pt x="0" y="2310981"/>
                  <a:pt x="0" y="2247892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09529" y="387804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Calculation Example (BLOCK_SIZE = 256)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19007" y="4306615"/>
            <a:ext cx="3533680" cy="1466755"/>
          </a:xfrm>
          <a:custGeom>
            <a:avLst/>
            <a:gdLst/>
            <a:ahLst/>
            <a:cxnLst/>
            <a:rect l="l" t="t" r="r" b="b"/>
            <a:pathLst>
              <a:path w="3533680" h="1466755">
                <a:moveTo>
                  <a:pt x="76197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7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7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80866" y="4468476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program_id = 0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799822" y="4735106"/>
            <a:ext cx="3190780" cy="609600"/>
          </a:xfrm>
          <a:custGeom>
            <a:avLst/>
            <a:gdLst/>
            <a:ahLst/>
            <a:cxnLst/>
            <a:rect l="l" t="t" r="r" b="b"/>
            <a:pathLst>
              <a:path w="3190780" h="609600">
                <a:moveTo>
                  <a:pt x="37909" y="0"/>
                </a:moveTo>
                <a:lnTo>
                  <a:pt x="3152680" y="0"/>
                </a:lnTo>
                <a:cubicBezTo>
                  <a:pt x="3173708" y="0"/>
                  <a:pt x="3190780" y="17073"/>
                  <a:pt x="3190780" y="38100"/>
                </a:cubicBezTo>
                <a:lnTo>
                  <a:pt x="3190780" y="571500"/>
                </a:lnTo>
                <a:cubicBezTo>
                  <a:pt x="3190780" y="592527"/>
                  <a:pt x="3173708" y="609600"/>
                  <a:pt x="3152680" y="609600"/>
                </a:cubicBez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799822" y="4735106"/>
            <a:ext cx="37909" cy="609600"/>
          </a:xfrm>
          <a:custGeom>
            <a:avLst/>
            <a:gdLst/>
            <a:ahLst/>
            <a:cxnLst/>
            <a:rect l="l" t="t" r="r" b="b"/>
            <a:pathLst>
              <a:path w="37909" h="609600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33026" y="4849355"/>
            <a:ext cx="3009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block_start = 0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offsets = [0..255]</a:t>
            </a:r>
            <a:endParaRPr lang="en-US" sz="11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80866" y="5420678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Handles elements 0–255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4327418" y="4306615"/>
            <a:ext cx="3533680" cy="1466755"/>
          </a:xfrm>
          <a:custGeom>
            <a:avLst/>
            <a:gdLst/>
            <a:ahLst/>
            <a:cxnLst/>
            <a:rect l="l" t="t" r="r" b="b"/>
            <a:pathLst>
              <a:path w="3533680" h="1466755">
                <a:moveTo>
                  <a:pt x="76197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7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7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489278" y="4468476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program_id = 1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4508233" y="4735106"/>
            <a:ext cx="3190780" cy="609600"/>
          </a:xfrm>
          <a:custGeom>
            <a:avLst/>
            <a:gdLst/>
            <a:ahLst/>
            <a:cxnLst/>
            <a:rect l="l" t="t" r="r" b="b"/>
            <a:pathLst>
              <a:path w="3190780" h="609600">
                <a:moveTo>
                  <a:pt x="37909" y="0"/>
                </a:moveTo>
                <a:lnTo>
                  <a:pt x="3152680" y="0"/>
                </a:lnTo>
                <a:cubicBezTo>
                  <a:pt x="3173708" y="0"/>
                  <a:pt x="3190780" y="17073"/>
                  <a:pt x="3190780" y="38100"/>
                </a:cubicBezTo>
                <a:lnTo>
                  <a:pt x="3190780" y="571500"/>
                </a:lnTo>
                <a:cubicBezTo>
                  <a:pt x="3190780" y="592527"/>
                  <a:pt x="3173708" y="609600"/>
                  <a:pt x="3152680" y="609600"/>
                </a:cubicBez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4508233" y="4735106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09" y="0"/>
                </a:moveTo>
                <a:lnTo>
                  <a:pt x="37909" y="0"/>
                </a:lnTo>
                <a:lnTo>
                  <a:pt x="37909" y="609600"/>
                </a:ln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41438" y="4849355"/>
            <a:ext cx="3009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block_start = 256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offsets = [256..511]</a:t>
            </a:r>
            <a:endParaRPr lang="en-US" sz="11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4489278" y="5420678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Handles elements 256–511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8035830" y="4306615"/>
            <a:ext cx="3533680" cy="1466755"/>
          </a:xfrm>
          <a:custGeom>
            <a:avLst/>
            <a:gdLst/>
            <a:ahLst/>
            <a:cxnLst/>
            <a:rect l="l" t="t" r="r" b="b"/>
            <a:pathLst>
              <a:path w="3533680" h="1466755">
                <a:moveTo>
                  <a:pt x="76197" y="0"/>
                </a:moveTo>
                <a:lnTo>
                  <a:pt x="3457482" y="0"/>
                </a:lnTo>
                <a:cubicBezTo>
                  <a:pt x="3499565" y="0"/>
                  <a:pt x="3533680" y="34115"/>
                  <a:pt x="3533680" y="76197"/>
                </a:cubicBezTo>
                <a:lnTo>
                  <a:pt x="3533680" y="1390557"/>
                </a:lnTo>
                <a:cubicBezTo>
                  <a:pt x="3533680" y="1432640"/>
                  <a:pt x="3499565" y="1466755"/>
                  <a:pt x="3457482" y="1466755"/>
                </a:cubicBezTo>
                <a:lnTo>
                  <a:pt x="76197" y="1466755"/>
                </a:lnTo>
                <a:cubicBezTo>
                  <a:pt x="34115" y="1466755"/>
                  <a:pt x="0" y="1432640"/>
                  <a:pt x="0" y="1390557"/>
                </a:cubicBezTo>
                <a:lnTo>
                  <a:pt x="0" y="76197"/>
                </a:lnTo>
                <a:cubicBezTo>
                  <a:pt x="0" y="34115"/>
                  <a:pt x="34115" y="0"/>
                  <a:pt x="7619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97690" y="4468476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program_id = 2</a:t>
            </a:r>
            <a:endParaRPr lang="en-US" sz="1100"/>
          </a:p>
        </p:txBody>
      </p:sp>
      <p:sp>
        <p:nvSpPr>
          <p:cNvPr id="31" name="Freeform 31"/>
          <p:cNvSpPr/>
          <p:nvPr/>
        </p:nvSpPr>
        <p:spPr>
          <a:xfrm>
            <a:off x="8216645" y="4735106"/>
            <a:ext cx="3190780" cy="609600"/>
          </a:xfrm>
          <a:custGeom>
            <a:avLst/>
            <a:gdLst/>
            <a:ahLst/>
            <a:cxnLst/>
            <a:rect l="l" t="t" r="r" b="b"/>
            <a:pathLst>
              <a:path w="3190780" h="609600">
                <a:moveTo>
                  <a:pt x="37909" y="0"/>
                </a:moveTo>
                <a:lnTo>
                  <a:pt x="3152680" y="0"/>
                </a:lnTo>
                <a:cubicBezTo>
                  <a:pt x="3173708" y="0"/>
                  <a:pt x="3190780" y="17073"/>
                  <a:pt x="3190780" y="38100"/>
                </a:cubicBezTo>
                <a:lnTo>
                  <a:pt x="3190780" y="571500"/>
                </a:lnTo>
                <a:cubicBezTo>
                  <a:pt x="3190780" y="592527"/>
                  <a:pt x="3173708" y="609600"/>
                  <a:pt x="3152680" y="609600"/>
                </a:cubicBez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8216645" y="4735106"/>
            <a:ext cx="37910" cy="609600"/>
          </a:xfrm>
          <a:custGeom>
            <a:avLst/>
            <a:gdLst/>
            <a:ahLst/>
            <a:cxnLst/>
            <a:rect l="l" t="t" r="r" b="b"/>
            <a:pathLst>
              <a:path w="37910" h="609600">
                <a:moveTo>
                  <a:pt x="37909" y="0"/>
                </a:moveTo>
                <a:lnTo>
                  <a:pt x="37909" y="0"/>
                </a:lnTo>
                <a:lnTo>
                  <a:pt x="37909" y="609600"/>
                </a:lnTo>
                <a:lnTo>
                  <a:pt x="37909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349850" y="4849355"/>
            <a:ext cx="3009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block_start = 512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offsets = [512..767]</a:t>
            </a:r>
            <a:endParaRPr lang="en-US" sz="11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197690" y="5420678"/>
            <a:ext cx="3276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Handles elements 512–767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9260" y="615256"/>
            <a:ext cx="11665604" cy="33961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tl.arange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75935" y="3383603"/>
            <a:ext cx="5586585" cy="2943784"/>
            <a:chOff x="375935" y="3383603"/>
            <a:chExt cx="5586585" cy="2943784"/>
          </a:xfrm>
        </p:grpSpPr>
        <p:sp>
          <p:nvSpPr>
            <p:cNvPr id="4" name="Freeform 4"/>
            <p:cNvSpPr/>
            <p:nvPr/>
          </p:nvSpPr>
          <p:spPr>
            <a:xfrm>
              <a:off x="392831" y="3383603"/>
              <a:ext cx="5569520" cy="679220"/>
            </a:xfrm>
            <a:custGeom>
              <a:avLst/>
              <a:gdLst/>
              <a:ahLst/>
              <a:cxnLst/>
              <a:rect l="l" t="t" r="r" b="b"/>
              <a:pathLst>
                <a:path w="5569520" h="679220">
                  <a:moveTo>
                    <a:pt x="33792" y="0"/>
                  </a:moveTo>
                  <a:lnTo>
                    <a:pt x="5467637" y="0"/>
                  </a:lnTo>
                  <a:cubicBezTo>
                    <a:pt x="5523904" y="0"/>
                    <a:pt x="5569520" y="45615"/>
                    <a:pt x="5569520" y="101883"/>
                  </a:cubicBezTo>
                  <a:lnTo>
                    <a:pt x="5569520" y="577337"/>
                  </a:lnTo>
                  <a:cubicBezTo>
                    <a:pt x="5569520" y="633606"/>
                    <a:pt x="5523904" y="679220"/>
                    <a:pt x="5467637" y="679220"/>
                  </a:cubicBezTo>
                  <a:lnTo>
                    <a:pt x="33792" y="679220"/>
                  </a:lnTo>
                  <a:cubicBezTo>
                    <a:pt x="15130" y="679220"/>
                    <a:pt x="0" y="664091"/>
                    <a:pt x="0" y="645428"/>
                  </a:cubicBezTo>
                  <a:lnTo>
                    <a:pt x="0" y="33792"/>
                  </a:lnTo>
                  <a:cubicBezTo>
                    <a:pt x="0" y="15142"/>
                    <a:pt x="15142" y="0"/>
                    <a:pt x="33792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92831" y="3383603"/>
              <a:ext cx="33792" cy="679220"/>
            </a:xfrm>
            <a:custGeom>
              <a:avLst/>
              <a:gdLst/>
              <a:ahLst/>
              <a:cxnLst/>
              <a:rect l="l" t="t" r="r" b="b"/>
              <a:pathLst>
                <a:path w="33792" h="679220">
                  <a:moveTo>
                    <a:pt x="33792" y="0"/>
                  </a:moveTo>
                  <a:lnTo>
                    <a:pt x="33792" y="0"/>
                  </a:lnTo>
                  <a:lnTo>
                    <a:pt x="33792" y="679220"/>
                  </a:lnTo>
                  <a:lnTo>
                    <a:pt x="33792" y="679220"/>
                  </a:lnTo>
                  <a:cubicBezTo>
                    <a:pt x="15130" y="679220"/>
                    <a:pt x="0" y="664091"/>
                    <a:pt x="0" y="645428"/>
                  </a:cubicBezTo>
                  <a:lnTo>
                    <a:pt x="0" y="33792"/>
                  </a:lnTo>
                  <a:cubicBezTo>
                    <a:pt x="0" y="15142"/>
                    <a:pt x="15142" y="0"/>
                    <a:pt x="33792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13470" y="3587345"/>
              <a:ext cx="5229994" cy="28017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tl.arange(</a:t>
              </a:r>
              <a:r>
                <a:rPr lang="en-US" sz="1300" b="0" i="0" u="none" strike="noStrike">
                  <a:solidFill>
                    <a:srgbClr val="00990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</a:t>
              </a:r>
              <a:r>
                <a:rPr lang="en-US" sz="13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, BLOCK_SIZE)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375935" y="4270777"/>
              <a:ext cx="5586585" cy="925438"/>
            </a:xfrm>
            <a:custGeom>
              <a:avLst/>
              <a:gdLst/>
              <a:ahLst/>
              <a:cxnLst/>
              <a:rect l="l" t="t" r="r" b="b"/>
              <a:pathLst>
                <a:path w="5586585" h="925438">
                  <a:moveTo>
                    <a:pt x="67918" y="0"/>
                  </a:moveTo>
                  <a:lnTo>
                    <a:pt x="5518667" y="0"/>
                  </a:lnTo>
                  <a:cubicBezTo>
                    <a:pt x="5556152" y="0"/>
                    <a:pt x="5586585" y="30433"/>
                    <a:pt x="5586585" y="67918"/>
                  </a:cubicBezTo>
                  <a:lnTo>
                    <a:pt x="5586585" y="857519"/>
                  </a:lnTo>
                  <a:cubicBezTo>
                    <a:pt x="5586585" y="895005"/>
                    <a:pt x="5556152" y="925438"/>
                    <a:pt x="5518667" y="925438"/>
                  </a:cubicBezTo>
                  <a:lnTo>
                    <a:pt x="67918" y="925438"/>
                  </a:lnTo>
                  <a:cubicBezTo>
                    <a:pt x="30433" y="925438"/>
                    <a:pt x="0" y="895005"/>
                    <a:pt x="0" y="857519"/>
                  </a:cubicBezTo>
                  <a:lnTo>
                    <a:pt x="0" y="67918"/>
                  </a:lnTo>
                  <a:cubicBezTo>
                    <a:pt x="0" y="30433"/>
                    <a:pt x="30433" y="0"/>
                    <a:pt x="67918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Freeform 8"/>
            <p:cNvSpPr/>
            <p:nvPr/>
          </p:nvSpPr>
          <p:spPr>
            <a:xfrm>
              <a:off x="571119" y="4457487"/>
              <a:ext cx="203845" cy="203766"/>
            </a:xfrm>
            <a:custGeom>
              <a:avLst/>
              <a:gdLst/>
              <a:ahLst/>
              <a:cxnLst/>
              <a:rect l="l" t="t" r="r" b="b"/>
              <a:pathLst>
                <a:path w="203845" h="203766">
                  <a:moveTo>
                    <a:pt x="26266" y="90940"/>
                  </a:moveTo>
                  <a:cubicBezTo>
                    <a:pt x="31559" y="53925"/>
                    <a:pt x="63437" y="25471"/>
                    <a:pt x="101922" y="25471"/>
                  </a:cubicBezTo>
                  <a:cubicBezTo>
                    <a:pt x="123014" y="25471"/>
                    <a:pt x="142118" y="34027"/>
                    <a:pt x="155968" y="47837"/>
                  </a:cubicBezTo>
                  <a:cubicBezTo>
                    <a:pt x="156047" y="47917"/>
                    <a:pt x="156127" y="47996"/>
                    <a:pt x="156207" y="48076"/>
                  </a:cubicBezTo>
                  <a:lnTo>
                    <a:pt x="159231" y="50942"/>
                  </a:lnTo>
                  <a:lnTo>
                    <a:pt x="140168" y="50942"/>
                  </a:lnTo>
                  <a:cubicBezTo>
                    <a:pt x="133124" y="50942"/>
                    <a:pt x="127433" y="56633"/>
                    <a:pt x="127433" y="63677"/>
                  </a:cubicBezTo>
                  <a:cubicBezTo>
                    <a:pt x="127433" y="70721"/>
                    <a:pt x="133124" y="76412"/>
                    <a:pt x="140168" y="76412"/>
                  </a:cubicBezTo>
                  <a:lnTo>
                    <a:pt x="191109" y="76412"/>
                  </a:lnTo>
                  <a:cubicBezTo>
                    <a:pt x="198154" y="76412"/>
                    <a:pt x="203845" y="70721"/>
                    <a:pt x="203845" y="63677"/>
                  </a:cubicBezTo>
                  <a:lnTo>
                    <a:pt x="203845" y="12736"/>
                  </a:lnTo>
                  <a:cubicBezTo>
                    <a:pt x="203845" y="5691"/>
                    <a:pt x="198154" y="0"/>
                    <a:pt x="191109" y="0"/>
                  </a:cubicBezTo>
                  <a:cubicBezTo>
                    <a:pt x="184065" y="0"/>
                    <a:pt x="178374" y="5691"/>
                    <a:pt x="178374" y="12736"/>
                  </a:cubicBezTo>
                  <a:lnTo>
                    <a:pt x="178374" y="33988"/>
                  </a:lnTo>
                  <a:lnTo>
                    <a:pt x="173877" y="29729"/>
                  </a:lnTo>
                  <a:cubicBezTo>
                    <a:pt x="155450" y="11382"/>
                    <a:pt x="129980" y="0"/>
                    <a:pt x="101922" y="0"/>
                  </a:cubicBezTo>
                  <a:cubicBezTo>
                    <a:pt x="50582" y="0"/>
                    <a:pt x="8117" y="37967"/>
                    <a:pt x="1074" y="87357"/>
                  </a:cubicBezTo>
                  <a:cubicBezTo>
                    <a:pt x="78" y="94322"/>
                    <a:pt x="4894" y="100769"/>
                    <a:pt x="11859" y="101764"/>
                  </a:cubicBezTo>
                  <a:cubicBezTo>
                    <a:pt x="18824" y="102760"/>
                    <a:pt x="25271" y="97903"/>
                    <a:pt x="26266" y="90978"/>
                  </a:cubicBezTo>
                  <a:close/>
                  <a:moveTo>
                    <a:pt x="202770" y="116409"/>
                  </a:moveTo>
                  <a:cubicBezTo>
                    <a:pt x="203765" y="109445"/>
                    <a:pt x="198910" y="102997"/>
                    <a:pt x="191986" y="102003"/>
                  </a:cubicBezTo>
                  <a:cubicBezTo>
                    <a:pt x="185060" y="101007"/>
                    <a:pt x="178573" y="105863"/>
                    <a:pt x="177577" y="112787"/>
                  </a:cubicBezTo>
                  <a:cubicBezTo>
                    <a:pt x="172285" y="149800"/>
                    <a:pt x="140407" y="178255"/>
                    <a:pt x="101922" y="178255"/>
                  </a:cubicBezTo>
                  <a:cubicBezTo>
                    <a:pt x="80829" y="178255"/>
                    <a:pt x="61725" y="169699"/>
                    <a:pt x="47876" y="155889"/>
                  </a:cubicBezTo>
                  <a:cubicBezTo>
                    <a:pt x="47797" y="155809"/>
                    <a:pt x="47717" y="155730"/>
                    <a:pt x="47637" y="155650"/>
                  </a:cubicBezTo>
                  <a:lnTo>
                    <a:pt x="44613" y="152785"/>
                  </a:lnTo>
                  <a:lnTo>
                    <a:pt x="63676" y="152785"/>
                  </a:lnTo>
                  <a:cubicBezTo>
                    <a:pt x="70720" y="152785"/>
                    <a:pt x="76410" y="147094"/>
                    <a:pt x="76410" y="140049"/>
                  </a:cubicBezTo>
                  <a:cubicBezTo>
                    <a:pt x="76410" y="133005"/>
                    <a:pt x="70720" y="127314"/>
                    <a:pt x="63676" y="127314"/>
                  </a:cubicBezTo>
                  <a:lnTo>
                    <a:pt x="12775" y="127354"/>
                  </a:lnTo>
                  <a:cubicBezTo>
                    <a:pt x="9393" y="127354"/>
                    <a:pt x="6127" y="128707"/>
                    <a:pt x="3740" y="131135"/>
                  </a:cubicBezTo>
                  <a:cubicBezTo>
                    <a:pt x="1352" y="133562"/>
                    <a:pt x="0" y="136787"/>
                    <a:pt x="39" y="140209"/>
                  </a:cubicBezTo>
                  <a:lnTo>
                    <a:pt x="437" y="190751"/>
                  </a:lnTo>
                  <a:cubicBezTo>
                    <a:pt x="477" y="197796"/>
                    <a:pt x="6247" y="203448"/>
                    <a:pt x="13291" y="203368"/>
                  </a:cubicBezTo>
                  <a:cubicBezTo>
                    <a:pt x="20336" y="203288"/>
                    <a:pt x="25986" y="197557"/>
                    <a:pt x="25908" y="190513"/>
                  </a:cubicBezTo>
                  <a:lnTo>
                    <a:pt x="25749" y="170017"/>
                  </a:lnTo>
                  <a:lnTo>
                    <a:pt x="30007" y="174037"/>
                  </a:lnTo>
                  <a:cubicBezTo>
                    <a:pt x="48434" y="192383"/>
                    <a:pt x="73864" y="203766"/>
                    <a:pt x="101922" y="203766"/>
                  </a:cubicBezTo>
                  <a:cubicBezTo>
                    <a:pt x="153261" y="203766"/>
                    <a:pt x="195726" y="165799"/>
                    <a:pt x="202770" y="116409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902220" y="4440528"/>
              <a:ext cx="1103733" cy="23772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Generates vector indices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45688" y="4780096"/>
              <a:ext cx="5323387" cy="24621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Generates a contiguous integer array from start to end-1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935" y="5401949"/>
              <a:ext cx="5586585" cy="925438"/>
            </a:xfrm>
            <a:custGeom>
              <a:avLst/>
              <a:gdLst/>
              <a:ahLst/>
              <a:cxnLst/>
              <a:rect l="l" t="t" r="r" b="b"/>
              <a:pathLst>
                <a:path w="5586585" h="925438">
                  <a:moveTo>
                    <a:pt x="67918" y="0"/>
                  </a:moveTo>
                  <a:lnTo>
                    <a:pt x="5518667" y="0"/>
                  </a:lnTo>
                  <a:cubicBezTo>
                    <a:pt x="5556152" y="0"/>
                    <a:pt x="5586585" y="30433"/>
                    <a:pt x="5586585" y="67918"/>
                  </a:cubicBezTo>
                  <a:lnTo>
                    <a:pt x="5586585" y="857519"/>
                  </a:lnTo>
                  <a:cubicBezTo>
                    <a:pt x="5586585" y="895005"/>
                    <a:pt x="5556152" y="925438"/>
                    <a:pt x="5518667" y="925438"/>
                  </a:cubicBezTo>
                  <a:lnTo>
                    <a:pt x="67918" y="925438"/>
                  </a:lnTo>
                  <a:cubicBezTo>
                    <a:pt x="30433" y="925438"/>
                    <a:pt x="0" y="895005"/>
                    <a:pt x="0" y="857519"/>
                  </a:cubicBezTo>
                  <a:lnTo>
                    <a:pt x="0" y="67918"/>
                  </a:lnTo>
                  <a:cubicBezTo>
                    <a:pt x="0" y="30433"/>
                    <a:pt x="30433" y="0"/>
                    <a:pt x="67918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0959" y="5584167"/>
              <a:ext cx="204164" cy="204125"/>
            </a:xfrm>
            <a:custGeom>
              <a:avLst/>
              <a:gdLst/>
              <a:ahLst/>
              <a:cxnLst/>
              <a:rect l="l" t="t" r="r" b="b"/>
              <a:pathLst>
                <a:path w="204164" h="204125">
                  <a:moveTo>
                    <a:pt x="113225" y="3980"/>
                  </a:moveTo>
                  <a:cubicBezTo>
                    <a:pt x="106341" y="0"/>
                    <a:pt x="97824" y="0"/>
                    <a:pt x="90939" y="3980"/>
                  </a:cubicBezTo>
                  <a:lnTo>
                    <a:pt x="57429" y="23321"/>
                  </a:lnTo>
                  <a:cubicBezTo>
                    <a:pt x="50544" y="27301"/>
                    <a:pt x="46285" y="34665"/>
                    <a:pt x="46285" y="42624"/>
                  </a:cubicBezTo>
                  <a:lnTo>
                    <a:pt x="46285" y="83179"/>
                  </a:lnTo>
                  <a:lnTo>
                    <a:pt x="11143" y="103474"/>
                  </a:lnTo>
                  <a:cubicBezTo>
                    <a:pt x="4258" y="107455"/>
                    <a:pt x="0" y="114817"/>
                    <a:pt x="0" y="122777"/>
                  </a:cubicBezTo>
                  <a:lnTo>
                    <a:pt x="0" y="161499"/>
                  </a:lnTo>
                  <a:cubicBezTo>
                    <a:pt x="0" y="169460"/>
                    <a:pt x="4258" y="176823"/>
                    <a:pt x="11143" y="180802"/>
                  </a:cubicBezTo>
                  <a:lnTo>
                    <a:pt x="44693" y="200144"/>
                  </a:lnTo>
                  <a:cubicBezTo>
                    <a:pt x="51578" y="204124"/>
                    <a:pt x="60095" y="204124"/>
                    <a:pt x="66979" y="200144"/>
                  </a:cubicBezTo>
                  <a:lnTo>
                    <a:pt x="102122" y="179847"/>
                  </a:lnTo>
                  <a:lnTo>
                    <a:pt x="137262" y="200144"/>
                  </a:lnTo>
                  <a:cubicBezTo>
                    <a:pt x="144148" y="204124"/>
                    <a:pt x="152665" y="204124"/>
                    <a:pt x="159550" y="200144"/>
                  </a:cubicBezTo>
                  <a:lnTo>
                    <a:pt x="193021" y="180802"/>
                  </a:lnTo>
                  <a:cubicBezTo>
                    <a:pt x="199907" y="176823"/>
                    <a:pt x="204164" y="169460"/>
                    <a:pt x="204164" y="161499"/>
                  </a:cubicBezTo>
                  <a:lnTo>
                    <a:pt x="204164" y="122777"/>
                  </a:lnTo>
                  <a:cubicBezTo>
                    <a:pt x="204164" y="114817"/>
                    <a:pt x="199907" y="107455"/>
                    <a:pt x="193021" y="103474"/>
                  </a:cubicBezTo>
                  <a:lnTo>
                    <a:pt x="157878" y="83179"/>
                  </a:lnTo>
                  <a:lnTo>
                    <a:pt x="157878" y="42624"/>
                  </a:lnTo>
                  <a:cubicBezTo>
                    <a:pt x="157878" y="34665"/>
                    <a:pt x="153620" y="27301"/>
                    <a:pt x="146735" y="23321"/>
                  </a:cubicBezTo>
                  <a:lnTo>
                    <a:pt x="113225" y="3980"/>
                  </a:lnTo>
                  <a:close/>
                  <a:moveTo>
                    <a:pt x="92531" y="120946"/>
                  </a:moveTo>
                  <a:lnTo>
                    <a:pt x="92531" y="163331"/>
                  </a:lnTo>
                  <a:lnTo>
                    <a:pt x="57388" y="183628"/>
                  </a:lnTo>
                  <a:cubicBezTo>
                    <a:pt x="56911" y="183907"/>
                    <a:pt x="56355" y="184066"/>
                    <a:pt x="55797" y="184066"/>
                  </a:cubicBezTo>
                  <a:lnTo>
                    <a:pt x="55797" y="142157"/>
                  </a:lnTo>
                  <a:lnTo>
                    <a:pt x="92531" y="120946"/>
                  </a:lnTo>
                  <a:close/>
                  <a:moveTo>
                    <a:pt x="184623" y="121185"/>
                  </a:moveTo>
                  <a:cubicBezTo>
                    <a:pt x="184901" y="121662"/>
                    <a:pt x="185061" y="122220"/>
                    <a:pt x="185061" y="122777"/>
                  </a:cubicBezTo>
                  <a:lnTo>
                    <a:pt x="185061" y="161499"/>
                  </a:lnTo>
                  <a:cubicBezTo>
                    <a:pt x="185061" y="162654"/>
                    <a:pt x="184465" y="163689"/>
                    <a:pt x="183469" y="164246"/>
                  </a:cubicBezTo>
                  <a:lnTo>
                    <a:pt x="149919" y="183589"/>
                  </a:lnTo>
                  <a:cubicBezTo>
                    <a:pt x="149442" y="183867"/>
                    <a:pt x="148886" y="184025"/>
                    <a:pt x="148327" y="184025"/>
                  </a:cubicBezTo>
                  <a:lnTo>
                    <a:pt x="148327" y="142119"/>
                  </a:lnTo>
                  <a:lnTo>
                    <a:pt x="184623" y="121185"/>
                  </a:lnTo>
                  <a:close/>
                  <a:moveTo>
                    <a:pt x="138816" y="42624"/>
                  </a:moveTo>
                  <a:lnTo>
                    <a:pt x="138816" y="83179"/>
                  </a:lnTo>
                  <a:lnTo>
                    <a:pt x="102082" y="104390"/>
                  </a:lnTo>
                  <a:lnTo>
                    <a:pt x="102082" y="62005"/>
                  </a:lnTo>
                  <a:lnTo>
                    <a:pt x="138378" y="41070"/>
                  </a:lnTo>
                  <a:cubicBezTo>
                    <a:pt x="138656" y="41549"/>
                    <a:pt x="138816" y="42106"/>
                    <a:pt x="138816" y="4266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902220" y="5571704"/>
              <a:ext cx="1010340" cy="23772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Tensor Operations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545688" y="5911273"/>
              <a:ext cx="5323387" cy="24621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Triton operates on </a:t>
              </a:r>
              <a:r>
                <a:rPr lang="en-US" sz="12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tensor</a:t>
              </a: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, not individual threads</a:t>
              </a:r>
              <a:endParaRPr lang="en-US" sz="110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6267632" y="1256313"/>
            <a:ext cx="5586585" cy="5331877"/>
          </a:xfrm>
          <a:custGeom>
            <a:avLst/>
            <a:gdLst/>
            <a:ahLst/>
            <a:cxnLst/>
            <a:rect l="l" t="t" r="r" b="b"/>
            <a:pathLst>
              <a:path w="5586585" h="5331877">
                <a:moveTo>
                  <a:pt x="101892" y="0"/>
                </a:moveTo>
                <a:lnTo>
                  <a:pt x="5484693" y="0"/>
                </a:lnTo>
                <a:cubicBezTo>
                  <a:pt x="5540966" y="0"/>
                  <a:pt x="5586585" y="45618"/>
                  <a:pt x="5586585" y="101892"/>
                </a:cubicBezTo>
                <a:lnTo>
                  <a:pt x="5586585" y="5229984"/>
                </a:lnTo>
                <a:cubicBezTo>
                  <a:pt x="5586585" y="5286259"/>
                  <a:pt x="5540966" y="5331877"/>
                  <a:pt x="5484693" y="5331877"/>
                </a:cubicBezTo>
                <a:lnTo>
                  <a:pt x="101892" y="5331877"/>
                </a:lnTo>
                <a:cubicBezTo>
                  <a:pt x="45618" y="5331877"/>
                  <a:pt x="0" y="5286259"/>
                  <a:pt x="0" y="5229984"/>
                </a:cubicBezTo>
                <a:lnTo>
                  <a:pt x="0" y="101892"/>
                </a:lnTo>
                <a:cubicBezTo>
                  <a:pt x="0" y="45618"/>
                  <a:pt x="45618" y="0"/>
                  <a:pt x="1018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28923" y="1460054"/>
            <a:ext cx="5263955" cy="2377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Vector vs Scalar Operation Comparison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6488270" y="1901530"/>
            <a:ext cx="5161987" cy="2241426"/>
          </a:xfrm>
          <a:custGeom>
            <a:avLst/>
            <a:gdLst/>
            <a:ahLst/>
            <a:cxnLst/>
            <a:rect l="l" t="t" r="r" b="b"/>
            <a:pathLst>
              <a:path w="5161987" h="2241426">
                <a:moveTo>
                  <a:pt x="33792" y="0"/>
                </a:moveTo>
                <a:lnTo>
                  <a:pt x="5094073" y="0"/>
                </a:lnTo>
                <a:cubicBezTo>
                  <a:pt x="5131581" y="0"/>
                  <a:pt x="5161987" y="30408"/>
                  <a:pt x="5161987" y="67915"/>
                </a:cubicBezTo>
                <a:lnTo>
                  <a:pt x="5161987" y="2173511"/>
                </a:lnTo>
                <a:cubicBezTo>
                  <a:pt x="5161987" y="2211020"/>
                  <a:pt x="5131581" y="2241426"/>
                  <a:pt x="5094073" y="2241426"/>
                </a:cubicBezTo>
                <a:lnTo>
                  <a:pt x="33792" y="2241426"/>
                </a:lnTo>
                <a:cubicBezTo>
                  <a:pt x="15130" y="2241426"/>
                  <a:pt x="0" y="2226297"/>
                  <a:pt x="0" y="2207633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6488270" y="1901530"/>
            <a:ext cx="33792" cy="2241426"/>
          </a:xfrm>
          <a:custGeom>
            <a:avLst/>
            <a:gdLst/>
            <a:ahLst/>
            <a:cxnLst/>
            <a:rect l="l" t="t" r="r" b="b"/>
            <a:pathLst>
              <a:path w="33792" h="2241426">
                <a:moveTo>
                  <a:pt x="33792" y="0"/>
                </a:moveTo>
                <a:lnTo>
                  <a:pt x="33792" y="0"/>
                </a:lnTo>
                <a:lnTo>
                  <a:pt x="33792" y="2241426"/>
                </a:lnTo>
                <a:lnTo>
                  <a:pt x="33792" y="2241426"/>
                </a:lnTo>
                <a:cubicBezTo>
                  <a:pt x="15130" y="2241426"/>
                  <a:pt x="0" y="2226297"/>
                  <a:pt x="0" y="2207633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99A1A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74918" y="2071281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1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CUDA (Scalar Operations)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6691814" y="2308946"/>
            <a:ext cx="4788417" cy="1426362"/>
          </a:xfrm>
          <a:custGeom>
            <a:avLst/>
            <a:gdLst/>
            <a:ahLst/>
            <a:cxnLst/>
            <a:rect l="l" t="t" r="r" b="b"/>
            <a:pathLst>
              <a:path w="4788417" h="1426362">
                <a:moveTo>
                  <a:pt x="33792" y="0"/>
                </a:moveTo>
                <a:lnTo>
                  <a:pt x="4754455" y="0"/>
                </a:lnTo>
                <a:cubicBezTo>
                  <a:pt x="4773212" y="0"/>
                  <a:pt x="4788417" y="15204"/>
                  <a:pt x="4788417" y="33962"/>
                </a:cubicBezTo>
                <a:lnTo>
                  <a:pt x="4788417" y="1392400"/>
                </a:lnTo>
                <a:cubicBezTo>
                  <a:pt x="4788417" y="1411157"/>
                  <a:pt x="4773212" y="1426362"/>
                  <a:pt x="4754455" y="1426362"/>
                </a:cubicBezTo>
                <a:lnTo>
                  <a:pt x="33792" y="1426362"/>
                </a:lnTo>
                <a:cubicBezTo>
                  <a:pt x="15130" y="1426362"/>
                  <a:pt x="0" y="1411233"/>
                  <a:pt x="0" y="1392570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6691814" y="2308946"/>
            <a:ext cx="33792" cy="1426362"/>
          </a:xfrm>
          <a:custGeom>
            <a:avLst/>
            <a:gdLst/>
            <a:ahLst/>
            <a:cxnLst/>
            <a:rect l="l" t="t" r="r" b="b"/>
            <a:pathLst>
              <a:path w="33792" h="1426362">
                <a:moveTo>
                  <a:pt x="33792" y="0"/>
                </a:moveTo>
                <a:lnTo>
                  <a:pt x="33792" y="0"/>
                </a:lnTo>
                <a:lnTo>
                  <a:pt x="33792" y="1426362"/>
                </a:lnTo>
                <a:lnTo>
                  <a:pt x="33792" y="1426362"/>
                </a:lnTo>
                <a:cubicBezTo>
                  <a:pt x="15130" y="1426362"/>
                  <a:pt x="0" y="1411233"/>
                  <a:pt x="0" y="1392570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810549" y="2410788"/>
            <a:ext cx="4635677" cy="12225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// Each thread handles one element</a:t>
            </a:r>
            <a:r>
              <a:rPr lang="en-US" sz="1100" b="1" i="0" u="none" strike="noStrike">
                <a:solidFill>
                  <a:srgbClr val="0066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</a:t>
            </a:r>
            <a:r>
              <a:rPr lang="en-US" sz="11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idx = blockIdx.x * blockDim.x 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      + threadIdx.x;</a:t>
            </a:r>
            <a:endParaRPr lang="en-US" sz="11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0066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float</a:t>
            </a:r>
            <a:r>
              <a:rPr lang="en-US" sz="11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x = input[idx];</a:t>
            </a:r>
            <a:endParaRPr lang="en-US" sz="11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1" i="0" u="none" strike="noStrike">
                <a:solidFill>
                  <a:srgbClr val="0066C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float</a:t>
            </a:r>
            <a:r>
              <a:rPr lang="en-US" sz="11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y = x * </a:t>
            </a:r>
            <a:r>
              <a:rPr lang="en-US" sz="1100" b="0" i="0" u="none" strike="noStrike">
                <a:solidFill>
                  <a:srgbClr val="0099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2.0</a:t>
            </a:r>
            <a:r>
              <a:rPr lang="en-US" sz="11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;</a:t>
            </a:r>
            <a:endParaRPr lang="en-US" sz="11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output[idx] = y;</a:t>
            </a:r>
            <a:endParaRPr lang="en-US" sz="1100" b="0" i="0" u="none" strike="noStrike">
              <a:solidFill>
                <a:srgbClr val="1E293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674918" y="3802990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thread handles one scalar value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6488270" y="4346237"/>
            <a:ext cx="5161987" cy="2037660"/>
          </a:xfrm>
          <a:custGeom>
            <a:avLst/>
            <a:gdLst/>
            <a:ahLst/>
            <a:cxnLst/>
            <a:rect l="l" t="t" r="r" b="b"/>
            <a:pathLst>
              <a:path w="5161987" h="2037660">
                <a:moveTo>
                  <a:pt x="33792" y="0"/>
                </a:moveTo>
                <a:lnTo>
                  <a:pt x="5094073" y="0"/>
                </a:lnTo>
                <a:cubicBezTo>
                  <a:pt x="5131581" y="0"/>
                  <a:pt x="5161987" y="30408"/>
                  <a:pt x="5161987" y="67915"/>
                </a:cubicBezTo>
                <a:lnTo>
                  <a:pt x="5161987" y="1969745"/>
                </a:lnTo>
                <a:cubicBezTo>
                  <a:pt x="5161987" y="2007253"/>
                  <a:pt x="5131581" y="2037660"/>
                  <a:pt x="5094073" y="2037660"/>
                </a:cubicBezTo>
                <a:lnTo>
                  <a:pt x="33792" y="2037660"/>
                </a:lnTo>
                <a:cubicBezTo>
                  <a:pt x="15130" y="2037660"/>
                  <a:pt x="0" y="2022531"/>
                  <a:pt x="0" y="2003868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6488270" y="4346237"/>
            <a:ext cx="33792" cy="2037660"/>
          </a:xfrm>
          <a:custGeom>
            <a:avLst/>
            <a:gdLst/>
            <a:ahLst/>
            <a:cxnLst/>
            <a:rect l="l" t="t" r="r" b="b"/>
            <a:pathLst>
              <a:path w="33792" h="2037660">
                <a:moveTo>
                  <a:pt x="33792" y="0"/>
                </a:moveTo>
                <a:lnTo>
                  <a:pt x="33792" y="0"/>
                </a:lnTo>
                <a:lnTo>
                  <a:pt x="33792" y="2037660"/>
                </a:lnTo>
                <a:lnTo>
                  <a:pt x="33792" y="2037660"/>
                </a:lnTo>
                <a:cubicBezTo>
                  <a:pt x="15130" y="2037660"/>
                  <a:pt x="0" y="2022531"/>
                  <a:pt x="0" y="2003868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674918" y="4515988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1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 (Vector Operations)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691814" y="4753657"/>
            <a:ext cx="4788417" cy="1222596"/>
          </a:xfrm>
          <a:custGeom>
            <a:avLst/>
            <a:gdLst/>
            <a:ahLst/>
            <a:cxnLst/>
            <a:rect l="l" t="t" r="r" b="b"/>
            <a:pathLst>
              <a:path w="4788417" h="1222596">
                <a:moveTo>
                  <a:pt x="33792" y="0"/>
                </a:moveTo>
                <a:lnTo>
                  <a:pt x="4754453" y="0"/>
                </a:lnTo>
                <a:cubicBezTo>
                  <a:pt x="4773211" y="0"/>
                  <a:pt x="4788417" y="15206"/>
                  <a:pt x="4788417" y="33964"/>
                </a:cubicBezTo>
                <a:lnTo>
                  <a:pt x="4788417" y="1188632"/>
                </a:lnTo>
                <a:cubicBezTo>
                  <a:pt x="4788417" y="1207390"/>
                  <a:pt x="4773211" y="1222596"/>
                  <a:pt x="4754453" y="1222596"/>
                </a:cubicBezTo>
                <a:lnTo>
                  <a:pt x="33792" y="1222596"/>
                </a:lnTo>
                <a:cubicBezTo>
                  <a:pt x="15130" y="1222596"/>
                  <a:pt x="0" y="1207466"/>
                  <a:pt x="0" y="118880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6691814" y="4753657"/>
            <a:ext cx="33792" cy="1222596"/>
          </a:xfrm>
          <a:custGeom>
            <a:avLst/>
            <a:gdLst/>
            <a:ahLst/>
            <a:cxnLst/>
            <a:rect l="l" t="t" r="r" b="b"/>
            <a:pathLst>
              <a:path w="33792" h="1222596">
                <a:moveTo>
                  <a:pt x="33792" y="0"/>
                </a:moveTo>
                <a:lnTo>
                  <a:pt x="33792" y="0"/>
                </a:lnTo>
                <a:lnTo>
                  <a:pt x="33792" y="1222596"/>
                </a:lnTo>
                <a:lnTo>
                  <a:pt x="33792" y="1222596"/>
                </a:lnTo>
                <a:cubicBezTo>
                  <a:pt x="15130" y="1222596"/>
                  <a:pt x="0" y="1207466"/>
                  <a:pt x="0" y="1188804"/>
                </a:cubicBezTo>
                <a:lnTo>
                  <a:pt x="0" y="33792"/>
                </a:lnTo>
                <a:cubicBezTo>
                  <a:pt x="0" y="15142"/>
                  <a:pt x="15142" y="0"/>
                  <a:pt x="337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810549" y="4855495"/>
            <a:ext cx="4635677" cy="10188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Each program handles one vector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offsets = block_start + tl.arange(</a:t>
            </a:r>
            <a:r>
              <a:rPr lang="en-US" sz="1100" b="0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0</a:t>
            </a: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, BLOCK)</a:t>
            </a:r>
            <a:endParaRPr lang="en-US" sz="11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x = tl.load(ptr + offsets)</a:t>
            </a:r>
            <a:endParaRPr lang="en-US" sz="11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y = x * </a:t>
            </a:r>
            <a:r>
              <a:rPr lang="en-US" sz="1100" b="0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2.0</a:t>
            </a:r>
            <a:endParaRPr lang="en-US" sz="1100" b="0" i="0" u="none" strike="noStrike">
              <a:solidFill>
                <a:srgbClr val="009900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tl.store(out_ptr + offsets, y)</a:t>
            </a:r>
            <a:endParaRPr lang="en-US" sz="11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674918" y="6043960"/>
            <a:ext cx="4864914" cy="1698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program handles one vector (multiple elements)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73213" y="1516155"/>
            <a:ext cx="5586585" cy="144986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8595" y="600050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mask  Role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33259" y="1451391"/>
            <a:ext cx="5635546" cy="635000"/>
            <a:chOff x="333259" y="1451391"/>
            <a:chExt cx="5635546" cy="635000"/>
          </a:xfrm>
        </p:grpSpPr>
        <p:sp>
          <p:nvSpPr>
            <p:cNvPr id="4" name="Freeform 4"/>
            <p:cNvSpPr/>
            <p:nvPr/>
          </p:nvSpPr>
          <p:spPr>
            <a:xfrm>
              <a:off x="333259" y="1451391"/>
              <a:ext cx="5635546" cy="635000"/>
            </a:xfrm>
            <a:custGeom>
              <a:avLst/>
              <a:gdLst/>
              <a:ahLst/>
              <a:cxnLst/>
              <a:rect l="l" t="t" r="r" b="b"/>
              <a:pathLst>
                <a:path w="5635546" h="635000">
                  <a:moveTo>
                    <a:pt x="31593" y="0"/>
                  </a:moveTo>
                  <a:lnTo>
                    <a:pt x="5540296" y="0"/>
                  </a:lnTo>
                  <a:cubicBezTo>
                    <a:pt x="5592865" y="0"/>
                    <a:pt x="5635546" y="42680"/>
                    <a:pt x="5635546" y="95250"/>
                  </a:cubicBezTo>
                  <a:lnTo>
                    <a:pt x="5635546" y="539750"/>
                  </a:lnTo>
                  <a:cubicBezTo>
                    <a:pt x="5635546" y="592320"/>
                    <a:pt x="5592865" y="635000"/>
                    <a:pt x="5540296" y="635000"/>
                  </a:cubicBezTo>
                  <a:lnTo>
                    <a:pt x="31593" y="635000"/>
                  </a:lnTo>
                  <a:cubicBezTo>
                    <a:pt x="14144" y="635000"/>
                    <a:pt x="0" y="620856"/>
                    <a:pt x="0" y="6034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33259" y="1451391"/>
              <a:ext cx="31593" cy="635000"/>
            </a:xfrm>
            <a:custGeom>
              <a:avLst/>
              <a:gdLst/>
              <a:ahLst/>
              <a:cxnLst/>
              <a:rect l="l" t="t" r="r" b="b"/>
              <a:pathLst>
                <a:path w="31593" h="635000">
                  <a:moveTo>
                    <a:pt x="31593" y="0"/>
                  </a:moveTo>
                  <a:lnTo>
                    <a:pt x="31593" y="0"/>
                  </a:lnTo>
                  <a:lnTo>
                    <a:pt x="31593" y="635000"/>
                  </a:lnTo>
                  <a:lnTo>
                    <a:pt x="31593" y="635000"/>
                  </a:lnTo>
                  <a:cubicBezTo>
                    <a:pt x="14144" y="635000"/>
                    <a:pt x="0" y="620856"/>
                    <a:pt x="0" y="6034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539533" y="1641872"/>
              <a:ext cx="5318125" cy="26193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3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mask = offsets &lt; n_elements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33259" y="2237056"/>
            <a:ext cx="5635546" cy="928688"/>
            <a:chOff x="333259" y="2237056"/>
            <a:chExt cx="5635546" cy="928688"/>
          </a:xfrm>
        </p:grpSpPr>
        <p:sp>
          <p:nvSpPr>
            <p:cNvPr id="8" name="Freeform 8"/>
            <p:cNvSpPr/>
            <p:nvPr/>
          </p:nvSpPr>
          <p:spPr>
            <a:xfrm>
              <a:off x="333259" y="2237056"/>
              <a:ext cx="5635546" cy="928688"/>
            </a:xfrm>
            <a:custGeom>
              <a:avLst/>
              <a:gdLst/>
              <a:ahLst/>
              <a:cxnLst/>
              <a:rect l="l" t="t" r="r" b="b"/>
              <a:pathLst>
                <a:path w="5635546" h="928688">
                  <a:moveTo>
                    <a:pt x="31593" y="0"/>
                  </a:moveTo>
                  <a:lnTo>
                    <a:pt x="5540300" y="0"/>
                  </a:lnTo>
                  <a:cubicBezTo>
                    <a:pt x="5592903" y="0"/>
                    <a:pt x="5635546" y="42643"/>
                    <a:pt x="5635546" y="95246"/>
                  </a:cubicBezTo>
                  <a:lnTo>
                    <a:pt x="5635546" y="833441"/>
                  </a:lnTo>
                  <a:cubicBezTo>
                    <a:pt x="5635546" y="886043"/>
                    <a:pt x="5592903" y="928688"/>
                    <a:pt x="5540300" y="928688"/>
                  </a:cubicBezTo>
                  <a:lnTo>
                    <a:pt x="31593" y="928688"/>
                  </a:lnTo>
                  <a:cubicBezTo>
                    <a:pt x="14144" y="928688"/>
                    <a:pt x="0" y="914544"/>
                    <a:pt x="0" y="897095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Freeform 9"/>
            <p:cNvSpPr/>
            <p:nvPr/>
          </p:nvSpPr>
          <p:spPr>
            <a:xfrm>
              <a:off x="333259" y="2237056"/>
              <a:ext cx="31593" cy="928688"/>
            </a:xfrm>
            <a:custGeom>
              <a:avLst/>
              <a:gdLst/>
              <a:ahLst/>
              <a:cxnLst/>
              <a:rect l="l" t="t" r="r" b="b"/>
              <a:pathLst>
                <a:path w="31593" h="928688">
                  <a:moveTo>
                    <a:pt x="31593" y="0"/>
                  </a:moveTo>
                  <a:lnTo>
                    <a:pt x="31593" y="0"/>
                  </a:lnTo>
                  <a:lnTo>
                    <a:pt x="31593" y="928688"/>
                  </a:lnTo>
                  <a:lnTo>
                    <a:pt x="31593" y="928688"/>
                  </a:lnTo>
                  <a:cubicBezTo>
                    <a:pt x="14144" y="928688"/>
                    <a:pt x="0" y="914544"/>
                    <a:pt x="0" y="897095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69297" y="2443392"/>
              <a:ext cx="178669" cy="190202"/>
            </a:xfrm>
            <a:custGeom>
              <a:avLst/>
              <a:gdLst/>
              <a:ahLst/>
              <a:cxnLst/>
              <a:rect l="l" t="t" r="r" b="b"/>
              <a:pathLst>
                <a:path w="178669" h="190202">
                  <a:moveTo>
                    <a:pt x="89298" y="0"/>
                  </a:moveTo>
                  <a:cubicBezTo>
                    <a:pt x="91010" y="0"/>
                    <a:pt x="92721" y="372"/>
                    <a:pt x="94284" y="1080"/>
                  </a:cubicBezTo>
                  <a:lnTo>
                    <a:pt x="164382" y="30806"/>
                  </a:lnTo>
                  <a:cubicBezTo>
                    <a:pt x="172567" y="34268"/>
                    <a:pt x="178669" y="42342"/>
                    <a:pt x="178632" y="52090"/>
                  </a:cubicBezTo>
                  <a:cubicBezTo>
                    <a:pt x="178446" y="88999"/>
                    <a:pt x="163267" y="156530"/>
                    <a:pt x="99158" y="187226"/>
                  </a:cubicBezTo>
                  <a:cubicBezTo>
                    <a:pt x="92944" y="190202"/>
                    <a:pt x="85725" y="190202"/>
                    <a:pt x="79513" y="187226"/>
                  </a:cubicBezTo>
                  <a:cubicBezTo>
                    <a:pt x="15367" y="156530"/>
                    <a:pt x="224" y="88999"/>
                    <a:pt x="39" y="52090"/>
                  </a:cubicBezTo>
                  <a:cubicBezTo>
                    <a:pt x="0" y="42342"/>
                    <a:pt x="6103" y="34268"/>
                    <a:pt x="14289" y="30806"/>
                  </a:cubicBezTo>
                  <a:lnTo>
                    <a:pt x="84349" y="1080"/>
                  </a:lnTo>
                  <a:cubicBezTo>
                    <a:pt x="85912" y="372"/>
                    <a:pt x="87586" y="0"/>
                    <a:pt x="89298" y="0"/>
                  </a:cubicBezTo>
                  <a:close/>
                  <a:moveTo>
                    <a:pt x="89298" y="24854"/>
                  </a:moveTo>
                  <a:lnTo>
                    <a:pt x="89298" y="165534"/>
                  </a:lnTo>
                  <a:cubicBezTo>
                    <a:pt x="140644" y="140680"/>
                    <a:pt x="154448" y="85613"/>
                    <a:pt x="154782" y="52648"/>
                  </a:cubicBezTo>
                  <a:lnTo>
                    <a:pt x="89298" y="24892"/>
                  </a:lnTo>
                  <a:lnTo>
                    <a:pt x="89298" y="24892"/>
                  </a:lnTo>
                  <a:close/>
                </a:path>
              </a:pathLst>
            </a:custGeom>
            <a:solidFill>
              <a:srgbClr val="A6A6A6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872854" y="2427537"/>
              <a:ext cx="714375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Core Role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539533" y="2744998"/>
              <a:ext cx="5310188" cy="23018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100" b="1" i="0" u="none" strike="noStrike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Prevent the last block from going out of bounds</a:t>
              </a:r>
              <a:r>
                <a:rPr lang="en-US" sz="1100" b="0" i="0" u="none" strike="noStrike">
                  <a:solidFill>
                    <a:srgbClr val="A6A6A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accessing memory</a:t>
              </a:r>
              <a:endParaRPr lang="en-US" sz="11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222953" y="1174517"/>
            <a:ext cx="5651500" cy="1079500"/>
          </a:xfrm>
          <a:custGeom>
            <a:avLst/>
            <a:gdLst/>
            <a:ahLst/>
            <a:cxnLst/>
            <a:rect l="l" t="t" r="r" b="b"/>
            <a:pathLst>
              <a:path w="5651500" h="1079500">
                <a:moveTo>
                  <a:pt x="63496" y="0"/>
                </a:moveTo>
                <a:lnTo>
                  <a:pt x="5588004" y="0"/>
                </a:lnTo>
                <a:cubicBezTo>
                  <a:pt x="5623072" y="0"/>
                  <a:pt x="5651500" y="28428"/>
                  <a:pt x="5651500" y="63496"/>
                </a:cubicBezTo>
                <a:lnTo>
                  <a:pt x="5651500" y="1016004"/>
                </a:lnTo>
                <a:cubicBezTo>
                  <a:pt x="5651500" y="1051072"/>
                  <a:pt x="5623072" y="1079500"/>
                  <a:pt x="55880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6405466" y="13490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4" y="58638"/>
                  <a:pt x="71289" y="58638"/>
                  <a:pt x="74748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4"/>
                  <a:pt x="131787" y="71289"/>
                  <a:pt x="128290" y="74748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1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8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1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8"/>
                </a:lnTo>
                <a:cubicBezTo>
                  <a:pt x="58638" y="71251"/>
                  <a:pt x="58638" y="65595"/>
                  <a:pt x="62136" y="62136"/>
                </a:cubicBezTo>
                <a:close/>
              </a:path>
            </a:pathLst>
          </a:custGeom>
          <a:solidFill>
            <a:srgbClr val="E7000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14974" y="1333221"/>
            <a:ext cx="2576312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When offsets ≥ n_elements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81654" y="1650682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• </a:t>
            </a:r>
            <a:r>
              <a:rPr lang="en-US" sz="1000" b="1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</a:t>
            </a: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does not access memory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81654" y="1904655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• </a:t>
            </a:r>
            <a:r>
              <a:rPr lang="en-US" sz="1000" b="1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store</a:t>
            </a: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does not write to memory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222953" y="2380816"/>
            <a:ext cx="5651500" cy="1079500"/>
          </a:xfrm>
          <a:custGeom>
            <a:avLst/>
            <a:gdLst/>
            <a:ahLst/>
            <a:cxnLst/>
            <a:rect l="l" t="t" r="r" b="b"/>
            <a:pathLst>
              <a:path w="5651500" h="1079500">
                <a:moveTo>
                  <a:pt x="63496" y="0"/>
                </a:moveTo>
                <a:lnTo>
                  <a:pt x="5588004" y="0"/>
                </a:lnTo>
                <a:cubicBezTo>
                  <a:pt x="5623072" y="0"/>
                  <a:pt x="5651500" y="28428"/>
                  <a:pt x="5651500" y="63496"/>
                </a:cubicBezTo>
                <a:lnTo>
                  <a:pt x="5651500" y="1016004"/>
                </a:lnTo>
                <a:cubicBezTo>
                  <a:pt x="5651500" y="1051072"/>
                  <a:pt x="5623072" y="1079500"/>
                  <a:pt x="55880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6405466" y="2555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63E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14974" y="2539516"/>
            <a:ext cx="2177413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When offsets &lt; n_elements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81654" y="2856981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• </a:t>
            </a:r>
            <a:r>
              <a:rPr lang="en-US" sz="1000" b="1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</a:t>
            </a: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reads data normally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81654" y="3110950"/>
            <a:ext cx="5397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• </a:t>
            </a:r>
            <a:r>
              <a:rPr lang="en-US" sz="1000" b="1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store</a:t>
            </a:r>
            <a:r>
              <a:rPr lang="en-US" sz="10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writes results normally</a:t>
            </a:r>
            <a:endParaRPr lang="en-US" sz="1100"/>
          </a:p>
        </p:txBody>
      </p:sp>
      <p:grpSp>
        <p:nvGrpSpPr>
          <p:cNvPr id="23" name="Group 23"/>
          <p:cNvGrpSpPr/>
          <p:nvPr/>
        </p:nvGrpSpPr>
        <p:grpSpPr>
          <a:xfrm>
            <a:off x="317463" y="3650607"/>
            <a:ext cx="11557000" cy="2625938"/>
            <a:chOff x="317463" y="3650607"/>
            <a:chExt cx="11557000" cy="2625938"/>
          </a:xfrm>
        </p:grpSpPr>
        <p:sp>
          <p:nvSpPr>
            <p:cNvPr id="24" name="Freeform 24"/>
            <p:cNvSpPr/>
            <p:nvPr/>
          </p:nvSpPr>
          <p:spPr>
            <a:xfrm>
              <a:off x="317463" y="3650607"/>
              <a:ext cx="11557000" cy="2625938"/>
            </a:xfrm>
            <a:custGeom>
              <a:avLst/>
              <a:gdLst/>
              <a:ahLst/>
              <a:cxnLst/>
              <a:rect l="l" t="t" r="r" b="b"/>
              <a:pathLst>
                <a:path w="11557000" h="2625938">
                  <a:moveTo>
                    <a:pt x="95240" y="0"/>
                  </a:moveTo>
                  <a:lnTo>
                    <a:pt x="11461760" y="0"/>
                  </a:lnTo>
                  <a:cubicBezTo>
                    <a:pt x="11514360" y="0"/>
                    <a:pt x="11557000" y="32355"/>
                    <a:pt x="11557000" y="72266"/>
                  </a:cubicBezTo>
                  <a:lnTo>
                    <a:pt x="11557000" y="2553672"/>
                  </a:lnTo>
                  <a:cubicBezTo>
                    <a:pt x="11557000" y="2593584"/>
                    <a:pt x="11514360" y="2625938"/>
                    <a:pt x="11461760" y="2625938"/>
                  </a:cubicBezTo>
                  <a:lnTo>
                    <a:pt x="95240" y="2625938"/>
                  </a:lnTo>
                  <a:cubicBezTo>
                    <a:pt x="42640" y="2625938"/>
                    <a:pt x="0" y="2593584"/>
                    <a:pt x="0" y="2553672"/>
                  </a:cubicBezTo>
                  <a:lnTo>
                    <a:pt x="0" y="72266"/>
                  </a:lnTo>
                  <a:cubicBezTo>
                    <a:pt x="0" y="32381"/>
                    <a:pt x="42676" y="0"/>
                    <a:pt x="95240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507941" y="3841083"/>
              <a:ext cx="11255375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mask Usage Example</a:t>
              </a:r>
              <a:endParaRPr lang="en-US" sz="110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523737" y="4190326"/>
              <a:ext cx="11160046" cy="1903628"/>
            </a:xfrm>
            <a:custGeom>
              <a:avLst/>
              <a:gdLst/>
              <a:ahLst/>
              <a:cxnLst/>
              <a:rect l="l" t="t" r="r" b="b"/>
              <a:pathLst>
                <a:path w="11160046" h="1903628">
                  <a:moveTo>
                    <a:pt x="31593" y="0"/>
                  </a:moveTo>
                  <a:lnTo>
                    <a:pt x="11096535" y="0"/>
                  </a:lnTo>
                  <a:cubicBezTo>
                    <a:pt x="11131611" y="0"/>
                    <a:pt x="11160046" y="19825"/>
                    <a:pt x="11160046" y="44279"/>
                  </a:cubicBezTo>
                  <a:lnTo>
                    <a:pt x="11160046" y="1859350"/>
                  </a:lnTo>
                  <a:cubicBezTo>
                    <a:pt x="11160046" y="1883804"/>
                    <a:pt x="11131611" y="1903628"/>
                    <a:pt x="11096535" y="1903628"/>
                  </a:cubicBezTo>
                  <a:lnTo>
                    <a:pt x="31593" y="1903628"/>
                  </a:lnTo>
                  <a:cubicBezTo>
                    <a:pt x="14144" y="1903628"/>
                    <a:pt x="0" y="1893767"/>
                    <a:pt x="0" y="1881603"/>
                  </a:cubicBezTo>
                  <a:lnTo>
                    <a:pt x="0" y="22026"/>
                  </a:lnTo>
                  <a:cubicBezTo>
                    <a:pt x="0" y="9869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3736" y="4190326"/>
              <a:ext cx="45719" cy="1854533"/>
            </a:xfrm>
            <a:custGeom>
              <a:avLst/>
              <a:gdLst/>
              <a:ahLst/>
              <a:cxnLst/>
              <a:rect l="l" t="t" r="r" b="b"/>
              <a:pathLst>
                <a:path w="45719" h="1854533">
                  <a:moveTo>
                    <a:pt x="45719" y="0"/>
                  </a:moveTo>
                  <a:lnTo>
                    <a:pt x="45719" y="0"/>
                  </a:lnTo>
                  <a:lnTo>
                    <a:pt x="45719" y="1854533"/>
                  </a:lnTo>
                  <a:lnTo>
                    <a:pt x="45719" y="1854533"/>
                  </a:lnTo>
                  <a:cubicBezTo>
                    <a:pt x="20469" y="1854533"/>
                    <a:pt x="0" y="1844926"/>
                    <a:pt x="0" y="1833076"/>
                  </a:cubicBezTo>
                  <a:lnTo>
                    <a:pt x="0" y="21457"/>
                  </a:lnTo>
                  <a:cubicBezTo>
                    <a:pt x="0" y="9615"/>
                    <a:pt x="20486" y="0"/>
                    <a:pt x="4571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666518" y="3800045"/>
              <a:ext cx="10953750" cy="2476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0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# Create mask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mask = offsets &lt; n_elements</a:t>
              </a:r>
              <a:endParaRPr lang="en-US" sz="1000" b="0" i="0" u="none" strike="noStrike">
                <a:solidFill>
                  <a:srgbClr val="1E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# load operation with mask</a:t>
              </a:r>
              <a:endParaRPr lang="en-US" sz="10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x = tl.load(x_ptr + offsets, </a:t>
              </a:r>
              <a:r>
                <a:rPr lang="en-US" sz="1000" b="1" i="0" u="none" strike="noStrike">
                  <a:solidFill>
                    <a:srgbClr val="8B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mask=mask</a:t>
              </a: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)</a:t>
              </a:r>
              <a:endParaRPr lang="en-US" sz="1000" b="0" i="0" u="none" strike="noStrike">
                <a:solidFill>
                  <a:srgbClr val="1E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y = tl.load(y_ptr + offsets, </a:t>
              </a:r>
              <a:r>
                <a:rPr lang="en-US" sz="1000" b="1" i="0" u="none" strike="noStrike">
                  <a:solidFill>
                    <a:srgbClr val="8B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mask=mask</a:t>
              </a: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)</a:t>
              </a:r>
              <a:endParaRPr lang="en-US" sz="1000" b="0" i="0" u="none" strike="noStrike">
                <a:solidFill>
                  <a:srgbClr val="1E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# Compute</a:t>
              </a:r>
              <a:endParaRPr lang="en-US" sz="10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output = x + y</a:t>
              </a:r>
              <a:endParaRPr lang="en-US" sz="1000" b="0" i="0" u="none" strike="noStrike">
                <a:solidFill>
                  <a:srgbClr val="1E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66666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# store operation with mask</a:t>
              </a:r>
              <a:endParaRPr lang="en-US" sz="1000" b="0" i="0" u="none" strike="noStrike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tl.store(output_ptr + offsets, output, </a:t>
              </a:r>
              <a:r>
                <a:rPr lang="en-US" sz="1000" b="1" i="0" u="none" strike="noStrike">
                  <a:solidFill>
                    <a:srgbClr val="8B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mask=mask</a:t>
              </a:r>
              <a:r>
                <a:rPr lang="en-US" sz="1000" b="0" i="0" u="none" strike="noStrike">
                  <a:solidFill>
                    <a:srgbClr val="1E293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)</a:t>
              </a:r>
              <a:endParaRPr lang="en-US" sz="1000" b="0" i="0" u="none" strike="noStrike">
                <a:solidFill>
                  <a:srgbClr val="1E29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6394" y="60925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mask How It WorksExample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409793"/>
            <a:ext cx="11430000" cy="1714500"/>
            <a:chOff x="380956" y="1409793"/>
            <a:chExt cx="11430000" cy="1714500"/>
          </a:xfrm>
        </p:grpSpPr>
        <p:sp>
          <p:nvSpPr>
            <p:cNvPr id="4" name="Freeform 4"/>
            <p:cNvSpPr/>
            <p:nvPr/>
          </p:nvSpPr>
          <p:spPr>
            <a:xfrm>
              <a:off x="380956" y="1409793"/>
              <a:ext cx="11430000" cy="1714500"/>
            </a:xfrm>
            <a:custGeom>
              <a:avLst/>
              <a:gdLst/>
              <a:ahLst/>
              <a:cxnLst/>
              <a:rect l="l" t="t" r="r" b="b"/>
              <a:pathLst>
                <a:path w="11430000" h="1714500">
                  <a:moveTo>
                    <a:pt x="114306" y="0"/>
                  </a:moveTo>
                  <a:lnTo>
                    <a:pt x="11315694" y="0"/>
                  </a:lnTo>
                  <a:cubicBezTo>
                    <a:pt x="11378824" y="0"/>
                    <a:pt x="11430000" y="51176"/>
                    <a:pt x="11430000" y="114306"/>
                  </a:cubicBezTo>
                  <a:lnTo>
                    <a:pt x="11430000" y="1600194"/>
                  </a:lnTo>
                  <a:cubicBezTo>
                    <a:pt x="11430000" y="1663324"/>
                    <a:pt x="11378824" y="1714500"/>
                    <a:pt x="11315694" y="1714500"/>
                  </a:cubicBezTo>
                  <a:lnTo>
                    <a:pt x="114306" y="1714500"/>
                  </a:lnTo>
                  <a:cubicBezTo>
                    <a:pt x="51176" y="1714500"/>
                    <a:pt x="0" y="1663324"/>
                    <a:pt x="0" y="1600194"/>
                  </a:cubicBezTo>
                  <a:lnTo>
                    <a:pt x="0" y="114306"/>
                  </a:lnTo>
                  <a:cubicBezTo>
                    <a:pt x="0" y="51176"/>
                    <a:pt x="51176" y="0"/>
                    <a:pt x="114306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609529" y="1638365"/>
              <a:ext cx="110680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Assumed Conditions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628484" y="2057456"/>
              <a:ext cx="5486305" cy="838200"/>
            </a:xfrm>
            <a:custGeom>
              <a:avLst/>
              <a:gdLst/>
              <a:ahLst/>
              <a:cxnLst/>
              <a:rect l="l" t="t" r="r" b="b"/>
              <a:pathLst>
                <a:path w="5486305" h="838200">
                  <a:moveTo>
                    <a:pt x="37910" y="0"/>
                  </a:moveTo>
                  <a:lnTo>
                    <a:pt x="5410103" y="0"/>
                  </a:lnTo>
                  <a:cubicBezTo>
                    <a:pt x="5452189" y="0"/>
                    <a:pt x="5486305" y="34116"/>
                    <a:pt x="5486305" y="76201"/>
                  </a:cubicBezTo>
                  <a:lnTo>
                    <a:pt x="5486305" y="761999"/>
                  </a:lnTo>
                  <a:cubicBezTo>
                    <a:pt x="5486305" y="804084"/>
                    <a:pt x="5452189" y="838200"/>
                    <a:pt x="5410103" y="838200"/>
                  </a:cubicBezTo>
                  <a:lnTo>
                    <a:pt x="37910" y="838200"/>
                  </a:lnTo>
                  <a:cubicBezTo>
                    <a:pt x="16974" y="838200"/>
                    <a:pt x="0" y="821226"/>
                    <a:pt x="0" y="8002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Freeform 7"/>
            <p:cNvSpPr/>
            <p:nvPr/>
          </p:nvSpPr>
          <p:spPr>
            <a:xfrm>
              <a:off x="628484" y="2057456"/>
              <a:ext cx="37909" cy="838200"/>
            </a:xfrm>
            <a:custGeom>
              <a:avLst/>
              <a:gdLst/>
              <a:ahLst/>
              <a:cxnLst/>
              <a:rect l="l" t="t" r="r" b="b"/>
              <a:pathLst>
                <a:path w="37909" h="838200">
                  <a:moveTo>
                    <a:pt x="37910" y="0"/>
                  </a:moveTo>
                  <a:lnTo>
                    <a:pt x="37910" y="0"/>
                  </a:lnTo>
                  <a:lnTo>
                    <a:pt x="37910" y="838200"/>
                  </a:lnTo>
                  <a:lnTo>
                    <a:pt x="37910" y="838200"/>
                  </a:lnTo>
                  <a:cubicBezTo>
                    <a:pt x="16974" y="838200"/>
                    <a:pt x="0" y="821226"/>
                    <a:pt x="0" y="8002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799822" y="2209837"/>
              <a:ext cx="5248275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4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n_elements = </a:t>
              </a:r>
              <a:r>
                <a:rPr lang="en-US" sz="1400" b="1" i="0" u="none" strike="noStrike">
                  <a:solidFill>
                    <a:srgbClr val="0099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1000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4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BLOCK_SIZE = </a:t>
              </a:r>
              <a:r>
                <a:rPr lang="en-US" sz="1400" b="1" i="0" u="none" strike="noStrike">
                  <a:solidFill>
                    <a:srgbClr val="0099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1024</a:t>
              </a:r>
              <a:endParaRPr lang="en-US" sz="1400" b="1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419675" y="2209837"/>
              <a:ext cx="5248275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Vector has 1000 elements, but each block processes 1024 — the last block exceeds the boundary</a:t>
              </a:r>
              <a:endParaRPr lang="en-US" sz="11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0956" y="3352777"/>
            <a:ext cx="11430000" cy="2819400"/>
            <a:chOff x="380956" y="3352777"/>
            <a:chExt cx="11430000" cy="2819400"/>
          </a:xfrm>
        </p:grpSpPr>
        <p:sp>
          <p:nvSpPr>
            <p:cNvPr id="11" name="Freeform 11"/>
            <p:cNvSpPr/>
            <p:nvPr/>
          </p:nvSpPr>
          <p:spPr>
            <a:xfrm>
              <a:off x="380956" y="3352777"/>
              <a:ext cx="11430000" cy="2819400"/>
            </a:xfrm>
            <a:custGeom>
              <a:avLst/>
              <a:gdLst/>
              <a:ahLst/>
              <a:cxnLst/>
              <a:rect l="l" t="t" r="r" b="b"/>
              <a:pathLst>
                <a:path w="11430000" h="2819400">
                  <a:moveTo>
                    <a:pt x="114297" y="0"/>
                  </a:moveTo>
                  <a:lnTo>
                    <a:pt x="11315703" y="0"/>
                  </a:lnTo>
                  <a:cubicBezTo>
                    <a:pt x="11378827" y="0"/>
                    <a:pt x="11430000" y="51173"/>
                    <a:pt x="11430000" y="114297"/>
                  </a:cubicBezTo>
                  <a:lnTo>
                    <a:pt x="11430000" y="2705103"/>
                  </a:lnTo>
                  <a:cubicBezTo>
                    <a:pt x="11430000" y="2768227"/>
                    <a:pt x="11378827" y="2819400"/>
                    <a:pt x="11315703" y="2819400"/>
                  </a:cubicBezTo>
                  <a:lnTo>
                    <a:pt x="114297" y="2819400"/>
                  </a:lnTo>
                  <a:cubicBezTo>
                    <a:pt x="51173" y="2819400"/>
                    <a:pt x="0" y="2768227"/>
                    <a:pt x="0" y="2705103"/>
                  </a:cubicBezTo>
                  <a:lnTo>
                    <a:pt x="0" y="114297"/>
                  </a:lnTo>
                  <a:cubicBezTo>
                    <a:pt x="0" y="51173"/>
                    <a:pt x="51173" y="0"/>
                    <a:pt x="114297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09529" y="3581353"/>
              <a:ext cx="110680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Last block (program_id = 0, only one block)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09529" y="4000440"/>
              <a:ext cx="5457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offsets array</a:t>
              </a:r>
              <a:endParaRPr lang="en-US" sz="110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609529" y="4381398"/>
              <a:ext cx="5372100" cy="876300"/>
            </a:xfrm>
            <a:custGeom>
              <a:avLst/>
              <a:gdLst/>
              <a:ahLst/>
              <a:cxnLst/>
              <a:rect l="l" t="t" r="r" b="b"/>
              <a:pathLst>
                <a:path w="5372100" h="876300">
                  <a:moveTo>
                    <a:pt x="76203" y="0"/>
                  </a:moveTo>
                  <a:lnTo>
                    <a:pt x="5295897" y="0"/>
                  </a:lnTo>
                  <a:cubicBezTo>
                    <a:pt x="5337983" y="0"/>
                    <a:pt x="5372100" y="34117"/>
                    <a:pt x="5372100" y="76203"/>
                  </a:cubicBezTo>
                  <a:lnTo>
                    <a:pt x="5372100" y="800097"/>
                  </a:lnTo>
                  <a:cubicBezTo>
                    <a:pt x="5372100" y="842183"/>
                    <a:pt x="5337983" y="876300"/>
                    <a:pt x="52958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1911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23811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0</a:t>
              </a:r>
              <a:endParaRPr lang="en-US" sz="110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400095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1361995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038279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2000179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676463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2638363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...</a:t>
              </a:r>
              <a:endParaRPr lang="en-US" sz="110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314647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276547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998</a:t>
              </a:r>
              <a:endParaRPr lang="en-US" sz="1100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3952831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BEAFE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3914731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999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4591014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4552914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1000</a:t>
              </a:r>
              <a:endParaRPr lang="en-US" sz="1100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229198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0" name="AutoShape 30"/>
            <p:cNvSpPr/>
            <p:nvPr/>
          </p:nvSpPr>
          <p:spPr>
            <a:xfrm>
              <a:off x="5191098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...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761911" y="4914658"/>
              <a:ext cx="51339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Index range: [0 ... 1023]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6210279" y="4000440"/>
              <a:ext cx="5457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mask array</a:t>
              </a:r>
              <a:endParaRPr lang="en-US" sz="1100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6210279" y="4381398"/>
              <a:ext cx="5372100" cy="876300"/>
            </a:xfrm>
            <a:custGeom>
              <a:avLst/>
              <a:gdLst/>
              <a:ahLst/>
              <a:cxnLst/>
              <a:rect l="l" t="t" r="r" b="b"/>
              <a:pathLst>
                <a:path w="5372100" h="876300">
                  <a:moveTo>
                    <a:pt x="76203" y="0"/>
                  </a:moveTo>
                  <a:lnTo>
                    <a:pt x="5295897" y="0"/>
                  </a:lnTo>
                  <a:cubicBezTo>
                    <a:pt x="5337983" y="0"/>
                    <a:pt x="5372100" y="34117"/>
                    <a:pt x="5372100" y="76203"/>
                  </a:cubicBezTo>
                  <a:lnTo>
                    <a:pt x="5372100" y="800097"/>
                  </a:lnTo>
                  <a:cubicBezTo>
                    <a:pt x="5372100" y="842183"/>
                    <a:pt x="5337983" y="876300"/>
                    <a:pt x="5295897" y="876300"/>
                  </a:cubicBezTo>
                  <a:lnTo>
                    <a:pt x="76203" y="876300"/>
                  </a:lnTo>
                  <a:cubicBezTo>
                    <a:pt x="34117" y="876300"/>
                    <a:pt x="0" y="842183"/>
                    <a:pt x="0" y="8000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362662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5" name="AutoShape 35"/>
            <p:cNvSpPr/>
            <p:nvPr/>
          </p:nvSpPr>
          <p:spPr>
            <a:xfrm>
              <a:off x="6324562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00823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</a:t>
              </a:r>
              <a:endParaRPr lang="en-US" sz="1100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7000845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962745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00823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</a:t>
              </a:r>
              <a:endParaRPr lang="en-US" sz="1100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7639029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7600929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00823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</a:t>
              </a:r>
              <a:endParaRPr lang="en-US" sz="1100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8277213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1" name="AutoShape 41"/>
            <p:cNvSpPr/>
            <p:nvPr/>
          </p:nvSpPr>
          <p:spPr>
            <a:xfrm>
              <a:off x="8239113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00823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...</a:t>
              </a:r>
              <a:endParaRPr lang="en-US" sz="1100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8915397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3" name="AutoShape 43"/>
            <p:cNvSpPr/>
            <p:nvPr/>
          </p:nvSpPr>
          <p:spPr>
            <a:xfrm>
              <a:off x="8877297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00823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</a:t>
              </a:r>
              <a:endParaRPr lang="en-US" sz="1100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9553581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DCFCE7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5" name="AutoShape 45"/>
            <p:cNvSpPr/>
            <p:nvPr/>
          </p:nvSpPr>
          <p:spPr>
            <a:xfrm>
              <a:off x="9515481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00823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</a:t>
              </a:r>
              <a:endParaRPr lang="en-US" sz="1100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10191765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7" name="AutoShape 47"/>
            <p:cNvSpPr/>
            <p:nvPr/>
          </p:nvSpPr>
          <p:spPr>
            <a:xfrm>
              <a:off x="10153665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C10007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</a:t>
              </a:r>
              <a:endParaRPr lang="en-US" sz="1100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829948" y="4533779"/>
              <a:ext cx="600075" cy="304800"/>
            </a:xfrm>
            <a:custGeom>
              <a:avLst/>
              <a:gdLst/>
              <a:ahLst/>
              <a:cxnLst/>
              <a:rect l="l" t="t" r="r" b="b"/>
              <a:pathLst>
                <a:path w="600075" h="304800">
                  <a:moveTo>
                    <a:pt x="38100" y="0"/>
                  </a:moveTo>
                  <a:lnTo>
                    <a:pt x="561975" y="0"/>
                  </a:lnTo>
                  <a:cubicBezTo>
                    <a:pt x="583002" y="0"/>
                    <a:pt x="600075" y="17073"/>
                    <a:pt x="600075" y="38100"/>
                  </a:cubicBezTo>
                  <a:lnTo>
                    <a:pt x="600075" y="266700"/>
                  </a:lnTo>
                  <a:cubicBezTo>
                    <a:pt x="600075" y="287727"/>
                    <a:pt x="583002" y="304800"/>
                    <a:pt x="561975" y="304800"/>
                  </a:cubicBezTo>
                  <a:lnTo>
                    <a:pt x="38100" y="304800"/>
                  </a:lnTo>
                  <a:cubicBezTo>
                    <a:pt x="17073" y="304800"/>
                    <a:pt x="0" y="287727"/>
                    <a:pt x="0" y="2667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E2E2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9" name="AutoShape 49"/>
            <p:cNvSpPr/>
            <p:nvPr/>
          </p:nvSpPr>
          <p:spPr>
            <a:xfrm>
              <a:off x="10791848" y="4533779"/>
              <a:ext cx="6762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38100" tIns="38100" rIns="38100" bIns="3810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C10007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...</a:t>
              </a:r>
              <a:endParaRPr lang="en-US" sz="1100"/>
            </a:p>
          </p:txBody>
        </p:sp>
        <p:sp>
          <p:nvSpPr>
            <p:cNvPr id="50" name="AutoShape 50"/>
            <p:cNvSpPr/>
            <p:nvPr/>
          </p:nvSpPr>
          <p:spPr>
            <a:xfrm>
              <a:off x="6362662" y="4914658"/>
              <a:ext cx="51339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True = access, False = skip</a:t>
              </a:r>
              <a:endParaRPr lang="en-US" sz="1100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609529" y="5409865"/>
              <a:ext cx="10972800" cy="533400"/>
            </a:xfrm>
            <a:custGeom>
              <a:avLst/>
              <a:gdLst/>
              <a:ahLst/>
              <a:cxnLst/>
              <a:rect l="l" t="t" r="r" b="b"/>
              <a:pathLst>
                <a:path w="10972800" h="533400">
                  <a:moveTo>
                    <a:pt x="76203" y="0"/>
                  </a:moveTo>
                  <a:lnTo>
                    <a:pt x="10896597" y="0"/>
                  </a:lnTo>
                  <a:cubicBezTo>
                    <a:pt x="10938683" y="0"/>
                    <a:pt x="10972800" y="34117"/>
                    <a:pt x="10972800" y="76203"/>
                  </a:cubicBezTo>
                  <a:lnTo>
                    <a:pt x="10972800" y="457197"/>
                  </a:lnTo>
                  <a:cubicBezTo>
                    <a:pt x="10972800" y="499283"/>
                    <a:pt x="10938683" y="533400"/>
                    <a:pt x="10896597" y="533400"/>
                  </a:cubicBezTo>
                  <a:lnTo>
                    <a:pt x="76203" y="533400"/>
                  </a:lnTo>
                  <a:cubicBezTo>
                    <a:pt x="34117" y="533400"/>
                    <a:pt x="0" y="499283"/>
                    <a:pt x="0" y="4571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90486" y="556224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383" y="228600"/>
                    <a:pt x="228600" y="177383"/>
                    <a:pt x="228600" y="114300"/>
                  </a:cubicBezTo>
                  <a:cubicBezTo>
                    <a:pt x="228600" y="51217"/>
                    <a:pt x="177383" y="0"/>
                    <a:pt x="114300" y="0"/>
                  </a:cubicBezTo>
                  <a:cubicBezTo>
                    <a:pt x="51217" y="0"/>
                    <a:pt x="0" y="51217"/>
                    <a:pt x="0" y="114300"/>
                  </a:cubicBezTo>
                  <a:cubicBezTo>
                    <a:pt x="0" y="177383"/>
                    <a:pt x="51217" y="228600"/>
                    <a:pt x="114300" y="228600"/>
                  </a:cubicBezTo>
                  <a:close/>
                  <a:moveTo>
                    <a:pt x="100012" y="71437"/>
                  </a:moveTo>
                  <a:cubicBezTo>
                    <a:pt x="100012" y="63552"/>
                    <a:pt x="106415" y="57150"/>
                    <a:pt x="114300" y="57150"/>
                  </a:cubicBezTo>
                  <a:cubicBezTo>
                    <a:pt x="122185" y="57150"/>
                    <a:pt x="128587" y="63552"/>
                    <a:pt x="128587" y="71437"/>
                  </a:cubicBezTo>
                  <a:cubicBezTo>
                    <a:pt x="128587" y="79323"/>
                    <a:pt x="122185" y="85725"/>
                    <a:pt x="114300" y="85725"/>
                  </a:cubicBezTo>
                  <a:cubicBezTo>
                    <a:pt x="106415" y="85725"/>
                    <a:pt x="100012" y="79323"/>
                    <a:pt x="100012" y="71437"/>
                  </a:cubicBezTo>
                  <a:close/>
                  <a:moveTo>
                    <a:pt x="96441" y="100013"/>
                  </a:moveTo>
                  <a:lnTo>
                    <a:pt x="117873" y="100013"/>
                  </a:lnTo>
                  <a:cubicBezTo>
                    <a:pt x="123810" y="100013"/>
                    <a:pt x="128587" y="104790"/>
                    <a:pt x="128587" y="110727"/>
                  </a:cubicBezTo>
                  <a:lnTo>
                    <a:pt x="128587" y="150019"/>
                  </a:lnTo>
                  <a:lnTo>
                    <a:pt x="132159" y="150019"/>
                  </a:lnTo>
                  <a:cubicBezTo>
                    <a:pt x="138099" y="150019"/>
                    <a:pt x="142875" y="154796"/>
                    <a:pt x="142875" y="160734"/>
                  </a:cubicBezTo>
                  <a:cubicBezTo>
                    <a:pt x="142875" y="166674"/>
                    <a:pt x="138099" y="171450"/>
                    <a:pt x="132159" y="171450"/>
                  </a:cubicBezTo>
                  <a:lnTo>
                    <a:pt x="96441" y="171450"/>
                  </a:lnTo>
                  <a:cubicBezTo>
                    <a:pt x="90501" y="171450"/>
                    <a:pt x="85725" y="166674"/>
                    <a:pt x="85725" y="160734"/>
                  </a:cubicBezTo>
                  <a:cubicBezTo>
                    <a:pt x="85725" y="154796"/>
                    <a:pt x="90501" y="150019"/>
                    <a:pt x="96441" y="150019"/>
                  </a:cubicBezTo>
                  <a:lnTo>
                    <a:pt x="107156" y="150019"/>
                  </a:lnTo>
                  <a:lnTo>
                    <a:pt x="107156" y="121444"/>
                  </a:lnTo>
                  <a:lnTo>
                    <a:pt x="96441" y="121444"/>
                  </a:lnTo>
                  <a:cubicBezTo>
                    <a:pt x="90501" y="121444"/>
                    <a:pt x="85725" y="116666"/>
                    <a:pt x="85725" y="110727"/>
                  </a:cubicBezTo>
                  <a:cubicBezTo>
                    <a:pt x="85725" y="104790"/>
                    <a:pt x="90501" y="100013"/>
                    <a:pt x="96441" y="10001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3" name="AutoShape 53"/>
            <p:cNvSpPr/>
            <p:nvPr/>
          </p:nvSpPr>
          <p:spPr>
            <a:xfrm>
              <a:off x="1200029" y="5562247"/>
              <a:ext cx="52768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Result:</a:t>
              </a:r>
              <a:r>
                <a:rPr lang="en-US" sz="1200" b="0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Only positions where offsets &lt; 1000 are accessed; out-of-bounds positions are protected by the mask</a:t>
              </a:r>
              <a:endParaRPr lang="en-US" sz="1100"/>
            </a:p>
          </p:txBody>
        </p:sp>
      </p:grp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791" y="604784"/>
            <a:ext cx="11617605" cy="3705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tl.load Details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8971" y="1370870"/>
            <a:ext cx="11414058" cy="1649070"/>
            <a:chOff x="388971" y="1370870"/>
            <a:chExt cx="11414058" cy="1649070"/>
          </a:xfrm>
        </p:grpSpPr>
        <p:sp>
          <p:nvSpPr>
            <p:cNvPr id="4" name="Freeform 4"/>
            <p:cNvSpPr/>
            <p:nvPr/>
          </p:nvSpPr>
          <p:spPr>
            <a:xfrm>
              <a:off x="388971" y="1370870"/>
              <a:ext cx="5435798" cy="1649070"/>
            </a:xfrm>
            <a:custGeom>
              <a:avLst/>
              <a:gdLst/>
              <a:ahLst/>
              <a:cxnLst/>
              <a:rect l="l" t="t" r="r" b="b"/>
              <a:pathLst>
                <a:path w="5435798" h="1649070">
                  <a:moveTo>
                    <a:pt x="36059" y="0"/>
                  </a:moveTo>
                  <a:lnTo>
                    <a:pt x="5327073" y="0"/>
                  </a:lnTo>
                  <a:cubicBezTo>
                    <a:pt x="5387120" y="0"/>
                    <a:pt x="5435798" y="49776"/>
                    <a:pt x="5435798" y="111180"/>
                  </a:cubicBezTo>
                  <a:lnTo>
                    <a:pt x="5435798" y="1537890"/>
                  </a:lnTo>
                  <a:cubicBezTo>
                    <a:pt x="5435798" y="1599293"/>
                    <a:pt x="5387120" y="1649070"/>
                    <a:pt x="5327073" y="1649070"/>
                  </a:cubicBezTo>
                  <a:lnTo>
                    <a:pt x="36059" y="1649070"/>
                  </a:lnTo>
                  <a:cubicBezTo>
                    <a:pt x="16144" y="1649070"/>
                    <a:pt x="0" y="1632561"/>
                    <a:pt x="0" y="1612196"/>
                  </a:cubicBezTo>
                  <a:lnTo>
                    <a:pt x="0" y="36873"/>
                  </a:lnTo>
                  <a:cubicBezTo>
                    <a:pt x="0" y="16521"/>
                    <a:pt x="16157" y="0"/>
                    <a:pt x="3605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88971" y="1370870"/>
              <a:ext cx="36059" cy="1649070"/>
            </a:xfrm>
            <a:custGeom>
              <a:avLst/>
              <a:gdLst/>
              <a:ahLst/>
              <a:cxnLst/>
              <a:rect l="l" t="t" r="r" b="b"/>
              <a:pathLst>
                <a:path w="36059" h="1649070">
                  <a:moveTo>
                    <a:pt x="36059" y="0"/>
                  </a:moveTo>
                  <a:lnTo>
                    <a:pt x="36059" y="0"/>
                  </a:lnTo>
                  <a:lnTo>
                    <a:pt x="36059" y="1649070"/>
                  </a:lnTo>
                  <a:lnTo>
                    <a:pt x="36059" y="1649070"/>
                  </a:lnTo>
                  <a:cubicBezTo>
                    <a:pt x="16144" y="1649070"/>
                    <a:pt x="0" y="1632561"/>
                    <a:pt x="0" y="1612196"/>
                  </a:cubicBezTo>
                  <a:lnTo>
                    <a:pt x="0" y="36873"/>
                  </a:lnTo>
                  <a:cubicBezTo>
                    <a:pt x="0" y="16509"/>
                    <a:pt x="16144" y="0"/>
                    <a:pt x="3605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24410" y="1593194"/>
              <a:ext cx="5073495" cy="120437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x = tl.load(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x_ptr + offsets, 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</a:t>
              </a:r>
              <a:r>
                <a:rPr lang="en-US" sz="1500" b="1" i="0" u="none" strike="noStrike">
                  <a:solidFill>
                    <a:srgbClr val="8B000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mask=mask</a:t>
              </a:r>
              <a:endPara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)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6135487" y="1407887"/>
              <a:ext cx="181197" cy="185289"/>
            </a:xfrm>
            <a:custGeom>
              <a:avLst/>
              <a:gdLst/>
              <a:ahLst/>
              <a:cxnLst/>
              <a:rect l="l" t="t" r="r" b="b"/>
              <a:pathLst>
                <a:path w="181197" h="185289">
                  <a:moveTo>
                    <a:pt x="90598" y="185289"/>
                  </a:moveTo>
                  <a:cubicBezTo>
                    <a:pt x="140600" y="185289"/>
                    <a:pt x="181197" y="143775"/>
                    <a:pt x="181197" y="92644"/>
                  </a:cubicBezTo>
                  <a:cubicBezTo>
                    <a:pt x="181197" y="41512"/>
                    <a:pt x="140600" y="0"/>
                    <a:pt x="90598" y="0"/>
                  </a:cubicBezTo>
                  <a:cubicBezTo>
                    <a:pt x="40597" y="0"/>
                    <a:pt x="0" y="41512"/>
                    <a:pt x="0" y="92644"/>
                  </a:cubicBezTo>
                  <a:cubicBezTo>
                    <a:pt x="0" y="143775"/>
                    <a:pt x="40597" y="185289"/>
                    <a:pt x="90598" y="185289"/>
                  </a:cubicBezTo>
                  <a:close/>
                  <a:moveTo>
                    <a:pt x="120467" y="76973"/>
                  </a:moveTo>
                  <a:lnTo>
                    <a:pt x="92156" y="123297"/>
                  </a:lnTo>
                  <a:cubicBezTo>
                    <a:pt x="90669" y="125721"/>
                    <a:pt x="88121" y="127241"/>
                    <a:pt x="85325" y="127386"/>
                  </a:cubicBezTo>
                  <a:cubicBezTo>
                    <a:pt x="82530" y="127531"/>
                    <a:pt x="79840" y="126228"/>
                    <a:pt x="78176" y="123913"/>
                  </a:cubicBezTo>
                  <a:lnTo>
                    <a:pt x="61189" y="100750"/>
                  </a:lnTo>
                  <a:cubicBezTo>
                    <a:pt x="58358" y="96915"/>
                    <a:pt x="59136" y="91486"/>
                    <a:pt x="62888" y="88591"/>
                  </a:cubicBezTo>
                  <a:cubicBezTo>
                    <a:pt x="66639" y="85696"/>
                    <a:pt x="71948" y="86492"/>
                    <a:pt x="74779" y="90327"/>
                  </a:cubicBezTo>
                  <a:lnTo>
                    <a:pt x="84334" y="103356"/>
                  </a:lnTo>
                  <a:lnTo>
                    <a:pt x="106064" y="67782"/>
                  </a:lnTo>
                  <a:cubicBezTo>
                    <a:pt x="108541" y="63729"/>
                    <a:pt x="113778" y="62462"/>
                    <a:pt x="117779" y="65032"/>
                  </a:cubicBezTo>
                  <a:cubicBezTo>
                    <a:pt x="121776" y="67601"/>
                    <a:pt x="122980" y="72921"/>
                    <a:pt x="12046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6448003" y="1370870"/>
              <a:ext cx="5355026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3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Supports mask</a:t>
              </a: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conditional read, prevents out-of-bounds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6135487" y="1827107"/>
              <a:ext cx="181197" cy="185289"/>
            </a:xfrm>
            <a:custGeom>
              <a:avLst/>
              <a:gdLst/>
              <a:ahLst/>
              <a:cxnLst/>
              <a:rect l="l" t="t" r="r" b="b"/>
              <a:pathLst>
                <a:path w="181197" h="185289">
                  <a:moveTo>
                    <a:pt x="90598" y="185289"/>
                  </a:moveTo>
                  <a:cubicBezTo>
                    <a:pt x="140600" y="185289"/>
                    <a:pt x="181197" y="143775"/>
                    <a:pt x="181197" y="92644"/>
                  </a:cubicBezTo>
                  <a:cubicBezTo>
                    <a:pt x="181197" y="41512"/>
                    <a:pt x="140600" y="0"/>
                    <a:pt x="90598" y="0"/>
                  </a:cubicBezTo>
                  <a:cubicBezTo>
                    <a:pt x="40597" y="0"/>
                    <a:pt x="0" y="41512"/>
                    <a:pt x="0" y="92644"/>
                  </a:cubicBezTo>
                  <a:cubicBezTo>
                    <a:pt x="0" y="143775"/>
                    <a:pt x="40597" y="185289"/>
                    <a:pt x="90598" y="185289"/>
                  </a:cubicBezTo>
                  <a:close/>
                  <a:moveTo>
                    <a:pt x="120467" y="76973"/>
                  </a:moveTo>
                  <a:lnTo>
                    <a:pt x="92156" y="123297"/>
                  </a:lnTo>
                  <a:cubicBezTo>
                    <a:pt x="90669" y="125721"/>
                    <a:pt x="88121" y="127241"/>
                    <a:pt x="85325" y="127386"/>
                  </a:cubicBezTo>
                  <a:cubicBezTo>
                    <a:pt x="82530" y="127531"/>
                    <a:pt x="79840" y="126228"/>
                    <a:pt x="78176" y="123913"/>
                  </a:cubicBezTo>
                  <a:lnTo>
                    <a:pt x="61189" y="100750"/>
                  </a:lnTo>
                  <a:cubicBezTo>
                    <a:pt x="58358" y="96915"/>
                    <a:pt x="59136" y="91486"/>
                    <a:pt x="62888" y="88591"/>
                  </a:cubicBezTo>
                  <a:cubicBezTo>
                    <a:pt x="66639" y="85696"/>
                    <a:pt x="71948" y="86492"/>
                    <a:pt x="74779" y="90327"/>
                  </a:cubicBezTo>
                  <a:lnTo>
                    <a:pt x="84334" y="103356"/>
                  </a:lnTo>
                  <a:lnTo>
                    <a:pt x="106064" y="67782"/>
                  </a:lnTo>
                  <a:cubicBezTo>
                    <a:pt x="108541" y="63729"/>
                    <a:pt x="113778" y="62462"/>
                    <a:pt x="117779" y="65032"/>
                  </a:cubicBezTo>
                  <a:cubicBezTo>
                    <a:pt x="121776" y="67601"/>
                    <a:pt x="122980" y="72921"/>
                    <a:pt x="12046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448003" y="1790090"/>
              <a:ext cx="4690494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3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Vectorized read</a:t>
              </a: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reads multiple elements at once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135487" y="2246328"/>
              <a:ext cx="181197" cy="185289"/>
            </a:xfrm>
            <a:custGeom>
              <a:avLst/>
              <a:gdLst/>
              <a:ahLst/>
              <a:cxnLst/>
              <a:rect l="l" t="t" r="r" b="b"/>
              <a:pathLst>
                <a:path w="181197" h="185289">
                  <a:moveTo>
                    <a:pt x="90598" y="185289"/>
                  </a:moveTo>
                  <a:cubicBezTo>
                    <a:pt x="140600" y="185289"/>
                    <a:pt x="181197" y="143775"/>
                    <a:pt x="181197" y="92644"/>
                  </a:cubicBezTo>
                  <a:cubicBezTo>
                    <a:pt x="181197" y="41512"/>
                    <a:pt x="140600" y="0"/>
                    <a:pt x="90598" y="0"/>
                  </a:cubicBezTo>
                  <a:cubicBezTo>
                    <a:pt x="40597" y="0"/>
                    <a:pt x="0" y="41512"/>
                    <a:pt x="0" y="92644"/>
                  </a:cubicBezTo>
                  <a:cubicBezTo>
                    <a:pt x="0" y="143775"/>
                    <a:pt x="40597" y="185289"/>
                    <a:pt x="90598" y="185289"/>
                  </a:cubicBezTo>
                  <a:close/>
                  <a:moveTo>
                    <a:pt x="120467" y="76973"/>
                  </a:moveTo>
                  <a:lnTo>
                    <a:pt x="92156" y="123297"/>
                  </a:lnTo>
                  <a:cubicBezTo>
                    <a:pt x="90669" y="125721"/>
                    <a:pt x="88121" y="127241"/>
                    <a:pt x="85325" y="127386"/>
                  </a:cubicBezTo>
                  <a:cubicBezTo>
                    <a:pt x="82530" y="127531"/>
                    <a:pt x="79840" y="126228"/>
                    <a:pt x="78176" y="123913"/>
                  </a:cubicBezTo>
                  <a:lnTo>
                    <a:pt x="61189" y="100750"/>
                  </a:lnTo>
                  <a:cubicBezTo>
                    <a:pt x="58358" y="96915"/>
                    <a:pt x="59136" y="91486"/>
                    <a:pt x="62888" y="88591"/>
                  </a:cubicBezTo>
                  <a:cubicBezTo>
                    <a:pt x="66639" y="85696"/>
                    <a:pt x="71948" y="86492"/>
                    <a:pt x="74779" y="90327"/>
                  </a:cubicBezTo>
                  <a:lnTo>
                    <a:pt x="84334" y="103356"/>
                  </a:lnTo>
                  <a:lnTo>
                    <a:pt x="106064" y="67782"/>
                  </a:lnTo>
                  <a:cubicBezTo>
                    <a:pt x="108541" y="63729"/>
                    <a:pt x="113778" y="62462"/>
                    <a:pt x="117779" y="65032"/>
                  </a:cubicBezTo>
                  <a:cubicBezTo>
                    <a:pt x="121776" y="67601"/>
                    <a:pt x="122980" y="72921"/>
                    <a:pt x="12046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448003" y="2209311"/>
              <a:ext cx="5009613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3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Returns tensor</a:t>
              </a: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enables direct vectorized computation</a:t>
              </a:r>
              <a:endParaRPr lang="en-US" sz="110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70534" y="3242268"/>
            <a:ext cx="11450845" cy="3316669"/>
            <a:chOff x="370534" y="3242268"/>
            <a:chExt cx="11450845" cy="3316669"/>
          </a:xfrm>
        </p:grpSpPr>
        <p:sp>
          <p:nvSpPr>
            <p:cNvPr id="14" name="Freeform 14"/>
            <p:cNvSpPr/>
            <p:nvPr/>
          </p:nvSpPr>
          <p:spPr>
            <a:xfrm>
              <a:off x="370534" y="3242268"/>
              <a:ext cx="11450845" cy="3316669"/>
            </a:xfrm>
            <a:custGeom>
              <a:avLst/>
              <a:gdLst/>
              <a:ahLst/>
              <a:cxnLst/>
              <a:rect l="l" t="t" r="r" b="b"/>
              <a:pathLst>
                <a:path w="11450845" h="3316669">
                  <a:moveTo>
                    <a:pt x="111175" y="0"/>
                  </a:moveTo>
                  <a:lnTo>
                    <a:pt x="11339670" y="0"/>
                  </a:lnTo>
                  <a:cubicBezTo>
                    <a:pt x="11401069" y="0"/>
                    <a:pt x="11450845" y="49775"/>
                    <a:pt x="11450845" y="111175"/>
                  </a:cubicBezTo>
                  <a:lnTo>
                    <a:pt x="11450845" y="3205494"/>
                  </a:lnTo>
                  <a:cubicBezTo>
                    <a:pt x="11450845" y="3266893"/>
                    <a:pt x="11401069" y="3316668"/>
                    <a:pt x="11339670" y="3316668"/>
                  </a:cubicBezTo>
                  <a:lnTo>
                    <a:pt x="111175" y="3316668"/>
                  </a:lnTo>
                  <a:cubicBezTo>
                    <a:pt x="49775" y="3316668"/>
                    <a:pt x="0" y="3266893"/>
                    <a:pt x="0" y="3205494"/>
                  </a:cubicBezTo>
                  <a:lnTo>
                    <a:pt x="0" y="111175"/>
                  </a:lnTo>
                  <a:cubicBezTo>
                    <a:pt x="0" y="49816"/>
                    <a:pt x="49816" y="0"/>
                    <a:pt x="11117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592855" y="3464588"/>
              <a:ext cx="11098796" cy="25940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Full Parameter Description</a:t>
              </a:r>
              <a:endParaRPr lang="en-US" sz="11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11292" y="3872214"/>
              <a:ext cx="10987531" cy="537337"/>
            </a:xfrm>
            <a:custGeom>
              <a:avLst/>
              <a:gdLst/>
              <a:ahLst/>
              <a:cxnLst/>
              <a:rect l="l" t="t" r="r" b="b"/>
              <a:pathLst>
                <a:path w="10987531" h="537337">
                  <a:moveTo>
                    <a:pt x="36873" y="0"/>
                  </a:moveTo>
                  <a:lnTo>
                    <a:pt x="10913416" y="0"/>
                  </a:lnTo>
                  <a:cubicBezTo>
                    <a:pt x="10954349" y="0"/>
                    <a:pt x="10987531" y="33183"/>
                    <a:pt x="10987531" y="74115"/>
                  </a:cubicBezTo>
                  <a:lnTo>
                    <a:pt x="10987531" y="463222"/>
                  </a:lnTo>
                  <a:cubicBezTo>
                    <a:pt x="10987531" y="504154"/>
                    <a:pt x="10954349" y="537337"/>
                    <a:pt x="10913416" y="537337"/>
                  </a:cubicBezTo>
                  <a:lnTo>
                    <a:pt x="36873" y="537337"/>
                  </a:lnTo>
                  <a:cubicBezTo>
                    <a:pt x="16509" y="537337"/>
                    <a:pt x="0" y="520830"/>
                    <a:pt x="0" y="50046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11292" y="3872214"/>
              <a:ext cx="36873" cy="537337"/>
            </a:xfrm>
            <a:custGeom>
              <a:avLst/>
              <a:gdLst/>
              <a:ahLst/>
              <a:cxnLst/>
              <a:rect l="l" t="t" r="r" b="b"/>
              <a:pathLst>
                <a:path w="36873" h="537337">
                  <a:moveTo>
                    <a:pt x="36873" y="0"/>
                  </a:moveTo>
                  <a:lnTo>
                    <a:pt x="36873" y="0"/>
                  </a:lnTo>
                  <a:lnTo>
                    <a:pt x="36873" y="537337"/>
                  </a:lnTo>
                  <a:lnTo>
                    <a:pt x="36873" y="537337"/>
                  </a:lnTo>
                  <a:cubicBezTo>
                    <a:pt x="16509" y="537337"/>
                    <a:pt x="0" y="520830"/>
                    <a:pt x="0" y="50046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77942" y="4020427"/>
              <a:ext cx="10746748" cy="2408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tl.load(ptr, mask=None, other=None, cache_modifier="", eviction_policy="", volatile=False)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11292" y="4557683"/>
              <a:ext cx="5410338" cy="815271"/>
            </a:xfrm>
            <a:custGeom>
              <a:avLst/>
              <a:gdLst/>
              <a:ahLst/>
              <a:cxnLst/>
              <a:rect l="l" t="t" r="r" b="b"/>
              <a:pathLst>
                <a:path w="5410338" h="815271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11292" y="4557683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777942" y="4705896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ptr</a:t>
              </a:r>
              <a:endParaRPr lang="en-US" sz="1100"/>
            </a:p>
          </p:txBody>
        </p:sp>
        <p:sp>
          <p:nvSpPr>
            <p:cNvPr id="22" name="AutoShape 22"/>
            <p:cNvSpPr/>
            <p:nvPr/>
          </p:nvSpPr>
          <p:spPr>
            <a:xfrm>
              <a:off x="777942" y="5002321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Data pointer, can be a single address or array of addresses</a:t>
              </a:r>
              <a:endParaRPr lang="en-US" sz="110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6186446" y="4557683"/>
              <a:ext cx="5410338" cy="815271"/>
            </a:xfrm>
            <a:custGeom>
              <a:avLst/>
              <a:gdLst/>
              <a:ahLst/>
              <a:cxnLst/>
              <a:rect l="l" t="t" r="r" b="b"/>
              <a:pathLst>
                <a:path w="5410338" h="815271">
                  <a:moveTo>
                    <a:pt x="36873" y="0"/>
                  </a:moveTo>
                  <a:lnTo>
                    <a:pt x="5336222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2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186446" y="4557683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6353097" y="4705896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mask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353097" y="5002321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Boolean array controlling which positions to read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611292" y="5521076"/>
              <a:ext cx="5410338" cy="815271"/>
            </a:xfrm>
            <a:custGeom>
              <a:avLst/>
              <a:gdLst/>
              <a:ahLst/>
              <a:cxnLst/>
              <a:rect l="l" t="t" r="r" b="b"/>
              <a:pathLst>
                <a:path w="5410338" h="815271">
                  <a:moveTo>
                    <a:pt x="36873" y="0"/>
                  </a:moveTo>
                  <a:lnTo>
                    <a:pt x="5336223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3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11292" y="5521076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D1D5DC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777942" y="5669289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other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777942" y="5965714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Default value when mask is False</a:t>
              </a:r>
              <a:endParaRPr lang="en-US" sz="1100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6186446" y="5521076"/>
              <a:ext cx="5410338" cy="815271"/>
            </a:xfrm>
            <a:custGeom>
              <a:avLst/>
              <a:gdLst/>
              <a:ahLst/>
              <a:cxnLst/>
              <a:rect l="l" t="t" r="r" b="b"/>
              <a:pathLst>
                <a:path w="5410338" h="815271">
                  <a:moveTo>
                    <a:pt x="36873" y="0"/>
                  </a:moveTo>
                  <a:lnTo>
                    <a:pt x="5336222" y="0"/>
                  </a:lnTo>
                  <a:cubicBezTo>
                    <a:pt x="5377156" y="0"/>
                    <a:pt x="5410338" y="33183"/>
                    <a:pt x="5410338" y="74116"/>
                  </a:cubicBezTo>
                  <a:lnTo>
                    <a:pt x="5410338" y="741154"/>
                  </a:lnTo>
                  <a:cubicBezTo>
                    <a:pt x="5410338" y="782088"/>
                    <a:pt x="5377156" y="815271"/>
                    <a:pt x="5336222" y="815271"/>
                  </a:cubicBez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186446" y="5521076"/>
              <a:ext cx="36873" cy="815271"/>
            </a:xfrm>
            <a:custGeom>
              <a:avLst/>
              <a:gdLst/>
              <a:ahLst/>
              <a:cxnLst/>
              <a:rect l="l" t="t" r="r" b="b"/>
              <a:pathLst>
                <a:path w="36873" h="815271">
                  <a:moveTo>
                    <a:pt x="36873" y="0"/>
                  </a:moveTo>
                  <a:lnTo>
                    <a:pt x="36873" y="0"/>
                  </a:lnTo>
                  <a:lnTo>
                    <a:pt x="36873" y="815271"/>
                  </a:lnTo>
                  <a:lnTo>
                    <a:pt x="36873" y="815271"/>
                  </a:lnTo>
                  <a:cubicBezTo>
                    <a:pt x="16509" y="815271"/>
                    <a:pt x="0" y="798761"/>
                    <a:pt x="0" y="778397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D1D5DC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353097" y="5669289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cache_modifier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6353097" y="5965714"/>
              <a:ext cx="5169556" cy="2223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Cache modifier (e.g., ".ca", ".cg")</a:t>
              </a:r>
              <a:endParaRPr lang="en-US" sz="1100"/>
            </a:p>
          </p:txBody>
        </p:sp>
      </p:grpSp>
      <p:sp>
        <p:nvSpPr>
          <p:cNvPr id="35" name="AutoShape 35"/>
          <p:cNvSpPr/>
          <p:nvPr/>
        </p:nvSpPr>
        <p:spPr>
          <a:xfrm>
            <a:off x="370534" y="6706779"/>
            <a:ext cx="11506432" cy="1482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8165" y="585821"/>
            <a:ext cx="11617605" cy="3705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tl.store Details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519504" y="1370874"/>
            <a:ext cx="12128673" cy="1954795"/>
            <a:chOff x="519504" y="1370874"/>
            <a:chExt cx="12128673" cy="1954795"/>
          </a:xfrm>
        </p:grpSpPr>
        <p:sp>
          <p:nvSpPr>
            <p:cNvPr id="4" name="Freeform 4"/>
            <p:cNvSpPr/>
            <p:nvPr/>
          </p:nvSpPr>
          <p:spPr>
            <a:xfrm>
              <a:off x="519504" y="1370874"/>
              <a:ext cx="5558570" cy="1954795"/>
            </a:xfrm>
            <a:custGeom>
              <a:avLst/>
              <a:gdLst/>
              <a:ahLst/>
              <a:cxnLst/>
              <a:rect l="l" t="t" r="r" b="b"/>
              <a:pathLst>
                <a:path w="5558570" h="1954795">
                  <a:moveTo>
                    <a:pt x="36873" y="0"/>
                  </a:moveTo>
                  <a:lnTo>
                    <a:pt x="5447401" y="0"/>
                  </a:lnTo>
                  <a:cubicBezTo>
                    <a:pt x="5508798" y="0"/>
                    <a:pt x="5558570" y="49773"/>
                    <a:pt x="5558570" y="111169"/>
                  </a:cubicBezTo>
                  <a:lnTo>
                    <a:pt x="5558570" y="1843627"/>
                  </a:lnTo>
                  <a:cubicBezTo>
                    <a:pt x="5558570" y="1905024"/>
                    <a:pt x="5508798" y="1954795"/>
                    <a:pt x="5447401" y="1954795"/>
                  </a:cubicBezTo>
                  <a:lnTo>
                    <a:pt x="36873" y="1954795"/>
                  </a:lnTo>
                  <a:cubicBezTo>
                    <a:pt x="16509" y="1954795"/>
                    <a:pt x="0" y="1938288"/>
                    <a:pt x="0" y="1917924"/>
                  </a:cubicBezTo>
                  <a:lnTo>
                    <a:pt x="0" y="36873"/>
                  </a:lnTo>
                  <a:cubicBezTo>
                    <a:pt x="0" y="16521"/>
                    <a:pt x="16521" y="0"/>
                    <a:pt x="36873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519504" y="1370874"/>
              <a:ext cx="36873" cy="1954795"/>
            </a:xfrm>
            <a:custGeom>
              <a:avLst/>
              <a:gdLst/>
              <a:ahLst/>
              <a:cxnLst/>
              <a:rect l="l" t="t" r="r" b="b"/>
              <a:pathLst>
                <a:path w="36873" h="1954795">
                  <a:moveTo>
                    <a:pt x="36873" y="0"/>
                  </a:moveTo>
                  <a:lnTo>
                    <a:pt x="36873" y="0"/>
                  </a:lnTo>
                  <a:lnTo>
                    <a:pt x="36873" y="1954795"/>
                  </a:lnTo>
                  <a:lnTo>
                    <a:pt x="36873" y="1954795"/>
                  </a:lnTo>
                  <a:cubicBezTo>
                    <a:pt x="16509" y="1954795"/>
                    <a:pt x="0" y="1938288"/>
                    <a:pt x="0" y="1917924"/>
                  </a:cubicBezTo>
                  <a:lnTo>
                    <a:pt x="0" y="36873"/>
                  </a:lnTo>
                  <a:cubicBezTo>
                    <a:pt x="0" y="16509"/>
                    <a:pt x="16509" y="0"/>
                    <a:pt x="3687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760261" y="1593194"/>
              <a:ext cx="5188085" cy="151010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tl.store(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output_ptr + offsets, 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output, 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</a:t>
              </a:r>
              <a:r>
                <a:rPr lang="en-US" sz="1500" b="1" i="0" u="none" strike="noStrike">
                  <a:solidFill>
                    <a:srgbClr val="8B000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mask=mask</a:t>
              </a:r>
              <a:endParaRPr lang="en-US" sz="15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)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6395810" y="1407887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6715385" y="1370874"/>
              <a:ext cx="5932792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3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Supports mask</a:t>
              </a: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conditional write, prevents out-of-bounds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6395810" y="1827103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715385" y="1790090"/>
              <a:ext cx="5343649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3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Conditional write</a:t>
              </a: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only writes to positions where mask is True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95810" y="2246328"/>
              <a:ext cx="185289" cy="185289"/>
            </a:xfrm>
            <a:custGeom>
              <a:avLst/>
              <a:gdLst/>
              <a:ahLst/>
              <a:cxnLst/>
              <a:rect l="l" t="t" r="r" b="b"/>
              <a:pathLst>
                <a:path w="185289" h="185289">
                  <a:moveTo>
                    <a:pt x="92644" y="185289"/>
                  </a:moveTo>
                  <a:cubicBezTo>
                    <a:pt x="143775" y="185289"/>
                    <a:pt x="185289" y="143775"/>
                    <a:pt x="185289" y="92644"/>
                  </a:cubicBezTo>
                  <a:cubicBezTo>
                    <a:pt x="185289" y="41512"/>
                    <a:pt x="143775" y="0"/>
                    <a:pt x="92644" y="0"/>
                  </a:cubicBezTo>
                  <a:cubicBezTo>
                    <a:pt x="41512" y="0"/>
                    <a:pt x="0" y="41512"/>
                    <a:pt x="0" y="92644"/>
                  </a:cubicBezTo>
                  <a:cubicBezTo>
                    <a:pt x="0" y="143775"/>
                    <a:pt x="41512" y="185289"/>
                    <a:pt x="92644" y="185289"/>
                  </a:cubicBezTo>
                  <a:close/>
                  <a:moveTo>
                    <a:pt x="123187" y="76973"/>
                  </a:moveTo>
                  <a:lnTo>
                    <a:pt x="94237" y="123297"/>
                  </a:lnTo>
                  <a:cubicBezTo>
                    <a:pt x="92718" y="125721"/>
                    <a:pt x="90112" y="127241"/>
                    <a:pt x="87252" y="127386"/>
                  </a:cubicBezTo>
                  <a:cubicBezTo>
                    <a:pt x="84393" y="127531"/>
                    <a:pt x="81643" y="126228"/>
                    <a:pt x="79941" y="123913"/>
                  </a:cubicBezTo>
                  <a:lnTo>
                    <a:pt x="62572" y="100750"/>
                  </a:lnTo>
                  <a:cubicBezTo>
                    <a:pt x="59676" y="96915"/>
                    <a:pt x="60472" y="91486"/>
                    <a:pt x="64308" y="88591"/>
                  </a:cubicBezTo>
                  <a:cubicBezTo>
                    <a:pt x="68144" y="85696"/>
                    <a:pt x="73572" y="86492"/>
                    <a:pt x="76468" y="90327"/>
                  </a:cubicBezTo>
                  <a:lnTo>
                    <a:pt x="86239" y="103356"/>
                  </a:lnTo>
                  <a:lnTo>
                    <a:pt x="108459" y="67782"/>
                  </a:lnTo>
                  <a:cubicBezTo>
                    <a:pt x="110992" y="63729"/>
                    <a:pt x="116349" y="62462"/>
                    <a:pt x="120438" y="65032"/>
                  </a:cubicBezTo>
                  <a:cubicBezTo>
                    <a:pt x="124527" y="67601"/>
                    <a:pt x="125758" y="72921"/>
                    <a:pt x="123187" y="77012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715385" y="2209306"/>
              <a:ext cx="5161581" cy="2686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3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Guarantees memory safety</a:t>
              </a: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: avoids illegal memory writes</a:t>
              </a:r>
              <a:endParaRPr lang="en-US" sz="11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370534" y="3543376"/>
            <a:ext cx="11450845" cy="3020207"/>
          </a:xfrm>
          <a:custGeom>
            <a:avLst/>
            <a:gdLst/>
            <a:ahLst/>
            <a:cxnLst/>
            <a:rect l="l" t="t" r="r" b="b"/>
            <a:pathLst>
              <a:path w="11450845" h="3020207">
                <a:moveTo>
                  <a:pt x="111175" y="0"/>
                </a:moveTo>
                <a:lnTo>
                  <a:pt x="11339671" y="0"/>
                </a:lnTo>
                <a:cubicBezTo>
                  <a:pt x="11401071" y="0"/>
                  <a:pt x="11450845" y="49774"/>
                  <a:pt x="11450845" y="111175"/>
                </a:cubicBezTo>
                <a:lnTo>
                  <a:pt x="11450845" y="2909033"/>
                </a:lnTo>
                <a:cubicBezTo>
                  <a:pt x="11450845" y="2970392"/>
                  <a:pt x="11401030" y="3020207"/>
                  <a:pt x="11339671" y="3020207"/>
                </a:cubicBezTo>
                <a:lnTo>
                  <a:pt x="111175" y="3020207"/>
                </a:lnTo>
                <a:cubicBezTo>
                  <a:pt x="49774" y="3020207"/>
                  <a:pt x="0" y="2970432"/>
                  <a:pt x="0" y="2909033"/>
                </a:cubicBezTo>
                <a:lnTo>
                  <a:pt x="0" y="111175"/>
                </a:lnTo>
                <a:cubicBezTo>
                  <a:pt x="0" y="49774"/>
                  <a:pt x="49774" y="0"/>
                  <a:pt x="11117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92855" y="3765695"/>
            <a:ext cx="11098796" cy="2594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Full Parameter Description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611292" y="4173322"/>
            <a:ext cx="10987531" cy="537337"/>
          </a:xfrm>
          <a:custGeom>
            <a:avLst/>
            <a:gdLst/>
            <a:ahLst/>
            <a:cxnLst/>
            <a:rect l="l" t="t" r="r" b="b"/>
            <a:pathLst>
              <a:path w="10987531" h="537337">
                <a:moveTo>
                  <a:pt x="36873" y="0"/>
                </a:moveTo>
                <a:lnTo>
                  <a:pt x="10913416" y="0"/>
                </a:lnTo>
                <a:cubicBezTo>
                  <a:pt x="10954349" y="0"/>
                  <a:pt x="10987531" y="33183"/>
                  <a:pt x="10987531" y="74115"/>
                </a:cubicBezTo>
                <a:lnTo>
                  <a:pt x="10987531" y="463222"/>
                </a:lnTo>
                <a:cubicBezTo>
                  <a:pt x="10987531" y="504154"/>
                  <a:pt x="10954349" y="537337"/>
                  <a:pt x="10913416" y="537337"/>
                </a:cubicBezTo>
                <a:lnTo>
                  <a:pt x="36873" y="537337"/>
                </a:lnTo>
                <a:cubicBezTo>
                  <a:pt x="16509" y="537337"/>
                  <a:pt x="0" y="520830"/>
                  <a:pt x="0" y="500464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611292" y="4173322"/>
            <a:ext cx="36873" cy="537337"/>
          </a:xfrm>
          <a:custGeom>
            <a:avLst/>
            <a:gdLst/>
            <a:ahLst/>
            <a:cxnLst/>
            <a:rect l="l" t="t" r="r" b="b"/>
            <a:pathLst>
              <a:path w="36873" h="537337">
                <a:moveTo>
                  <a:pt x="36873" y="0"/>
                </a:moveTo>
                <a:lnTo>
                  <a:pt x="36873" y="0"/>
                </a:lnTo>
                <a:lnTo>
                  <a:pt x="36873" y="537337"/>
                </a:lnTo>
                <a:lnTo>
                  <a:pt x="36873" y="537337"/>
                </a:lnTo>
                <a:cubicBezTo>
                  <a:pt x="16509" y="537337"/>
                  <a:pt x="0" y="520830"/>
                  <a:pt x="0" y="500464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77942" y="4321534"/>
            <a:ext cx="10746748" cy="240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tl.store(ptr, value, mask=None, cache_modifier="", eviction_policy="")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11292" y="4858790"/>
            <a:ext cx="3548187" cy="815271"/>
          </a:xfrm>
          <a:custGeom>
            <a:avLst/>
            <a:gdLst/>
            <a:ahLst/>
            <a:cxnLst/>
            <a:rect l="l" t="t" r="r" b="b"/>
            <a:pathLst>
              <a:path w="3548187" h="815271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611292" y="4858790"/>
            <a:ext cx="36873" cy="815271"/>
          </a:xfrm>
          <a:custGeom>
            <a:avLst/>
            <a:gdLst/>
            <a:ahLst/>
            <a:cxnLst/>
            <a:rect l="l" t="t" r="r" b="b"/>
            <a:pathLst>
              <a:path w="36873" h="815271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77942" y="5007003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ptr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77942" y="5303429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Target memory address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4328085" y="4858790"/>
            <a:ext cx="3548187" cy="815271"/>
          </a:xfrm>
          <a:custGeom>
            <a:avLst/>
            <a:gdLst/>
            <a:ahLst/>
            <a:cxnLst/>
            <a:rect l="l" t="t" r="r" b="b"/>
            <a:pathLst>
              <a:path w="3548187" h="815271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Freeform 23"/>
          <p:cNvSpPr/>
          <p:nvPr/>
        </p:nvSpPr>
        <p:spPr>
          <a:xfrm>
            <a:off x="4328085" y="4858790"/>
            <a:ext cx="36873" cy="815271"/>
          </a:xfrm>
          <a:custGeom>
            <a:avLst/>
            <a:gdLst/>
            <a:ahLst/>
            <a:cxnLst/>
            <a:rect l="l" t="t" r="r" b="b"/>
            <a:pathLst>
              <a:path w="36873" h="815271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494736" y="5007003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value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494736" y="5303429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Data to write (tensor)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8044879" y="4858790"/>
            <a:ext cx="3548187" cy="815271"/>
          </a:xfrm>
          <a:custGeom>
            <a:avLst/>
            <a:gdLst/>
            <a:ahLst/>
            <a:cxnLst/>
            <a:rect l="l" t="t" r="r" b="b"/>
            <a:pathLst>
              <a:path w="3548187" h="815271">
                <a:moveTo>
                  <a:pt x="36873" y="0"/>
                </a:moveTo>
                <a:lnTo>
                  <a:pt x="3474071" y="0"/>
                </a:lnTo>
                <a:cubicBezTo>
                  <a:pt x="3515004" y="0"/>
                  <a:pt x="3548187" y="33183"/>
                  <a:pt x="3548187" y="74116"/>
                </a:cubicBezTo>
                <a:lnTo>
                  <a:pt x="3548187" y="741154"/>
                </a:lnTo>
                <a:cubicBezTo>
                  <a:pt x="3548187" y="782088"/>
                  <a:pt x="3515004" y="815271"/>
                  <a:pt x="3474071" y="815271"/>
                </a:cubicBez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Freeform 27"/>
          <p:cNvSpPr/>
          <p:nvPr/>
        </p:nvSpPr>
        <p:spPr>
          <a:xfrm>
            <a:off x="8044879" y="4858790"/>
            <a:ext cx="36873" cy="815271"/>
          </a:xfrm>
          <a:custGeom>
            <a:avLst/>
            <a:gdLst/>
            <a:ahLst/>
            <a:cxnLst/>
            <a:rect l="l" t="t" r="r" b="b"/>
            <a:pathLst>
              <a:path w="36873" h="815271">
                <a:moveTo>
                  <a:pt x="36873" y="0"/>
                </a:moveTo>
                <a:lnTo>
                  <a:pt x="36873" y="0"/>
                </a:lnTo>
                <a:lnTo>
                  <a:pt x="36873" y="815271"/>
                </a:lnTo>
                <a:lnTo>
                  <a:pt x="36873" y="815271"/>
                </a:lnTo>
                <a:cubicBezTo>
                  <a:pt x="16509" y="815271"/>
                  <a:pt x="0" y="798761"/>
                  <a:pt x="0" y="778397"/>
                </a:cubicBezTo>
                <a:lnTo>
                  <a:pt x="0" y="36873"/>
                </a:lnTo>
                <a:cubicBezTo>
                  <a:pt x="0" y="16509"/>
                  <a:pt x="16509" y="0"/>
                  <a:pt x="3687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211530" y="5007003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mask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11530" y="5303429"/>
            <a:ext cx="3307404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Controls write positions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592855" y="5822183"/>
            <a:ext cx="11006151" cy="518809"/>
          </a:xfrm>
          <a:custGeom>
            <a:avLst/>
            <a:gdLst/>
            <a:ahLst/>
            <a:cxnLst/>
            <a:rect l="l" t="t" r="r" b="b"/>
            <a:pathLst>
              <a:path w="11006151" h="518809">
                <a:moveTo>
                  <a:pt x="74117" y="0"/>
                </a:moveTo>
                <a:lnTo>
                  <a:pt x="10932036" y="0"/>
                </a:lnTo>
                <a:cubicBezTo>
                  <a:pt x="10972969" y="0"/>
                  <a:pt x="11006151" y="33183"/>
                  <a:pt x="11006151" y="74117"/>
                </a:cubicBezTo>
                <a:lnTo>
                  <a:pt x="11006151" y="444692"/>
                </a:lnTo>
                <a:cubicBezTo>
                  <a:pt x="11006151" y="485625"/>
                  <a:pt x="10972969" y="518809"/>
                  <a:pt x="10932036" y="518809"/>
                </a:cubicBezTo>
                <a:lnTo>
                  <a:pt x="74117" y="518809"/>
                </a:lnTo>
                <a:cubicBezTo>
                  <a:pt x="33183" y="518809"/>
                  <a:pt x="0" y="485625"/>
                  <a:pt x="0" y="444692"/>
                </a:cubicBezTo>
                <a:lnTo>
                  <a:pt x="0" y="74117"/>
                </a:lnTo>
                <a:cubicBezTo>
                  <a:pt x="0" y="33211"/>
                  <a:pt x="33210" y="0"/>
                  <a:pt x="7411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763542" y="5988898"/>
            <a:ext cx="186665" cy="173708"/>
          </a:xfrm>
          <a:custGeom>
            <a:avLst/>
            <a:gdLst/>
            <a:ahLst/>
            <a:cxnLst/>
            <a:rect l="l" t="t" r="r" b="b"/>
            <a:pathLst>
              <a:path w="186665" h="173708">
                <a:moveTo>
                  <a:pt x="93332" y="0"/>
                </a:moveTo>
                <a:cubicBezTo>
                  <a:pt x="98652" y="0"/>
                  <a:pt x="103538" y="2931"/>
                  <a:pt x="106071" y="7600"/>
                </a:cubicBezTo>
                <a:lnTo>
                  <a:pt x="184240" y="152357"/>
                </a:lnTo>
                <a:cubicBezTo>
                  <a:pt x="186664" y="156844"/>
                  <a:pt x="186556" y="162272"/>
                  <a:pt x="183950" y="166651"/>
                </a:cubicBezTo>
                <a:cubicBezTo>
                  <a:pt x="181345" y="171030"/>
                  <a:pt x="176605" y="173708"/>
                  <a:pt x="171500" y="173708"/>
                </a:cubicBezTo>
                <a:lnTo>
                  <a:pt x="15163" y="173708"/>
                </a:lnTo>
                <a:cubicBezTo>
                  <a:pt x="10061" y="173708"/>
                  <a:pt x="5357" y="171030"/>
                  <a:pt x="2715" y="166651"/>
                </a:cubicBezTo>
                <a:cubicBezTo>
                  <a:pt x="73" y="162272"/>
                  <a:pt x="0" y="156844"/>
                  <a:pt x="2425" y="152357"/>
                </a:cubicBezTo>
                <a:lnTo>
                  <a:pt x="80594" y="7600"/>
                </a:lnTo>
                <a:cubicBezTo>
                  <a:pt x="83128" y="2931"/>
                  <a:pt x="88013" y="0"/>
                  <a:pt x="93332" y="0"/>
                </a:cubicBezTo>
                <a:close/>
                <a:moveTo>
                  <a:pt x="93332" y="60797"/>
                </a:moveTo>
                <a:cubicBezTo>
                  <a:pt x="88519" y="60797"/>
                  <a:pt x="84646" y="64670"/>
                  <a:pt x="84646" y="69483"/>
                </a:cubicBezTo>
                <a:lnTo>
                  <a:pt x="84646" y="110015"/>
                </a:lnTo>
                <a:cubicBezTo>
                  <a:pt x="84646" y="114828"/>
                  <a:pt x="88519" y="118701"/>
                  <a:pt x="93332" y="118701"/>
                </a:cubicBezTo>
                <a:cubicBezTo>
                  <a:pt x="98147" y="118701"/>
                  <a:pt x="102017" y="114828"/>
                  <a:pt x="102017" y="110015"/>
                </a:cubicBezTo>
                <a:lnTo>
                  <a:pt x="102017" y="69483"/>
                </a:lnTo>
                <a:cubicBezTo>
                  <a:pt x="102017" y="64670"/>
                  <a:pt x="98147" y="60797"/>
                  <a:pt x="93332" y="60797"/>
                </a:cubicBezTo>
                <a:close/>
                <a:moveTo>
                  <a:pt x="102995" y="138967"/>
                </a:moveTo>
                <a:cubicBezTo>
                  <a:pt x="103215" y="135379"/>
                  <a:pt x="101426" y="131968"/>
                  <a:pt x="98351" y="130108"/>
                </a:cubicBezTo>
                <a:cubicBezTo>
                  <a:pt x="95278" y="128248"/>
                  <a:pt x="91424" y="128248"/>
                  <a:pt x="88348" y="130108"/>
                </a:cubicBezTo>
                <a:cubicBezTo>
                  <a:pt x="85275" y="131968"/>
                  <a:pt x="83486" y="135379"/>
                  <a:pt x="83707" y="138967"/>
                </a:cubicBezTo>
                <a:cubicBezTo>
                  <a:pt x="83486" y="142552"/>
                  <a:pt x="85275" y="145966"/>
                  <a:pt x="88348" y="147825"/>
                </a:cubicBezTo>
                <a:cubicBezTo>
                  <a:pt x="91424" y="149685"/>
                  <a:pt x="95278" y="149685"/>
                  <a:pt x="98351" y="147825"/>
                </a:cubicBezTo>
                <a:cubicBezTo>
                  <a:pt x="101426" y="145966"/>
                  <a:pt x="103215" y="142552"/>
                  <a:pt x="102995" y="13896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1083804" y="5970396"/>
            <a:ext cx="10177431" cy="2223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store  operation must include mask, otherwise it may cause out-of-bounds memory access and data corruption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70534" y="6711461"/>
            <a:ext cx="11506432" cy="1482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9218" y="626561"/>
            <a:ext cx="11652454" cy="3480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5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Grid Definition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65372" y="1287694"/>
            <a:ext cx="5586827" cy="2680325"/>
          </a:xfrm>
          <a:custGeom>
            <a:avLst/>
            <a:gdLst/>
            <a:ahLst/>
            <a:cxnLst/>
            <a:rect l="l" t="t" r="r" b="b"/>
            <a:pathLst>
              <a:path w="5586827" h="2680325">
                <a:moveTo>
                  <a:pt x="34635" y="0"/>
                </a:moveTo>
                <a:lnTo>
                  <a:pt x="5482400" y="0"/>
                </a:lnTo>
                <a:cubicBezTo>
                  <a:pt x="5540073" y="0"/>
                  <a:pt x="5586827" y="46753"/>
                  <a:pt x="5586827" y="104424"/>
                </a:cubicBezTo>
                <a:lnTo>
                  <a:pt x="5586827" y="2575900"/>
                </a:lnTo>
                <a:cubicBezTo>
                  <a:pt x="5586827" y="2633574"/>
                  <a:pt x="5540073" y="2680325"/>
                  <a:pt x="5482400" y="2680325"/>
                </a:cubicBezTo>
                <a:lnTo>
                  <a:pt x="34635" y="2680325"/>
                </a:lnTo>
                <a:cubicBezTo>
                  <a:pt x="15507" y="2680325"/>
                  <a:pt x="0" y="2664818"/>
                  <a:pt x="0" y="2645689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65372" y="1287694"/>
            <a:ext cx="34635" cy="2680325"/>
          </a:xfrm>
          <a:custGeom>
            <a:avLst/>
            <a:gdLst/>
            <a:ahLst/>
            <a:cxnLst/>
            <a:rect l="l" t="t" r="r" b="b"/>
            <a:pathLst>
              <a:path w="34635" h="2680325">
                <a:moveTo>
                  <a:pt x="34635" y="0"/>
                </a:moveTo>
                <a:lnTo>
                  <a:pt x="34635" y="0"/>
                </a:lnTo>
                <a:lnTo>
                  <a:pt x="34635" y="2680325"/>
                </a:lnTo>
                <a:lnTo>
                  <a:pt x="34635" y="2680325"/>
                </a:lnTo>
                <a:cubicBezTo>
                  <a:pt x="15507" y="2680325"/>
                  <a:pt x="0" y="2664818"/>
                  <a:pt x="0" y="2645689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1522" y="1496525"/>
            <a:ext cx="5230116" cy="17839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Define grid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grid = </a:t>
            </a:r>
            <a:r>
              <a:rPr lang="en-US" sz="1200" b="1" i="0" u="none" strike="noStrike">
                <a:solidFill>
                  <a:srgbClr val="0066C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lambda</a:t>
            </a: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meta: (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triton.cdiv(n_elements, meta[</a:t>
            </a:r>
            <a:r>
              <a:rPr lang="en-US" sz="1200" b="0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'BLOCK_SIZE'</a:t>
            </a: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]), 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)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Launch kernel</a:t>
            </a:r>
            <a:endParaRPr lang="en-US" sz="1200" b="0" i="0" u="none" strike="noStrike">
              <a:solidFill>
                <a:srgbClr val="66666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add_kernel[grid](...)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6234726" y="1287694"/>
            <a:ext cx="5604317" cy="2680172"/>
            <a:chOff x="6234726" y="1287694"/>
            <a:chExt cx="5604317" cy="2680172"/>
          </a:xfrm>
        </p:grpSpPr>
        <p:sp>
          <p:nvSpPr>
            <p:cNvPr id="7" name="Freeform 7"/>
            <p:cNvSpPr/>
            <p:nvPr/>
          </p:nvSpPr>
          <p:spPr>
            <a:xfrm>
              <a:off x="6234726" y="1287694"/>
              <a:ext cx="5604317" cy="800617"/>
            </a:xfrm>
            <a:custGeom>
              <a:avLst/>
              <a:gdLst/>
              <a:ahLst/>
              <a:cxnLst/>
              <a:rect l="l" t="t" r="r" b="b"/>
              <a:pathLst>
                <a:path w="5604317" h="800617">
                  <a:moveTo>
                    <a:pt x="69621" y="0"/>
                  </a:moveTo>
                  <a:lnTo>
                    <a:pt x="5534696" y="0"/>
                  </a:lnTo>
                  <a:cubicBezTo>
                    <a:pt x="5573146" y="0"/>
                    <a:pt x="5604317" y="31171"/>
                    <a:pt x="5604317" y="69621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6" y="800617"/>
                  </a:cubicBezTo>
                  <a:lnTo>
                    <a:pt x="69621" y="800617"/>
                  </a:lnTo>
                  <a:cubicBezTo>
                    <a:pt x="31196" y="800617"/>
                    <a:pt x="0" y="769421"/>
                    <a:pt x="0" y="730995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Freeform 8"/>
            <p:cNvSpPr/>
            <p:nvPr/>
          </p:nvSpPr>
          <p:spPr>
            <a:xfrm>
              <a:off x="6406581" y="1472568"/>
              <a:ext cx="152291" cy="152292"/>
            </a:xfrm>
            <a:custGeom>
              <a:avLst/>
              <a:gdLst/>
              <a:ahLst/>
              <a:cxnLst/>
              <a:rect l="l" t="t" r="r" b="b"/>
              <a:pathLst>
                <a:path w="152291" h="152292">
                  <a:moveTo>
                    <a:pt x="130534" y="21756"/>
                  </a:moveTo>
                  <a:lnTo>
                    <a:pt x="130534" y="43512"/>
                  </a:lnTo>
                  <a:lnTo>
                    <a:pt x="108779" y="43512"/>
                  </a:lnTo>
                  <a:lnTo>
                    <a:pt x="108779" y="21756"/>
                  </a:lnTo>
                  <a:lnTo>
                    <a:pt x="130534" y="21756"/>
                  </a:lnTo>
                  <a:close/>
                  <a:moveTo>
                    <a:pt x="130534" y="65267"/>
                  </a:moveTo>
                  <a:lnTo>
                    <a:pt x="130534" y="87022"/>
                  </a:lnTo>
                  <a:lnTo>
                    <a:pt x="108779" y="87022"/>
                  </a:lnTo>
                  <a:lnTo>
                    <a:pt x="108779" y="65267"/>
                  </a:lnTo>
                  <a:lnTo>
                    <a:pt x="130534" y="65267"/>
                  </a:lnTo>
                  <a:close/>
                  <a:moveTo>
                    <a:pt x="130534" y="108779"/>
                  </a:moveTo>
                  <a:lnTo>
                    <a:pt x="130534" y="130535"/>
                  </a:lnTo>
                  <a:lnTo>
                    <a:pt x="108779" y="130535"/>
                  </a:lnTo>
                  <a:lnTo>
                    <a:pt x="108779" y="108779"/>
                  </a:lnTo>
                  <a:lnTo>
                    <a:pt x="130534" y="108779"/>
                  </a:lnTo>
                  <a:close/>
                  <a:moveTo>
                    <a:pt x="87024" y="87022"/>
                  </a:moveTo>
                  <a:lnTo>
                    <a:pt x="65268" y="87022"/>
                  </a:lnTo>
                  <a:lnTo>
                    <a:pt x="65268" y="65267"/>
                  </a:lnTo>
                  <a:lnTo>
                    <a:pt x="87024" y="65267"/>
                  </a:lnTo>
                  <a:lnTo>
                    <a:pt x="87024" y="87022"/>
                  </a:lnTo>
                  <a:close/>
                  <a:moveTo>
                    <a:pt x="65268" y="108779"/>
                  </a:moveTo>
                  <a:lnTo>
                    <a:pt x="87024" y="108779"/>
                  </a:lnTo>
                  <a:lnTo>
                    <a:pt x="87024" y="130535"/>
                  </a:lnTo>
                  <a:lnTo>
                    <a:pt x="65268" y="130535"/>
                  </a:lnTo>
                  <a:lnTo>
                    <a:pt x="65268" y="108779"/>
                  </a:lnTo>
                  <a:close/>
                  <a:moveTo>
                    <a:pt x="43511" y="87022"/>
                  </a:moveTo>
                  <a:lnTo>
                    <a:pt x="21756" y="87022"/>
                  </a:lnTo>
                  <a:lnTo>
                    <a:pt x="21756" y="65267"/>
                  </a:lnTo>
                  <a:lnTo>
                    <a:pt x="43511" y="65267"/>
                  </a:lnTo>
                  <a:lnTo>
                    <a:pt x="43511" y="87022"/>
                  </a:lnTo>
                  <a:close/>
                  <a:moveTo>
                    <a:pt x="21756" y="108779"/>
                  </a:moveTo>
                  <a:lnTo>
                    <a:pt x="43511" y="108779"/>
                  </a:lnTo>
                  <a:lnTo>
                    <a:pt x="43511" y="130535"/>
                  </a:lnTo>
                  <a:lnTo>
                    <a:pt x="21756" y="130535"/>
                  </a:lnTo>
                  <a:lnTo>
                    <a:pt x="21756" y="108779"/>
                  </a:lnTo>
                  <a:close/>
                  <a:moveTo>
                    <a:pt x="21756" y="43512"/>
                  </a:moveTo>
                  <a:lnTo>
                    <a:pt x="21756" y="21756"/>
                  </a:lnTo>
                  <a:lnTo>
                    <a:pt x="43511" y="21756"/>
                  </a:lnTo>
                  <a:lnTo>
                    <a:pt x="43511" y="43512"/>
                  </a:lnTo>
                  <a:lnTo>
                    <a:pt x="21756" y="43512"/>
                  </a:lnTo>
                  <a:close/>
                  <a:moveTo>
                    <a:pt x="65268" y="43512"/>
                  </a:moveTo>
                  <a:lnTo>
                    <a:pt x="65268" y="21756"/>
                  </a:lnTo>
                  <a:lnTo>
                    <a:pt x="87024" y="21756"/>
                  </a:lnTo>
                  <a:lnTo>
                    <a:pt x="87024" y="43512"/>
                  </a:lnTo>
                  <a:lnTo>
                    <a:pt x="65268" y="43512"/>
                  </a:lnTo>
                  <a:close/>
                  <a:moveTo>
                    <a:pt x="21756" y="0"/>
                  </a:moveTo>
                  <a:cubicBezTo>
                    <a:pt x="9756" y="0"/>
                    <a:pt x="0" y="9756"/>
                    <a:pt x="0" y="21756"/>
                  </a:cubicBezTo>
                  <a:lnTo>
                    <a:pt x="0" y="130535"/>
                  </a:lnTo>
                  <a:cubicBezTo>
                    <a:pt x="0" y="142535"/>
                    <a:pt x="9756" y="152292"/>
                    <a:pt x="21756" y="152292"/>
                  </a:cubicBezTo>
                  <a:lnTo>
                    <a:pt x="130534" y="152292"/>
                  </a:lnTo>
                  <a:cubicBezTo>
                    <a:pt x="142535" y="152292"/>
                    <a:pt x="152291" y="142535"/>
                    <a:pt x="152291" y="130535"/>
                  </a:cubicBezTo>
                  <a:lnTo>
                    <a:pt x="152291" y="21756"/>
                  </a:lnTo>
                  <a:cubicBezTo>
                    <a:pt x="152291" y="9756"/>
                    <a:pt x="142535" y="0"/>
                    <a:pt x="130534" y="0"/>
                  </a:cubicBezTo>
                  <a:lnTo>
                    <a:pt x="21756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695889" y="1426914"/>
              <a:ext cx="1889652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grid is a tuple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373947" y="1740199"/>
              <a:ext cx="5395460" cy="2088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Represents a 1D, 2D, or 3D grid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234726" y="2227472"/>
              <a:ext cx="5604317" cy="800617"/>
            </a:xfrm>
            <a:custGeom>
              <a:avLst/>
              <a:gdLst/>
              <a:ahLst/>
              <a:cxnLst/>
              <a:rect l="l" t="t" r="r" b="b"/>
              <a:pathLst>
                <a:path w="5604317" h="800617">
                  <a:moveTo>
                    <a:pt x="69621" y="0"/>
                  </a:moveTo>
                  <a:lnTo>
                    <a:pt x="5534696" y="0"/>
                  </a:lnTo>
                  <a:cubicBezTo>
                    <a:pt x="5573146" y="0"/>
                    <a:pt x="5604317" y="31171"/>
                    <a:pt x="5604317" y="69621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6" y="800617"/>
                  </a:cubicBezTo>
                  <a:lnTo>
                    <a:pt x="69621" y="800617"/>
                  </a:lnTo>
                  <a:cubicBezTo>
                    <a:pt x="31196" y="800617"/>
                    <a:pt x="0" y="769421"/>
                    <a:pt x="0" y="730995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417459" y="2401468"/>
              <a:ext cx="130534" cy="174047"/>
            </a:xfrm>
            <a:custGeom>
              <a:avLst/>
              <a:gdLst/>
              <a:ahLst/>
              <a:cxnLst/>
              <a:rect l="l" t="t" r="r" b="b"/>
              <a:pathLst>
                <a:path w="130534" h="174047">
                  <a:moveTo>
                    <a:pt x="21756" y="0"/>
                  </a:moveTo>
                  <a:cubicBezTo>
                    <a:pt x="9756" y="0"/>
                    <a:pt x="0" y="9756"/>
                    <a:pt x="0" y="21756"/>
                  </a:cubicBezTo>
                  <a:lnTo>
                    <a:pt x="0" y="152291"/>
                  </a:lnTo>
                  <a:cubicBezTo>
                    <a:pt x="0" y="164291"/>
                    <a:pt x="9756" y="174047"/>
                    <a:pt x="21756" y="174047"/>
                  </a:cubicBezTo>
                  <a:lnTo>
                    <a:pt x="108779" y="174047"/>
                  </a:lnTo>
                  <a:cubicBezTo>
                    <a:pt x="120780" y="174047"/>
                    <a:pt x="130534" y="164291"/>
                    <a:pt x="130534" y="152291"/>
                  </a:cubicBezTo>
                  <a:lnTo>
                    <a:pt x="130534" y="21756"/>
                  </a:lnTo>
                  <a:cubicBezTo>
                    <a:pt x="130534" y="9756"/>
                    <a:pt x="120780" y="0"/>
                    <a:pt x="108779" y="0"/>
                  </a:cubicBezTo>
                  <a:lnTo>
                    <a:pt x="21756" y="0"/>
                  </a:lnTo>
                  <a:close/>
                  <a:moveTo>
                    <a:pt x="32634" y="21756"/>
                  </a:moveTo>
                  <a:lnTo>
                    <a:pt x="97900" y="21756"/>
                  </a:lnTo>
                  <a:cubicBezTo>
                    <a:pt x="103918" y="21756"/>
                    <a:pt x="108779" y="26617"/>
                    <a:pt x="108779" y="32634"/>
                  </a:cubicBezTo>
                  <a:lnTo>
                    <a:pt x="108779" y="43511"/>
                  </a:lnTo>
                  <a:cubicBezTo>
                    <a:pt x="108779" y="49529"/>
                    <a:pt x="103918" y="54390"/>
                    <a:pt x="97900" y="54390"/>
                  </a:cubicBezTo>
                  <a:lnTo>
                    <a:pt x="32634" y="54390"/>
                  </a:lnTo>
                  <a:cubicBezTo>
                    <a:pt x="26617" y="54390"/>
                    <a:pt x="21756" y="49529"/>
                    <a:pt x="21756" y="43511"/>
                  </a:cubicBezTo>
                  <a:lnTo>
                    <a:pt x="21756" y="32634"/>
                  </a:lnTo>
                  <a:cubicBezTo>
                    <a:pt x="21756" y="26617"/>
                    <a:pt x="26617" y="21756"/>
                    <a:pt x="32634" y="21756"/>
                  </a:cubicBezTo>
                  <a:close/>
                  <a:moveTo>
                    <a:pt x="38073" y="78864"/>
                  </a:moveTo>
                  <a:cubicBezTo>
                    <a:pt x="38073" y="83368"/>
                    <a:pt x="34417" y="87024"/>
                    <a:pt x="29914" y="87024"/>
                  </a:cubicBezTo>
                  <a:cubicBezTo>
                    <a:pt x="25411" y="87024"/>
                    <a:pt x="21756" y="83368"/>
                    <a:pt x="21756" y="78864"/>
                  </a:cubicBezTo>
                  <a:cubicBezTo>
                    <a:pt x="21756" y="74362"/>
                    <a:pt x="25411" y="70707"/>
                    <a:pt x="29914" y="70707"/>
                  </a:cubicBezTo>
                  <a:cubicBezTo>
                    <a:pt x="34417" y="70707"/>
                    <a:pt x="38073" y="74362"/>
                    <a:pt x="38073" y="78864"/>
                  </a:cubicBezTo>
                  <a:close/>
                  <a:moveTo>
                    <a:pt x="65268" y="87024"/>
                  </a:moveTo>
                  <a:cubicBezTo>
                    <a:pt x="60764" y="87024"/>
                    <a:pt x="57109" y="83368"/>
                    <a:pt x="57109" y="78864"/>
                  </a:cubicBezTo>
                  <a:cubicBezTo>
                    <a:pt x="57109" y="74362"/>
                    <a:pt x="60764" y="70707"/>
                    <a:pt x="65268" y="70707"/>
                  </a:cubicBezTo>
                  <a:cubicBezTo>
                    <a:pt x="69770" y="70707"/>
                    <a:pt x="73426" y="74362"/>
                    <a:pt x="73426" y="78864"/>
                  </a:cubicBezTo>
                  <a:cubicBezTo>
                    <a:pt x="73426" y="83368"/>
                    <a:pt x="69770" y="87024"/>
                    <a:pt x="65268" y="87024"/>
                  </a:cubicBezTo>
                  <a:close/>
                  <a:moveTo>
                    <a:pt x="108779" y="78864"/>
                  </a:moveTo>
                  <a:cubicBezTo>
                    <a:pt x="108779" y="83368"/>
                    <a:pt x="105124" y="87024"/>
                    <a:pt x="100621" y="87024"/>
                  </a:cubicBezTo>
                  <a:cubicBezTo>
                    <a:pt x="96117" y="87024"/>
                    <a:pt x="92464" y="83368"/>
                    <a:pt x="92464" y="78864"/>
                  </a:cubicBezTo>
                  <a:cubicBezTo>
                    <a:pt x="92464" y="74362"/>
                    <a:pt x="96117" y="70707"/>
                    <a:pt x="100621" y="70707"/>
                  </a:cubicBezTo>
                  <a:cubicBezTo>
                    <a:pt x="105124" y="70707"/>
                    <a:pt x="108779" y="74362"/>
                    <a:pt x="108779" y="78864"/>
                  </a:cubicBezTo>
                  <a:close/>
                  <a:moveTo>
                    <a:pt x="29914" y="119657"/>
                  </a:moveTo>
                  <a:cubicBezTo>
                    <a:pt x="25411" y="119657"/>
                    <a:pt x="21756" y="116002"/>
                    <a:pt x="21756" y="111498"/>
                  </a:cubicBezTo>
                  <a:cubicBezTo>
                    <a:pt x="21756" y="106996"/>
                    <a:pt x="25411" y="103340"/>
                    <a:pt x="29914" y="103340"/>
                  </a:cubicBezTo>
                  <a:cubicBezTo>
                    <a:pt x="34417" y="103340"/>
                    <a:pt x="38073" y="106996"/>
                    <a:pt x="38073" y="111498"/>
                  </a:cubicBezTo>
                  <a:cubicBezTo>
                    <a:pt x="38073" y="116002"/>
                    <a:pt x="34417" y="119657"/>
                    <a:pt x="29914" y="119657"/>
                  </a:cubicBezTo>
                  <a:close/>
                  <a:moveTo>
                    <a:pt x="73426" y="111498"/>
                  </a:moveTo>
                  <a:cubicBezTo>
                    <a:pt x="73426" y="116002"/>
                    <a:pt x="69770" y="119657"/>
                    <a:pt x="65268" y="119657"/>
                  </a:cubicBezTo>
                  <a:cubicBezTo>
                    <a:pt x="60764" y="119657"/>
                    <a:pt x="57109" y="116002"/>
                    <a:pt x="57109" y="111498"/>
                  </a:cubicBezTo>
                  <a:cubicBezTo>
                    <a:pt x="57109" y="106996"/>
                    <a:pt x="60764" y="103340"/>
                    <a:pt x="65268" y="103340"/>
                  </a:cubicBezTo>
                  <a:cubicBezTo>
                    <a:pt x="69770" y="103340"/>
                    <a:pt x="73426" y="106996"/>
                    <a:pt x="73426" y="111498"/>
                  </a:cubicBezTo>
                  <a:close/>
                  <a:moveTo>
                    <a:pt x="100621" y="119657"/>
                  </a:moveTo>
                  <a:cubicBezTo>
                    <a:pt x="96117" y="119657"/>
                    <a:pt x="92464" y="116002"/>
                    <a:pt x="92464" y="111498"/>
                  </a:cubicBezTo>
                  <a:cubicBezTo>
                    <a:pt x="92464" y="106996"/>
                    <a:pt x="96117" y="103340"/>
                    <a:pt x="100621" y="103340"/>
                  </a:cubicBezTo>
                  <a:cubicBezTo>
                    <a:pt x="105124" y="103340"/>
                    <a:pt x="108779" y="106996"/>
                    <a:pt x="108779" y="111498"/>
                  </a:cubicBezTo>
                  <a:cubicBezTo>
                    <a:pt x="108779" y="116002"/>
                    <a:pt x="105124" y="119657"/>
                    <a:pt x="100621" y="119657"/>
                  </a:cubicBezTo>
                  <a:close/>
                  <a:moveTo>
                    <a:pt x="21756" y="144134"/>
                  </a:moveTo>
                  <a:cubicBezTo>
                    <a:pt x="21756" y="139612"/>
                    <a:pt x="25392" y="135974"/>
                    <a:pt x="29914" y="135974"/>
                  </a:cubicBezTo>
                  <a:lnTo>
                    <a:pt x="67987" y="135974"/>
                  </a:lnTo>
                  <a:cubicBezTo>
                    <a:pt x="72508" y="135974"/>
                    <a:pt x="76145" y="139612"/>
                    <a:pt x="76145" y="144134"/>
                  </a:cubicBezTo>
                  <a:cubicBezTo>
                    <a:pt x="76145" y="148654"/>
                    <a:pt x="72508" y="152291"/>
                    <a:pt x="67987" y="152291"/>
                  </a:cubicBezTo>
                  <a:lnTo>
                    <a:pt x="29914" y="152291"/>
                  </a:lnTo>
                  <a:cubicBezTo>
                    <a:pt x="25392" y="152291"/>
                    <a:pt x="21756" y="148654"/>
                    <a:pt x="21756" y="144134"/>
                  </a:cubicBezTo>
                  <a:close/>
                  <a:moveTo>
                    <a:pt x="100621" y="135974"/>
                  </a:moveTo>
                  <a:cubicBezTo>
                    <a:pt x="105142" y="135974"/>
                    <a:pt x="108779" y="139612"/>
                    <a:pt x="108779" y="144134"/>
                  </a:cubicBezTo>
                  <a:cubicBezTo>
                    <a:pt x="108779" y="148654"/>
                    <a:pt x="105142" y="152291"/>
                    <a:pt x="100621" y="152291"/>
                  </a:cubicBezTo>
                  <a:cubicBezTo>
                    <a:pt x="96100" y="152291"/>
                    <a:pt x="92464" y="148654"/>
                    <a:pt x="92464" y="144134"/>
                  </a:cubicBezTo>
                  <a:cubicBezTo>
                    <a:pt x="92464" y="139612"/>
                    <a:pt x="96100" y="135974"/>
                    <a:pt x="100621" y="13597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695889" y="2366692"/>
              <a:ext cx="2484932" cy="1651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Grid Size Calculation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373947" y="2679977"/>
              <a:ext cx="5395460" cy="2088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Size = ceil(n_elements / BLOCK_SIZE)</a:t>
              </a:r>
              <a:endParaRPr lang="en-US" sz="110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6234726" y="3167249"/>
              <a:ext cx="5604317" cy="800617"/>
            </a:xfrm>
            <a:custGeom>
              <a:avLst/>
              <a:gdLst/>
              <a:ahLst/>
              <a:cxnLst/>
              <a:rect l="l" t="t" r="r" b="b"/>
              <a:pathLst>
                <a:path w="5604317" h="800617">
                  <a:moveTo>
                    <a:pt x="69621" y="0"/>
                  </a:moveTo>
                  <a:lnTo>
                    <a:pt x="5534696" y="0"/>
                  </a:lnTo>
                  <a:cubicBezTo>
                    <a:pt x="5573146" y="0"/>
                    <a:pt x="5604317" y="31171"/>
                    <a:pt x="5604317" y="69621"/>
                  </a:cubicBezTo>
                  <a:lnTo>
                    <a:pt x="5604317" y="730995"/>
                  </a:lnTo>
                  <a:cubicBezTo>
                    <a:pt x="5604317" y="769446"/>
                    <a:pt x="5573146" y="800617"/>
                    <a:pt x="5534696" y="800617"/>
                  </a:cubicBezTo>
                  <a:lnTo>
                    <a:pt x="69621" y="800617"/>
                  </a:lnTo>
                  <a:cubicBezTo>
                    <a:pt x="31196" y="800617"/>
                    <a:pt x="0" y="769421"/>
                    <a:pt x="0" y="730995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94649" y="3340362"/>
              <a:ext cx="176190" cy="175781"/>
            </a:xfrm>
            <a:custGeom>
              <a:avLst/>
              <a:gdLst/>
              <a:ahLst/>
              <a:cxnLst/>
              <a:rect l="l" t="t" r="r" b="b"/>
              <a:pathLst>
                <a:path w="176190" h="175781">
                  <a:moveTo>
                    <a:pt x="171906" y="139102"/>
                  </a:moveTo>
                  <a:lnTo>
                    <a:pt x="139272" y="171736"/>
                  </a:lnTo>
                  <a:cubicBezTo>
                    <a:pt x="136144" y="174863"/>
                    <a:pt x="131487" y="175781"/>
                    <a:pt x="127408" y="174082"/>
                  </a:cubicBezTo>
                  <a:cubicBezTo>
                    <a:pt x="123330" y="172382"/>
                    <a:pt x="120711" y="168438"/>
                    <a:pt x="120711" y="164054"/>
                  </a:cubicBezTo>
                  <a:lnTo>
                    <a:pt x="120711" y="142297"/>
                  </a:lnTo>
                  <a:lnTo>
                    <a:pt x="11932" y="142297"/>
                  </a:lnTo>
                  <a:cubicBezTo>
                    <a:pt x="5916" y="142297"/>
                    <a:pt x="1054" y="137436"/>
                    <a:pt x="1054" y="131418"/>
                  </a:cubicBezTo>
                  <a:cubicBezTo>
                    <a:pt x="1054" y="125402"/>
                    <a:pt x="5916" y="120541"/>
                    <a:pt x="11932" y="120541"/>
                  </a:cubicBezTo>
                  <a:lnTo>
                    <a:pt x="120711" y="120541"/>
                  </a:lnTo>
                  <a:lnTo>
                    <a:pt x="120711" y="98784"/>
                  </a:lnTo>
                  <a:cubicBezTo>
                    <a:pt x="120711" y="94400"/>
                    <a:pt x="123363" y="90423"/>
                    <a:pt x="127442" y="88724"/>
                  </a:cubicBezTo>
                  <a:cubicBezTo>
                    <a:pt x="131521" y="87024"/>
                    <a:pt x="136178" y="87976"/>
                    <a:pt x="139306" y="91069"/>
                  </a:cubicBezTo>
                  <a:lnTo>
                    <a:pt x="171940" y="123703"/>
                  </a:lnTo>
                  <a:cubicBezTo>
                    <a:pt x="176190" y="127953"/>
                    <a:pt x="176190" y="134852"/>
                    <a:pt x="171940" y="139102"/>
                  </a:cubicBezTo>
                  <a:close/>
                  <a:moveTo>
                    <a:pt x="4249" y="52078"/>
                  </a:moveTo>
                  <a:cubicBezTo>
                    <a:pt x="0" y="47830"/>
                    <a:pt x="0" y="40928"/>
                    <a:pt x="4249" y="36679"/>
                  </a:cubicBezTo>
                  <a:lnTo>
                    <a:pt x="36883" y="4045"/>
                  </a:lnTo>
                  <a:cubicBezTo>
                    <a:pt x="40011" y="918"/>
                    <a:pt x="44668" y="0"/>
                    <a:pt x="48748" y="1701"/>
                  </a:cubicBezTo>
                  <a:cubicBezTo>
                    <a:pt x="52826" y="3400"/>
                    <a:pt x="55444" y="7378"/>
                    <a:pt x="55444" y="11762"/>
                  </a:cubicBezTo>
                  <a:lnTo>
                    <a:pt x="55444" y="33518"/>
                  </a:lnTo>
                  <a:lnTo>
                    <a:pt x="164224" y="33518"/>
                  </a:lnTo>
                  <a:cubicBezTo>
                    <a:pt x="170240" y="33518"/>
                    <a:pt x="175101" y="38379"/>
                    <a:pt x="175101" y="44395"/>
                  </a:cubicBezTo>
                  <a:cubicBezTo>
                    <a:pt x="175101" y="50413"/>
                    <a:pt x="170240" y="55274"/>
                    <a:pt x="164224" y="55274"/>
                  </a:cubicBezTo>
                  <a:lnTo>
                    <a:pt x="55444" y="55274"/>
                  </a:lnTo>
                  <a:lnTo>
                    <a:pt x="55444" y="77029"/>
                  </a:lnTo>
                  <a:cubicBezTo>
                    <a:pt x="55444" y="81415"/>
                    <a:pt x="52793" y="85392"/>
                    <a:pt x="48713" y="87092"/>
                  </a:cubicBezTo>
                  <a:cubicBezTo>
                    <a:pt x="44634" y="88791"/>
                    <a:pt x="39977" y="87840"/>
                    <a:pt x="36849" y="84746"/>
                  </a:cubicBezTo>
                  <a:lnTo>
                    <a:pt x="4215" y="52112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695889" y="3306470"/>
              <a:ext cx="722296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1D grid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373947" y="3619755"/>
              <a:ext cx="5395460" cy="2088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This example uses a 1D grid with only one dimension</a:t>
              </a:r>
              <a:endParaRPr lang="en-US" sz="110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48054" y="4176638"/>
            <a:ext cx="11495811" cy="2401849"/>
            <a:chOff x="348054" y="4176638"/>
            <a:chExt cx="11495811" cy="2401849"/>
          </a:xfrm>
        </p:grpSpPr>
        <p:sp>
          <p:nvSpPr>
            <p:cNvPr id="20" name="Freeform 20"/>
            <p:cNvSpPr/>
            <p:nvPr/>
          </p:nvSpPr>
          <p:spPr>
            <a:xfrm>
              <a:off x="348054" y="4176638"/>
              <a:ext cx="11495811" cy="2401849"/>
            </a:xfrm>
            <a:custGeom>
              <a:avLst/>
              <a:gdLst/>
              <a:ahLst/>
              <a:cxnLst/>
              <a:rect l="l" t="t" r="r" b="b"/>
              <a:pathLst>
                <a:path w="11495811" h="2401849">
                  <a:moveTo>
                    <a:pt x="104432" y="0"/>
                  </a:moveTo>
                  <a:lnTo>
                    <a:pt x="11391379" y="0"/>
                  </a:lnTo>
                  <a:cubicBezTo>
                    <a:pt x="11449056" y="0"/>
                    <a:pt x="11495811" y="46756"/>
                    <a:pt x="11495811" y="104432"/>
                  </a:cubicBezTo>
                  <a:lnTo>
                    <a:pt x="11495811" y="2297419"/>
                  </a:lnTo>
                  <a:cubicBezTo>
                    <a:pt x="11495811" y="2355094"/>
                    <a:pt x="11449056" y="2401849"/>
                    <a:pt x="11391379" y="2401849"/>
                  </a:cubicBezTo>
                  <a:lnTo>
                    <a:pt x="104432" y="2401849"/>
                  </a:lnTo>
                  <a:cubicBezTo>
                    <a:pt x="46756" y="2401849"/>
                    <a:pt x="0" y="2355094"/>
                    <a:pt x="0" y="2297419"/>
                  </a:cubicBezTo>
                  <a:lnTo>
                    <a:pt x="0" y="104432"/>
                  </a:lnTo>
                  <a:cubicBezTo>
                    <a:pt x="0" y="46794"/>
                    <a:pt x="46794" y="0"/>
                    <a:pt x="10443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556886" y="4385469"/>
              <a:ext cx="11165122" cy="24366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Calculation Example</a:t>
              </a:r>
              <a:endParaRPr lang="en-US" sz="110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65545" y="4777023"/>
              <a:ext cx="5412779" cy="1583742"/>
            </a:xfrm>
            <a:custGeom>
              <a:avLst/>
              <a:gdLst/>
              <a:ahLst/>
              <a:cxnLst/>
              <a:rect l="l" t="t" r="r" b="b"/>
              <a:pathLst>
                <a:path w="5412779" h="1583742">
                  <a:moveTo>
                    <a:pt x="69621" y="0"/>
                  </a:moveTo>
                  <a:lnTo>
                    <a:pt x="5343157" y="0"/>
                  </a:lnTo>
                  <a:cubicBezTo>
                    <a:pt x="5381608" y="0"/>
                    <a:pt x="5412779" y="31171"/>
                    <a:pt x="5412779" y="69621"/>
                  </a:cubicBezTo>
                  <a:lnTo>
                    <a:pt x="5412779" y="1514121"/>
                  </a:lnTo>
                  <a:cubicBezTo>
                    <a:pt x="5412779" y="1552572"/>
                    <a:pt x="5381608" y="1583742"/>
                    <a:pt x="5343157" y="1583742"/>
                  </a:cubicBezTo>
                  <a:lnTo>
                    <a:pt x="69621" y="1583742"/>
                  </a:lnTo>
                  <a:cubicBezTo>
                    <a:pt x="31171" y="1583742"/>
                    <a:pt x="0" y="1552572"/>
                    <a:pt x="0" y="1514121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713425" y="4924904"/>
              <a:ext cx="5177901" cy="1740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0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Example 1</a:t>
              </a:r>
              <a:endParaRPr lang="en-US" sz="110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730743" y="5168511"/>
              <a:ext cx="5099494" cy="556951"/>
            </a:xfrm>
            <a:custGeom>
              <a:avLst/>
              <a:gdLst/>
              <a:ahLst/>
              <a:cxnLst/>
              <a:rect l="l" t="t" r="r" b="b"/>
              <a:pathLst>
                <a:path w="5099494" h="556951">
                  <a:moveTo>
                    <a:pt x="34635" y="0"/>
                  </a:moveTo>
                  <a:lnTo>
                    <a:pt x="5064684" y="0"/>
                  </a:lnTo>
                  <a:cubicBezTo>
                    <a:pt x="5083909" y="0"/>
                    <a:pt x="5099495" y="15585"/>
                    <a:pt x="5099495" y="34809"/>
                  </a:cubicBezTo>
                  <a:lnTo>
                    <a:pt x="5099495" y="522141"/>
                  </a:lnTo>
                  <a:cubicBezTo>
                    <a:pt x="5099495" y="541365"/>
                    <a:pt x="5083909" y="556951"/>
                    <a:pt x="5064684" y="556951"/>
                  </a:cubicBez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730743" y="5168511"/>
              <a:ext cx="34635" cy="556951"/>
            </a:xfrm>
            <a:custGeom>
              <a:avLst/>
              <a:gdLst/>
              <a:ahLst/>
              <a:cxnLst/>
              <a:rect l="l" t="t" r="r" b="b"/>
              <a:pathLst>
                <a:path w="34635" h="556951">
                  <a:moveTo>
                    <a:pt x="34635" y="0"/>
                  </a:moveTo>
                  <a:lnTo>
                    <a:pt x="34635" y="0"/>
                  </a:lnTo>
                  <a:lnTo>
                    <a:pt x="34635" y="556951"/>
                  </a:ln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852444" y="5272888"/>
              <a:ext cx="4942938" cy="3480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0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n_elements = 10000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BLOCK_SIZE = 1024</a:t>
              </a:r>
              <a:endParaRPr lang="en-US" sz="10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713425" y="5794868"/>
              <a:ext cx="5186604" cy="41771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grid = (10,)</a:t>
              </a:r>
              <a:endParaRPr lang="en-US" sz="1100"/>
            </a:p>
            <a:p>
              <a:pPr indent="0" algn="l">
                <a:lnSpc>
                  <a:spcPct val="133000"/>
                </a:lnSpc>
              </a:pPr>
              <a:r>
                <a:rPr lang="en-US" sz="10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ceil(10000/1024) = 10</a:t>
              </a:r>
              <a:endParaRPr lang="en-US" sz="10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08546" y="4777023"/>
              <a:ext cx="5412779" cy="1583742"/>
            </a:xfrm>
            <a:custGeom>
              <a:avLst/>
              <a:gdLst/>
              <a:ahLst/>
              <a:cxnLst/>
              <a:rect l="l" t="t" r="r" b="b"/>
              <a:pathLst>
                <a:path w="5412779" h="1583742">
                  <a:moveTo>
                    <a:pt x="69621" y="0"/>
                  </a:moveTo>
                  <a:lnTo>
                    <a:pt x="5343157" y="0"/>
                  </a:lnTo>
                  <a:cubicBezTo>
                    <a:pt x="5381608" y="0"/>
                    <a:pt x="5412779" y="31171"/>
                    <a:pt x="5412779" y="69621"/>
                  </a:cubicBezTo>
                  <a:lnTo>
                    <a:pt x="5412779" y="1514121"/>
                  </a:lnTo>
                  <a:cubicBezTo>
                    <a:pt x="5412779" y="1552572"/>
                    <a:pt x="5381608" y="1583742"/>
                    <a:pt x="5343157" y="1583742"/>
                  </a:cubicBezTo>
                  <a:lnTo>
                    <a:pt x="69621" y="1583742"/>
                  </a:lnTo>
                  <a:cubicBezTo>
                    <a:pt x="31171" y="1583742"/>
                    <a:pt x="0" y="1552572"/>
                    <a:pt x="0" y="1514121"/>
                  </a:cubicBezTo>
                  <a:lnTo>
                    <a:pt x="0" y="69621"/>
                  </a:lnTo>
                  <a:cubicBezTo>
                    <a:pt x="0" y="31196"/>
                    <a:pt x="31196" y="0"/>
                    <a:pt x="6962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D1D5DC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356426" y="4924904"/>
              <a:ext cx="5177901" cy="17404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0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Example 2</a:t>
              </a:r>
              <a:endParaRPr lang="en-US" sz="110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6373745" y="5168511"/>
              <a:ext cx="5099495" cy="556951"/>
            </a:xfrm>
            <a:custGeom>
              <a:avLst/>
              <a:gdLst/>
              <a:ahLst/>
              <a:cxnLst/>
              <a:rect l="l" t="t" r="r" b="b"/>
              <a:pathLst>
                <a:path w="5099495" h="556951">
                  <a:moveTo>
                    <a:pt x="34635" y="0"/>
                  </a:moveTo>
                  <a:lnTo>
                    <a:pt x="5064684" y="0"/>
                  </a:lnTo>
                  <a:cubicBezTo>
                    <a:pt x="5083909" y="0"/>
                    <a:pt x="5099495" y="15585"/>
                    <a:pt x="5099495" y="34809"/>
                  </a:cubicBezTo>
                  <a:lnTo>
                    <a:pt x="5099495" y="522141"/>
                  </a:lnTo>
                  <a:cubicBezTo>
                    <a:pt x="5099495" y="541365"/>
                    <a:pt x="5083909" y="556951"/>
                    <a:pt x="5064684" y="556951"/>
                  </a:cubicBez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373745" y="5168511"/>
              <a:ext cx="34635" cy="556951"/>
            </a:xfrm>
            <a:custGeom>
              <a:avLst/>
              <a:gdLst/>
              <a:ahLst/>
              <a:cxnLst/>
              <a:rect l="l" t="t" r="r" b="b"/>
              <a:pathLst>
                <a:path w="34635" h="556951">
                  <a:moveTo>
                    <a:pt x="34635" y="0"/>
                  </a:moveTo>
                  <a:lnTo>
                    <a:pt x="34635" y="0"/>
                  </a:lnTo>
                  <a:lnTo>
                    <a:pt x="34635" y="556951"/>
                  </a:lnTo>
                  <a:lnTo>
                    <a:pt x="34635" y="556951"/>
                  </a:lnTo>
                  <a:cubicBezTo>
                    <a:pt x="15507" y="556951"/>
                    <a:pt x="0" y="541444"/>
                    <a:pt x="0" y="522315"/>
                  </a:cubicBezTo>
                  <a:lnTo>
                    <a:pt x="0" y="34635"/>
                  </a:lnTo>
                  <a:cubicBezTo>
                    <a:pt x="0" y="15519"/>
                    <a:pt x="15519" y="0"/>
                    <a:pt x="34635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2" name="AutoShape 32"/>
            <p:cNvSpPr/>
            <p:nvPr/>
          </p:nvSpPr>
          <p:spPr>
            <a:xfrm>
              <a:off x="6495445" y="5272888"/>
              <a:ext cx="4942938" cy="3480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0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n_elements = 5000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0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BLOCK_SIZE = 256</a:t>
              </a:r>
              <a:endParaRPr lang="en-US" sz="10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356426" y="5794868"/>
              <a:ext cx="5186604" cy="41771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grid = (20,)</a:t>
              </a:r>
              <a:endParaRPr lang="en-US" sz="1100"/>
            </a:p>
            <a:p>
              <a:pPr indent="0" algn="l">
                <a:lnSpc>
                  <a:spcPct val="133000"/>
                </a:lnSpc>
              </a:pPr>
              <a:r>
                <a:rPr lang="en-US" sz="10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ceil(5000/256) = 20</a:t>
              </a:r>
              <a:endParaRPr lang="en-US" sz="10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</p:grpSp>
      <p:sp>
        <p:nvSpPr>
          <p:cNvPr id="34" name="AutoShape 34"/>
          <p:cNvSpPr/>
          <p:nvPr/>
        </p:nvSpPr>
        <p:spPr>
          <a:xfrm>
            <a:off x="348054" y="6717131"/>
            <a:ext cx="11548026" cy="1392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3087" y="614621"/>
            <a:ext cx="11670327" cy="336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Why Use lambda meta?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36524" y="1779537"/>
            <a:ext cx="5603693" cy="984447"/>
            <a:chOff x="336524" y="1779537"/>
            <a:chExt cx="5603693" cy="984447"/>
          </a:xfrm>
        </p:grpSpPr>
        <p:sp>
          <p:nvSpPr>
            <p:cNvPr id="4" name="Freeform 4"/>
            <p:cNvSpPr/>
            <p:nvPr/>
          </p:nvSpPr>
          <p:spPr>
            <a:xfrm>
              <a:off x="336524" y="1779537"/>
              <a:ext cx="5603693" cy="984447"/>
            </a:xfrm>
            <a:custGeom>
              <a:avLst/>
              <a:gdLst/>
              <a:ahLst/>
              <a:cxnLst/>
              <a:rect l="l" t="t" r="r" b="b"/>
              <a:pathLst>
                <a:path w="5603693" h="984447">
                  <a:moveTo>
                    <a:pt x="33489" y="0"/>
                  </a:moveTo>
                  <a:lnTo>
                    <a:pt x="5502728" y="0"/>
                  </a:lnTo>
                  <a:cubicBezTo>
                    <a:pt x="5558489" y="0"/>
                    <a:pt x="5603693" y="45204"/>
                    <a:pt x="5603693" y="100965"/>
                  </a:cubicBezTo>
                  <a:lnTo>
                    <a:pt x="5603693" y="883482"/>
                  </a:lnTo>
                  <a:cubicBezTo>
                    <a:pt x="5603693" y="939244"/>
                    <a:pt x="5558489" y="984447"/>
                    <a:pt x="5502728" y="984447"/>
                  </a:cubicBezTo>
                  <a:lnTo>
                    <a:pt x="33489" y="984447"/>
                  </a:lnTo>
                  <a:cubicBezTo>
                    <a:pt x="14994" y="984447"/>
                    <a:pt x="0" y="969454"/>
                    <a:pt x="0" y="950958"/>
                  </a:cubicBezTo>
                  <a:lnTo>
                    <a:pt x="0" y="33489"/>
                  </a:lnTo>
                  <a:cubicBezTo>
                    <a:pt x="0" y="15006"/>
                    <a:pt x="15006" y="0"/>
                    <a:pt x="3348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5" name="Freeform 5"/>
            <p:cNvSpPr/>
            <p:nvPr/>
          </p:nvSpPr>
          <p:spPr>
            <a:xfrm>
              <a:off x="336524" y="1779537"/>
              <a:ext cx="33489" cy="984447"/>
            </a:xfrm>
            <a:custGeom>
              <a:avLst/>
              <a:gdLst/>
              <a:ahLst/>
              <a:cxnLst/>
              <a:rect l="l" t="t" r="r" b="b"/>
              <a:pathLst>
                <a:path w="33489" h="984447">
                  <a:moveTo>
                    <a:pt x="33489" y="0"/>
                  </a:moveTo>
                  <a:lnTo>
                    <a:pt x="33489" y="0"/>
                  </a:lnTo>
                  <a:lnTo>
                    <a:pt x="33489" y="984447"/>
                  </a:lnTo>
                  <a:lnTo>
                    <a:pt x="33489" y="984447"/>
                  </a:lnTo>
                  <a:cubicBezTo>
                    <a:pt x="14994" y="984447"/>
                    <a:pt x="0" y="969454"/>
                    <a:pt x="0" y="950958"/>
                  </a:cubicBezTo>
                  <a:lnTo>
                    <a:pt x="0" y="33489"/>
                  </a:lnTo>
                  <a:cubicBezTo>
                    <a:pt x="0" y="15006"/>
                    <a:pt x="15006" y="0"/>
                    <a:pt x="3348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Freeform 6"/>
            <p:cNvSpPr/>
            <p:nvPr/>
          </p:nvSpPr>
          <p:spPr>
            <a:xfrm>
              <a:off x="580425" y="1998262"/>
              <a:ext cx="201938" cy="201938"/>
            </a:xfrm>
            <a:custGeom>
              <a:avLst/>
              <a:gdLst/>
              <a:ahLst/>
              <a:cxnLst/>
              <a:rect l="l" t="t" r="r" b="b"/>
              <a:pathLst>
                <a:path w="201938" h="201938">
                  <a:moveTo>
                    <a:pt x="100969" y="201938"/>
                  </a:moveTo>
                  <a:cubicBezTo>
                    <a:pt x="156695" y="201938"/>
                    <a:pt x="201938" y="156695"/>
                    <a:pt x="201938" y="100969"/>
                  </a:cubicBezTo>
                  <a:cubicBezTo>
                    <a:pt x="201938" y="45242"/>
                    <a:pt x="156695" y="0"/>
                    <a:pt x="100969" y="0"/>
                  </a:cubicBezTo>
                  <a:cubicBezTo>
                    <a:pt x="45242" y="0"/>
                    <a:pt x="0" y="45242"/>
                    <a:pt x="0" y="100969"/>
                  </a:cubicBezTo>
                  <a:cubicBezTo>
                    <a:pt x="0" y="156695"/>
                    <a:pt x="45242" y="201938"/>
                    <a:pt x="100969" y="201938"/>
                  </a:cubicBezTo>
                  <a:close/>
                  <a:moveTo>
                    <a:pt x="100969" y="69416"/>
                  </a:moveTo>
                  <a:cubicBezTo>
                    <a:pt x="93988" y="69416"/>
                    <a:pt x="88348" y="75056"/>
                    <a:pt x="88348" y="82037"/>
                  </a:cubicBezTo>
                  <a:cubicBezTo>
                    <a:pt x="88348" y="87283"/>
                    <a:pt x="84129" y="91504"/>
                    <a:pt x="78882" y="91504"/>
                  </a:cubicBezTo>
                  <a:cubicBezTo>
                    <a:pt x="73636" y="91504"/>
                    <a:pt x="69416" y="87283"/>
                    <a:pt x="69416" y="82037"/>
                  </a:cubicBezTo>
                  <a:cubicBezTo>
                    <a:pt x="69416" y="64604"/>
                    <a:pt x="83536" y="50484"/>
                    <a:pt x="100969" y="50484"/>
                  </a:cubicBezTo>
                  <a:cubicBezTo>
                    <a:pt x="118402" y="50484"/>
                    <a:pt x="132522" y="64604"/>
                    <a:pt x="132522" y="82037"/>
                  </a:cubicBezTo>
                  <a:cubicBezTo>
                    <a:pt x="132522" y="100653"/>
                    <a:pt x="118323" y="108542"/>
                    <a:pt x="110435" y="111421"/>
                  </a:cubicBezTo>
                  <a:lnTo>
                    <a:pt x="110435" y="112920"/>
                  </a:lnTo>
                  <a:cubicBezTo>
                    <a:pt x="110435" y="118165"/>
                    <a:pt x="106215" y="122385"/>
                    <a:pt x="100969" y="122385"/>
                  </a:cubicBezTo>
                  <a:cubicBezTo>
                    <a:pt x="95722" y="122385"/>
                    <a:pt x="91503" y="118165"/>
                    <a:pt x="91503" y="112920"/>
                  </a:cubicBezTo>
                  <a:lnTo>
                    <a:pt x="91503" y="109725"/>
                  </a:lnTo>
                  <a:cubicBezTo>
                    <a:pt x="91503" y="101639"/>
                    <a:pt x="97340" y="95842"/>
                    <a:pt x="103375" y="93870"/>
                  </a:cubicBezTo>
                  <a:cubicBezTo>
                    <a:pt x="105899" y="93041"/>
                    <a:pt x="108581" y="91700"/>
                    <a:pt x="110553" y="89807"/>
                  </a:cubicBezTo>
                  <a:cubicBezTo>
                    <a:pt x="112249" y="88151"/>
                    <a:pt x="113590" y="85863"/>
                    <a:pt x="113590" y="82078"/>
                  </a:cubicBezTo>
                  <a:cubicBezTo>
                    <a:pt x="113590" y="75096"/>
                    <a:pt x="107950" y="69456"/>
                    <a:pt x="100969" y="69456"/>
                  </a:cubicBezTo>
                  <a:close/>
                  <a:moveTo>
                    <a:pt x="88348" y="145143"/>
                  </a:moveTo>
                  <a:cubicBezTo>
                    <a:pt x="88348" y="138177"/>
                    <a:pt x="94003" y="132522"/>
                    <a:pt x="100969" y="132522"/>
                  </a:cubicBezTo>
                  <a:cubicBezTo>
                    <a:pt x="107935" y="132522"/>
                    <a:pt x="113590" y="138177"/>
                    <a:pt x="113590" y="145143"/>
                  </a:cubicBezTo>
                  <a:cubicBezTo>
                    <a:pt x="113590" y="152109"/>
                    <a:pt x="107935" y="157764"/>
                    <a:pt x="100969" y="157764"/>
                  </a:cubicBezTo>
                  <a:cubicBezTo>
                    <a:pt x="94003" y="157764"/>
                    <a:pt x="88348" y="152109"/>
                    <a:pt x="88348" y="14514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7" name="AutoShape 7"/>
            <p:cNvSpPr/>
            <p:nvPr/>
          </p:nvSpPr>
          <p:spPr>
            <a:xfrm>
              <a:off x="557779" y="2004646"/>
              <a:ext cx="2060185" cy="2355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Core Problem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555183" y="2317973"/>
              <a:ext cx="5258799" cy="24400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0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BLOCK_SIZE is a </a:t>
              </a:r>
              <a:r>
                <a:rPr lang="en-US" sz="1200" b="1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constexpr</a:t>
              </a:r>
              <a:r>
                <a:rPr lang="en-US" sz="1200" b="0" i="0" u="none" strike="noStrike">
                  <a:solidFill>
                    <a:srgbClr val="A6A6A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(compile-time constant), and grid must be computed dynamically from meta</a:t>
              </a:r>
              <a:endParaRPr lang="en-US" sz="11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36524" y="3022371"/>
            <a:ext cx="5620605" cy="984447"/>
            <a:chOff x="336524" y="3022371"/>
            <a:chExt cx="5620605" cy="984447"/>
          </a:xfrm>
        </p:grpSpPr>
        <p:sp>
          <p:nvSpPr>
            <p:cNvPr id="10" name="Freeform 10"/>
            <p:cNvSpPr/>
            <p:nvPr/>
          </p:nvSpPr>
          <p:spPr>
            <a:xfrm>
              <a:off x="336524" y="3022371"/>
              <a:ext cx="5620605" cy="984447"/>
            </a:xfrm>
            <a:custGeom>
              <a:avLst/>
              <a:gdLst/>
              <a:ahLst/>
              <a:cxnLst/>
              <a:rect l="l" t="t" r="r" b="b"/>
              <a:pathLst>
                <a:path w="5620605" h="984447">
                  <a:moveTo>
                    <a:pt x="100965" y="0"/>
                  </a:moveTo>
                  <a:lnTo>
                    <a:pt x="5519640" y="0"/>
                  </a:lnTo>
                  <a:cubicBezTo>
                    <a:pt x="5575402" y="0"/>
                    <a:pt x="5620605" y="45204"/>
                    <a:pt x="5620605" y="100965"/>
                  </a:cubicBezTo>
                  <a:lnTo>
                    <a:pt x="5620605" y="883482"/>
                  </a:lnTo>
                  <a:cubicBezTo>
                    <a:pt x="5620605" y="939244"/>
                    <a:pt x="5575402" y="984447"/>
                    <a:pt x="5519640" y="984447"/>
                  </a:cubicBezTo>
                  <a:lnTo>
                    <a:pt x="100965" y="984447"/>
                  </a:lnTo>
                  <a:cubicBezTo>
                    <a:pt x="45204" y="984447"/>
                    <a:pt x="0" y="939244"/>
                    <a:pt x="0" y="883482"/>
                  </a:cubicBezTo>
                  <a:lnTo>
                    <a:pt x="0" y="100965"/>
                  </a:lnTo>
                  <a:cubicBezTo>
                    <a:pt x="0" y="45241"/>
                    <a:pt x="45241" y="0"/>
                    <a:pt x="100965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557779" y="3235975"/>
              <a:ext cx="757267" cy="2355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Solution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538438" y="3560814"/>
              <a:ext cx="5292455" cy="24400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42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微软雅黑" panose="020B0503020204020204" charset="-122"/>
                </a:rPr>
                <a:t>Use a lambda function to defer computation and retrieve the actual BLOCK_SIZE value at kernel compile time</a:t>
              </a:r>
              <a:endParaRPr lang="en-US" sz="11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246852" y="1245045"/>
            <a:ext cx="5603693" cy="3357217"/>
          </a:xfrm>
          <a:custGeom>
            <a:avLst/>
            <a:gdLst/>
            <a:ahLst/>
            <a:cxnLst/>
            <a:rect l="l" t="t" r="r" b="b"/>
            <a:pathLst>
              <a:path w="5603693" h="3357217">
                <a:moveTo>
                  <a:pt x="33489" y="0"/>
                </a:moveTo>
                <a:lnTo>
                  <a:pt x="5502708" y="0"/>
                </a:lnTo>
                <a:cubicBezTo>
                  <a:pt x="5558480" y="0"/>
                  <a:pt x="5603693" y="45213"/>
                  <a:pt x="5603693" y="100985"/>
                </a:cubicBezTo>
                <a:lnTo>
                  <a:pt x="5603693" y="3256232"/>
                </a:lnTo>
                <a:cubicBezTo>
                  <a:pt x="5603693" y="3312005"/>
                  <a:pt x="5558480" y="3357217"/>
                  <a:pt x="5502708" y="3357217"/>
                </a:cubicBezTo>
                <a:lnTo>
                  <a:pt x="33489" y="3357217"/>
                </a:lnTo>
                <a:cubicBezTo>
                  <a:pt x="14994" y="3357217"/>
                  <a:pt x="0" y="3342223"/>
                  <a:pt x="0" y="3323728"/>
                </a:cubicBezTo>
                <a:lnTo>
                  <a:pt x="0" y="33489"/>
                </a:lnTo>
                <a:cubicBezTo>
                  <a:pt x="0" y="15006"/>
                  <a:pt x="15006" y="0"/>
                  <a:pt x="3348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6246852" y="1245045"/>
            <a:ext cx="33489" cy="3357217"/>
          </a:xfrm>
          <a:custGeom>
            <a:avLst/>
            <a:gdLst/>
            <a:ahLst/>
            <a:cxnLst/>
            <a:rect l="l" t="t" r="r" b="b"/>
            <a:pathLst>
              <a:path w="33489" h="3357217">
                <a:moveTo>
                  <a:pt x="33489" y="0"/>
                </a:moveTo>
                <a:lnTo>
                  <a:pt x="33489" y="0"/>
                </a:lnTo>
                <a:lnTo>
                  <a:pt x="33489" y="3357217"/>
                </a:lnTo>
                <a:lnTo>
                  <a:pt x="33489" y="3357217"/>
                </a:lnTo>
                <a:cubicBezTo>
                  <a:pt x="14994" y="3357217"/>
                  <a:pt x="0" y="3342223"/>
                  <a:pt x="0" y="3323728"/>
                </a:cubicBezTo>
                <a:lnTo>
                  <a:pt x="0" y="33489"/>
                </a:lnTo>
                <a:cubicBezTo>
                  <a:pt x="0" y="15006"/>
                  <a:pt x="15006" y="0"/>
                  <a:pt x="3348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65510" y="1446959"/>
            <a:ext cx="5258799" cy="295334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lambda meta syntax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grid = </a:t>
            </a:r>
            <a:r>
              <a:rPr lang="en-US" sz="1200" b="1" i="0" u="none" strike="noStrike">
                <a:solidFill>
                  <a:srgbClr val="0066CC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lambda</a:t>
            </a: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meta: (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triton.cdiv(n_elements, 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            meta[</a:t>
            </a:r>
            <a:r>
              <a:rPr lang="en-US" sz="1200" b="0" i="0" u="none" strike="noStrike">
                <a:solidFill>
                  <a:srgbClr val="8B00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'BLOCK_SIZE'</a:t>
            </a: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]), 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)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triton.cdiv function</a:t>
            </a:r>
            <a:endParaRPr lang="en-US" sz="1200" b="0" i="0" u="none" strike="noStrike">
              <a:solidFill>
                <a:srgbClr val="66666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triton.cdiv(a, b) = ceil(a / b)</a:t>
            </a:r>
            <a:endParaRPr lang="en-US" sz="1200" b="0" i="0" u="none" strike="noStrike">
              <a:solidFill>
                <a:srgbClr val="1E2939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 Example</a:t>
            </a:r>
            <a:endParaRPr lang="en-US" sz="1200" b="0" i="0" u="none" strike="noStrike">
              <a:solidFill>
                <a:srgbClr val="66666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triton.cdiv(</a:t>
            </a:r>
            <a:r>
              <a:rPr lang="en-US" sz="1200" b="0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1000</a:t>
            </a: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, </a:t>
            </a:r>
            <a:r>
              <a:rPr lang="en-US" sz="1200" b="0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256</a:t>
            </a:r>
            <a:r>
              <a: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) = </a:t>
            </a:r>
            <a:r>
              <a:rPr lang="en-US" sz="1200" b="0" i="0" u="none" strike="noStrike">
                <a:solidFill>
                  <a:srgbClr val="009900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4</a:t>
            </a:r>
            <a:r>
              <a: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# ceil(1000/256) = ceil(3.906) = 4</a:t>
            </a:r>
            <a:endParaRPr lang="en-US" sz="1200" b="0" i="0" u="none" strike="noStrike">
              <a:solidFill>
                <a:srgbClr val="666666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336524" y="4804349"/>
            <a:ext cx="11518875" cy="1783785"/>
            <a:chOff x="336524" y="4804349"/>
            <a:chExt cx="11518875" cy="1783785"/>
          </a:xfrm>
        </p:grpSpPr>
        <p:sp>
          <p:nvSpPr>
            <p:cNvPr id="17" name="Freeform 17"/>
            <p:cNvSpPr/>
            <p:nvPr/>
          </p:nvSpPr>
          <p:spPr>
            <a:xfrm>
              <a:off x="336524" y="4804349"/>
              <a:ext cx="11518875" cy="1783785"/>
            </a:xfrm>
            <a:custGeom>
              <a:avLst/>
              <a:gdLst/>
              <a:ahLst/>
              <a:cxnLst/>
              <a:rect l="l" t="t" r="r" b="b"/>
              <a:pathLst>
                <a:path w="11518875" h="1783785">
                  <a:moveTo>
                    <a:pt x="100962" y="0"/>
                  </a:moveTo>
                  <a:lnTo>
                    <a:pt x="11417911" y="0"/>
                  </a:lnTo>
                  <a:cubicBezTo>
                    <a:pt x="11473671" y="0"/>
                    <a:pt x="11518875" y="45202"/>
                    <a:pt x="11518875" y="100962"/>
                  </a:cubicBezTo>
                  <a:lnTo>
                    <a:pt x="11518875" y="1682822"/>
                  </a:lnTo>
                  <a:cubicBezTo>
                    <a:pt x="11518875" y="1738582"/>
                    <a:pt x="11473671" y="1783785"/>
                    <a:pt x="11417911" y="1783785"/>
                  </a:cubicBezTo>
                  <a:lnTo>
                    <a:pt x="100962" y="1783785"/>
                  </a:lnTo>
                  <a:cubicBezTo>
                    <a:pt x="45202" y="1783785"/>
                    <a:pt x="0" y="1738582"/>
                    <a:pt x="0" y="1682822"/>
                  </a:cubicBezTo>
                  <a:lnTo>
                    <a:pt x="0" y="100962"/>
                  </a:lnTo>
                  <a:cubicBezTo>
                    <a:pt x="0" y="45240"/>
                    <a:pt x="45240" y="0"/>
                    <a:pt x="10096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538438" y="5006262"/>
              <a:ext cx="11199139" cy="23559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Execution Flow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037392" y="5376473"/>
              <a:ext cx="538502" cy="538502"/>
            </a:xfrm>
            <a:custGeom>
              <a:avLst/>
              <a:gdLst/>
              <a:ahLst/>
              <a:cxnLst/>
              <a:rect l="l" t="t" r="r" b="b"/>
              <a:pathLst>
                <a:path w="538502" h="538502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2" y="120647"/>
                    <a:pt x="538502" y="269251"/>
                  </a:cubicBezTo>
                  <a:lnTo>
                    <a:pt x="538502" y="269251"/>
                  </a:lnTo>
                  <a:cubicBezTo>
                    <a:pt x="538502" y="417854"/>
                    <a:pt x="417854" y="538502"/>
                    <a:pt x="269251" y="538502"/>
                  </a:cubicBezTo>
                  <a:lnTo>
                    <a:pt x="269251" y="538502"/>
                  </a:lnTo>
                  <a:cubicBezTo>
                    <a:pt x="120647" y="538502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1995322" y="5376473"/>
              <a:ext cx="622642" cy="5385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504782" y="5982213"/>
              <a:ext cx="3601226" cy="4038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Define kernel</a:t>
              </a:r>
              <a:endParaRPr lang="en-US" sz="1100"/>
            </a:p>
            <a:p>
              <a:pPr indent="0" algn="ctr">
                <a:lnSpc>
                  <a:spcPct val="133000"/>
                </a:lnSpc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Specify BLOCK_SIZE</a:t>
              </a:r>
              <a:endPara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4074850" y="5729807"/>
              <a:ext cx="378634" cy="30290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D1D5DC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→</a:t>
              </a:r>
              <a:endParaRPr lang="en-US" sz="110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826279" y="5376473"/>
              <a:ext cx="538502" cy="538502"/>
            </a:xfrm>
            <a:custGeom>
              <a:avLst/>
              <a:gdLst/>
              <a:ahLst/>
              <a:cxnLst/>
              <a:rect l="l" t="t" r="r" b="b"/>
              <a:pathLst>
                <a:path w="538502" h="538502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2" y="120647"/>
                    <a:pt x="538502" y="269251"/>
                  </a:cubicBezTo>
                  <a:lnTo>
                    <a:pt x="538502" y="269251"/>
                  </a:lnTo>
                  <a:cubicBezTo>
                    <a:pt x="538502" y="417854"/>
                    <a:pt x="417854" y="538502"/>
                    <a:pt x="269251" y="538502"/>
                  </a:cubicBezTo>
                  <a:lnTo>
                    <a:pt x="269251" y="538502"/>
                  </a:lnTo>
                  <a:cubicBezTo>
                    <a:pt x="120647" y="538502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5784208" y="5376473"/>
              <a:ext cx="622642" cy="5385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4293668" y="5982213"/>
              <a:ext cx="3601226" cy="4038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lambda retrieves</a:t>
              </a:r>
              <a:endParaRPr lang="en-US" sz="1100"/>
            </a:p>
            <a:p>
              <a:pPr indent="0" algn="ctr">
                <a:lnSpc>
                  <a:spcPct val="133000"/>
                </a:lnSpc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meta['BLOCK_SIZE']</a:t>
              </a:r>
              <a:endPara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7863736" y="5729807"/>
              <a:ext cx="378634" cy="30290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2000" b="0" i="0" u="none" strike="noStrike">
                  <a:solidFill>
                    <a:srgbClr val="D1D5DC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→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615165" y="5376473"/>
              <a:ext cx="538502" cy="538502"/>
            </a:xfrm>
            <a:custGeom>
              <a:avLst/>
              <a:gdLst/>
              <a:ahLst/>
              <a:cxnLst/>
              <a:rect l="l" t="t" r="r" b="b"/>
              <a:pathLst>
                <a:path w="538502" h="538502">
                  <a:moveTo>
                    <a:pt x="269251" y="0"/>
                  </a:moveTo>
                  <a:lnTo>
                    <a:pt x="269251" y="0"/>
                  </a:lnTo>
                  <a:cubicBezTo>
                    <a:pt x="417854" y="0"/>
                    <a:pt x="538502" y="120647"/>
                    <a:pt x="538502" y="269251"/>
                  </a:cubicBezTo>
                  <a:lnTo>
                    <a:pt x="538502" y="269251"/>
                  </a:lnTo>
                  <a:cubicBezTo>
                    <a:pt x="538502" y="417854"/>
                    <a:pt x="417854" y="538502"/>
                    <a:pt x="269251" y="538502"/>
                  </a:cubicBezTo>
                  <a:lnTo>
                    <a:pt x="269251" y="538502"/>
                  </a:lnTo>
                  <a:cubicBezTo>
                    <a:pt x="120647" y="538502"/>
                    <a:pt x="0" y="417854"/>
                    <a:pt x="0" y="269251"/>
                  </a:cubicBezTo>
                  <a:lnTo>
                    <a:pt x="0" y="269251"/>
                  </a:lnTo>
                  <a:cubicBezTo>
                    <a:pt x="0" y="120647"/>
                    <a:pt x="120647" y="0"/>
                    <a:pt x="269251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573094" y="5376473"/>
              <a:ext cx="622642" cy="53850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3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8082555" y="5982213"/>
              <a:ext cx="3601226" cy="4038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Compute grid</a:t>
              </a:r>
              <a:endParaRPr lang="en-US" sz="1100"/>
            </a:p>
            <a:p>
              <a:pPr indent="0" algn="ctr">
                <a:lnSpc>
                  <a:spcPct val="133000"/>
                </a:lnSpc>
              </a:pPr>
              <a:r>
                <a:rPr lang="en-US" sz="11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Launch kernel</a:t>
              </a:r>
              <a:endParaRPr lang="en-US" sz="1100" b="0" i="0" u="none" strike="noStrike">
                <a:solidFill>
                  <a:srgbClr val="364153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</p:grpSp>
      <p:sp>
        <p:nvSpPr>
          <p:cNvPr id="30" name="AutoShape 30"/>
          <p:cNvSpPr/>
          <p:nvPr/>
        </p:nvSpPr>
        <p:spPr>
          <a:xfrm>
            <a:off x="336524" y="6722569"/>
            <a:ext cx="11569358" cy="134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8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Triton Official Docs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4392" y="610485"/>
            <a:ext cx="11614092" cy="372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[]  Syntax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91350" y="1379250"/>
            <a:ext cx="5555284" cy="2870898"/>
            <a:chOff x="391350" y="1379250"/>
            <a:chExt cx="5555284" cy="2870898"/>
          </a:xfrm>
        </p:grpSpPr>
        <p:sp>
          <p:nvSpPr>
            <p:cNvPr id="4" name="Freeform 4"/>
            <p:cNvSpPr/>
            <p:nvPr/>
          </p:nvSpPr>
          <p:spPr>
            <a:xfrm>
              <a:off x="391350" y="1379250"/>
              <a:ext cx="5555284" cy="2870898"/>
            </a:xfrm>
            <a:custGeom>
              <a:avLst/>
              <a:gdLst/>
              <a:ahLst/>
              <a:cxnLst/>
              <a:rect l="l" t="t" r="r" b="b"/>
              <a:pathLst>
                <a:path w="5555284" h="2870898">
                  <a:moveTo>
                    <a:pt x="37099" y="0"/>
                  </a:moveTo>
                  <a:lnTo>
                    <a:pt x="5443433" y="0"/>
                  </a:lnTo>
                  <a:cubicBezTo>
                    <a:pt x="5505206" y="0"/>
                    <a:pt x="5555284" y="50077"/>
                    <a:pt x="5555284" y="111850"/>
                  </a:cubicBezTo>
                  <a:lnTo>
                    <a:pt x="5555284" y="2759050"/>
                  </a:lnTo>
                  <a:cubicBezTo>
                    <a:pt x="5555284" y="2820822"/>
                    <a:pt x="5505206" y="2870899"/>
                    <a:pt x="5443433" y="2870899"/>
                  </a:cubicBezTo>
                  <a:lnTo>
                    <a:pt x="37099" y="2870899"/>
                  </a:lnTo>
                  <a:cubicBezTo>
                    <a:pt x="16610" y="2870899"/>
                    <a:pt x="0" y="2854289"/>
                    <a:pt x="0" y="2833801"/>
                  </a:cubicBezTo>
                  <a:lnTo>
                    <a:pt x="0" y="37099"/>
                  </a:lnTo>
                  <a:cubicBezTo>
                    <a:pt x="0" y="16610"/>
                    <a:pt x="16610" y="0"/>
                    <a:pt x="3709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91350" y="1379250"/>
              <a:ext cx="37099" cy="2870898"/>
            </a:xfrm>
            <a:custGeom>
              <a:avLst/>
              <a:gdLst/>
              <a:ahLst/>
              <a:cxnLst/>
              <a:rect l="l" t="t" r="r" b="b"/>
              <a:pathLst>
                <a:path w="37099" h="2870898">
                  <a:moveTo>
                    <a:pt x="37099" y="0"/>
                  </a:moveTo>
                  <a:lnTo>
                    <a:pt x="37099" y="0"/>
                  </a:lnTo>
                  <a:lnTo>
                    <a:pt x="37099" y="2870899"/>
                  </a:lnTo>
                  <a:lnTo>
                    <a:pt x="37099" y="2870899"/>
                  </a:lnTo>
                  <a:cubicBezTo>
                    <a:pt x="16610" y="2870899"/>
                    <a:pt x="0" y="2854289"/>
                    <a:pt x="0" y="2833801"/>
                  </a:cubicBezTo>
                  <a:lnTo>
                    <a:pt x="0" y="37099"/>
                  </a:lnTo>
                  <a:cubicBezTo>
                    <a:pt x="0" y="16623"/>
                    <a:pt x="16623" y="0"/>
                    <a:pt x="3709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633580" y="1602929"/>
              <a:ext cx="5182532" cy="121174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add_kernel[grid](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x_ptr, y_ptr, 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    output_ptr, n_elements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500" b="0" i="0" u="none" strike="noStrike">
                  <a:solidFill>
                    <a:srgbClr val="1E293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)</a:t>
              </a:r>
              <a:endParaRPr lang="en-US" sz="1500" b="0" i="0" u="none" strike="noStrike">
                <a:solidFill>
                  <a:srgbClr val="1E293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247181" y="1379250"/>
            <a:ext cx="5574019" cy="2875377"/>
            <a:chOff x="6247181" y="1379250"/>
            <a:chExt cx="5574019" cy="2875377"/>
          </a:xfrm>
        </p:grpSpPr>
        <p:sp>
          <p:nvSpPr>
            <p:cNvPr id="8" name="Freeform 8"/>
            <p:cNvSpPr/>
            <p:nvPr/>
          </p:nvSpPr>
          <p:spPr>
            <a:xfrm>
              <a:off x="6247181" y="1379250"/>
              <a:ext cx="5574019" cy="857541"/>
            </a:xfrm>
            <a:custGeom>
              <a:avLst/>
              <a:gdLst/>
              <a:ahLst/>
              <a:cxnLst/>
              <a:rect l="l" t="t" r="r" b="b"/>
              <a:pathLst>
                <a:path w="5574019" h="857541">
                  <a:moveTo>
                    <a:pt x="74572" y="0"/>
                  </a:moveTo>
                  <a:lnTo>
                    <a:pt x="5499447" y="0"/>
                  </a:lnTo>
                  <a:cubicBezTo>
                    <a:pt x="5540632" y="0"/>
                    <a:pt x="5574019" y="33387"/>
                    <a:pt x="5574019" y="74572"/>
                  </a:cubicBezTo>
                  <a:lnTo>
                    <a:pt x="5574019" y="782969"/>
                  </a:lnTo>
                  <a:cubicBezTo>
                    <a:pt x="5574019" y="824154"/>
                    <a:pt x="5540632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Freeform 9"/>
            <p:cNvSpPr/>
            <p:nvPr/>
          </p:nvSpPr>
          <p:spPr>
            <a:xfrm>
              <a:off x="6406824" y="1564270"/>
              <a:ext cx="212019" cy="189117"/>
            </a:xfrm>
            <a:custGeom>
              <a:avLst/>
              <a:gdLst/>
              <a:ahLst/>
              <a:cxnLst/>
              <a:rect l="l" t="t" r="r" b="b"/>
              <a:pathLst>
                <a:path w="212019" h="189117">
                  <a:moveTo>
                    <a:pt x="132498" y="1784"/>
                  </a:moveTo>
                  <a:cubicBezTo>
                    <a:pt x="126308" y="0"/>
                    <a:pt x="119864" y="3604"/>
                    <a:pt x="118079" y="9794"/>
                  </a:cubicBezTo>
                  <a:lnTo>
                    <a:pt x="71474" y="172914"/>
                  </a:lnTo>
                  <a:cubicBezTo>
                    <a:pt x="69690" y="179103"/>
                    <a:pt x="73295" y="185548"/>
                    <a:pt x="79485" y="187332"/>
                  </a:cubicBezTo>
                  <a:cubicBezTo>
                    <a:pt x="85674" y="189117"/>
                    <a:pt x="92119" y="185512"/>
                    <a:pt x="93902" y="179322"/>
                  </a:cubicBezTo>
                  <a:lnTo>
                    <a:pt x="140509" y="16203"/>
                  </a:lnTo>
                  <a:cubicBezTo>
                    <a:pt x="142293" y="10013"/>
                    <a:pt x="138688" y="3568"/>
                    <a:pt x="132498" y="1784"/>
                  </a:cubicBezTo>
                  <a:close/>
                  <a:moveTo>
                    <a:pt x="156019" y="51339"/>
                  </a:moveTo>
                  <a:cubicBezTo>
                    <a:pt x="151468" y="55890"/>
                    <a:pt x="151468" y="63281"/>
                    <a:pt x="156019" y="67833"/>
                  </a:cubicBezTo>
                  <a:lnTo>
                    <a:pt x="182745" y="94557"/>
                  </a:lnTo>
                  <a:lnTo>
                    <a:pt x="156019" y="121283"/>
                  </a:lnTo>
                  <a:cubicBezTo>
                    <a:pt x="151468" y="125835"/>
                    <a:pt x="151468" y="133226"/>
                    <a:pt x="156019" y="137777"/>
                  </a:cubicBezTo>
                  <a:cubicBezTo>
                    <a:pt x="160571" y="142328"/>
                    <a:pt x="167963" y="142328"/>
                    <a:pt x="172513" y="137777"/>
                  </a:cubicBezTo>
                  <a:lnTo>
                    <a:pt x="207468" y="102823"/>
                  </a:lnTo>
                  <a:cubicBezTo>
                    <a:pt x="212019" y="98272"/>
                    <a:pt x="212019" y="90881"/>
                    <a:pt x="207468" y="86329"/>
                  </a:cubicBezTo>
                  <a:lnTo>
                    <a:pt x="172513" y="51375"/>
                  </a:lnTo>
                  <a:cubicBezTo>
                    <a:pt x="167963" y="46824"/>
                    <a:pt x="160571" y="46824"/>
                    <a:pt x="156019" y="51375"/>
                  </a:cubicBezTo>
                  <a:close/>
                  <a:moveTo>
                    <a:pt x="56001" y="51339"/>
                  </a:moveTo>
                  <a:cubicBezTo>
                    <a:pt x="51448" y="46788"/>
                    <a:pt x="44058" y="46788"/>
                    <a:pt x="39506" y="51339"/>
                  </a:cubicBezTo>
                  <a:lnTo>
                    <a:pt x="4552" y="86293"/>
                  </a:lnTo>
                  <a:cubicBezTo>
                    <a:pt x="0" y="90844"/>
                    <a:pt x="0" y="98235"/>
                    <a:pt x="4552" y="102787"/>
                  </a:cubicBezTo>
                  <a:lnTo>
                    <a:pt x="39506" y="137741"/>
                  </a:lnTo>
                  <a:cubicBezTo>
                    <a:pt x="44058" y="142292"/>
                    <a:pt x="51448" y="142292"/>
                    <a:pt x="56001" y="137741"/>
                  </a:cubicBezTo>
                  <a:cubicBezTo>
                    <a:pt x="60551" y="133190"/>
                    <a:pt x="60551" y="125798"/>
                    <a:pt x="56001" y="121246"/>
                  </a:cubicBezTo>
                  <a:lnTo>
                    <a:pt x="29273" y="94557"/>
                  </a:lnTo>
                  <a:lnTo>
                    <a:pt x="55963" y="67833"/>
                  </a:lnTo>
                  <a:cubicBezTo>
                    <a:pt x="60515" y="63281"/>
                    <a:pt x="60515" y="55890"/>
                    <a:pt x="55963" y="51339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6741132" y="1528369"/>
              <a:ext cx="2617660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__getitem__ Override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396301" y="1863929"/>
              <a:ext cx="5350312" cy="22370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Triton overrides Python's </a:t>
              </a:r>
              <a:r>
                <a:rPr lang="en-US" sz="1200" b="0" i="0" u="none" strike="noStrike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__getitem__ </a:t>
              </a: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 method</a:t>
              </a: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247181" y="2390489"/>
              <a:ext cx="5574019" cy="857541"/>
            </a:xfrm>
            <a:custGeom>
              <a:avLst/>
              <a:gdLst/>
              <a:ahLst/>
              <a:cxnLst/>
              <a:rect l="l" t="t" r="r" b="b"/>
              <a:pathLst>
                <a:path w="5574019" h="857541">
                  <a:moveTo>
                    <a:pt x="74572" y="0"/>
                  </a:moveTo>
                  <a:lnTo>
                    <a:pt x="5499447" y="0"/>
                  </a:lnTo>
                  <a:cubicBezTo>
                    <a:pt x="5540632" y="0"/>
                    <a:pt x="5574019" y="33387"/>
                    <a:pt x="5574019" y="74572"/>
                  </a:cubicBezTo>
                  <a:lnTo>
                    <a:pt x="5574019" y="782969"/>
                  </a:lnTo>
                  <a:cubicBezTo>
                    <a:pt x="5574019" y="824154"/>
                    <a:pt x="5540632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19604" y="2576847"/>
              <a:ext cx="186422" cy="186422"/>
            </a:xfrm>
            <a:custGeom>
              <a:avLst/>
              <a:gdLst/>
              <a:ahLst/>
              <a:cxnLst/>
              <a:rect l="l" t="t" r="r" b="b"/>
              <a:pathLst>
                <a:path w="186422" h="186422">
                  <a:moveTo>
                    <a:pt x="163119" y="93210"/>
                  </a:moveTo>
                  <a:cubicBezTo>
                    <a:pt x="163119" y="54628"/>
                    <a:pt x="131794" y="23303"/>
                    <a:pt x="93210" y="23303"/>
                  </a:cubicBezTo>
                  <a:cubicBezTo>
                    <a:pt x="54628" y="23303"/>
                    <a:pt x="23303" y="54628"/>
                    <a:pt x="23303" y="93210"/>
                  </a:cubicBezTo>
                  <a:cubicBezTo>
                    <a:pt x="23303" y="131794"/>
                    <a:pt x="54628" y="163119"/>
                    <a:pt x="93210" y="163119"/>
                  </a:cubicBezTo>
                  <a:cubicBezTo>
                    <a:pt x="131794" y="163119"/>
                    <a:pt x="163119" y="131794"/>
                    <a:pt x="163119" y="93210"/>
                  </a:cubicBezTo>
                  <a:close/>
                  <a:moveTo>
                    <a:pt x="0" y="93210"/>
                  </a:moveTo>
                  <a:cubicBezTo>
                    <a:pt x="0" y="41766"/>
                    <a:pt x="41766" y="0"/>
                    <a:pt x="93210" y="0"/>
                  </a:cubicBezTo>
                  <a:cubicBezTo>
                    <a:pt x="144656" y="0"/>
                    <a:pt x="186422" y="41766"/>
                    <a:pt x="186422" y="93210"/>
                  </a:cubicBezTo>
                  <a:cubicBezTo>
                    <a:pt x="186422" y="144656"/>
                    <a:pt x="144656" y="186422"/>
                    <a:pt x="93210" y="186422"/>
                  </a:cubicBezTo>
                  <a:cubicBezTo>
                    <a:pt x="41766" y="186422"/>
                    <a:pt x="0" y="144656"/>
                    <a:pt x="0" y="93210"/>
                  </a:cubicBezTo>
                  <a:close/>
                  <a:moveTo>
                    <a:pt x="93210" y="122339"/>
                  </a:moveTo>
                  <a:cubicBezTo>
                    <a:pt x="109287" y="122339"/>
                    <a:pt x="122339" y="109287"/>
                    <a:pt x="122339" y="93210"/>
                  </a:cubicBezTo>
                  <a:cubicBezTo>
                    <a:pt x="122339" y="77135"/>
                    <a:pt x="109287" y="64083"/>
                    <a:pt x="93210" y="64083"/>
                  </a:cubicBezTo>
                  <a:cubicBezTo>
                    <a:pt x="77135" y="64083"/>
                    <a:pt x="64083" y="77135"/>
                    <a:pt x="64083" y="93210"/>
                  </a:cubicBezTo>
                  <a:cubicBezTo>
                    <a:pt x="64083" y="109287"/>
                    <a:pt x="77135" y="122339"/>
                    <a:pt x="93210" y="122339"/>
                  </a:cubicBezTo>
                  <a:close/>
                  <a:moveTo>
                    <a:pt x="93210" y="40780"/>
                  </a:moveTo>
                  <a:cubicBezTo>
                    <a:pt x="122149" y="40780"/>
                    <a:pt x="145642" y="64273"/>
                    <a:pt x="145642" y="93210"/>
                  </a:cubicBezTo>
                  <a:cubicBezTo>
                    <a:pt x="145642" y="122149"/>
                    <a:pt x="122149" y="145642"/>
                    <a:pt x="93210" y="145642"/>
                  </a:cubicBezTo>
                  <a:cubicBezTo>
                    <a:pt x="64273" y="145642"/>
                    <a:pt x="40780" y="122149"/>
                    <a:pt x="40780" y="93210"/>
                  </a:cubicBezTo>
                  <a:cubicBezTo>
                    <a:pt x="40780" y="64273"/>
                    <a:pt x="64273" y="40780"/>
                    <a:pt x="93210" y="40780"/>
                  </a:cubicBezTo>
                  <a:close/>
                  <a:moveTo>
                    <a:pt x="81559" y="93210"/>
                  </a:moveTo>
                  <a:cubicBezTo>
                    <a:pt x="81559" y="86780"/>
                    <a:pt x="86780" y="81559"/>
                    <a:pt x="93210" y="81559"/>
                  </a:cubicBezTo>
                  <a:cubicBezTo>
                    <a:pt x="99642" y="81559"/>
                    <a:pt x="104863" y="86780"/>
                    <a:pt x="104863" y="93210"/>
                  </a:cubicBezTo>
                  <a:cubicBezTo>
                    <a:pt x="104863" y="99642"/>
                    <a:pt x="99642" y="104863"/>
                    <a:pt x="93210" y="104863"/>
                  </a:cubicBezTo>
                  <a:cubicBezTo>
                    <a:pt x="86780" y="104863"/>
                    <a:pt x="81559" y="99642"/>
                    <a:pt x="81559" y="9321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6741132" y="2539609"/>
              <a:ext cx="1408688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kernel[grid]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396301" y="2875159"/>
              <a:ext cx="5350312" cy="22370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Specifies the launch grid, determines number of programs</a:t>
              </a:r>
              <a:endParaRPr lang="en-US" sz="11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247181" y="3397086"/>
              <a:ext cx="5574019" cy="857541"/>
            </a:xfrm>
            <a:custGeom>
              <a:avLst/>
              <a:gdLst/>
              <a:ahLst/>
              <a:cxnLst/>
              <a:rect l="l" t="t" r="r" b="b"/>
              <a:pathLst>
                <a:path w="5574019" h="857541">
                  <a:moveTo>
                    <a:pt x="74572" y="0"/>
                  </a:moveTo>
                  <a:lnTo>
                    <a:pt x="5499447" y="0"/>
                  </a:lnTo>
                  <a:cubicBezTo>
                    <a:pt x="5540632" y="0"/>
                    <a:pt x="5574019" y="33387"/>
                    <a:pt x="5574019" y="74572"/>
                  </a:cubicBezTo>
                  <a:lnTo>
                    <a:pt x="5574019" y="782969"/>
                  </a:lnTo>
                  <a:cubicBezTo>
                    <a:pt x="5574019" y="824154"/>
                    <a:pt x="5540632" y="857541"/>
                    <a:pt x="5499447" y="857541"/>
                  </a:cubicBezTo>
                  <a:lnTo>
                    <a:pt x="74572" y="857541"/>
                  </a:lnTo>
                  <a:cubicBezTo>
                    <a:pt x="33414" y="857541"/>
                    <a:pt x="0" y="824127"/>
                    <a:pt x="0" y="782969"/>
                  </a:cubicBezTo>
                  <a:lnTo>
                    <a:pt x="0" y="74572"/>
                  </a:lnTo>
                  <a:cubicBezTo>
                    <a:pt x="0" y="33387"/>
                    <a:pt x="33387" y="0"/>
                    <a:pt x="74572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442906" y="3594404"/>
              <a:ext cx="151468" cy="164502"/>
            </a:xfrm>
            <a:custGeom>
              <a:avLst/>
              <a:gdLst/>
              <a:ahLst/>
              <a:cxnLst/>
              <a:rect l="l" t="t" r="r" b="b"/>
              <a:pathLst>
                <a:path w="151468" h="164502">
                  <a:moveTo>
                    <a:pt x="21554" y="2475"/>
                  </a:moveTo>
                  <a:cubicBezTo>
                    <a:pt x="17041" y="0"/>
                    <a:pt x="11579" y="109"/>
                    <a:pt x="7137" y="2731"/>
                  </a:cubicBezTo>
                  <a:cubicBezTo>
                    <a:pt x="2695" y="5352"/>
                    <a:pt x="0" y="10122"/>
                    <a:pt x="0" y="15257"/>
                  </a:cubicBezTo>
                  <a:lnTo>
                    <a:pt x="0" y="149245"/>
                  </a:lnTo>
                  <a:cubicBezTo>
                    <a:pt x="0" y="154380"/>
                    <a:pt x="2730" y="159150"/>
                    <a:pt x="7137" y="161771"/>
                  </a:cubicBezTo>
                  <a:cubicBezTo>
                    <a:pt x="11543" y="164393"/>
                    <a:pt x="17041" y="164502"/>
                    <a:pt x="21554" y="162027"/>
                  </a:cubicBezTo>
                  <a:lnTo>
                    <a:pt x="143895" y="95030"/>
                  </a:lnTo>
                  <a:cubicBezTo>
                    <a:pt x="148554" y="92481"/>
                    <a:pt x="151468" y="87567"/>
                    <a:pt x="151468" y="82250"/>
                  </a:cubicBezTo>
                  <a:cubicBezTo>
                    <a:pt x="151468" y="76935"/>
                    <a:pt x="148554" y="72021"/>
                    <a:pt x="143895" y="69470"/>
                  </a:cubicBezTo>
                  <a:lnTo>
                    <a:pt x="21554" y="2475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741132" y="3546206"/>
              <a:ext cx="689761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(...) Execute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396301" y="3881756"/>
              <a:ext cx="5350312" cy="22370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Pass arguments to actually execute the kernel</a:t>
              </a:r>
              <a:endParaRPr lang="en-US" sz="11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72801" y="4478243"/>
            <a:ext cx="11446312" cy="2087927"/>
            <a:chOff x="372801" y="4478243"/>
            <a:chExt cx="11446312" cy="2087927"/>
          </a:xfrm>
        </p:grpSpPr>
        <p:sp>
          <p:nvSpPr>
            <p:cNvPr id="21" name="Freeform 21"/>
            <p:cNvSpPr/>
            <p:nvPr/>
          </p:nvSpPr>
          <p:spPr>
            <a:xfrm>
              <a:off x="372801" y="4478243"/>
              <a:ext cx="11446312" cy="2087927"/>
            </a:xfrm>
            <a:custGeom>
              <a:avLst/>
              <a:gdLst/>
              <a:ahLst/>
              <a:cxnLst/>
              <a:rect l="l" t="t" r="r" b="b"/>
              <a:pathLst>
                <a:path w="11446312" h="2087927">
                  <a:moveTo>
                    <a:pt x="111850" y="0"/>
                  </a:moveTo>
                  <a:lnTo>
                    <a:pt x="11334462" y="0"/>
                  </a:lnTo>
                  <a:cubicBezTo>
                    <a:pt x="11396235" y="0"/>
                    <a:pt x="11446312" y="50077"/>
                    <a:pt x="11446312" y="111850"/>
                  </a:cubicBezTo>
                  <a:lnTo>
                    <a:pt x="11446312" y="1976076"/>
                  </a:lnTo>
                  <a:cubicBezTo>
                    <a:pt x="11446312" y="2037850"/>
                    <a:pt x="11396235" y="2087927"/>
                    <a:pt x="11334462" y="2087927"/>
                  </a:cubicBezTo>
                  <a:lnTo>
                    <a:pt x="111850" y="2087927"/>
                  </a:lnTo>
                  <a:cubicBezTo>
                    <a:pt x="50077" y="2087927"/>
                    <a:pt x="0" y="2037850"/>
                    <a:pt x="0" y="1976076"/>
                  </a:cubicBezTo>
                  <a:lnTo>
                    <a:pt x="0" y="111850"/>
                  </a:lnTo>
                  <a:cubicBezTo>
                    <a:pt x="0" y="50118"/>
                    <a:pt x="50118" y="0"/>
                    <a:pt x="111850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596481" y="4701922"/>
              <a:ext cx="11092110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Syntax Breakdown</a:t>
              </a:r>
              <a:endParaRPr lang="en-US" sz="110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4064649" y="5121316"/>
              <a:ext cx="1155724" cy="801522"/>
            </a:xfrm>
            <a:custGeom>
              <a:avLst/>
              <a:gdLst/>
              <a:ahLst/>
              <a:cxnLst/>
              <a:rect l="l" t="t" r="r" b="b"/>
              <a:pathLst>
                <a:path w="1155724" h="801522">
                  <a:moveTo>
                    <a:pt x="74566" y="0"/>
                  </a:moveTo>
                  <a:lnTo>
                    <a:pt x="1081159" y="0"/>
                  </a:lnTo>
                  <a:cubicBezTo>
                    <a:pt x="1122312" y="0"/>
                    <a:pt x="1155724" y="33412"/>
                    <a:pt x="1155724" y="74566"/>
                  </a:cubicBezTo>
                  <a:lnTo>
                    <a:pt x="1155724" y="726956"/>
                  </a:lnTo>
                  <a:cubicBezTo>
                    <a:pt x="1155724" y="768110"/>
                    <a:pt x="1122312" y="801522"/>
                    <a:pt x="1081159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D1D5DC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4223044" y="5279712"/>
              <a:ext cx="904147" cy="18642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0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kernel object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4223044" y="5503318"/>
              <a:ext cx="922789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add_kernel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377458" y="5372886"/>
              <a:ext cx="186422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99A1A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[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613311" y="5121316"/>
              <a:ext cx="848128" cy="801522"/>
            </a:xfrm>
            <a:custGeom>
              <a:avLst/>
              <a:gdLst/>
              <a:ahLst/>
              <a:cxnLst/>
              <a:rect l="l" t="t" r="r" b="b"/>
              <a:pathLst>
                <a:path w="848128" h="801522">
                  <a:moveTo>
                    <a:pt x="74566" y="0"/>
                  </a:moveTo>
                  <a:lnTo>
                    <a:pt x="773562" y="0"/>
                  </a:lnTo>
                  <a:cubicBezTo>
                    <a:pt x="814716" y="0"/>
                    <a:pt x="848128" y="33412"/>
                    <a:pt x="848128" y="74566"/>
                  </a:cubicBezTo>
                  <a:lnTo>
                    <a:pt x="848128" y="726956"/>
                  </a:lnTo>
                  <a:cubicBezTo>
                    <a:pt x="848128" y="768110"/>
                    <a:pt x="814716" y="801522"/>
                    <a:pt x="773562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771706" y="5279712"/>
              <a:ext cx="596550" cy="18642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000" b="0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grid config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5771706" y="5503318"/>
              <a:ext cx="615193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grid</a:t>
              </a:r>
              <a:endParaRPr lang="en-US" sz="1100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6623315" y="5372886"/>
              <a:ext cx="186422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99A1A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]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849893" y="5372886"/>
              <a:ext cx="177101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99A1A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(</a:t>
              </a:r>
              <a:endParaRPr lang="en-US" sz="110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7075892" y="5121316"/>
              <a:ext cx="838806" cy="801522"/>
            </a:xfrm>
            <a:custGeom>
              <a:avLst/>
              <a:gdLst/>
              <a:ahLst/>
              <a:cxnLst/>
              <a:rect l="l" t="t" r="r" b="b"/>
              <a:pathLst>
                <a:path w="838806" h="801522">
                  <a:moveTo>
                    <a:pt x="74566" y="0"/>
                  </a:moveTo>
                  <a:lnTo>
                    <a:pt x="764242" y="0"/>
                  </a:lnTo>
                  <a:cubicBezTo>
                    <a:pt x="805395" y="0"/>
                    <a:pt x="838806" y="33412"/>
                    <a:pt x="838806" y="74566"/>
                  </a:cubicBezTo>
                  <a:lnTo>
                    <a:pt x="838806" y="726956"/>
                  </a:lnTo>
                  <a:cubicBezTo>
                    <a:pt x="838806" y="768110"/>
                    <a:pt x="805395" y="801522"/>
                    <a:pt x="764242" y="801522"/>
                  </a:cubicBezTo>
                  <a:lnTo>
                    <a:pt x="74566" y="801522"/>
                  </a:lnTo>
                  <a:cubicBezTo>
                    <a:pt x="33412" y="801522"/>
                    <a:pt x="0" y="768110"/>
                    <a:pt x="0" y="726956"/>
                  </a:cubicBezTo>
                  <a:lnTo>
                    <a:pt x="0" y="74566"/>
                  </a:lnTo>
                  <a:cubicBezTo>
                    <a:pt x="0" y="33412"/>
                    <a:pt x="33412" y="0"/>
                    <a:pt x="74566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D1D5DC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7234287" y="5279712"/>
              <a:ext cx="587229" cy="18642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000" b="0" i="0" u="none" strike="noStrike">
                  <a:solidFill>
                    <a:srgbClr val="6A728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function args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7234287" y="5503318"/>
              <a:ext cx="605872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3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...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8073070" y="5372886"/>
              <a:ext cx="177101" cy="29827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99A1A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)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554536" y="6081099"/>
              <a:ext cx="11082789" cy="26099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3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Equivalent to:</a:t>
              </a:r>
              <a:r>
                <a:rPr lang="en-US" sz="1200" b="0" i="0" u="none" strike="noStrike">
                  <a:solidFill>
                    <a:srgbClr val="364153"/>
                  </a:solidFill>
                  <a:highlight>
                    <a:srgbClr val="E5E7EB">
                      <a:alpha val="100000"/>
                    </a:srgbClr>
                  </a:highlight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 add_kernel.__getitem__(grid).__call__(...)</a:t>
              </a:r>
              <a:endParaRPr lang="en-US" sz="1100"/>
            </a:p>
          </p:txBody>
        </p:sp>
      </p:grp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9664" y="61885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 vs CUDA Comparison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409421"/>
            <a:ext cx="5562600" cy="4876800"/>
            <a:chOff x="380956" y="1409421"/>
            <a:chExt cx="5562600" cy="4876800"/>
          </a:xfrm>
        </p:grpSpPr>
        <p:sp>
          <p:nvSpPr>
            <p:cNvPr id="4" name="Freeform 4"/>
            <p:cNvSpPr/>
            <p:nvPr/>
          </p:nvSpPr>
          <p:spPr>
            <a:xfrm>
              <a:off x="380956" y="1409421"/>
              <a:ext cx="5562600" cy="4876800"/>
            </a:xfrm>
            <a:custGeom>
              <a:avLst/>
              <a:gdLst/>
              <a:ahLst/>
              <a:cxnLst/>
              <a:rect l="l" t="t" r="r" b="b"/>
              <a:pathLst>
                <a:path w="5562600" h="4876800">
                  <a:moveTo>
                    <a:pt x="114311" y="0"/>
                  </a:moveTo>
                  <a:lnTo>
                    <a:pt x="5448289" y="0"/>
                  </a:lnTo>
                  <a:cubicBezTo>
                    <a:pt x="5511422" y="0"/>
                    <a:pt x="5562600" y="51178"/>
                    <a:pt x="5562600" y="114311"/>
                  </a:cubicBezTo>
                  <a:lnTo>
                    <a:pt x="5562600" y="4762489"/>
                  </a:lnTo>
                  <a:cubicBezTo>
                    <a:pt x="5562600" y="4825622"/>
                    <a:pt x="5511422" y="4876800"/>
                    <a:pt x="5448289" y="4876800"/>
                  </a:cubicBezTo>
                  <a:lnTo>
                    <a:pt x="114311" y="4876800"/>
                  </a:lnTo>
                  <a:cubicBezTo>
                    <a:pt x="51178" y="4876800"/>
                    <a:pt x="0" y="4825622"/>
                    <a:pt x="0" y="4762489"/>
                  </a:cubicBezTo>
                  <a:lnTo>
                    <a:pt x="0" y="114311"/>
                  </a:lnTo>
                  <a:cubicBezTo>
                    <a:pt x="0" y="51222"/>
                    <a:pt x="51222" y="0"/>
                    <a:pt x="11431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609529" y="163799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3" y="0"/>
                  </a:moveTo>
                  <a:lnTo>
                    <a:pt x="380997" y="0"/>
                  </a:lnTo>
                  <a:cubicBezTo>
                    <a:pt x="423055" y="0"/>
                    <a:pt x="457200" y="34145"/>
                    <a:pt x="457200" y="76203"/>
                  </a:cubicBezTo>
                  <a:lnTo>
                    <a:pt x="457200" y="380997"/>
                  </a:lnTo>
                  <a:cubicBezTo>
                    <a:pt x="457200" y="423055"/>
                    <a:pt x="423055" y="457200"/>
                    <a:pt x="380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364153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Freeform 6"/>
            <p:cNvSpPr/>
            <p:nvPr/>
          </p:nvSpPr>
          <p:spPr>
            <a:xfrm>
              <a:off x="723773" y="175224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78581" y="10716"/>
                  </a:moveTo>
                  <a:cubicBezTo>
                    <a:pt x="78581" y="4776"/>
                    <a:pt x="73804" y="0"/>
                    <a:pt x="67866" y="0"/>
                  </a:cubicBezTo>
                  <a:cubicBezTo>
                    <a:pt x="61926" y="0"/>
                    <a:pt x="57150" y="4776"/>
                    <a:pt x="57150" y="10716"/>
                  </a:cubicBezTo>
                  <a:lnTo>
                    <a:pt x="57150" y="28575"/>
                  </a:lnTo>
                  <a:cubicBezTo>
                    <a:pt x="41389" y="28575"/>
                    <a:pt x="28575" y="41389"/>
                    <a:pt x="28575" y="57150"/>
                  </a:cubicBezTo>
                  <a:lnTo>
                    <a:pt x="10716" y="57150"/>
                  </a:lnTo>
                  <a:cubicBezTo>
                    <a:pt x="4776" y="57150"/>
                    <a:pt x="0" y="61926"/>
                    <a:pt x="0" y="67866"/>
                  </a:cubicBezTo>
                  <a:cubicBezTo>
                    <a:pt x="0" y="73804"/>
                    <a:pt x="4776" y="78581"/>
                    <a:pt x="10716" y="78581"/>
                  </a:cubicBezTo>
                  <a:lnTo>
                    <a:pt x="28575" y="78581"/>
                  </a:lnTo>
                  <a:lnTo>
                    <a:pt x="28575" y="103584"/>
                  </a:lnTo>
                  <a:lnTo>
                    <a:pt x="10716" y="103584"/>
                  </a:lnTo>
                  <a:cubicBezTo>
                    <a:pt x="4776" y="103584"/>
                    <a:pt x="0" y="108361"/>
                    <a:pt x="0" y="114300"/>
                  </a:cubicBezTo>
                  <a:cubicBezTo>
                    <a:pt x="0" y="120239"/>
                    <a:pt x="4776" y="125016"/>
                    <a:pt x="10716" y="125016"/>
                  </a:cubicBezTo>
                  <a:lnTo>
                    <a:pt x="28575" y="125016"/>
                  </a:lnTo>
                  <a:lnTo>
                    <a:pt x="28575" y="150019"/>
                  </a:lnTo>
                  <a:lnTo>
                    <a:pt x="10716" y="150019"/>
                  </a:lnTo>
                  <a:cubicBezTo>
                    <a:pt x="4776" y="150019"/>
                    <a:pt x="0" y="154796"/>
                    <a:pt x="0" y="160734"/>
                  </a:cubicBezTo>
                  <a:cubicBezTo>
                    <a:pt x="0" y="166674"/>
                    <a:pt x="4776" y="171450"/>
                    <a:pt x="10716" y="171450"/>
                  </a:cubicBezTo>
                  <a:lnTo>
                    <a:pt x="28575" y="171450"/>
                  </a:lnTo>
                  <a:cubicBezTo>
                    <a:pt x="28575" y="187211"/>
                    <a:pt x="41389" y="200025"/>
                    <a:pt x="57150" y="200025"/>
                  </a:cubicBezTo>
                  <a:lnTo>
                    <a:pt x="57150" y="217884"/>
                  </a:lnTo>
                  <a:cubicBezTo>
                    <a:pt x="57150" y="223824"/>
                    <a:pt x="61926" y="228600"/>
                    <a:pt x="67866" y="228600"/>
                  </a:cubicBezTo>
                  <a:cubicBezTo>
                    <a:pt x="73804" y="228600"/>
                    <a:pt x="78581" y="223824"/>
                    <a:pt x="78581" y="217884"/>
                  </a:cubicBezTo>
                  <a:lnTo>
                    <a:pt x="78581" y="200025"/>
                  </a:lnTo>
                  <a:lnTo>
                    <a:pt x="103584" y="200025"/>
                  </a:lnTo>
                  <a:lnTo>
                    <a:pt x="103584" y="217884"/>
                  </a:lnTo>
                  <a:cubicBezTo>
                    <a:pt x="103584" y="223824"/>
                    <a:pt x="108361" y="228600"/>
                    <a:pt x="114300" y="228600"/>
                  </a:cubicBezTo>
                  <a:cubicBezTo>
                    <a:pt x="120239" y="228600"/>
                    <a:pt x="125016" y="223824"/>
                    <a:pt x="125016" y="217884"/>
                  </a:cubicBezTo>
                  <a:lnTo>
                    <a:pt x="125016" y="200025"/>
                  </a:lnTo>
                  <a:lnTo>
                    <a:pt x="150019" y="200025"/>
                  </a:lnTo>
                  <a:lnTo>
                    <a:pt x="150019" y="217884"/>
                  </a:lnTo>
                  <a:cubicBezTo>
                    <a:pt x="150019" y="223824"/>
                    <a:pt x="154796" y="228600"/>
                    <a:pt x="160734" y="228600"/>
                  </a:cubicBezTo>
                  <a:cubicBezTo>
                    <a:pt x="166674" y="228600"/>
                    <a:pt x="171450" y="223824"/>
                    <a:pt x="171450" y="217884"/>
                  </a:cubicBezTo>
                  <a:lnTo>
                    <a:pt x="171450" y="200025"/>
                  </a:lnTo>
                  <a:cubicBezTo>
                    <a:pt x="187211" y="200025"/>
                    <a:pt x="200025" y="187211"/>
                    <a:pt x="200025" y="171450"/>
                  </a:cubicBezTo>
                  <a:lnTo>
                    <a:pt x="217884" y="171450"/>
                  </a:lnTo>
                  <a:cubicBezTo>
                    <a:pt x="223824" y="171450"/>
                    <a:pt x="228600" y="166674"/>
                    <a:pt x="228600" y="160734"/>
                  </a:cubicBezTo>
                  <a:cubicBezTo>
                    <a:pt x="228600" y="154796"/>
                    <a:pt x="223824" y="150019"/>
                    <a:pt x="217884" y="150019"/>
                  </a:cubicBezTo>
                  <a:lnTo>
                    <a:pt x="200025" y="150019"/>
                  </a:lnTo>
                  <a:lnTo>
                    <a:pt x="200025" y="125016"/>
                  </a:lnTo>
                  <a:lnTo>
                    <a:pt x="217884" y="125016"/>
                  </a:lnTo>
                  <a:cubicBezTo>
                    <a:pt x="223824" y="125016"/>
                    <a:pt x="228600" y="120239"/>
                    <a:pt x="228600" y="114300"/>
                  </a:cubicBezTo>
                  <a:cubicBezTo>
                    <a:pt x="228600" y="108361"/>
                    <a:pt x="223824" y="103584"/>
                    <a:pt x="217884" y="103584"/>
                  </a:cubicBezTo>
                  <a:lnTo>
                    <a:pt x="200025" y="103584"/>
                  </a:lnTo>
                  <a:lnTo>
                    <a:pt x="200025" y="78581"/>
                  </a:lnTo>
                  <a:lnTo>
                    <a:pt x="217884" y="78581"/>
                  </a:lnTo>
                  <a:cubicBezTo>
                    <a:pt x="223824" y="78581"/>
                    <a:pt x="228600" y="73804"/>
                    <a:pt x="228600" y="67866"/>
                  </a:cubicBezTo>
                  <a:cubicBezTo>
                    <a:pt x="228600" y="61926"/>
                    <a:pt x="223824" y="57150"/>
                    <a:pt x="217884" y="57150"/>
                  </a:cubicBezTo>
                  <a:lnTo>
                    <a:pt x="200025" y="57150"/>
                  </a:lnTo>
                  <a:cubicBezTo>
                    <a:pt x="200025" y="41389"/>
                    <a:pt x="187211" y="28575"/>
                    <a:pt x="171450" y="28575"/>
                  </a:cubicBezTo>
                  <a:lnTo>
                    <a:pt x="171450" y="10716"/>
                  </a:lnTo>
                  <a:cubicBezTo>
                    <a:pt x="171450" y="4776"/>
                    <a:pt x="166674" y="0"/>
                    <a:pt x="160734" y="0"/>
                  </a:cubicBezTo>
                  <a:cubicBezTo>
                    <a:pt x="154796" y="0"/>
                    <a:pt x="150019" y="4776"/>
                    <a:pt x="150019" y="10716"/>
                  </a:cubicBezTo>
                  <a:lnTo>
                    <a:pt x="150019" y="28575"/>
                  </a:lnTo>
                  <a:lnTo>
                    <a:pt x="125016" y="28575"/>
                  </a:lnTo>
                  <a:lnTo>
                    <a:pt x="125016" y="10716"/>
                  </a:lnTo>
                  <a:cubicBezTo>
                    <a:pt x="125016" y="4776"/>
                    <a:pt x="120239" y="0"/>
                    <a:pt x="114300" y="0"/>
                  </a:cubicBezTo>
                  <a:cubicBezTo>
                    <a:pt x="108361" y="0"/>
                    <a:pt x="103584" y="4776"/>
                    <a:pt x="103584" y="10716"/>
                  </a:cubicBezTo>
                  <a:lnTo>
                    <a:pt x="103584" y="28575"/>
                  </a:lnTo>
                  <a:lnTo>
                    <a:pt x="78581" y="28575"/>
                  </a:lnTo>
                  <a:lnTo>
                    <a:pt x="78581" y="10716"/>
                  </a:lnTo>
                  <a:close/>
                  <a:moveTo>
                    <a:pt x="71438" y="57150"/>
                  </a:moveTo>
                  <a:lnTo>
                    <a:pt x="157163" y="57150"/>
                  </a:lnTo>
                  <a:cubicBezTo>
                    <a:pt x="165064" y="57150"/>
                    <a:pt x="171450" y="63536"/>
                    <a:pt x="171450" y="71437"/>
                  </a:cubicBezTo>
                  <a:lnTo>
                    <a:pt x="171450" y="157162"/>
                  </a:lnTo>
                  <a:cubicBezTo>
                    <a:pt x="171450" y="165064"/>
                    <a:pt x="165064" y="171450"/>
                    <a:pt x="157163" y="171450"/>
                  </a:cubicBezTo>
                  <a:lnTo>
                    <a:pt x="71438" y="171450"/>
                  </a:lnTo>
                  <a:cubicBezTo>
                    <a:pt x="63536" y="171450"/>
                    <a:pt x="57150" y="165064"/>
                    <a:pt x="57150" y="157162"/>
                  </a:cubicBezTo>
                  <a:lnTo>
                    <a:pt x="57150" y="71437"/>
                  </a:lnTo>
                  <a:cubicBezTo>
                    <a:pt x="57150" y="63536"/>
                    <a:pt x="63536" y="57150"/>
                    <a:pt x="71438" y="57150"/>
                  </a:cubicBezTo>
                  <a:close/>
                  <a:moveTo>
                    <a:pt x="78581" y="78581"/>
                  </a:moveTo>
                  <a:lnTo>
                    <a:pt x="78581" y="150019"/>
                  </a:lnTo>
                  <a:lnTo>
                    <a:pt x="150019" y="150019"/>
                  </a:lnTo>
                  <a:lnTo>
                    <a:pt x="150019" y="78581"/>
                  </a:lnTo>
                  <a:lnTo>
                    <a:pt x="78581" y="785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1180925" y="1714184"/>
              <a:ext cx="75247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CUDA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28484" y="2247519"/>
              <a:ext cx="5086255" cy="2533650"/>
            </a:xfrm>
            <a:custGeom>
              <a:avLst/>
              <a:gdLst/>
              <a:ahLst/>
              <a:cxnLst/>
              <a:rect l="l" t="t" r="r" b="b"/>
              <a:pathLst>
                <a:path w="5086255" h="2533650">
                  <a:moveTo>
                    <a:pt x="37910" y="0"/>
                  </a:moveTo>
                  <a:lnTo>
                    <a:pt x="5010043" y="0"/>
                  </a:lnTo>
                  <a:cubicBezTo>
                    <a:pt x="5052134" y="0"/>
                    <a:pt x="5086255" y="34121"/>
                    <a:pt x="5086255" y="76211"/>
                  </a:cubicBezTo>
                  <a:lnTo>
                    <a:pt x="5086255" y="2457439"/>
                  </a:lnTo>
                  <a:cubicBezTo>
                    <a:pt x="5086255" y="2499529"/>
                    <a:pt x="5052134" y="2533650"/>
                    <a:pt x="5010043" y="2533650"/>
                  </a:cubicBezTo>
                  <a:lnTo>
                    <a:pt x="37910" y="2533650"/>
                  </a:lnTo>
                  <a:cubicBezTo>
                    <a:pt x="16974" y="2533650"/>
                    <a:pt x="0" y="2516676"/>
                    <a:pt x="0" y="249574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Freeform 9"/>
            <p:cNvSpPr/>
            <p:nvPr/>
          </p:nvSpPr>
          <p:spPr>
            <a:xfrm>
              <a:off x="628484" y="2247519"/>
              <a:ext cx="37909" cy="2533650"/>
            </a:xfrm>
            <a:custGeom>
              <a:avLst/>
              <a:gdLst/>
              <a:ahLst/>
              <a:cxnLst/>
              <a:rect l="l" t="t" r="r" b="b"/>
              <a:pathLst>
                <a:path w="37909" h="2533650">
                  <a:moveTo>
                    <a:pt x="37910" y="0"/>
                  </a:moveTo>
                  <a:lnTo>
                    <a:pt x="37910" y="0"/>
                  </a:lnTo>
                  <a:lnTo>
                    <a:pt x="37910" y="2533650"/>
                  </a:lnTo>
                  <a:lnTo>
                    <a:pt x="37910" y="2533650"/>
                  </a:lnTo>
                  <a:cubicBezTo>
                    <a:pt x="16974" y="2533650"/>
                    <a:pt x="0" y="2516676"/>
                    <a:pt x="0" y="249574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99822" y="2399909"/>
              <a:ext cx="4838700" cy="22288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// Compute global thread index</a:t>
              </a:r>
              <a:r>
                <a:rPr lang="en-US" sz="1200" b="1" i="0" u="none" strike="noStrike">
                  <a:solidFill>
                    <a:srgbClr val="0066CC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int</a:t>
              </a: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idx = blockIdx.x * blockDim.x 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         + threadIdx.x;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// Bounds check</a:t>
              </a:r>
              <a:r>
                <a:rPr lang="en-US" sz="1200" b="1" i="0" u="none" strike="noStrike">
                  <a:solidFill>
                    <a:srgbClr val="0066CC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if</a:t>
              </a: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(idx &lt; n_elements) {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   </a:t>
              </a:r>
              <a:r>
                <a:rPr lang="en-US" sz="1200" b="1" i="0" u="none" strike="noStrike">
                  <a:solidFill>
                    <a:srgbClr val="0066CC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float</a:t>
              </a: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x = input[idx];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   output[idx] = x * </a:t>
              </a:r>
              <a:r>
                <a:rPr lang="en-US" sz="1200" b="0" i="0" u="none" strike="noStrike">
                  <a:solidFill>
                    <a:srgbClr val="0099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2.0</a:t>
              </a: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;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}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09529" y="4933094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 Requires manual management of thread, block, grid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09529" y="5237857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 Each thread handles one element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09529" y="5542620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 Requires explicit bounds checking</a:t>
              </a:r>
              <a:endParaRPr lang="en-US" sz="11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57815" y="1418899"/>
            <a:ext cx="5543455" cy="4857655"/>
            <a:chOff x="6257815" y="1418899"/>
            <a:chExt cx="5543455" cy="4857655"/>
          </a:xfrm>
        </p:grpSpPr>
        <p:sp>
          <p:nvSpPr>
            <p:cNvPr id="15" name="Freeform 15"/>
            <p:cNvSpPr/>
            <p:nvPr/>
          </p:nvSpPr>
          <p:spPr>
            <a:xfrm>
              <a:off x="6257815" y="1418899"/>
              <a:ext cx="5543455" cy="4857655"/>
            </a:xfrm>
            <a:custGeom>
              <a:avLst/>
              <a:gdLst/>
              <a:ahLst/>
              <a:cxnLst/>
              <a:rect l="l" t="t" r="r" b="b"/>
              <a:pathLst>
                <a:path w="5543455" h="4857655">
                  <a:moveTo>
                    <a:pt x="114301" y="0"/>
                  </a:moveTo>
                  <a:lnTo>
                    <a:pt x="5429155" y="0"/>
                  </a:lnTo>
                  <a:cubicBezTo>
                    <a:pt x="5492281" y="0"/>
                    <a:pt x="5543455" y="51173"/>
                    <a:pt x="5543455" y="114301"/>
                  </a:cubicBezTo>
                  <a:lnTo>
                    <a:pt x="5543455" y="4743355"/>
                  </a:lnTo>
                  <a:cubicBezTo>
                    <a:pt x="5543455" y="4806481"/>
                    <a:pt x="5492281" y="4857655"/>
                    <a:pt x="5429155" y="4857655"/>
                  </a:cubicBezTo>
                  <a:lnTo>
                    <a:pt x="114301" y="4857655"/>
                  </a:lnTo>
                  <a:cubicBezTo>
                    <a:pt x="51173" y="4857655"/>
                    <a:pt x="0" y="4806481"/>
                    <a:pt x="0" y="4743355"/>
                  </a:cubicBezTo>
                  <a:lnTo>
                    <a:pt x="0" y="114301"/>
                  </a:lnTo>
                  <a:cubicBezTo>
                    <a:pt x="0" y="51217"/>
                    <a:pt x="51217" y="0"/>
                    <a:pt x="11430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95866" y="165695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76203" y="0"/>
                  </a:moveTo>
                  <a:lnTo>
                    <a:pt x="380997" y="0"/>
                  </a:lnTo>
                  <a:cubicBezTo>
                    <a:pt x="423055" y="0"/>
                    <a:pt x="457200" y="34145"/>
                    <a:pt x="457200" y="76203"/>
                  </a:cubicBezTo>
                  <a:lnTo>
                    <a:pt x="457200" y="380997"/>
                  </a:lnTo>
                  <a:cubicBezTo>
                    <a:pt x="457200" y="423055"/>
                    <a:pt x="423055" y="457200"/>
                    <a:pt x="380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23190" y="1784776"/>
              <a:ext cx="202570" cy="202348"/>
            </a:xfrm>
            <a:custGeom>
              <a:avLst/>
              <a:gdLst/>
              <a:ahLst/>
              <a:cxnLst/>
              <a:rect l="l" t="t" r="r" b="b"/>
              <a:pathLst>
                <a:path w="202570" h="202348">
                  <a:moveTo>
                    <a:pt x="197571" y="75948"/>
                  </a:moveTo>
                  <a:cubicBezTo>
                    <a:pt x="194133" y="62152"/>
                    <a:pt x="187614" y="51749"/>
                    <a:pt x="173729" y="51749"/>
                  </a:cubicBezTo>
                  <a:lnTo>
                    <a:pt x="155824" y="51749"/>
                  </a:lnTo>
                  <a:lnTo>
                    <a:pt x="155824" y="72912"/>
                  </a:lnTo>
                  <a:cubicBezTo>
                    <a:pt x="155824" y="89342"/>
                    <a:pt x="141894" y="103184"/>
                    <a:pt x="125998" y="103184"/>
                  </a:cubicBezTo>
                  <a:lnTo>
                    <a:pt x="78315" y="103184"/>
                  </a:lnTo>
                  <a:cubicBezTo>
                    <a:pt x="65278" y="103184"/>
                    <a:pt x="54473" y="114346"/>
                    <a:pt x="54473" y="127428"/>
                  </a:cubicBezTo>
                  <a:lnTo>
                    <a:pt x="54473" y="172881"/>
                  </a:lnTo>
                  <a:cubicBezTo>
                    <a:pt x="54473" y="185828"/>
                    <a:pt x="65724" y="193418"/>
                    <a:pt x="78315" y="197124"/>
                  </a:cubicBezTo>
                  <a:cubicBezTo>
                    <a:pt x="93406" y="201544"/>
                    <a:pt x="107917" y="202348"/>
                    <a:pt x="125998" y="197124"/>
                  </a:cubicBezTo>
                  <a:cubicBezTo>
                    <a:pt x="138010" y="193641"/>
                    <a:pt x="149841" y="186632"/>
                    <a:pt x="149841" y="172881"/>
                  </a:cubicBezTo>
                  <a:lnTo>
                    <a:pt x="149841" y="154708"/>
                  </a:lnTo>
                  <a:lnTo>
                    <a:pt x="102202" y="154708"/>
                  </a:lnTo>
                  <a:lnTo>
                    <a:pt x="102202" y="148636"/>
                  </a:lnTo>
                  <a:lnTo>
                    <a:pt x="173729" y="148636"/>
                  </a:lnTo>
                  <a:cubicBezTo>
                    <a:pt x="187614" y="148636"/>
                    <a:pt x="192748" y="138947"/>
                    <a:pt x="197571" y="124436"/>
                  </a:cubicBezTo>
                  <a:cubicBezTo>
                    <a:pt x="202571" y="109480"/>
                    <a:pt x="202348" y="95102"/>
                    <a:pt x="197571" y="75948"/>
                  </a:cubicBezTo>
                  <a:close/>
                  <a:moveTo>
                    <a:pt x="128991" y="184980"/>
                  </a:moveTo>
                  <a:cubicBezTo>
                    <a:pt x="125593" y="185219"/>
                    <a:pt x="122346" y="183540"/>
                    <a:pt x="120574" y="180631"/>
                  </a:cubicBezTo>
                  <a:cubicBezTo>
                    <a:pt x="118801" y="177720"/>
                    <a:pt x="118801" y="174065"/>
                    <a:pt x="120574" y="171157"/>
                  </a:cubicBezTo>
                  <a:cubicBezTo>
                    <a:pt x="122346" y="168248"/>
                    <a:pt x="125593" y="166569"/>
                    <a:pt x="128991" y="166807"/>
                  </a:cubicBezTo>
                  <a:cubicBezTo>
                    <a:pt x="132389" y="166569"/>
                    <a:pt x="135637" y="168248"/>
                    <a:pt x="137408" y="171157"/>
                  </a:cubicBezTo>
                  <a:cubicBezTo>
                    <a:pt x="139179" y="174065"/>
                    <a:pt x="139179" y="177720"/>
                    <a:pt x="137408" y="180631"/>
                  </a:cubicBezTo>
                  <a:cubicBezTo>
                    <a:pt x="135637" y="183540"/>
                    <a:pt x="132389" y="185219"/>
                    <a:pt x="128991" y="184980"/>
                  </a:cubicBezTo>
                  <a:close/>
                  <a:moveTo>
                    <a:pt x="76127" y="97201"/>
                  </a:moveTo>
                  <a:lnTo>
                    <a:pt x="123812" y="97201"/>
                  </a:lnTo>
                  <a:cubicBezTo>
                    <a:pt x="137072" y="97201"/>
                    <a:pt x="147655" y="86261"/>
                    <a:pt x="147655" y="72957"/>
                  </a:cubicBezTo>
                  <a:lnTo>
                    <a:pt x="147655" y="27460"/>
                  </a:lnTo>
                  <a:cubicBezTo>
                    <a:pt x="147655" y="14512"/>
                    <a:pt x="136760" y="4823"/>
                    <a:pt x="123812" y="2634"/>
                  </a:cubicBezTo>
                  <a:cubicBezTo>
                    <a:pt x="107827" y="0"/>
                    <a:pt x="90459" y="135"/>
                    <a:pt x="76127" y="2680"/>
                  </a:cubicBezTo>
                  <a:cubicBezTo>
                    <a:pt x="55947" y="6251"/>
                    <a:pt x="52285" y="13708"/>
                    <a:pt x="52285" y="27505"/>
                  </a:cubicBezTo>
                  <a:lnTo>
                    <a:pt x="52285" y="45676"/>
                  </a:lnTo>
                  <a:lnTo>
                    <a:pt x="100014" y="45676"/>
                  </a:lnTo>
                  <a:lnTo>
                    <a:pt x="100014" y="51749"/>
                  </a:lnTo>
                  <a:lnTo>
                    <a:pt x="34381" y="51749"/>
                  </a:lnTo>
                  <a:cubicBezTo>
                    <a:pt x="20494" y="51749"/>
                    <a:pt x="8351" y="60098"/>
                    <a:pt x="4556" y="75948"/>
                  </a:cubicBezTo>
                  <a:cubicBezTo>
                    <a:pt x="180" y="94120"/>
                    <a:pt x="0" y="105461"/>
                    <a:pt x="4556" y="124436"/>
                  </a:cubicBezTo>
                  <a:cubicBezTo>
                    <a:pt x="7949" y="138545"/>
                    <a:pt x="16030" y="148636"/>
                    <a:pt x="29917" y="148636"/>
                  </a:cubicBezTo>
                  <a:lnTo>
                    <a:pt x="46302" y="148636"/>
                  </a:lnTo>
                  <a:lnTo>
                    <a:pt x="46302" y="126847"/>
                  </a:lnTo>
                  <a:cubicBezTo>
                    <a:pt x="46302" y="111086"/>
                    <a:pt x="59920" y="97201"/>
                    <a:pt x="76127" y="97201"/>
                  </a:cubicBezTo>
                  <a:close/>
                  <a:moveTo>
                    <a:pt x="73180" y="15315"/>
                  </a:moveTo>
                  <a:cubicBezTo>
                    <a:pt x="78207" y="15315"/>
                    <a:pt x="82289" y="19397"/>
                    <a:pt x="82289" y="24424"/>
                  </a:cubicBezTo>
                  <a:cubicBezTo>
                    <a:pt x="82289" y="29451"/>
                    <a:pt x="78207" y="33532"/>
                    <a:pt x="73180" y="33532"/>
                  </a:cubicBezTo>
                  <a:cubicBezTo>
                    <a:pt x="68153" y="33532"/>
                    <a:pt x="64072" y="29451"/>
                    <a:pt x="64072" y="24424"/>
                  </a:cubicBezTo>
                  <a:cubicBezTo>
                    <a:pt x="64072" y="19397"/>
                    <a:pt x="68153" y="15315"/>
                    <a:pt x="73180" y="1531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067263" y="1733141"/>
              <a:ext cx="733425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Triton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514822" y="2266476"/>
              <a:ext cx="5048155" cy="2781300"/>
            </a:xfrm>
            <a:custGeom>
              <a:avLst/>
              <a:gdLst/>
              <a:ahLst/>
              <a:cxnLst/>
              <a:rect l="l" t="t" r="r" b="b"/>
              <a:pathLst>
                <a:path w="5048155" h="2781300">
                  <a:moveTo>
                    <a:pt x="37909" y="0"/>
                  </a:moveTo>
                  <a:lnTo>
                    <a:pt x="4971948" y="0"/>
                  </a:lnTo>
                  <a:cubicBezTo>
                    <a:pt x="5014036" y="0"/>
                    <a:pt x="5048155" y="34119"/>
                    <a:pt x="5048155" y="76208"/>
                  </a:cubicBezTo>
                  <a:lnTo>
                    <a:pt x="5048155" y="2705092"/>
                  </a:lnTo>
                  <a:cubicBezTo>
                    <a:pt x="5048155" y="2747181"/>
                    <a:pt x="5014036" y="2781300"/>
                    <a:pt x="4971948" y="2781300"/>
                  </a:cubicBezTo>
                  <a:lnTo>
                    <a:pt x="37909" y="2781300"/>
                  </a:lnTo>
                  <a:cubicBezTo>
                    <a:pt x="16974" y="2781300"/>
                    <a:pt x="0" y="2764326"/>
                    <a:pt x="0" y="27433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514822" y="2266476"/>
              <a:ext cx="37910" cy="2781300"/>
            </a:xfrm>
            <a:custGeom>
              <a:avLst/>
              <a:gdLst/>
              <a:ahLst/>
              <a:cxnLst/>
              <a:rect l="l" t="t" r="r" b="b"/>
              <a:pathLst>
                <a:path w="37910" h="2781300">
                  <a:moveTo>
                    <a:pt x="37910" y="0"/>
                  </a:moveTo>
                  <a:lnTo>
                    <a:pt x="37910" y="0"/>
                  </a:lnTo>
                  <a:lnTo>
                    <a:pt x="37910" y="2781300"/>
                  </a:lnTo>
                  <a:lnTo>
                    <a:pt x="37910" y="2781300"/>
                  </a:lnTo>
                  <a:cubicBezTo>
                    <a:pt x="16974" y="2781300"/>
                    <a:pt x="0" y="2764326"/>
                    <a:pt x="0" y="27433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686159" y="2418857"/>
              <a:ext cx="4800600" cy="2476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0000"/>
                </a:lnSpc>
                <a:defRPr/>
              </a:pPr>
              <a:r>
                <a:rPr lang="en-US" sz="1200" b="0" i="0" u="none" strike="noStrike">
                  <a:solidFill>
                    <a:srgbClr val="66666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# Get program ID</a:t>
              </a:r>
              <a:endParaRPr lang="en-US" sz="1100"/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pid = tl.program_id(</a:t>
              </a:r>
              <a:r>
                <a:rPr lang="en-US" sz="1200" b="0" i="0" u="none" strike="noStrike">
                  <a:solidFill>
                    <a:srgbClr val="0099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0</a:t>
              </a: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)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# Compute offsets (vectorized)</a:t>
              </a:r>
              <a:endPara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offsets = pid * BLOCK_SIZE \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          + tl.arange(</a:t>
              </a:r>
              <a:r>
                <a:rPr lang="en-US" sz="1200" b="0" i="0" u="none" strike="noStrike">
                  <a:solidFill>
                    <a:srgbClr val="0099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0</a:t>
              </a: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, BLOCK_SIZE)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666666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# Memory operations with mask</a:t>
              </a:r>
              <a:endParaRPr lang="en-US" sz="1200" b="0" i="0" u="none" strike="noStrike">
                <a:solidFill>
                  <a:srgbClr val="66666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mask = offsets &lt; n_elements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  <a:p>
              <a:pPr indent="0" algn="l">
                <a:lnSpc>
                  <a:spcPct val="100000"/>
                </a:lnSpc>
              </a:pPr>
              <a:r>
                <a:rPr lang="en-US" sz="1200" b="0" i="0" u="none" strike="noStrike">
                  <a:solidFill>
                    <a:srgbClr val="1E2939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x = tl.load(ptr + offsets, mask=mask)</a:t>
              </a:r>
              <a:endParaRPr lang="en-US" sz="1200" b="0" i="0" u="none" strike="noStrike">
                <a:solidFill>
                  <a:srgbClr val="1E2939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endParaR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495866" y="5199655"/>
              <a:ext cx="51435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 Program-level abstraction, auto-managed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495866" y="5504418"/>
              <a:ext cx="51435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 Vectorized operations, processes multiple elements at once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6495866" y="5809180"/>
              <a:ext cx="51435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• mask mechanism simplifies bounds handling</a:t>
              </a:r>
              <a:endParaRPr lang="en-US" sz="1100"/>
            </a:p>
          </p:txBody>
        </p:sp>
      </p:grp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1373" y="61892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Official Benchmark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638374"/>
            <a:ext cx="5715044" cy="2781300"/>
            <a:chOff x="380956" y="1638374"/>
            <a:chExt cx="5715044" cy="2781300"/>
          </a:xfrm>
        </p:grpSpPr>
        <p:sp>
          <p:nvSpPr>
            <p:cNvPr id="4" name="Freeform 4"/>
            <p:cNvSpPr/>
            <p:nvPr/>
          </p:nvSpPr>
          <p:spPr>
            <a:xfrm>
              <a:off x="380956" y="1638374"/>
              <a:ext cx="5562600" cy="2781300"/>
            </a:xfrm>
            <a:custGeom>
              <a:avLst/>
              <a:gdLst/>
              <a:ahLst/>
              <a:cxnLst/>
              <a:rect l="l" t="t" r="r" b="b"/>
              <a:pathLst>
                <a:path w="5562600" h="2781300">
                  <a:moveTo>
                    <a:pt x="114311" y="0"/>
                  </a:moveTo>
                  <a:lnTo>
                    <a:pt x="5448289" y="0"/>
                  </a:lnTo>
                  <a:cubicBezTo>
                    <a:pt x="5511422" y="0"/>
                    <a:pt x="5562600" y="51178"/>
                    <a:pt x="5562600" y="114311"/>
                  </a:cubicBezTo>
                  <a:lnTo>
                    <a:pt x="5562600" y="2666989"/>
                  </a:lnTo>
                  <a:cubicBezTo>
                    <a:pt x="5562600" y="2730122"/>
                    <a:pt x="5511422" y="2781300"/>
                    <a:pt x="5448289" y="2781300"/>
                  </a:cubicBezTo>
                  <a:lnTo>
                    <a:pt x="114311" y="2781300"/>
                  </a:lnTo>
                  <a:cubicBezTo>
                    <a:pt x="51178" y="2781300"/>
                    <a:pt x="0" y="2730122"/>
                    <a:pt x="0" y="2666989"/>
                  </a:cubicBezTo>
                  <a:lnTo>
                    <a:pt x="0" y="114311"/>
                  </a:lnTo>
                  <a:cubicBezTo>
                    <a:pt x="0" y="51178"/>
                    <a:pt x="51178" y="0"/>
                    <a:pt x="114311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609529" y="1866947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Triton Performance Advantages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1094" y="2335075"/>
              <a:ext cx="224626" cy="224626"/>
            </a:xfrm>
            <a:custGeom>
              <a:avLst/>
              <a:gdLst/>
              <a:ahLst/>
              <a:cxnLst/>
              <a:rect l="l" t="t" r="r" b="b"/>
              <a:pathLst>
                <a:path w="224626" h="224626">
                  <a:moveTo>
                    <a:pt x="64160" y="131891"/>
                  </a:moveTo>
                  <a:lnTo>
                    <a:pt x="17949" y="131891"/>
                  </a:lnTo>
                  <a:cubicBezTo>
                    <a:pt x="6831" y="131891"/>
                    <a:pt x="0" y="119790"/>
                    <a:pt x="5715" y="110237"/>
                  </a:cubicBezTo>
                  <a:lnTo>
                    <a:pt x="29334" y="70857"/>
                  </a:lnTo>
                  <a:cubicBezTo>
                    <a:pt x="33219" y="64383"/>
                    <a:pt x="40184" y="60453"/>
                    <a:pt x="47729" y="60453"/>
                  </a:cubicBezTo>
                  <a:lnTo>
                    <a:pt x="90145" y="60453"/>
                  </a:lnTo>
                  <a:cubicBezTo>
                    <a:pt x="124123" y="2902"/>
                    <a:pt x="174799" y="0"/>
                    <a:pt x="208687" y="4955"/>
                  </a:cubicBezTo>
                  <a:cubicBezTo>
                    <a:pt x="214402" y="5804"/>
                    <a:pt x="218868" y="10269"/>
                    <a:pt x="219672" y="15939"/>
                  </a:cubicBezTo>
                  <a:cubicBezTo>
                    <a:pt x="224626" y="49827"/>
                    <a:pt x="221724" y="100503"/>
                    <a:pt x="164172" y="134481"/>
                  </a:cubicBezTo>
                  <a:lnTo>
                    <a:pt x="164172" y="176897"/>
                  </a:lnTo>
                  <a:cubicBezTo>
                    <a:pt x="164172" y="184442"/>
                    <a:pt x="160243" y="191407"/>
                    <a:pt x="153769" y="195292"/>
                  </a:cubicBezTo>
                  <a:lnTo>
                    <a:pt x="114388" y="218911"/>
                  </a:lnTo>
                  <a:cubicBezTo>
                    <a:pt x="104879" y="224626"/>
                    <a:pt x="92735" y="217751"/>
                    <a:pt x="92735" y="206677"/>
                  </a:cubicBezTo>
                  <a:lnTo>
                    <a:pt x="92735" y="160466"/>
                  </a:lnTo>
                  <a:cubicBezTo>
                    <a:pt x="92735" y="144705"/>
                    <a:pt x="79921" y="131891"/>
                    <a:pt x="64160" y="131891"/>
                  </a:cubicBezTo>
                  <a:lnTo>
                    <a:pt x="64116" y="131891"/>
                  </a:lnTo>
                  <a:close/>
                  <a:moveTo>
                    <a:pt x="185604" y="60453"/>
                  </a:moveTo>
                  <a:cubicBezTo>
                    <a:pt x="185604" y="48625"/>
                    <a:pt x="176001" y="39022"/>
                    <a:pt x="164172" y="39022"/>
                  </a:cubicBezTo>
                  <a:cubicBezTo>
                    <a:pt x="152344" y="39022"/>
                    <a:pt x="142741" y="48625"/>
                    <a:pt x="142741" y="60453"/>
                  </a:cubicBezTo>
                  <a:cubicBezTo>
                    <a:pt x="142741" y="72282"/>
                    <a:pt x="152344" y="81885"/>
                    <a:pt x="164172" y="81885"/>
                  </a:cubicBezTo>
                  <a:cubicBezTo>
                    <a:pt x="176001" y="81885"/>
                    <a:pt x="185604" y="72282"/>
                    <a:pt x="185604" y="6045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1009514" y="2187118"/>
              <a:ext cx="28860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Performance close to CUDA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004797" y="2528715"/>
              <a:ext cx="4800665" cy="24763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Achieves handwritten CUDA performance levels through automatic optimization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622432" y="3008164"/>
              <a:ext cx="259988" cy="231905"/>
            </a:xfrm>
            <a:custGeom>
              <a:avLst/>
              <a:gdLst/>
              <a:ahLst/>
              <a:cxnLst/>
              <a:rect l="l" t="t" r="r" b="b"/>
              <a:pathLst>
                <a:path w="259988" h="231905">
                  <a:moveTo>
                    <a:pt x="162476" y="2188"/>
                  </a:moveTo>
                  <a:cubicBezTo>
                    <a:pt x="154885" y="0"/>
                    <a:pt x="146983" y="4421"/>
                    <a:pt x="144795" y="12010"/>
                  </a:cubicBezTo>
                  <a:lnTo>
                    <a:pt x="87645" y="212035"/>
                  </a:lnTo>
                  <a:cubicBezTo>
                    <a:pt x="85457" y="219626"/>
                    <a:pt x="89878" y="227528"/>
                    <a:pt x="97467" y="229716"/>
                  </a:cubicBezTo>
                  <a:cubicBezTo>
                    <a:pt x="105058" y="231904"/>
                    <a:pt x="112960" y="227483"/>
                    <a:pt x="115148" y="219894"/>
                  </a:cubicBezTo>
                  <a:lnTo>
                    <a:pt x="172298" y="19869"/>
                  </a:lnTo>
                  <a:cubicBezTo>
                    <a:pt x="174486" y="12278"/>
                    <a:pt x="170065" y="4376"/>
                    <a:pt x="162476" y="2188"/>
                  </a:cubicBezTo>
                  <a:close/>
                  <a:moveTo>
                    <a:pt x="191318" y="62954"/>
                  </a:moveTo>
                  <a:cubicBezTo>
                    <a:pt x="185737" y="68535"/>
                    <a:pt x="185737" y="77599"/>
                    <a:pt x="191318" y="83180"/>
                  </a:cubicBezTo>
                  <a:lnTo>
                    <a:pt x="224090" y="115952"/>
                  </a:lnTo>
                  <a:lnTo>
                    <a:pt x="191318" y="148724"/>
                  </a:lnTo>
                  <a:cubicBezTo>
                    <a:pt x="185737" y="154305"/>
                    <a:pt x="185737" y="163369"/>
                    <a:pt x="191318" y="168950"/>
                  </a:cubicBezTo>
                  <a:cubicBezTo>
                    <a:pt x="196900" y="174531"/>
                    <a:pt x="205963" y="174531"/>
                    <a:pt x="211544" y="168950"/>
                  </a:cubicBezTo>
                  <a:lnTo>
                    <a:pt x="254407" y="126087"/>
                  </a:lnTo>
                  <a:cubicBezTo>
                    <a:pt x="259988" y="120506"/>
                    <a:pt x="259988" y="111444"/>
                    <a:pt x="254407" y="105861"/>
                  </a:cubicBezTo>
                  <a:lnTo>
                    <a:pt x="211544" y="62999"/>
                  </a:lnTo>
                  <a:cubicBezTo>
                    <a:pt x="205963" y="57418"/>
                    <a:pt x="196900" y="57418"/>
                    <a:pt x="191318" y="62999"/>
                  </a:cubicBezTo>
                  <a:close/>
                  <a:moveTo>
                    <a:pt x="68669" y="62954"/>
                  </a:moveTo>
                  <a:cubicBezTo>
                    <a:pt x="63088" y="57373"/>
                    <a:pt x="54026" y="57373"/>
                    <a:pt x="48443" y="62954"/>
                  </a:cubicBezTo>
                  <a:lnTo>
                    <a:pt x="5581" y="105817"/>
                  </a:lnTo>
                  <a:cubicBezTo>
                    <a:pt x="0" y="111398"/>
                    <a:pt x="0" y="120460"/>
                    <a:pt x="5581" y="126043"/>
                  </a:cubicBezTo>
                  <a:lnTo>
                    <a:pt x="48443" y="168905"/>
                  </a:lnTo>
                  <a:cubicBezTo>
                    <a:pt x="54026" y="174486"/>
                    <a:pt x="63088" y="174486"/>
                    <a:pt x="68669" y="168905"/>
                  </a:cubicBezTo>
                  <a:cubicBezTo>
                    <a:pt x="74250" y="163324"/>
                    <a:pt x="74250" y="154260"/>
                    <a:pt x="68669" y="148679"/>
                  </a:cubicBezTo>
                  <a:lnTo>
                    <a:pt x="35898" y="115952"/>
                  </a:lnTo>
                  <a:lnTo>
                    <a:pt x="68625" y="83180"/>
                  </a:lnTo>
                  <a:cubicBezTo>
                    <a:pt x="74206" y="77599"/>
                    <a:pt x="74206" y="68535"/>
                    <a:pt x="68625" y="62954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009514" y="2971753"/>
              <a:ext cx="26003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 Development Efficiency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1009514" y="3276515"/>
              <a:ext cx="5086486" cy="24763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Concise Python syntax significantly reduces development cost</a:t>
              </a: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16539" y="3673789"/>
              <a:ext cx="272132" cy="272132"/>
            </a:xfrm>
            <a:custGeom>
              <a:avLst/>
              <a:gdLst/>
              <a:ahLst/>
              <a:cxnLst/>
              <a:rect l="l" t="t" r="r" b="b"/>
              <a:pathLst>
                <a:path w="272132" h="272132">
                  <a:moveTo>
                    <a:pt x="178683" y="115729"/>
                  </a:moveTo>
                  <a:cubicBezTo>
                    <a:pt x="184130" y="114256"/>
                    <a:pt x="189845" y="116845"/>
                    <a:pt x="192301" y="121890"/>
                  </a:cubicBezTo>
                  <a:lnTo>
                    <a:pt x="200605" y="138678"/>
                  </a:lnTo>
                  <a:cubicBezTo>
                    <a:pt x="205204" y="139303"/>
                    <a:pt x="209714" y="140553"/>
                    <a:pt x="213955" y="142295"/>
                  </a:cubicBezTo>
                  <a:lnTo>
                    <a:pt x="229582" y="131892"/>
                  </a:lnTo>
                  <a:cubicBezTo>
                    <a:pt x="234270" y="128766"/>
                    <a:pt x="240476" y="129390"/>
                    <a:pt x="244450" y="133366"/>
                  </a:cubicBezTo>
                  <a:lnTo>
                    <a:pt x="253023" y="141938"/>
                  </a:lnTo>
                  <a:cubicBezTo>
                    <a:pt x="256996" y="145911"/>
                    <a:pt x="257621" y="152162"/>
                    <a:pt x="254496" y="156806"/>
                  </a:cubicBezTo>
                  <a:lnTo>
                    <a:pt x="244093" y="172388"/>
                  </a:lnTo>
                  <a:cubicBezTo>
                    <a:pt x="244941" y="174486"/>
                    <a:pt x="245700" y="176674"/>
                    <a:pt x="246325" y="178951"/>
                  </a:cubicBezTo>
                  <a:cubicBezTo>
                    <a:pt x="246951" y="181228"/>
                    <a:pt x="247352" y="183461"/>
                    <a:pt x="247664" y="185738"/>
                  </a:cubicBezTo>
                  <a:lnTo>
                    <a:pt x="264497" y="194042"/>
                  </a:lnTo>
                  <a:cubicBezTo>
                    <a:pt x="269541" y="196543"/>
                    <a:pt x="272132" y="202258"/>
                    <a:pt x="270659" y="207661"/>
                  </a:cubicBezTo>
                  <a:lnTo>
                    <a:pt x="267534" y="219359"/>
                  </a:lnTo>
                  <a:cubicBezTo>
                    <a:pt x="266060" y="224760"/>
                    <a:pt x="261015" y="228423"/>
                    <a:pt x="255389" y="228064"/>
                  </a:cubicBezTo>
                  <a:lnTo>
                    <a:pt x="236637" y="226859"/>
                  </a:lnTo>
                  <a:cubicBezTo>
                    <a:pt x="233824" y="230475"/>
                    <a:pt x="230564" y="233824"/>
                    <a:pt x="226859" y="236683"/>
                  </a:cubicBezTo>
                  <a:lnTo>
                    <a:pt x="228064" y="255388"/>
                  </a:lnTo>
                  <a:cubicBezTo>
                    <a:pt x="228421" y="261015"/>
                    <a:pt x="224760" y="266105"/>
                    <a:pt x="219359" y="267533"/>
                  </a:cubicBezTo>
                  <a:lnTo>
                    <a:pt x="207659" y="270659"/>
                  </a:lnTo>
                  <a:cubicBezTo>
                    <a:pt x="202214" y="272132"/>
                    <a:pt x="196542" y="269543"/>
                    <a:pt x="194042" y="264498"/>
                  </a:cubicBezTo>
                  <a:lnTo>
                    <a:pt x="185737" y="247710"/>
                  </a:lnTo>
                  <a:cubicBezTo>
                    <a:pt x="181139" y="247085"/>
                    <a:pt x="176629" y="245835"/>
                    <a:pt x="172386" y="244093"/>
                  </a:cubicBezTo>
                  <a:lnTo>
                    <a:pt x="156760" y="254496"/>
                  </a:lnTo>
                  <a:cubicBezTo>
                    <a:pt x="152071" y="257622"/>
                    <a:pt x="145866" y="256998"/>
                    <a:pt x="141892" y="253022"/>
                  </a:cubicBezTo>
                  <a:lnTo>
                    <a:pt x="133320" y="244450"/>
                  </a:lnTo>
                  <a:cubicBezTo>
                    <a:pt x="129346" y="240477"/>
                    <a:pt x="128721" y="234271"/>
                    <a:pt x="131847" y="229582"/>
                  </a:cubicBezTo>
                  <a:lnTo>
                    <a:pt x="142251" y="213956"/>
                  </a:lnTo>
                  <a:cubicBezTo>
                    <a:pt x="141401" y="211857"/>
                    <a:pt x="140641" y="209668"/>
                    <a:pt x="140017" y="207393"/>
                  </a:cubicBezTo>
                  <a:cubicBezTo>
                    <a:pt x="139392" y="205115"/>
                    <a:pt x="138990" y="202838"/>
                    <a:pt x="138678" y="200606"/>
                  </a:cubicBezTo>
                  <a:lnTo>
                    <a:pt x="121845" y="192301"/>
                  </a:lnTo>
                  <a:cubicBezTo>
                    <a:pt x="116800" y="189801"/>
                    <a:pt x="114255" y="184086"/>
                    <a:pt x="115683" y="178683"/>
                  </a:cubicBezTo>
                  <a:lnTo>
                    <a:pt x="118809" y="166985"/>
                  </a:lnTo>
                  <a:cubicBezTo>
                    <a:pt x="120283" y="161582"/>
                    <a:pt x="125328" y="157922"/>
                    <a:pt x="130954" y="158279"/>
                  </a:cubicBezTo>
                  <a:lnTo>
                    <a:pt x="149661" y="159484"/>
                  </a:lnTo>
                  <a:cubicBezTo>
                    <a:pt x="152474" y="155867"/>
                    <a:pt x="155734" y="152518"/>
                    <a:pt x="159439" y="149662"/>
                  </a:cubicBezTo>
                  <a:lnTo>
                    <a:pt x="158234" y="131000"/>
                  </a:lnTo>
                  <a:cubicBezTo>
                    <a:pt x="157877" y="125373"/>
                    <a:pt x="161538" y="120283"/>
                    <a:pt x="166941" y="118855"/>
                  </a:cubicBezTo>
                  <a:lnTo>
                    <a:pt x="178639" y="115729"/>
                  </a:lnTo>
                  <a:close/>
                  <a:moveTo>
                    <a:pt x="193194" y="173548"/>
                  </a:moveTo>
                  <a:cubicBezTo>
                    <a:pt x="182351" y="173561"/>
                    <a:pt x="173559" y="182374"/>
                    <a:pt x="173571" y="193216"/>
                  </a:cubicBezTo>
                  <a:cubicBezTo>
                    <a:pt x="173583" y="204059"/>
                    <a:pt x="182397" y="212852"/>
                    <a:pt x="193239" y="212840"/>
                  </a:cubicBezTo>
                  <a:cubicBezTo>
                    <a:pt x="204081" y="212827"/>
                    <a:pt x="212874" y="204014"/>
                    <a:pt x="212861" y="193172"/>
                  </a:cubicBezTo>
                  <a:cubicBezTo>
                    <a:pt x="212849" y="182329"/>
                    <a:pt x="204036" y="173536"/>
                    <a:pt x="193194" y="173548"/>
                  </a:cubicBezTo>
                  <a:close/>
                  <a:moveTo>
                    <a:pt x="93404" y="1429"/>
                  </a:moveTo>
                  <a:lnTo>
                    <a:pt x="105102" y="4555"/>
                  </a:lnTo>
                  <a:cubicBezTo>
                    <a:pt x="110504" y="6028"/>
                    <a:pt x="114166" y="11118"/>
                    <a:pt x="113809" y="16700"/>
                  </a:cubicBezTo>
                  <a:lnTo>
                    <a:pt x="112602" y="35362"/>
                  </a:lnTo>
                  <a:cubicBezTo>
                    <a:pt x="116310" y="38218"/>
                    <a:pt x="119568" y="41523"/>
                    <a:pt x="122381" y="45184"/>
                  </a:cubicBezTo>
                  <a:lnTo>
                    <a:pt x="141134" y="43979"/>
                  </a:lnTo>
                  <a:cubicBezTo>
                    <a:pt x="146715" y="43622"/>
                    <a:pt x="151803" y="47282"/>
                    <a:pt x="153278" y="52685"/>
                  </a:cubicBezTo>
                  <a:lnTo>
                    <a:pt x="156403" y="64383"/>
                  </a:lnTo>
                  <a:cubicBezTo>
                    <a:pt x="157832" y="69786"/>
                    <a:pt x="155287" y="75501"/>
                    <a:pt x="150241" y="78001"/>
                  </a:cubicBezTo>
                  <a:lnTo>
                    <a:pt x="133409" y="86306"/>
                  </a:lnTo>
                  <a:cubicBezTo>
                    <a:pt x="133096" y="88583"/>
                    <a:pt x="132651" y="90860"/>
                    <a:pt x="132070" y="93093"/>
                  </a:cubicBezTo>
                  <a:cubicBezTo>
                    <a:pt x="131489" y="95325"/>
                    <a:pt x="130686" y="97557"/>
                    <a:pt x="129838" y="99656"/>
                  </a:cubicBezTo>
                  <a:lnTo>
                    <a:pt x="140241" y="115282"/>
                  </a:lnTo>
                  <a:cubicBezTo>
                    <a:pt x="143366" y="119971"/>
                    <a:pt x="142741" y="126177"/>
                    <a:pt x="138767" y="130150"/>
                  </a:cubicBezTo>
                  <a:lnTo>
                    <a:pt x="130194" y="138722"/>
                  </a:lnTo>
                  <a:cubicBezTo>
                    <a:pt x="126221" y="142698"/>
                    <a:pt x="120015" y="143322"/>
                    <a:pt x="115327" y="140196"/>
                  </a:cubicBezTo>
                  <a:lnTo>
                    <a:pt x="99700" y="129793"/>
                  </a:lnTo>
                  <a:cubicBezTo>
                    <a:pt x="95457" y="131535"/>
                    <a:pt x="90949" y="132785"/>
                    <a:pt x="86350" y="133410"/>
                  </a:cubicBezTo>
                  <a:lnTo>
                    <a:pt x="78044" y="150198"/>
                  </a:lnTo>
                  <a:cubicBezTo>
                    <a:pt x="75545" y="155243"/>
                    <a:pt x="69830" y="157788"/>
                    <a:pt x="64427" y="156359"/>
                  </a:cubicBezTo>
                  <a:lnTo>
                    <a:pt x="52730" y="153233"/>
                  </a:lnTo>
                  <a:cubicBezTo>
                    <a:pt x="47283" y="151760"/>
                    <a:pt x="43666" y="146670"/>
                    <a:pt x="44022" y="141088"/>
                  </a:cubicBezTo>
                  <a:lnTo>
                    <a:pt x="45229" y="122383"/>
                  </a:lnTo>
                  <a:cubicBezTo>
                    <a:pt x="41523" y="119524"/>
                    <a:pt x="38264" y="116221"/>
                    <a:pt x="35451" y="112559"/>
                  </a:cubicBezTo>
                  <a:lnTo>
                    <a:pt x="16698" y="113764"/>
                  </a:lnTo>
                  <a:cubicBezTo>
                    <a:pt x="11117" y="114123"/>
                    <a:pt x="6027" y="110460"/>
                    <a:pt x="4555" y="105059"/>
                  </a:cubicBezTo>
                  <a:lnTo>
                    <a:pt x="1429" y="93361"/>
                  </a:lnTo>
                  <a:cubicBezTo>
                    <a:pt x="0" y="87958"/>
                    <a:pt x="2545" y="82243"/>
                    <a:pt x="7590" y="79742"/>
                  </a:cubicBezTo>
                  <a:lnTo>
                    <a:pt x="24423" y="71438"/>
                  </a:lnTo>
                  <a:cubicBezTo>
                    <a:pt x="24735" y="69161"/>
                    <a:pt x="25182" y="66928"/>
                    <a:pt x="25762" y="64651"/>
                  </a:cubicBezTo>
                  <a:cubicBezTo>
                    <a:pt x="26387" y="62374"/>
                    <a:pt x="27101" y="60186"/>
                    <a:pt x="27994" y="58088"/>
                  </a:cubicBezTo>
                  <a:lnTo>
                    <a:pt x="17591" y="42506"/>
                  </a:lnTo>
                  <a:cubicBezTo>
                    <a:pt x="14466" y="37817"/>
                    <a:pt x="15091" y="31611"/>
                    <a:pt x="19064" y="27638"/>
                  </a:cubicBezTo>
                  <a:lnTo>
                    <a:pt x="27637" y="19066"/>
                  </a:lnTo>
                  <a:cubicBezTo>
                    <a:pt x="31611" y="15090"/>
                    <a:pt x="37817" y="14466"/>
                    <a:pt x="42505" y="17592"/>
                  </a:cubicBezTo>
                  <a:lnTo>
                    <a:pt x="58132" y="27995"/>
                  </a:lnTo>
                  <a:cubicBezTo>
                    <a:pt x="62374" y="26253"/>
                    <a:pt x="66882" y="25003"/>
                    <a:pt x="71482" y="24378"/>
                  </a:cubicBezTo>
                  <a:lnTo>
                    <a:pt x="79787" y="7590"/>
                  </a:lnTo>
                  <a:cubicBezTo>
                    <a:pt x="82288" y="2545"/>
                    <a:pt x="87957" y="0"/>
                    <a:pt x="93404" y="1429"/>
                  </a:cubicBezTo>
                  <a:close/>
                  <a:moveTo>
                    <a:pt x="78894" y="59248"/>
                  </a:moveTo>
                  <a:cubicBezTo>
                    <a:pt x="68051" y="59248"/>
                    <a:pt x="59248" y="68051"/>
                    <a:pt x="59248" y="78894"/>
                  </a:cubicBezTo>
                  <a:cubicBezTo>
                    <a:pt x="59248" y="89737"/>
                    <a:pt x="68051" y="98540"/>
                    <a:pt x="78894" y="98540"/>
                  </a:cubicBezTo>
                  <a:cubicBezTo>
                    <a:pt x="89736" y="98540"/>
                    <a:pt x="98538" y="89737"/>
                    <a:pt x="98538" y="78894"/>
                  </a:cubicBezTo>
                  <a:cubicBezTo>
                    <a:pt x="98538" y="68051"/>
                    <a:pt x="89736" y="59248"/>
                    <a:pt x="78894" y="59248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009514" y="3657470"/>
              <a:ext cx="2828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Automatic Optimization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1009514" y="3962241"/>
              <a:ext cx="5086380" cy="40002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Compiler automatically performs memory access optimization, vectorization, and more</a:t>
              </a:r>
              <a:endParaRPr lang="en-US" sz="110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6248338" y="1638374"/>
            <a:ext cx="5562600" cy="2781300"/>
          </a:xfrm>
          <a:custGeom>
            <a:avLst/>
            <a:gdLst/>
            <a:ahLst/>
            <a:cxnLst/>
            <a:rect l="l" t="t" r="r" b="b"/>
            <a:pathLst>
              <a:path w="5562600" h="2781300">
                <a:moveTo>
                  <a:pt x="114311" y="0"/>
                </a:moveTo>
                <a:lnTo>
                  <a:pt x="5448289" y="0"/>
                </a:lnTo>
                <a:cubicBezTo>
                  <a:pt x="5511422" y="0"/>
                  <a:pt x="5562600" y="51178"/>
                  <a:pt x="5562600" y="114311"/>
                </a:cubicBezTo>
                <a:lnTo>
                  <a:pt x="5562600" y="2666989"/>
                </a:lnTo>
                <a:cubicBezTo>
                  <a:pt x="5562600" y="2730122"/>
                  <a:pt x="5511422" y="2781300"/>
                  <a:pt x="5448289" y="2781300"/>
                </a:cubicBezTo>
                <a:lnTo>
                  <a:pt x="114311" y="2781300"/>
                </a:lnTo>
                <a:cubicBezTo>
                  <a:pt x="51178" y="2781300"/>
                  <a:pt x="0" y="2730122"/>
                  <a:pt x="0" y="2666989"/>
                </a:cubicBezTo>
                <a:lnTo>
                  <a:pt x="0" y="114311"/>
                </a:lnTo>
                <a:cubicBezTo>
                  <a:pt x="0" y="51178"/>
                  <a:pt x="51178" y="0"/>
                  <a:pt x="11431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grpSp>
        <p:nvGrpSpPr>
          <p:cNvPr id="16" name="Group 16"/>
          <p:cNvGrpSpPr/>
          <p:nvPr/>
        </p:nvGrpSpPr>
        <p:grpSpPr>
          <a:xfrm>
            <a:off x="6429286" y="1924106"/>
            <a:ext cx="5231906" cy="2209493"/>
            <a:chOff x="6429286" y="1924106"/>
            <a:chExt cx="5231906" cy="2209493"/>
          </a:xfrm>
        </p:grpSpPr>
        <p:sp>
          <p:nvSpPr>
            <p:cNvPr id="17" name="AutoShape 17"/>
            <p:cNvSpPr/>
            <p:nvPr/>
          </p:nvSpPr>
          <p:spPr>
            <a:xfrm>
              <a:off x="6429286" y="1924106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01828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Performance Comparison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476911" y="2343197"/>
              <a:ext cx="5048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CUDA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11206461" y="2343197"/>
              <a:ext cx="4476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100%</a:t>
              </a:r>
              <a:endParaRPr lang="en-US" sz="110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476911" y="2609831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476911" y="2609831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4A556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476911" y="2990785"/>
              <a:ext cx="4857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Triton</a:t>
              </a:r>
              <a:endParaRPr lang="en-US" sz="1100"/>
            </a:p>
          </p:txBody>
        </p:sp>
        <p:sp>
          <p:nvSpPr>
            <p:cNvPr id="23" name="AutoShape 23"/>
            <p:cNvSpPr/>
            <p:nvPr/>
          </p:nvSpPr>
          <p:spPr>
            <a:xfrm>
              <a:off x="10956342" y="2990785"/>
              <a:ext cx="7048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8B0000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95-100%</a:t>
              </a:r>
              <a:endParaRPr lang="en-US" sz="1100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476911" y="3257410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476911" y="3257410"/>
              <a:ext cx="4848225" cy="228600"/>
            </a:xfrm>
            <a:custGeom>
              <a:avLst/>
              <a:gdLst/>
              <a:ahLst/>
              <a:cxnLst/>
              <a:rect l="l" t="t" r="r" b="b"/>
              <a:pathLst>
                <a:path w="4848225" h="228600">
                  <a:moveTo>
                    <a:pt x="114300" y="0"/>
                  </a:moveTo>
                  <a:lnTo>
                    <a:pt x="4733925" y="0"/>
                  </a:lnTo>
                  <a:cubicBezTo>
                    <a:pt x="4797008" y="0"/>
                    <a:pt x="4848225" y="51217"/>
                    <a:pt x="4848225" y="114300"/>
                  </a:cubicBezTo>
                  <a:lnTo>
                    <a:pt x="4848225" y="114300"/>
                  </a:lnTo>
                  <a:cubicBezTo>
                    <a:pt x="4848225" y="177383"/>
                    <a:pt x="4797008" y="228600"/>
                    <a:pt x="4733925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476911" y="3638373"/>
              <a:ext cx="1636088" cy="20945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364153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PyTorch (eager)</a:t>
              </a:r>
              <a:endParaRPr lang="en-US" sz="1100"/>
            </a:p>
          </p:txBody>
        </p:sp>
        <p:sp>
          <p:nvSpPr>
            <p:cNvPr id="27" name="AutoShape 27"/>
            <p:cNvSpPr/>
            <p:nvPr/>
          </p:nvSpPr>
          <p:spPr>
            <a:xfrm>
              <a:off x="11011356" y="3638373"/>
              <a:ext cx="6477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556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60-80%</a:t>
              </a:r>
              <a:endParaRPr lang="en-US" sz="1100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6476911" y="3904999"/>
              <a:ext cx="5105400" cy="228600"/>
            </a:xfrm>
            <a:custGeom>
              <a:avLst/>
              <a:gdLst/>
              <a:ahLst/>
              <a:cxnLst/>
              <a:rect l="l" t="t" r="r" b="b"/>
              <a:pathLst>
                <a:path w="5105400" h="228600">
                  <a:moveTo>
                    <a:pt x="114300" y="0"/>
                  </a:moveTo>
                  <a:lnTo>
                    <a:pt x="4991100" y="0"/>
                  </a:lnTo>
                  <a:cubicBezTo>
                    <a:pt x="5054183" y="0"/>
                    <a:pt x="5105400" y="51217"/>
                    <a:pt x="5105400" y="114300"/>
                  </a:cubicBezTo>
                  <a:lnTo>
                    <a:pt x="5105400" y="114300"/>
                  </a:lnTo>
                  <a:cubicBezTo>
                    <a:pt x="5105400" y="177383"/>
                    <a:pt x="5054183" y="228600"/>
                    <a:pt x="4991100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E5E7EB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476911" y="3904999"/>
              <a:ext cx="3571875" cy="228600"/>
            </a:xfrm>
            <a:custGeom>
              <a:avLst/>
              <a:gdLst/>
              <a:ahLst/>
              <a:cxnLst/>
              <a:rect l="l" t="t" r="r" b="b"/>
              <a:pathLst>
                <a:path w="3571875" h="228600">
                  <a:moveTo>
                    <a:pt x="114300" y="0"/>
                  </a:moveTo>
                  <a:lnTo>
                    <a:pt x="3457575" y="0"/>
                  </a:lnTo>
                  <a:cubicBezTo>
                    <a:pt x="3520658" y="0"/>
                    <a:pt x="3571875" y="51217"/>
                    <a:pt x="3571875" y="114300"/>
                  </a:cubicBezTo>
                  <a:lnTo>
                    <a:pt x="3571875" y="114300"/>
                  </a:lnTo>
                  <a:cubicBezTo>
                    <a:pt x="3571875" y="177383"/>
                    <a:pt x="3520658" y="228600"/>
                    <a:pt x="3457575" y="228600"/>
                  </a:cubicBezTo>
                  <a:lnTo>
                    <a:pt x="114300" y="228600"/>
                  </a:lnTo>
                  <a:cubicBezTo>
                    <a:pt x="51217" y="228600"/>
                    <a:pt x="0" y="177383"/>
                    <a:pt x="0" y="114300"/>
                  </a:cubicBezTo>
                  <a:lnTo>
                    <a:pt x="0" y="114300"/>
                  </a:lnTo>
                  <a:cubicBezTo>
                    <a:pt x="0" y="51217"/>
                    <a:pt x="51217" y="0"/>
                    <a:pt x="114300" y="0"/>
                  </a:cubicBezTo>
                  <a:close/>
                </a:path>
              </a:pathLst>
            </a:custGeom>
            <a:solidFill>
              <a:srgbClr val="99A1A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</p:grpSp>
      <p:sp>
        <p:nvSpPr>
          <p:cNvPr id="30" name="Freeform 30"/>
          <p:cNvSpPr/>
          <p:nvPr/>
        </p:nvSpPr>
        <p:spPr>
          <a:xfrm>
            <a:off x="399911" y="4647958"/>
            <a:ext cx="11410855" cy="1295400"/>
          </a:xfrm>
          <a:custGeom>
            <a:avLst/>
            <a:gdLst/>
            <a:ahLst/>
            <a:cxnLst/>
            <a:rect l="l" t="t" r="r" b="b"/>
            <a:pathLst>
              <a:path w="11410855" h="1295400">
                <a:moveTo>
                  <a:pt x="37909" y="0"/>
                </a:moveTo>
                <a:lnTo>
                  <a:pt x="11296548" y="0"/>
                </a:lnTo>
                <a:cubicBezTo>
                  <a:pt x="11359679" y="0"/>
                  <a:pt x="11410855" y="51177"/>
                  <a:pt x="11410855" y="114306"/>
                </a:cubicBezTo>
                <a:lnTo>
                  <a:pt x="11410855" y="1181094"/>
                </a:lnTo>
                <a:cubicBezTo>
                  <a:pt x="11410855" y="1244223"/>
                  <a:pt x="11359679" y="1295400"/>
                  <a:pt x="11296548" y="1295400"/>
                </a:cubicBezTo>
                <a:lnTo>
                  <a:pt x="37909" y="1295400"/>
                </a:lnTo>
                <a:cubicBezTo>
                  <a:pt x="16974" y="1295400"/>
                  <a:pt x="0" y="1278426"/>
                  <a:pt x="0" y="1257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399911" y="4647958"/>
            <a:ext cx="37909" cy="1295400"/>
          </a:xfrm>
          <a:custGeom>
            <a:avLst/>
            <a:gdLst/>
            <a:ahLst/>
            <a:cxnLst/>
            <a:rect l="l" t="t" r="r" b="b"/>
            <a:pathLst>
              <a:path w="37909" h="1295400">
                <a:moveTo>
                  <a:pt x="37909" y="0"/>
                </a:moveTo>
                <a:lnTo>
                  <a:pt x="37909" y="0"/>
                </a:lnTo>
                <a:lnTo>
                  <a:pt x="37909" y="1295400"/>
                </a:lnTo>
                <a:lnTo>
                  <a:pt x="37909" y="1295400"/>
                </a:lnTo>
                <a:cubicBezTo>
                  <a:pt x="16974" y="1295400"/>
                  <a:pt x="0" y="1278426"/>
                  <a:pt x="0" y="1257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685539" y="515271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1" y="285750"/>
                  <a:pt x="285750" y="221731"/>
                  <a:pt x="285750" y="142875"/>
                </a:cubicBezTo>
                <a:cubicBezTo>
                  <a:pt x="285750" y="64019"/>
                  <a:pt x="221731" y="0"/>
                  <a:pt x="142875" y="0"/>
                </a:cubicBezTo>
                <a:cubicBezTo>
                  <a:pt x="64019" y="0"/>
                  <a:pt x="0" y="64019"/>
                  <a:pt x="0" y="142875"/>
                </a:cubicBezTo>
                <a:cubicBezTo>
                  <a:pt x="0" y="221731"/>
                  <a:pt x="64019" y="285750"/>
                  <a:pt x="142875" y="285750"/>
                </a:cubicBezTo>
                <a:close/>
                <a:moveTo>
                  <a:pt x="125016" y="89298"/>
                </a:moveTo>
                <a:cubicBezTo>
                  <a:pt x="125016" y="79440"/>
                  <a:pt x="133019" y="71438"/>
                  <a:pt x="142875" y="71438"/>
                </a:cubicBezTo>
                <a:cubicBezTo>
                  <a:pt x="152731" y="71438"/>
                  <a:pt x="160734" y="79440"/>
                  <a:pt x="160734" y="89298"/>
                </a:cubicBezTo>
                <a:cubicBezTo>
                  <a:pt x="160734" y="99154"/>
                  <a:pt x="152731" y="107156"/>
                  <a:pt x="142875" y="107156"/>
                </a:cubicBezTo>
                <a:cubicBezTo>
                  <a:pt x="133019" y="107156"/>
                  <a:pt x="125016" y="99154"/>
                  <a:pt x="125016" y="89298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2"/>
                  <a:pt x="165199" y="214312"/>
                </a:cubicBezTo>
                <a:lnTo>
                  <a:pt x="120551" y="214312"/>
                </a:lnTo>
                <a:cubicBezTo>
                  <a:pt x="113128" y="214312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6" y="187523"/>
                </a:lnTo>
                <a:lnTo>
                  <a:pt x="133946" y="151804"/>
                </a:lnTo>
                <a:lnTo>
                  <a:pt x="120551" y="151804"/>
                </a:lnTo>
                <a:cubicBezTo>
                  <a:pt x="113128" y="151804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1157009" y="4876530"/>
            <a:ext cx="6191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Reference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57009" y="5219430"/>
            <a:ext cx="1063508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A6A6A6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The bottom of the official Triton tutorial page provides detailed performance comparison charts for various operators across different hardware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157009" y="5524193"/>
            <a:ext cx="6162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6A728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https://triton-lang.org/main/getting-started/tutorials/01-vector-add.html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9540" y="650704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Vector Add Workflow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5174739" y="1174525"/>
            <a:ext cx="1841500" cy="730250"/>
          </a:xfrm>
          <a:custGeom>
            <a:avLst/>
            <a:gdLst/>
            <a:ahLst/>
            <a:cxnLst/>
            <a:rect l="l" t="t" r="r" b="b"/>
            <a:pathLst>
              <a:path w="1841500" h="730250">
                <a:moveTo>
                  <a:pt x="95247" y="0"/>
                </a:moveTo>
                <a:lnTo>
                  <a:pt x="1746253" y="0"/>
                </a:lnTo>
                <a:cubicBezTo>
                  <a:pt x="1798857" y="0"/>
                  <a:pt x="1841500" y="42643"/>
                  <a:pt x="1841500" y="95247"/>
                </a:cubicBezTo>
                <a:lnTo>
                  <a:pt x="1841500" y="635003"/>
                </a:lnTo>
                <a:cubicBezTo>
                  <a:pt x="1841500" y="687607"/>
                  <a:pt x="1798857" y="730250"/>
                  <a:pt x="17462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1143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381084" y="1301510"/>
            <a:ext cx="1428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program_id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96959" y="1587136"/>
            <a:ext cx="1397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Get the current program ID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6007168" y="2031581"/>
            <a:ext cx="181571" cy="239566"/>
          </a:xfrm>
          <a:custGeom>
            <a:avLst/>
            <a:gdLst/>
            <a:ahLst/>
            <a:cxnLst/>
            <a:rect l="l" t="t" r="r" b="b"/>
            <a:pathLst>
              <a:path w="181571" h="239566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4926137" y="2396675"/>
            <a:ext cx="2341563" cy="730250"/>
          </a:xfrm>
          <a:custGeom>
            <a:avLst/>
            <a:gdLst/>
            <a:ahLst/>
            <a:cxnLst/>
            <a:rect l="l" t="t" r="r" b="b"/>
            <a:pathLst>
              <a:path w="2341563" h="730250">
                <a:moveTo>
                  <a:pt x="95247" y="0"/>
                </a:moveTo>
                <a:lnTo>
                  <a:pt x="2246316" y="0"/>
                </a:lnTo>
                <a:cubicBezTo>
                  <a:pt x="2298918" y="0"/>
                  <a:pt x="2341563" y="42643"/>
                  <a:pt x="2341563" y="95247"/>
                </a:cubicBezTo>
                <a:lnTo>
                  <a:pt x="2341563" y="635003"/>
                </a:lnTo>
                <a:cubicBezTo>
                  <a:pt x="2341563" y="687607"/>
                  <a:pt x="2298918" y="730250"/>
                  <a:pt x="2246316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364153">
              <a:alpha val="100000"/>
            </a:srgbClr>
          </a:solidFill>
          <a:ln w="12700">
            <a:noFill/>
            <a:prstDash val="solid"/>
          </a:ln>
          <a:effectLst>
            <a:outerShdw blurRad="1143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011534" y="2540943"/>
            <a:ext cx="2213403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block start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148357" y="2872859"/>
            <a:ext cx="1897063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block_start = pid * BLOCK_SIZE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6007168" y="3253739"/>
            <a:ext cx="181571" cy="239566"/>
          </a:xfrm>
          <a:custGeom>
            <a:avLst/>
            <a:gdLst/>
            <a:ahLst/>
            <a:cxnLst/>
            <a:rect l="l" t="t" r="r" b="b"/>
            <a:pathLst>
              <a:path w="181571" h="239566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4442384" y="3618833"/>
            <a:ext cx="3309938" cy="730250"/>
          </a:xfrm>
          <a:custGeom>
            <a:avLst/>
            <a:gdLst/>
            <a:ahLst/>
            <a:cxnLst/>
            <a:rect l="l" t="t" r="r" b="b"/>
            <a:pathLst>
              <a:path w="3309938" h="730250">
                <a:moveTo>
                  <a:pt x="95247" y="0"/>
                </a:moveTo>
                <a:lnTo>
                  <a:pt x="3214691" y="0"/>
                </a:lnTo>
                <a:cubicBezTo>
                  <a:pt x="3267293" y="0"/>
                  <a:pt x="3309938" y="42643"/>
                  <a:pt x="3309938" y="95247"/>
                </a:cubicBezTo>
                <a:lnTo>
                  <a:pt x="3309938" y="635003"/>
                </a:lnTo>
                <a:cubicBezTo>
                  <a:pt x="3309938" y="687607"/>
                  <a:pt x="3267293" y="730250"/>
                  <a:pt x="3214691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364153">
              <a:alpha val="100000"/>
            </a:srgbClr>
          </a:solidFill>
          <a:ln w="12700">
            <a:noFill/>
            <a:prstDash val="solid"/>
          </a:ln>
          <a:effectLst>
            <a:outerShdw blurRad="1143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48729" y="3745818"/>
            <a:ext cx="289718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Generate offsets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4604" y="4031444"/>
            <a:ext cx="3087718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offsets = block_start + tl.arange(0, BLOCK_SIZE)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6007168" y="4475890"/>
            <a:ext cx="181571" cy="239566"/>
          </a:xfrm>
          <a:custGeom>
            <a:avLst/>
            <a:gdLst/>
            <a:ahLst/>
            <a:cxnLst/>
            <a:rect l="l" t="t" r="r" b="b"/>
            <a:pathLst>
              <a:path w="181571" h="239566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5011534" y="4840990"/>
            <a:ext cx="2166938" cy="825431"/>
          </a:xfrm>
          <a:custGeom>
            <a:avLst/>
            <a:gdLst/>
            <a:ahLst/>
            <a:cxnLst/>
            <a:rect l="l" t="t" r="r" b="b"/>
            <a:pathLst>
              <a:path w="2166938" h="825431">
                <a:moveTo>
                  <a:pt x="95247" y="0"/>
                </a:moveTo>
                <a:lnTo>
                  <a:pt x="2071691" y="0"/>
                </a:lnTo>
                <a:cubicBezTo>
                  <a:pt x="2124293" y="0"/>
                  <a:pt x="2166938" y="48202"/>
                  <a:pt x="2166938" y="107662"/>
                </a:cubicBezTo>
                <a:lnTo>
                  <a:pt x="2166938" y="717770"/>
                </a:lnTo>
                <a:cubicBezTo>
                  <a:pt x="2166938" y="777230"/>
                  <a:pt x="2124293" y="825431"/>
                  <a:pt x="2071691" y="825431"/>
                </a:cubicBezTo>
                <a:lnTo>
                  <a:pt x="95247" y="825431"/>
                </a:lnTo>
                <a:cubicBezTo>
                  <a:pt x="42643" y="825431"/>
                  <a:pt x="0" y="777230"/>
                  <a:pt x="0" y="717770"/>
                </a:cubicBezTo>
                <a:lnTo>
                  <a:pt x="0" y="107662"/>
                </a:lnTo>
                <a:cubicBezTo>
                  <a:pt x="0" y="48242"/>
                  <a:pt x="42680" y="0"/>
                  <a:pt x="9524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  <a:effectLst>
            <a:outerShdw blurRad="1143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217880" y="5004342"/>
            <a:ext cx="1754188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mask prevents out-of-bounds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174739" y="5418054"/>
            <a:ext cx="1891201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mask = offsets &lt; n_elements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007168" y="5698048"/>
            <a:ext cx="181571" cy="239566"/>
          </a:xfrm>
          <a:custGeom>
            <a:avLst/>
            <a:gdLst/>
            <a:ahLst/>
            <a:cxnLst/>
            <a:rect l="l" t="t" r="r" b="b"/>
            <a:pathLst>
              <a:path w="181571" h="239566">
                <a:moveTo>
                  <a:pt x="80274" y="233752"/>
                </a:moveTo>
                <a:cubicBezTo>
                  <a:pt x="86087" y="239566"/>
                  <a:pt x="95529" y="239566"/>
                  <a:pt x="101342" y="233752"/>
                </a:cubicBezTo>
                <a:lnTo>
                  <a:pt x="175756" y="159339"/>
                </a:lnTo>
                <a:cubicBezTo>
                  <a:pt x="181570" y="153526"/>
                  <a:pt x="181570" y="144084"/>
                  <a:pt x="175756" y="138271"/>
                </a:cubicBezTo>
                <a:cubicBezTo>
                  <a:pt x="169943" y="132457"/>
                  <a:pt x="160502" y="132457"/>
                  <a:pt x="154688" y="138271"/>
                </a:cubicBezTo>
                <a:lnTo>
                  <a:pt x="105667" y="187291"/>
                </a:lnTo>
                <a:lnTo>
                  <a:pt x="105667" y="14883"/>
                </a:lnTo>
                <a:cubicBezTo>
                  <a:pt x="105667" y="6651"/>
                  <a:pt x="99016" y="0"/>
                  <a:pt x="90786" y="0"/>
                </a:cubicBezTo>
                <a:cubicBezTo>
                  <a:pt x="82553" y="0"/>
                  <a:pt x="75902" y="6651"/>
                  <a:pt x="75902" y="14883"/>
                </a:cubicBezTo>
                <a:lnTo>
                  <a:pt x="75902" y="187291"/>
                </a:lnTo>
                <a:lnTo>
                  <a:pt x="26882" y="138271"/>
                </a:lnTo>
                <a:cubicBezTo>
                  <a:pt x="21068" y="132457"/>
                  <a:pt x="11626" y="132457"/>
                  <a:pt x="5814" y="138271"/>
                </a:cubicBezTo>
                <a:cubicBezTo>
                  <a:pt x="0" y="144084"/>
                  <a:pt x="0" y="153526"/>
                  <a:pt x="5814" y="159339"/>
                </a:cubicBezTo>
                <a:lnTo>
                  <a:pt x="80227" y="23375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4730229" y="6063142"/>
            <a:ext cx="2730500" cy="730250"/>
          </a:xfrm>
          <a:custGeom>
            <a:avLst/>
            <a:gdLst/>
            <a:ahLst/>
            <a:cxnLst/>
            <a:rect l="l" t="t" r="r" b="b"/>
            <a:pathLst>
              <a:path w="2730500" h="730250">
                <a:moveTo>
                  <a:pt x="95247" y="0"/>
                </a:moveTo>
                <a:lnTo>
                  <a:pt x="2635253" y="0"/>
                </a:lnTo>
                <a:cubicBezTo>
                  <a:pt x="2687857" y="0"/>
                  <a:pt x="2730500" y="42643"/>
                  <a:pt x="2730500" y="95247"/>
                </a:cubicBezTo>
                <a:lnTo>
                  <a:pt x="2730500" y="635003"/>
                </a:lnTo>
                <a:cubicBezTo>
                  <a:pt x="2730500" y="687607"/>
                  <a:pt x="2687857" y="730250"/>
                  <a:pt x="2635253" y="730250"/>
                </a:cubicBezTo>
                <a:lnTo>
                  <a:pt x="95247" y="730250"/>
                </a:lnTo>
                <a:cubicBezTo>
                  <a:pt x="42643" y="730250"/>
                  <a:pt x="0" y="687607"/>
                  <a:pt x="0" y="635003"/>
                </a:cubicBezTo>
                <a:lnTo>
                  <a:pt x="0" y="95247"/>
                </a:lnTo>
                <a:cubicBezTo>
                  <a:pt x="0" y="42680"/>
                  <a:pt x="42680" y="0"/>
                  <a:pt x="95247" y="0"/>
                </a:cubicBezTo>
                <a:close/>
              </a:path>
            </a:pathLst>
          </a:custGeom>
          <a:solidFill>
            <a:srgbClr val="364153">
              <a:alpha val="100000"/>
            </a:srgbClr>
          </a:solidFill>
          <a:ln w="12700">
            <a:noFill/>
            <a:prstDash val="solid"/>
          </a:ln>
          <a:effectLst>
            <a:outerShdw blurRad="114300" dist="76200" dir="5400000" algn="bl" rotWithShape="0">
              <a:srgbClr val="000000">
                <a:alpha val="10196"/>
              </a:srgb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936575" y="6190126"/>
            <a:ext cx="2317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2449" y="6475752"/>
            <a:ext cx="2508279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x = tl.load(x_ptr + offsets, mask=mask)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5528" y="64758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Core Concepts: Summary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90433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1485838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1645581" y="2280045"/>
            <a:ext cx="214179" cy="241013"/>
          </a:xfrm>
          <a:custGeom>
            <a:avLst/>
            <a:gdLst/>
            <a:ahLst/>
            <a:cxnLst/>
            <a:rect l="l" t="t" r="r" b="b"/>
            <a:pathLst>
              <a:path w="214179" h="241013">
                <a:moveTo>
                  <a:pt x="92779" y="5090"/>
                </a:moveTo>
                <a:cubicBezTo>
                  <a:pt x="101621" y="0"/>
                  <a:pt x="112513" y="0"/>
                  <a:pt x="121354" y="5090"/>
                </a:cubicBezTo>
                <a:lnTo>
                  <a:pt x="199891" y="50408"/>
                </a:lnTo>
                <a:cubicBezTo>
                  <a:pt x="208731" y="55499"/>
                  <a:pt x="214179" y="64963"/>
                  <a:pt x="214179" y="75143"/>
                </a:cubicBezTo>
                <a:lnTo>
                  <a:pt x="214179" y="165780"/>
                </a:lnTo>
                <a:cubicBezTo>
                  <a:pt x="214179" y="176004"/>
                  <a:pt x="208731" y="185425"/>
                  <a:pt x="199891" y="190515"/>
                </a:cubicBezTo>
                <a:lnTo>
                  <a:pt x="121354" y="235922"/>
                </a:lnTo>
                <a:cubicBezTo>
                  <a:pt x="112513" y="241012"/>
                  <a:pt x="101621" y="241012"/>
                  <a:pt x="92779" y="235922"/>
                </a:cubicBezTo>
                <a:lnTo>
                  <a:pt x="14287" y="190604"/>
                </a:lnTo>
                <a:cubicBezTo>
                  <a:pt x="5447" y="185513"/>
                  <a:pt x="0" y="176049"/>
                  <a:pt x="0" y="165869"/>
                </a:cubicBezTo>
                <a:lnTo>
                  <a:pt x="0" y="75232"/>
                </a:lnTo>
                <a:cubicBezTo>
                  <a:pt x="0" y="65008"/>
                  <a:pt x="5447" y="55587"/>
                  <a:pt x="14287" y="50497"/>
                </a:cubicBezTo>
                <a:lnTo>
                  <a:pt x="92779" y="5090"/>
                </a:lnTo>
                <a:close/>
                <a:moveTo>
                  <a:pt x="185559" y="165823"/>
                </a:moveTo>
                <a:lnTo>
                  <a:pt x="185559" y="91663"/>
                </a:lnTo>
                <a:lnTo>
                  <a:pt x="121354" y="128722"/>
                </a:lnTo>
                <a:lnTo>
                  <a:pt x="121354" y="202882"/>
                </a:lnTo>
                <a:lnTo>
                  <a:pt x="185559" y="16582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47489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7014" y="3124349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Triton's basic execution unit, corresponds to CUDA's thread block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285992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4381470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4533847" y="2286251"/>
            <a:ext cx="228644" cy="226412"/>
          </a:xfrm>
          <a:custGeom>
            <a:avLst/>
            <a:gdLst/>
            <a:ahLst/>
            <a:cxnLst/>
            <a:rect l="l" t="t" r="r" b="b"/>
            <a:pathLst>
              <a:path w="228644" h="226412">
                <a:moveTo>
                  <a:pt x="21431" y="114300"/>
                </a:moveTo>
                <a:cubicBezTo>
                  <a:pt x="21431" y="63000"/>
                  <a:pt x="63000" y="21431"/>
                  <a:pt x="114300" y="21431"/>
                </a:cubicBezTo>
                <a:cubicBezTo>
                  <a:pt x="142472" y="21431"/>
                  <a:pt x="167700" y="33978"/>
                  <a:pt x="184755" y="53801"/>
                </a:cubicBezTo>
                <a:cubicBezTo>
                  <a:pt x="188595" y="58311"/>
                  <a:pt x="195382" y="58802"/>
                  <a:pt x="199846" y="54962"/>
                </a:cubicBezTo>
                <a:cubicBezTo>
                  <a:pt x="204311" y="51123"/>
                  <a:pt x="204847" y="44336"/>
                  <a:pt x="201007" y="39870"/>
                </a:cubicBezTo>
                <a:cubicBezTo>
                  <a:pt x="180067" y="15448"/>
                  <a:pt x="148993" y="0"/>
                  <a:pt x="114300" y="0"/>
                </a:cubicBezTo>
                <a:cubicBezTo>
                  <a:pt x="51167" y="0"/>
                  <a:pt x="0" y="51167"/>
                  <a:pt x="0" y="114300"/>
                </a:cubicBezTo>
                <a:lnTo>
                  <a:pt x="0" y="132159"/>
                </a:lnTo>
                <a:cubicBezTo>
                  <a:pt x="0" y="138099"/>
                  <a:pt x="4776" y="142875"/>
                  <a:pt x="10716" y="142875"/>
                </a:cubicBezTo>
                <a:cubicBezTo>
                  <a:pt x="16654" y="142875"/>
                  <a:pt x="21431" y="138099"/>
                  <a:pt x="21431" y="132159"/>
                </a:cubicBezTo>
                <a:lnTo>
                  <a:pt x="21431" y="114300"/>
                </a:lnTo>
                <a:close/>
                <a:moveTo>
                  <a:pt x="226144" y="90681"/>
                </a:moveTo>
                <a:cubicBezTo>
                  <a:pt x="224939" y="84877"/>
                  <a:pt x="219224" y="81171"/>
                  <a:pt x="213464" y="82420"/>
                </a:cubicBezTo>
                <a:cubicBezTo>
                  <a:pt x="207705" y="83671"/>
                  <a:pt x="203954" y="89342"/>
                  <a:pt x="205204" y="95101"/>
                </a:cubicBezTo>
                <a:cubicBezTo>
                  <a:pt x="206499" y="101307"/>
                  <a:pt x="207213" y="107737"/>
                  <a:pt x="207213" y="114344"/>
                </a:cubicBezTo>
                <a:lnTo>
                  <a:pt x="207213" y="132204"/>
                </a:lnTo>
                <a:cubicBezTo>
                  <a:pt x="207213" y="138142"/>
                  <a:pt x="211991" y="142919"/>
                  <a:pt x="217929" y="142919"/>
                </a:cubicBezTo>
                <a:cubicBezTo>
                  <a:pt x="223867" y="142919"/>
                  <a:pt x="228644" y="138142"/>
                  <a:pt x="228644" y="132204"/>
                </a:cubicBezTo>
                <a:lnTo>
                  <a:pt x="228644" y="114344"/>
                </a:lnTo>
                <a:cubicBezTo>
                  <a:pt x="228644" y="106263"/>
                  <a:pt x="227796" y="98361"/>
                  <a:pt x="226190" y="90726"/>
                </a:cubicBezTo>
                <a:close/>
                <a:moveTo>
                  <a:pt x="114300" y="35719"/>
                </a:moveTo>
                <a:cubicBezTo>
                  <a:pt x="105816" y="35719"/>
                  <a:pt x="97601" y="37059"/>
                  <a:pt x="89967" y="39559"/>
                </a:cubicBezTo>
                <a:cubicBezTo>
                  <a:pt x="83180" y="41791"/>
                  <a:pt x="81617" y="50140"/>
                  <a:pt x="86261" y="55587"/>
                </a:cubicBezTo>
                <a:cubicBezTo>
                  <a:pt x="89431" y="59292"/>
                  <a:pt x="94654" y="60409"/>
                  <a:pt x="99386" y="59115"/>
                </a:cubicBezTo>
                <a:cubicBezTo>
                  <a:pt x="104120" y="57821"/>
                  <a:pt x="109121" y="57150"/>
                  <a:pt x="114300" y="57150"/>
                </a:cubicBezTo>
                <a:cubicBezTo>
                  <a:pt x="145866" y="57150"/>
                  <a:pt x="171450" y="82734"/>
                  <a:pt x="171450" y="114300"/>
                </a:cubicBezTo>
                <a:lnTo>
                  <a:pt x="171450" y="125418"/>
                </a:lnTo>
                <a:cubicBezTo>
                  <a:pt x="171450" y="136669"/>
                  <a:pt x="170779" y="147876"/>
                  <a:pt x="169485" y="159038"/>
                </a:cubicBezTo>
                <a:cubicBezTo>
                  <a:pt x="168726" y="165556"/>
                  <a:pt x="173681" y="171450"/>
                  <a:pt x="180290" y="171450"/>
                </a:cubicBezTo>
                <a:cubicBezTo>
                  <a:pt x="185558" y="171450"/>
                  <a:pt x="190068" y="167610"/>
                  <a:pt x="190693" y="162386"/>
                </a:cubicBezTo>
                <a:cubicBezTo>
                  <a:pt x="192168" y="150153"/>
                  <a:pt x="192926" y="137831"/>
                  <a:pt x="192926" y="125462"/>
                </a:cubicBezTo>
                <a:lnTo>
                  <a:pt x="192926" y="114344"/>
                </a:lnTo>
                <a:cubicBezTo>
                  <a:pt x="192926" y="70946"/>
                  <a:pt x="157743" y="35763"/>
                  <a:pt x="114344" y="35763"/>
                </a:cubicBezTo>
                <a:close/>
                <a:moveTo>
                  <a:pt x="67285" y="66392"/>
                </a:moveTo>
                <a:cubicBezTo>
                  <a:pt x="63222" y="61659"/>
                  <a:pt x="55989" y="61302"/>
                  <a:pt x="52149" y="66214"/>
                </a:cubicBezTo>
                <a:cubicBezTo>
                  <a:pt x="41836" y="79519"/>
                  <a:pt x="35719" y="96173"/>
                  <a:pt x="35719" y="114300"/>
                </a:cubicBezTo>
                <a:lnTo>
                  <a:pt x="35719" y="125418"/>
                </a:lnTo>
                <a:cubicBezTo>
                  <a:pt x="35719" y="136221"/>
                  <a:pt x="34558" y="147027"/>
                  <a:pt x="32236" y="157519"/>
                </a:cubicBezTo>
                <a:cubicBezTo>
                  <a:pt x="30717" y="164485"/>
                  <a:pt x="35763" y="171406"/>
                  <a:pt x="42907" y="171406"/>
                </a:cubicBezTo>
                <a:cubicBezTo>
                  <a:pt x="47595" y="171406"/>
                  <a:pt x="51792" y="168280"/>
                  <a:pt x="52819" y="163681"/>
                </a:cubicBezTo>
                <a:cubicBezTo>
                  <a:pt x="55677" y="151135"/>
                  <a:pt x="57150" y="138321"/>
                  <a:pt x="57150" y="125373"/>
                </a:cubicBezTo>
                <a:lnTo>
                  <a:pt x="57150" y="114256"/>
                </a:lnTo>
                <a:cubicBezTo>
                  <a:pt x="57150" y="102111"/>
                  <a:pt x="60945" y="90860"/>
                  <a:pt x="67373" y="81617"/>
                </a:cubicBezTo>
                <a:cubicBezTo>
                  <a:pt x="70589" y="76973"/>
                  <a:pt x="70946" y="70634"/>
                  <a:pt x="67285" y="66349"/>
                </a:cubicBezTo>
                <a:close/>
                <a:moveTo>
                  <a:pt x="114300" y="71437"/>
                </a:moveTo>
                <a:cubicBezTo>
                  <a:pt x="90636" y="71437"/>
                  <a:pt x="71437" y="90636"/>
                  <a:pt x="71437" y="114300"/>
                </a:cubicBezTo>
                <a:lnTo>
                  <a:pt x="71437" y="125418"/>
                </a:lnTo>
                <a:cubicBezTo>
                  <a:pt x="71437" y="141446"/>
                  <a:pt x="69384" y="157342"/>
                  <a:pt x="65275" y="172789"/>
                </a:cubicBezTo>
                <a:cubicBezTo>
                  <a:pt x="63579" y="179174"/>
                  <a:pt x="68268" y="185737"/>
                  <a:pt x="74875" y="185737"/>
                </a:cubicBezTo>
                <a:cubicBezTo>
                  <a:pt x="79117" y="185737"/>
                  <a:pt x="82867" y="182969"/>
                  <a:pt x="83984" y="178862"/>
                </a:cubicBezTo>
                <a:cubicBezTo>
                  <a:pt x="88671" y="161449"/>
                  <a:pt x="91083" y="143500"/>
                  <a:pt x="91083" y="125418"/>
                </a:cubicBezTo>
                <a:lnTo>
                  <a:pt x="91083" y="114300"/>
                </a:lnTo>
                <a:cubicBezTo>
                  <a:pt x="91083" y="101486"/>
                  <a:pt x="101486" y="91083"/>
                  <a:pt x="114300" y="91083"/>
                </a:cubicBezTo>
                <a:cubicBezTo>
                  <a:pt x="127114" y="91083"/>
                  <a:pt x="137517" y="101486"/>
                  <a:pt x="137517" y="114300"/>
                </a:cubicBezTo>
                <a:lnTo>
                  <a:pt x="137517" y="125418"/>
                </a:lnTo>
                <a:cubicBezTo>
                  <a:pt x="137517" y="141625"/>
                  <a:pt x="135953" y="157743"/>
                  <a:pt x="132874" y="173592"/>
                </a:cubicBezTo>
                <a:cubicBezTo>
                  <a:pt x="131669" y="179799"/>
                  <a:pt x="136312" y="185737"/>
                  <a:pt x="142607" y="185737"/>
                </a:cubicBezTo>
                <a:cubicBezTo>
                  <a:pt x="147161" y="185737"/>
                  <a:pt x="151091" y="182612"/>
                  <a:pt x="151983" y="178147"/>
                </a:cubicBezTo>
                <a:cubicBezTo>
                  <a:pt x="155421" y="160824"/>
                  <a:pt x="157163" y="143187"/>
                  <a:pt x="157163" y="125418"/>
                </a:cubicBezTo>
                <a:lnTo>
                  <a:pt x="157163" y="114300"/>
                </a:lnTo>
                <a:cubicBezTo>
                  <a:pt x="157163" y="90636"/>
                  <a:pt x="137964" y="71437"/>
                  <a:pt x="114300" y="71437"/>
                </a:cubicBezTo>
                <a:close/>
                <a:moveTo>
                  <a:pt x="125016" y="114300"/>
                </a:moveTo>
                <a:cubicBezTo>
                  <a:pt x="125016" y="108361"/>
                  <a:pt x="120239" y="103584"/>
                  <a:pt x="114300" y="103584"/>
                </a:cubicBezTo>
                <a:cubicBezTo>
                  <a:pt x="108361" y="103584"/>
                  <a:pt x="103584" y="108361"/>
                  <a:pt x="103584" y="114300"/>
                </a:cubicBezTo>
                <a:lnTo>
                  <a:pt x="103584" y="125418"/>
                </a:lnTo>
                <a:cubicBezTo>
                  <a:pt x="103584" y="152163"/>
                  <a:pt x="98673" y="178683"/>
                  <a:pt x="89074" y="203642"/>
                </a:cubicBezTo>
                <a:lnTo>
                  <a:pt x="86439" y="210473"/>
                </a:lnTo>
                <a:cubicBezTo>
                  <a:pt x="84296" y="216009"/>
                  <a:pt x="87064" y="222214"/>
                  <a:pt x="92601" y="224314"/>
                </a:cubicBezTo>
                <a:cubicBezTo>
                  <a:pt x="98137" y="226412"/>
                  <a:pt x="104343" y="223689"/>
                  <a:pt x="106443" y="218152"/>
                </a:cubicBezTo>
                <a:lnTo>
                  <a:pt x="109076" y="211320"/>
                </a:lnTo>
                <a:cubicBezTo>
                  <a:pt x="119612" y="183907"/>
                  <a:pt x="125016" y="154796"/>
                  <a:pt x="125016" y="125418"/>
                </a:cubicBezTo>
                <a:lnTo>
                  <a:pt x="125016" y="1143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443047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program_id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52572" y="3124349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Index of the current program in the grid, similar to blockIdx.x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6181624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7277103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7443767" y="2300538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171450" y="28576"/>
                </a:moveTo>
                <a:lnTo>
                  <a:pt x="171450" y="57150"/>
                </a:lnTo>
                <a:lnTo>
                  <a:pt x="142875" y="57150"/>
                </a:lnTo>
                <a:lnTo>
                  <a:pt x="142875" y="28576"/>
                </a:lnTo>
                <a:lnTo>
                  <a:pt x="171450" y="28576"/>
                </a:lnTo>
                <a:close/>
                <a:moveTo>
                  <a:pt x="171450" y="85726"/>
                </a:moveTo>
                <a:lnTo>
                  <a:pt x="171450" y="114300"/>
                </a:lnTo>
                <a:lnTo>
                  <a:pt x="142875" y="114300"/>
                </a:lnTo>
                <a:lnTo>
                  <a:pt x="142875" y="85726"/>
                </a:lnTo>
                <a:lnTo>
                  <a:pt x="171450" y="85726"/>
                </a:lnTo>
                <a:close/>
                <a:moveTo>
                  <a:pt x="171450" y="142876"/>
                </a:moveTo>
                <a:lnTo>
                  <a:pt x="171450" y="171450"/>
                </a:lnTo>
                <a:lnTo>
                  <a:pt x="142875" y="171450"/>
                </a:lnTo>
                <a:lnTo>
                  <a:pt x="142875" y="142876"/>
                </a:lnTo>
                <a:lnTo>
                  <a:pt x="171450" y="142876"/>
                </a:lnTo>
                <a:close/>
                <a:moveTo>
                  <a:pt x="114300" y="114300"/>
                </a:moveTo>
                <a:lnTo>
                  <a:pt x="85725" y="114300"/>
                </a:lnTo>
                <a:lnTo>
                  <a:pt x="85725" y="85726"/>
                </a:lnTo>
                <a:lnTo>
                  <a:pt x="114300" y="85726"/>
                </a:lnTo>
                <a:lnTo>
                  <a:pt x="114300" y="114300"/>
                </a:lnTo>
                <a:close/>
                <a:moveTo>
                  <a:pt x="85725" y="142876"/>
                </a:moveTo>
                <a:lnTo>
                  <a:pt x="114300" y="142876"/>
                </a:lnTo>
                <a:lnTo>
                  <a:pt x="114300" y="171450"/>
                </a:lnTo>
                <a:lnTo>
                  <a:pt x="85725" y="171450"/>
                </a:lnTo>
                <a:lnTo>
                  <a:pt x="85725" y="142876"/>
                </a:lnTo>
                <a:close/>
                <a:moveTo>
                  <a:pt x="57150" y="114300"/>
                </a:moveTo>
                <a:lnTo>
                  <a:pt x="28575" y="114300"/>
                </a:lnTo>
                <a:lnTo>
                  <a:pt x="28575" y="85726"/>
                </a:lnTo>
                <a:lnTo>
                  <a:pt x="57150" y="85726"/>
                </a:lnTo>
                <a:lnTo>
                  <a:pt x="57150" y="114300"/>
                </a:lnTo>
                <a:close/>
                <a:moveTo>
                  <a:pt x="28575" y="142876"/>
                </a:moveTo>
                <a:lnTo>
                  <a:pt x="57150" y="142876"/>
                </a:lnTo>
                <a:lnTo>
                  <a:pt x="57150" y="171450"/>
                </a:lnTo>
                <a:lnTo>
                  <a:pt x="28575" y="171450"/>
                </a:lnTo>
                <a:lnTo>
                  <a:pt x="28575" y="142876"/>
                </a:lnTo>
                <a:close/>
                <a:moveTo>
                  <a:pt x="28575" y="57150"/>
                </a:moveTo>
                <a:lnTo>
                  <a:pt x="28575" y="28576"/>
                </a:lnTo>
                <a:lnTo>
                  <a:pt x="57150" y="28576"/>
                </a:lnTo>
                <a:lnTo>
                  <a:pt x="57150" y="57150"/>
                </a:lnTo>
                <a:lnTo>
                  <a:pt x="28575" y="57150"/>
                </a:lnTo>
                <a:close/>
                <a:moveTo>
                  <a:pt x="85725" y="57150"/>
                </a:moveTo>
                <a:lnTo>
                  <a:pt x="85725" y="28576"/>
                </a:lnTo>
                <a:lnTo>
                  <a:pt x="114300" y="28576"/>
                </a:lnTo>
                <a:lnTo>
                  <a:pt x="114300" y="57150"/>
                </a:lnTo>
                <a:lnTo>
                  <a:pt x="85725" y="57150"/>
                </a:lnTo>
                <a:close/>
                <a:moveTo>
                  <a:pt x="28575" y="0"/>
                </a:moveTo>
                <a:cubicBezTo>
                  <a:pt x="12814" y="0"/>
                  <a:pt x="0" y="12815"/>
                  <a:pt x="0" y="28576"/>
                </a:cubicBezTo>
                <a:lnTo>
                  <a:pt x="0" y="171450"/>
                </a:lnTo>
                <a:cubicBezTo>
                  <a:pt x="0" y="187211"/>
                  <a:pt x="12814" y="200026"/>
                  <a:pt x="28575" y="200026"/>
                </a:cubicBezTo>
                <a:lnTo>
                  <a:pt x="171450" y="200026"/>
                </a:lnTo>
                <a:cubicBezTo>
                  <a:pt x="187211" y="200026"/>
                  <a:pt x="200025" y="187211"/>
                  <a:pt x="200025" y="171450"/>
                </a:cubicBezTo>
                <a:lnTo>
                  <a:pt x="200025" y="28576"/>
                </a:lnTo>
                <a:cubicBezTo>
                  <a:pt x="200025" y="12815"/>
                  <a:pt x="187211" y="0"/>
                  <a:pt x="171450" y="0"/>
                </a:cubicBezTo>
                <a:lnTo>
                  <a:pt x="28575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38680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grid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48205" y="3124348"/>
            <a:ext cx="2390775" cy="3904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Collection of programs defining the scale of parallel execution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9077257" y="1933946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10172735" y="213387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10339399" y="2300538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5009" y="0"/>
                </a:moveTo>
                <a:lnTo>
                  <a:pt x="10716" y="0"/>
                </a:lnTo>
                <a:cubicBezTo>
                  <a:pt x="4776" y="0"/>
                  <a:pt x="0" y="4778"/>
                  <a:pt x="0" y="10715"/>
                </a:cubicBezTo>
                <a:lnTo>
                  <a:pt x="0" y="75011"/>
                </a:lnTo>
                <a:cubicBezTo>
                  <a:pt x="0" y="79341"/>
                  <a:pt x="2590" y="83271"/>
                  <a:pt x="6608" y="84922"/>
                </a:cubicBezTo>
                <a:cubicBezTo>
                  <a:pt x="10626" y="86574"/>
                  <a:pt x="15225" y="85637"/>
                  <a:pt x="18306" y="82600"/>
                </a:cubicBezTo>
                <a:lnTo>
                  <a:pt x="36165" y="64741"/>
                </a:lnTo>
                <a:lnTo>
                  <a:pt x="71437" y="100013"/>
                </a:lnTo>
                <a:lnTo>
                  <a:pt x="36165" y="135285"/>
                </a:lnTo>
                <a:lnTo>
                  <a:pt x="18306" y="117426"/>
                </a:lnTo>
                <a:cubicBezTo>
                  <a:pt x="15225" y="114345"/>
                  <a:pt x="10626" y="113452"/>
                  <a:pt x="6608" y="115104"/>
                </a:cubicBezTo>
                <a:cubicBezTo>
                  <a:pt x="2590" y="116755"/>
                  <a:pt x="0" y="120685"/>
                  <a:pt x="0" y="125015"/>
                </a:cubicBezTo>
                <a:lnTo>
                  <a:pt x="0" y="189311"/>
                </a:lnTo>
                <a:cubicBezTo>
                  <a:pt x="0" y="195248"/>
                  <a:pt x="4776" y="200026"/>
                  <a:pt x="10716" y="200026"/>
                </a:cubicBezTo>
                <a:lnTo>
                  <a:pt x="75009" y="200026"/>
                </a:lnTo>
                <a:cubicBezTo>
                  <a:pt x="79339" y="200026"/>
                  <a:pt x="83269" y="197436"/>
                  <a:pt x="84921" y="193418"/>
                </a:cubicBezTo>
                <a:cubicBezTo>
                  <a:pt x="86573" y="189399"/>
                  <a:pt x="85681" y="184799"/>
                  <a:pt x="82600" y="181720"/>
                </a:cubicBezTo>
                <a:lnTo>
                  <a:pt x="64740" y="163860"/>
                </a:lnTo>
                <a:lnTo>
                  <a:pt x="100013" y="128588"/>
                </a:lnTo>
                <a:lnTo>
                  <a:pt x="135285" y="163860"/>
                </a:lnTo>
                <a:lnTo>
                  <a:pt x="117425" y="181720"/>
                </a:lnTo>
                <a:cubicBezTo>
                  <a:pt x="114344" y="184799"/>
                  <a:pt x="113452" y="189399"/>
                  <a:pt x="115104" y="193418"/>
                </a:cubicBezTo>
                <a:cubicBezTo>
                  <a:pt x="116756" y="197436"/>
                  <a:pt x="120686" y="200026"/>
                  <a:pt x="125016" y="200026"/>
                </a:cubicBezTo>
                <a:lnTo>
                  <a:pt x="189309" y="200026"/>
                </a:lnTo>
                <a:cubicBezTo>
                  <a:pt x="195249" y="200026"/>
                  <a:pt x="200025" y="195248"/>
                  <a:pt x="200025" y="189311"/>
                </a:cubicBezTo>
                <a:lnTo>
                  <a:pt x="200025" y="125015"/>
                </a:lnTo>
                <a:cubicBezTo>
                  <a:pt x="200025" y="120685"/>
                  <a:pt x="197435" y="116755"/>
                  <a:pt x="193417" y="115104"/>
                </a:cubicBezTo>
                <a:cubicBezTo>
                  <a:pt x="189399" y="113452"/>
                  <a:pt x="184800" y="114345"/>
                  <a:pt x="181719" y="117426"/>
                </a:cubicBezTo>
                <a:lnTo>
                  <a:pt x="163860" y="135285"/>
                </a:lnTo>
                <a:lnTo>
                  <a:pt x="128587" y="100013"/>
                </a:lnTo>
                <a:lnTo>
                  <a:pt x="163860" y="64741"/>
                </a:lnTo>
                <a:lnTo>
                  <a:pt x="181719" y="82600"/>
                </a:lnTo>
                <a:cubicBezTo>
                  <a:pt x="184800" y="85681"/>
                  <a:pt x="189399" y="86574"/>
                  <a:pt x="193417" y="84922"/>
                </a:cubicBezTo>
                <a:cubicBezTo>
                  <a:pt x="197435" y="83271"/>
                  <a:pt x="200025" y="79341"/>
                  <a:pt x="200025" y="75011"/>
                </a:cubicBezTo>
                <a:lnTo>
                  <a:pt x="200025" y="10715"/>
                </a:lnTo>
                <a:cubicBezTo>
                  <a:pt x="200025" y="4778"/>
                  <a:pt x="195249" y="0"/>
                  <a:pt x="189309" y="0"/>
                </a:cubicBezTo>
                <a:lnTo>
                  <a:pt x="125016" y="0"/>
                </a:lnTo>
                <a:cubicBezTo>
                  <a:pt x="120686" y="0"/>
                  <a:pt x="116756" y="2590"/>
                  <a:pt x="115104" y="6608"/>
                </a:cubicBezTo>
                <a:cubicBezTo>
                  <a:pt x="113452" y="10627"/>
                  <a:pt x="114389" y="15227"/>
                  <a:pt x="117425" y="18306"/>
                </a:cubicBezTo>
                <a:lnTo>
                  <a:pt x="135285" y="36166"/>
                </a:lnTo>
                <a:lnTo>
                  <a:pt x="100013" y="71438"/>
                </a:lnTo>
                <a:lnTo>
                  <a:pt x="64740" y="36166"/>
                </a:lnTo>
                <a:lnTo>
                  <a:pt x="82600" y="18306"/>
                </a:lnTo>
                <a:cubicBezTo>
                  <a:pt x="85681" y="15227"/>
                  <a:pt x="86573" y="10627"/>
                  <a:pt x="84921" y="6608"/>
                </a:cubicBezTo>
                <a:cubicBezTo>
                  <a:pt x="83269" y="2590"/>
                  <a:pt x="79339" y="0"/>
                  <a:pt x="750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34313" y="2781458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BLOCK_SIZE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43838" y="3124349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Number of elements each program handles, a compile-time constant</a:t>
            </a:r>
            <a:endParaRPr lang="en-US" sz="1100"/>
          </a:p>
        </p:txBody>
      </p:sp>
      <p:sp>
        <p:nvSpPr>
          <p:cNvPr id="23" name="Freeform 23"/>
          <p:cNvSpPr/>
          <p:nvPr/>
        </p:nvSpPr>
        <p:spPr>
          <a:xfrm>
            <a:off x="390433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Freeform 24"/>
          <p:cNvSpPr/>
          <p:nvPr/>
        </p:nvSpPr>
        <p:spPr>
          <a:xfrm>
            <a:off x="1485838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1636785" y="4250224"/>
            <a:ext cx="230029" cy="185738"/>
          </a:xfrm>
          <a:custGeom>
            <a:avLst/>
            <a:gdLst/>
            <a:ahLst/>
            <a:cxnLst/>
            <a:rect l="l" t="t" r="r" b="b"/>
            <a:pathLst>
              <a:path w="230029" h="185738">
                <a:moveTo>
                  <a:pt x="1429" y="10717"/>
                </a:moveTo>
                <a:cubicBezTo>
                  <a:pt x="1429" y="4822"/>
                  <a:pt x="6205" y="0"/>
                  <a:pt x="12145" y="0"/>
                </a:cubicBezTo>
                <a:lnTo>
                  <a:pt x="33577" y="0"/>
                </a:lnTo>
                <a:cubicBezTo>
                  <a:pt x="39514" y="0"/>
                  <a:pt x="44292" y="4778"/>
                  <a:pt x="44292" y="10717"/>
                </a:cubicBezTo>
                <a:lnTo>
                  <a:pt x="44292" y="57150"/>
                </a:lnTo>
                <a:lnTo>
                  <a:pt x="55006" y="57150"/>
                </a:lnTo>
                <a:cubicBezTo>
                  <a:pt x="60945" y="57150"/>
                  <a:pt x="65723" y="61928"/>
                  <a:pt x="65723" y="67867"/>
                </a:cubicBezTo>
                <a:cubicBezTo>
                  <a:pt x="65723" y="73804"/>
                  <a:pt x="60945" y="78582"/>
                  <a:pt x="55006" y="78582"/>
                </a:cubicBezTo>
                <a:lnTo>
                  <a:pt x="12145" y="78582"/>
                </a:lnTo>
                <a:cubicBezTo>
                  <a:pt x="6205" y="78582"/>
                  <a:pt x="1429" y="73804"/>
                  <a:pt x="1429" y="67867"/>
                </a:cubicBezTo>
                <a:cubicBezTo>
                  <a:pt x="1429" y="61928"/>
                  <a:pt x="6205" y="57150"/>
                  <a:pt x="12145" y="57150"/>
                </a:cubicBezTo>
                <a:lnTo>
                  <a:pt x="22860" y="57150"/>
                </a:lnTo>
                <a:lnTo>
                  <a:pt x="22860" y="21432"/>
                </a:lnTo>
                <a:lnTo>
                  <a:pt x="12145" y="21432"/>
                </a:lnTo>
                <a:cubicBezTo>
                  <a:pt x="6205" y="21432"/>
                  <a:pt x="1429" y="16654"/>
                  <a:pt x="1429" y="10717"/>
                </a:cubicBezTo>
                <a:close/>
                <a:moveTo>
                  <a:pt x="15001" y="113051"/>
                </a:moveTo>
                <a:cubicBezTo>
                  <a:pt x="20092" y="109210"/>
                  <a:pt x="26298" y="107156"/>
                  <a:pt x="32682" y="107156"/>
                </a:cubicBezTo>
                <a:lnTo>
                  <a:pt x="34871" y="107156"/>
                </a:lnTo>
                <a:cubicBezTo>
                  <a:pt x="49918" y="107156"/>
                  <a:pt x="62152" y="119390"/>
                  <a:pt x="62152" y="134437"/>
                </a:cubicBezTo>
                <a:cubicBezTo>
                  <a:pt x="62152" y="143188"/>
                  <a:pt x="57954" y="151358"/>
                  <a:pt x="50899" y="156493"/>
                </a:cubicBezTo>
                <a:lnTo>
                  <a:pt x="40184" y="164306"/>
                </a:lnTo>
                <a:lnTo>
                  <a:pt x="55006" y="164306"/>
                </a:lnTo>
                <a:cubicBezTo>
                  <a:pt x="60945" y="164306"/>
                  <a:pt x="65723" y="169084"/>
                  <a:pt x="65723" y="175021"/>
                </a:cubicBezTo>
                <a:cubicBezTo>
                  <a:pt x="65723" y="180960"/>
                  <a:pt x="60945" y="185738"/>
                  <a:pt x="55006" y="185738"/>
                </a:cubicBezTo>
                <a:lnTo>
                  <a:pt x="14511" y="185738"/>
                </a:lnTo>
                <a:cubicBezTo>
                  <a:pt x="7279" y="185738"/>
                  <a:pt x="1429" y="179889"/>
                  <a:pt x="1429" y="172655"/>
                </a:cubicBezTo>
                <a:cubicBezTo>
                  <a:pt x="1429" y="168459"/>
                  <a:pt x="3438" y="164530"/>
                  <a:pt x="6832" y="162074"/>
                </a:cubicBezTo>
                <a:lnTo>
                  <a:pt x="38309" y="139169"/>
                </a:lnTo>
                <a:cubicBezTo>
                  <a:pt x="39827" y="138053"/>
                  <a:pt x="40720" y="136312"/>
                  <a:pt x="40720" y="134437"/>
                </a:cubicBezTo>
                <a:cubicBezTo>
                  <a:pt x="40720" y="131222"/>
                  <a:pt x="38085" y="128588"/>
                  <a:pt x="34871" y="128588"/>
                </a:cubicBezTo>
                <a:lnTo>
                  <a:pt x="32682" y="128588"/>
                </a:lnTo>
                <a:cubicBezTo>
                  <a:pt x="30943" y="128588"/>
                  <a:pt x="29245" y="129168"/>
                  <a:pt x="27862" y="130196"/>
                </a:cubicBezTo>
                <a:lnTo>
                  <a:pt x="18574" y="137160"/>
                </a:lnTo>
                <a:cubicBezTo>
                  <a:pt x="13841" y="140731"/>
                  <a:pt x="7144" y="139750"/>
                  <a:pt x="3571" y="135016"/>
                </a:cubicBezTo>
                <a:cubicBezTo>
                  <a:pt x="0" y="130284"/>
                  <a:pt x="983" y="123586"/>
                  <a:pt x="5715" y="120015"/>
                </a:cubicBezTo>
                <a:lnTo>
                  <a:pt x="15001" y="113051"/>
                </a:lnTo>
                <a:close/>
                <a:moveTo>
                  <a:pt x="101442" y="7144"/>
                </a:moveTo>
                <a:lnTo>
                  <a:pt x="215742" y="7144"/>
                </a:lnTo>
                <a:cubicBezTo>
                  <a:pt x="223643" y="7144"/>
                  <a:pt x="230029" y="13530"/>
                  <a:pt x="230029" y="21432"/>
                </a:cubicBezTo>
                <a:cubicBezTo>
                  <a:pt x="230029" y="29333"/>
                  <a:pt x="223643" y="35719"/>
                  <a:pt x="215742" y="35719"/>
                </a:cubicBezTo>
                <a:lnTo>
                  <a:pt x="101442" y="35719"/>
                </a:lnTo>
                <a:cubicBezTo>
                  <a:pt x="93540" y="35719"/>
                  <a:pt x="87154" y="29333"/>
                  <a:pt x="87154" y="21432"/>
                </a:cubicBezTo>
                <a:cubicBezTo>
                  <a:pt x="87154" y="13530"/>
                  <a:pt x="93540" y="7144"/>
                  <a:pt x="101442" y="7144"/>
                </a:cubicBezTo>
                <a:close/>
                <a:moveTo>
                  <a:pt x="101442" y="78582"/>
                </a:moveTo>
                <a:lnTo>
                  <a:pt x="215742" y="78582"/>
                </a:lnTo>
                <a:cubicBezTo>
                  <a:pt x="223643" y="78582"/>
                  <a:pt x="230029" y="84966"/>
                  <a:pt x="230029" y="92869"/>
                </a:cubicBezTo>
                <a:cubicBezTo>
                  <a:pt x="230029" y="100772"/>
                  <a:pt x="223643" y="107156"/>
                  <a:pt x="215742" y="107156"/>
                </a:cubicBezTo>
                <a:lnTo>
                  <a:pt x="101442" y="107156"/>
                </a:lnTo>
                <a:cubicBezTo>
                  <a:pt x="93540" y="107156"/>
                  <a:pt x="87154" y="100772"/>
                  <a:pt x="87154" y="92869"/>
                </a:cubicBezTo>
                <a:cubicBezTo>
                  <a:pt x="87154" y="84966"/>
                  <a:pt x="93540" y="78582"/>
                  <a:pt x="101442" y="78582"/>
                </a:cubicBezTo>
                <a:close/>
                <a:moveTo>
                  <a:pt x="101442" y="150019"/>
                </a:moveTo>
                <a:lnTo>
                  <a:pt x="215742" y="150019"/>
                </a:lnTo>
                <a:cubicBezTo>
                  <a:pt x="223643" y="150019"/>
                  <a:pt x="230029" y="156405"/>
                  <a:pt x="230029" y="164306"/>
                </a:cubicBezTo>
                <a:cubicBezTo>
                  <a:pt x="230029" y="172208"/>
                  <a:pt x="223643" y="178594"/>
                  <a:pt x="215742" y="178594"/>
                </a:cubicBezTo>
                <a:lnTo>
                  <a:pt x="101442" y="178594"/>
                </a:lnTo>
                <a:cubicBezTo>
                  <a:pt x="93540" y="178594"/>
                  <a:pt x="87154" y="172208"/>
                  <a:pt x="87154" y="164306"/>
                </a:cubicBezTo>
                <a:cubicBezTo>
                  <a:pt x="87154" y="156405"/>
                  <a:pt x="93540" y="150019"/>
                  <a:pt x="101442" y="1500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47489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tl.arange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57014" y="5066891"/>
            <a:ext cx="2400300" cy="4808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Generates vector indices for vectorized operations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3285992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4381470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4540991" y="4228793"/>
            <a:ext cx="214403" cy="228243"/>
          </a:xfrm>
          <a:custGeom>
            <a:avLst/>
            <a:gdLst/>
            <a:ahLst/>
            <a:cxnLst/>
            <a:rect l="l" t="t" r="r" b="b"/>
            <a:pathLst>
              <a:path w="214403" h="228243">
                <a:moveTo>
                  <a:pt x="107156" y="0"/>
                </a:moveTo>
                <a:cubicBezTo>
                  <a:pt x="109210" y="0"/>
                  <a:pt x="111264" y="446"/>
                  <a:pt x="113139" y="1295"/>
                </a:cubicBezTo>
                <a:lnTo>
                  <a:pt x="197257" y="36968"/>
                </a:lnTo>
                <a:cubicBezTo>
                  <a:pt x="207080" y="41121"/>
                  <a:pt x="214402" y="50810"/>
                  <a:pt x="214357" y="62508"/>
                </a:cubicBezTo>
                <a:cubicBezTo>
                  <a:pt x="214134" y="106799"/>
                  <a:pt x="195918" y="187836"/>
                  <a:pt x="118989" y="224671"/>
                </a:cubicBezTo>
                <a:cubicBezTo>
                  <a:pt x="111532" y="228243"/>
                  <a:pt x="102870" y="228243"/>
                  <a:pt x="95414" y="224671"/>
                </a:cubicBezTo>
                <a:cubicBezTo>
                  <a:pt x="18440" y="187836"/>
                  <a:pt x="268" y="106799"/>
                  <a:pt x="44" y="62508"/>
                </a:cubicBezTo>
                <a:cubicBezTo>
                  <a:pt x="0" y="50810"/>
                  <a:pt x="7323" y="41121"/>
                  <a:pt x="17145" y="36968"/>
                </a:cubicBezTo>
                <a:lnTo>
                  <a:pt x="101217" y="1295"/>
                </a:lnTo>
                <a:cubicBezTo>
                  <a:pt x="103093" y="446"/>
                  <a:pt x="105102" y="0"/>
                  <a:pt x="107156" y="0"/>
                </a:cubicBezTo>
                <a:close/>
                <a:moveTo>
                  <a:pt x="107156" y="29825"/>
                </a:moveTo>
                <a:lnTo>
                  <a:pt x="107156" y="198641"/>
                </a:lnTo>
                <a:cubicBezTo>
                  <a:pt x="168771" y="168816"/>
                  <a:pt x="185335" y="102735"/>
                  <a:pt x="185737" y="63177"/>
                </a:cubicBezTo>
                <a:lnTo>
                  <a:pt x="107156" y="29870"/>
                </a:lnTo>
                <a:lnTo>
                  <a:pt x="107156" y="2987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3443047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mask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452572" y="5066891"/>
            <a:ext cx="2390775" cy="58115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Boolean array controlling memory access and preventing out-of-bounds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6181624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Freeform 34"/>
          <p:cNvSpPr/>
          <p:nvPr/>
        </p:nvSpPr>
        <p:spPr>
          <a:xfrm>
            <a:off x="7277103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Freeform 35"/>
          <p:cNvSpPr/>
          <p:nvPr/>
        </p:nvSpPr>
        <p:spPr>
          <a:xfrm>
            <a:off x="7443767" y="4228793"/>
            <a:ext cx="200025" cy="214312"/>
          </a:xfrm>
          <a:custGeom>
            <a:avLst/>
            <a:gdLst/>
            <a:ahLst/>
            <a:cxnLst/>
            <a:rect l="l" t="t" r="r" b="b"/>
            <a:pathLst>
              <a:path w="200025" h="214312">
                <a:moveTo>
                  <a:pt x="114300" y="14287"/>
                </a:moveTo>
                <a:cubicBezTo>
                  <a:pt x="114300" y="6386"/>
                  <a:pt x="107914" y="0"/>
                  <a:pt x="100013" y="0"/>
                </a:cubicBezTo>
                <a:cubicBezTo>
                  <a:pt x="92111" y="0"/>
                  <a:pt x="85725" y="6386"/>
                  <a:pt x="85725" y="14287"/>
                </a:cubicBezTo>
                <a:lnTo>
                  <a:pt x="85725" y="108361"/>
                </a:lnTo>
                <a:lnTo>
                  <a:pt x="67241" y="89877"/>
                </a:lnTo>
                <a:cubicBezTo>
                  <a:pt x="61659" y="84296"/>
                  <a:pt x="52596" y="84296"/>
                  <a:pt x="47015" y="89877"/>
                </a:cubicBezTo>
                <a:cubicBezTo>
                  <a:pt x="41434" y="95458"/>
                  <a:pt x="41434" y="104522"/>
                  <a:pt x="47015" y="110103"/>
                </a:cubicBezTo>
                <a:lnTo>
                  <a:pt x="89877" y="152966"/>
                </a:lnTo>
                <a:cubicBezTo>
                  <a:pt x="95458" y="158547"/>
                  <a:pt x="104522" y="158547"/>
                  <a:pt x="110103" y="152966"/>
                </a:cubicBezTo>
                <a:lnTo>
                  <a:pt x="152966" y="110103"/>
                </a:lnTo>
                <a:cubicBezTo>
                  <a:pt x="158547" y="104522"/>
                  <a:pt x="158547" y="95458"/>
                  <a:pt x="152966" y="89877"/>
                </a:cubicBezTo>
                <a:cubicBezTo>
                  <a:pt x="147384" y="84296"/>
                  <a:pt x="138321" y="84296"/>
                  <a:pt x="132740" y="89877"/>
                </a:cubicBezTo>
                <a:lnTo>
                  <a:pt x="114300" y="108361"/>
                </a:lnTo>
                <a:lnTo>
                  <a:pt x="114300" y="14287"/>
                </a:lnTo>
                <a:close/>
                <a:moveTo>
                  <a:pt x="28575" y="142875"/>
                </a:moveTo>
                <a:cubicBezTo>
                  <a:pt x="12814" y="142875"/>
                  <a:pt x="0" y="155689"/>
                  <a:pt x="0" y="171450"/>
                </a:cubicBezTo>
                <a:lnTo>
                  <a:pt x="0" y="185737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7"/>
                </a:cubicBezTo>
                <a:lnTo>
                  <a:pt x="200025" y="171450"/>
                </a:lnTo>
                <a:cubicBezTo>
                  <a:pt x="200025" y="155689"/>
                  <a:pt x="187211" y="142875"/>
                  <a:pt x="171450" y="142875"/>
                </a:cubicBezTo>
                <a:lnTo>
                  <a:pt x="150510" y="142875"/>
                </a:lnTo>
                <a:lnTo>
                  <a:pt x="125239" y="168145"/>
                </a:lnTo>
                <a:cubicBezTo>
                  <a:pt x="111309" y="182076"/>
                  <a:pt x="88671" y="182076"/>
                  <a:pt x="74741" y="168145"/>
                </a:cubicBezTo>
                <a:lnTo>
                  <a:pt x="49515" y="142875"/>
                </a:lnTo>
                <a:lnTo>
                  <a:pt x="28575" y="142875"/>
                </a:lnTo>
                <a:close/>
                <a:moveTo>
                  <a:pt x="164306" y="167877"/>
                </a:moveTo>
                <a:cubicBezTo>
                  <a:pt x="170219" y="167877"/>
                  <a:pt x="175023" y="172681"/>
                  <a:pt x="175023" y="178594"/>
                </a:cubicBezTo>
                <a:cubicBezTo>
                  <a:pt x="175023" y="184508"/>
                  <a:pt x="170219" y="189309"/>
                  <a:pt x="164306" y="189309"/>
                </a:cubicBezTo>
                <a:cubicBezTo>
                  <a:pt x="158392" y="189309"/>
                  <a:pt x="153591" y="184508"/>
                  <a:pt x="153591" y="178594"/>
                </a:cubicBezTo>
                <a:cubicBezTo>
                  <a:pt x="153591" y="172681"/>
                  <a:pt x="158392" y="167877"/>
                  <a:pt x="164306" y="16787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6338680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tl.load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348205" y="5066891"/>
            <a:ext cx="2390775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Reads data from global memory, supports mask and vectorization</a:t>
            </a:r>
            <a:endParaRPr lang="en-US" sz="1100"/>
          </a:p>
        </p:txBody>
      </p:sp>
      <p:sp>
        <p:nvSpPr>
          <p:cNvPr id="38" name="Freeform 38"/>
          <p:cNvSpPr/>
          <p:nvPr/>
        </p:nvSpPr>
        <p:spPr>
          <a:xfrm>
            <a:off x="9077257" y="3876488"/>
            <a:ext cx="2724055" cy="1771555"/>
          </a:xfrm>
          <a:custGeom>
            <a:avLst/>
            <a:gdLst/>
            <a:ahLst/>
            <a:cxnLst/>
            <a:rect l="l" t="t" r="r" b="b"/>
            <a:pathLst>
              <a:path w="2724055" h="1771555">
                <a:moveTo>
                  <a:pt x="114301" y="0"/>
                </a:moveTo>
                <a:lnTo>
                  <a:pt x="2609753" y="0"/>
                </a:lnTo>
                <a:cubicBezTo>
                  <a:pt x="2672881" y="0"/>
                  <a:pt x="2724055" y="51173"/>
                  <a:pt x="2724055" y="114301"/>
                </a:cubicBezTo>
                <a:lnTo>
                  <a:pt x="2724055" y="1657253"/>
                </a:lnTo>
                <a:cubicBezTo>
                  <a:pt x="2724055" y="1720381"/>
                  <a:pt x="2672881" y="1771555"/>
                  <a:pt x="2609753" y="1771555"/>
                </a:cubicBezTo>
                <a:lnTo>
                  <a:pt x="114301" y="1771555"/>
                </a:lnTo>
                <a:cubicBezTo>
                  <a:pt x="51173" y="1771555"/>
                  <a:pt x="0" y="1720381"/>
                  <a:pt x="0" y="1657253"/>
                </a:cubicBezTo>
                <a:lnTo>
                  <a:pt x="0" y="114301"/>
                </a:lnTo>
                <a:cubicBezTo>
                  <a:pt x="0" y="51173"/>
                  <a:pt x="51173" y="0"/>
                  <a:pt x="11430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Freeform 39"/>
          <p:cNvSpPr/>
          <p:nvPr/>
        </p:nvSpPr>
        <p:spPr>
          <a:xfrm>
            <a:off x="10172735" y="407641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10339399" y="4227409"/>
            <a:ext cx="200025" cy="215697"/>
          </a:xfrm>
          <a:custGeom>
            <a:avLst/>
            <a:gdLst/>
            <a:ahLst/>
            <a:cxnLst/>
            <a:rect l="l" t="t" r="r" b="b"/>
            <a:pathLst>
              <a:path w="200025" h="215697">
                <a:moveTo>
                  <a:pt x="114300" y="50185"/>
                </a:moveTo>
                <a:lnTo>
                  <a:pt x="114300" y="144259"/>
                </a:lnTo>
                <a:cubicBezTo>
                  <a:pt x="114300" y="152162"/>
                  <a:pt x="107914" y="158547"/>
                  <a:pt x="100013" y="158547"/>
                </a:cubicBezTo>
                <a:cubicBezTo>
                  <a:pt x="92111" y="158547"/>
                  <a:pt x="85725" y="152162"/>
                  <a:pt x="85725" y="144259"/>
                </a:cubicBezTo>
                <a:lnTo>
                  <a:pt x="85725" y="50185"/>
                </a:lnTo>
                <a:lnTo>
                  <a:pt x="67241" y="68669"/>
                </a:lnTo>
                <a:cubicBezTo>
                  <a:pt x="61659" y="74250"/>
                  <a:pt x="52596" y="74250"/>
                  <a:pt x="47015" y="68669"/>
                </a:cubicBezTo>
                <a:cubicBezTo>
                  <a:pt x="41434" y="63088"/>
                  <a:pt x="41434" y="54025"/>
                  <a:pt x="47015" y="48443"/>
                </a:cubicBezTo>
                <a:lnTo>
                  <a:pt x="89877" y="5581"/>
                </a:lnTo>
                <a:cubicBezTo>
                  <a:pt x="95458" y="0"/>
                  <a:pt x="104522" y="0"/>
                  <a:pt x="110103" y="5581"/>
                </a:cubicBezTo>
                <a:lnTo>
                  <a:pt x="152966" y="48443"/>
                </a:lnTo>
                <a:cubicBezTo>
                  <a:pt x="158547" y="54025"/>
                  <a:pt x="158547" y="63088"/>
                  <a:pt x="152966" y="68669"/>
                </a:cubicBezTo>
                <a:cubicBezTo>
                  <a:pt x="147383" y="74250"/>
                  <a:pt x="138321" y="74250"/>
                  <a:pt x="132740" y="68669"/>
                </a:cubicBezTo>
                <a:lnTo>
                  <a:pt x="114300" y="50185"/>
                </a:lnTo>
                <a:close/>
                <a:moveTo>
                  <a:pt x="100013" y="179978"/>
                </a:moveTo>
                <a:cubicBezTo>
                  <a:pt x="119747" y="179978"/>
                  <a:pt x="135731" y="163994"/>
                  <a:pt x="135731" y="144259"/>
                </a:cubicBezTo>
                <a:lnTo>
                  <a:pt x="171450" y="144259"/>
                </a:lnTo>
                <a:cubicBezTo>
                  <a:pt x="187211" y="144259"/>
                  <a:pt x="200025" y="157073"/>
                  <a:pt x="200025" y="172834"/>
                </a:cubicBezTo>
                <a:lnTo>
                  <a:pt x="200025" y="187121"/>
                </a:lnTo>
                <a:cubicBezTo>
                  <a:pt x="200025" y="202882"/>
                  <a:pt x="187211" y="215697"/>
                  <a:pt x="171450" y="215697"/>
                </a:cubicBezTo>
                <a:lnTo>
                  <a:pt x="28575" y="215697"/>
                </a:lnTo>
                <a:cubicBezTo>
                  <a:pt x="12814" y="215697"/>
                  <a:pt x="0" y="202882"/>
                  <a:pt x="0" y="187121"/>
                </a:cubicBezTo>
                <a:lnTo>
                  <a:pt x="0" y="172834"/>
                </a:lnTo>
                <a:cubicBezTo>
                  <a:pt x="0" y="157073"/>
                  <a:pt x="12814" y="144259"/>
                  <a:pt x="28575" y="144259"/>
                </a:cubicBezTo>
                <a:lnTo>
                  <a:pt x="64294" y="144259"/>
                </a:lnTo>
                <a:cubicBezTo>
                  <a:pt x="64294" y="163994"/>
                  <a:pt x="80278" y="179978"/>
                  <a:pt x="100013" y="179978"/>
                </a:cubicBezTo>
                <a:close/>
                <a:moveTo>
                  <a:pt x="164306" y="190693"/>
                </a:moveTo>
                <a:cubicBezTo>
                  <a:pt x="170219" y="190693"/>
                  <a:pt x="175023" y="185892"/>
                  <a:pt x="175023" y="179978"/>
                </a:cubicBezTo>
                <a:cubicBezTo>
                  <a:pt x="175023" y="174065"/>
                  <a:pt x="170219" y="169261"/>
                  <a:pt x="164306" y="169261"/>
                </a:cubicBezTo>
                <a:cubicBezTo>
                  <a:pt x="158392" y="169261"/>
                  <a:pt x="153591" y="174065"/>
                  <a:pt x="153591" y="179978"/>
                </a:cubicBezTo>
                <a:cubicBezTo>
                  <a:pt x="153591" y="185892"/>
                  <a:pt x="158392" y="190693"/>
                  <a:pt x="164306" y="19069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234313" y="4724000"/>
            <a:ext cx="2409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tl.store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243838" y="5066891"/>
            <a:ext cx="2409825" cy="4808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Writes data to global memory, supports mask protection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7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600" b="0" i="0" u="none" strike="noStrike">
              <a:solidFill>
                <a:srgbClr val="7671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1"/>
          <a:srcRect l="2306" r="2305"/>
          <a:stretch>
            <a:fillRect/>
          </a:stretch>
        </p:blipFill>
        <p:spPr>
          <a:xfrm>
            <a:off x="0" y="-34924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  <a:endParaRPr lang="en-US" sz="4400" b="0" i="0" u="none" strike="noStrike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086,50052716,5000009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10450</Words>
  <Application>WPS 演示</Application>
  <PresentationFormat>宽屏</PresentationFormat>
  <Paragraphs>724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Arial</vt:lpstr>
      <vt:lpstr>微软雅黑</vt:lpstr>
      <vt:lpstr>Noto Sans SC</vt:lpstr>
      <vt:lpstr>Garamond</vt:lpstr>
      <vt:lpstr>Calibri</vt:lpstr>
      <vt:lpstr>Calibri Light</vt:lpstr>
      <vt:lpstr>Pretendard</vt:lpstr>
      <vt:lpstr>Segoe Print</vt:lpstr>
      <vt:lpstr>Montserrat SemiBold</vt:lpstr>
      <vt:lpstr>MiSans</vt:lpstr>
      <vt:lpstr>Arial Unicode MS</vt:lpstr>
      <vt:lpstr>BatangChe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Zhiqiang Zhao</cp:lastModifiedBy>
  <cp:revision>53</cp:revision>
  <dcterms:created xsi:type="dcterms:W3CDTF">2026-04-14T06:08:00Z</dcterms:created>
  <dcterms:modified xsi:type="dcterms:W3CDTF">2026-05-27T11:18:12Z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9A866395107AA02062CEDD69306860DC_42</vt:lpwstr>
  </property>
  <property fmtid="{D5CDD505-2E9C-101B-9397-08002B2CF9AE}" pid="3" name="KSOProductBuildVer">
    <vt:lpwstr>2052-12.1.0.21915</vt:lpwstr>
  </property>
</Properties>
</file>