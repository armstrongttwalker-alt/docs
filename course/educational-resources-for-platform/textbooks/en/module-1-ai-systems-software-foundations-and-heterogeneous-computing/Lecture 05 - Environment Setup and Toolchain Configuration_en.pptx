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438" r:id="rId6"/>
    <p:sldId id="439" r:id="rId7"/>
    <p:sldId id="440" r:id="rId8"/>
    <p:sldId id="441" r:id="rId9"/>
    <p:sldId id="442" r:id="rId10"/>
    <p:sldId id="443" r:id="rId11"/>
    <p:sldId id="444" r:id="rId12"/>
    <p:sldId id="445" r:id="rId13"/>
    <p:sldId id="446" r:id="rId14"/>
    <p:sldId id="321" r:id="rId15"/>
    <p:sldId id="322" r:id="rId16"/>
    <p:sldId id="281" r:id="rId17"/>
  </p:sldIdLst>
  <p:sldSz cx="12192000" cy="6858000"/>
  <p:notesSz cx="6858000" cy="9144000"/>
  <p:custDataLst>
    <p:tags r:id="rId2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3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3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需要涉及的要点</a:t>
            </a:r>
            <a:r>
              <a:rPr lang="en-US" altLang="zh-CN"/>
              <a:t>：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第一课时</a:t>
            </a:r>
            <a:r>
              <a:rPr lang="en-US" altLang="zh-CN"/>
              <a:t>：</a:t>
            </a:r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 Architectures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的逐渐演化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由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AI/ML workload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引导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逐渐展示出多种多样的架构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如华为达芬奇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、AMD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等等</a:t>
            </a:r>
            <a:endParaRPr lang="zh-CN" altLang="en-US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第二课时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互联的硬件基础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与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CUDA core、Tensor core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的编程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。</a:t>
            </a:r>
            <a:endParaRPr lang="en-US" altLang="zh-CN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可能还需要涉及的点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课程整体设计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（Syllabus、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各个模块的内容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根据教学大纲生成了个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overview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的图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）</a:t>
            </a:r>
            <a:endParaRPr lang="en-US" altLang="zh-CN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51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8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  <a:endParaRPr lang="en-US" sz="3200" b="1" i="0" u="none" strike="noStrik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  <a:endParaRPr lang="en-US" sz="2400" b="0" i="0" u="none" strike="noStrike">
              <a:solidFill>
                <a:srgbClr val="262626"/>
              </a:solidFill>
              <a:latin typeface="Calibri Light" panose="020F0302020204030204"/>
              <a:ea typeface="Calibri Light" panose="020F0302020204030204"/>
              <a:cs typeface="Calibri Light" panose="020F0302020204030204"/>
              <a:sym typeface="Calibri Light" panose="020F03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51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  <a:endParaRPr lang="en-US" sz="24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  <a:endParaRPr lang="en-US" sz="4400" b="0" i="0" u="none" strike="noStrike">
              <a:solidFill>
                <a:srgbClr val="44546A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  <a:endParaRPr lang="en-US" sz="4400" b="0" i="0" u="none" strike="noStrike">
              <a:solidFill>
                <a:srgbClr val="44546A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zhihu.com/people/95-22-20-18/posts" TargetMode="External"/><Relationship Id="rId8" Type="http://schemas.openxmlformats.org/officeDocument/2006/relationships/hyperlink" Target="https://space.bilibili.com/3546791834290849" TargetMode="External"/><Relationship Id="rId7" Type="http://schemas.openxmlformats.org/officeDocument/2006/relationships/hyperlink" Target="https://github.com/flagos-ai" TargetMode="Externa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3" Type="http://schemas.openxmlformats.org/officeDocument/2006/relationships/slideLayout" Target="../slideLayouts/slideLayout17.xml"/><Relationship Id="rId12" Type="http://schemas.openxmlformats.org/officeDocument/2006/relationships/image" Target="../media/image14.png"/><Relationship Id="rId11" Type="http://schemas.openxmlformats.org/officeDocument/2006/relationships/image" Target="../media/image13.jpeg"/><Relationship Id="rId10" Type="http://schemas.openxmlformats.org/officeDocument/2006/relationships/hyperlink" Target="https://flagos.io/Home" TargetMode="Externa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1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  <a:endParaRPr lang="en-US" sz="4000" b="0" i="0" u="none" strike="noStrike">
              <a:solidFill>
                <a:srgbClr val="44546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05: Environment Setup and Toolchain Configuration</a:t>
            </a:r>
            <a:endParaRPr lang="en-US" sz="51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Course Projects Overview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15900" y="1318604"/>
          <a:ext cx="11760200" cy="517334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96340"/>
                <a:gridCol w="3369945"/>
                <a:gridCol w="1627505"/>
                <a:gridCol w="5566410"/>
              </a:tblGrid>
              <a:tr h="539115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Lecture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Project Name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Type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Key Assessment Criteria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5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Environment Setup and Toolchain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Lab Session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Four-Phase Operational Verification + + Lab Report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9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Softmax Kernel (Midterm)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Individual Project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Correctness 40pts + Performance70% Threshold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18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RMSNorm+Residual  Fusion (Final)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Individual Project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Performance must reach FlagGems Benchmark 90%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27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FlagTree Pass  Contribution (Final)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Individual Project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Choose from 3 directions, FileCheck Test Verification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36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7B  Multi-Node Distributed Training (Final)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3-Person Team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Comparison of 3 Parallelism Strategies + + Linear Speedup Ratio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46-47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Capstone Project Defense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Group Defense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Proposal Feasibility + + Authenticity of Progress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FlagOS  Ecosystem Overview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https://docs.flagos.io/en/latest/overview.html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Design Philosophy: “Model-System-Chip” Decoupling, “Develop Once, Run Everywhere” 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(Intelligent Source): LLM -Driven Operator Generation and Test Verification Agent 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sz="18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FlagGems (High-Performance Operator Library): Based on  Triton , a High-Performance Generalized Operator Library.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FlagTree (Compilation Engine): A Unified  MLIR  Compiler Bridging Operators to Over Ten Heterogeneous Chip Architectures.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3601720" y="3537585"/>
            <a:ext cx="5532043" cy="2639695"/>
            <a:chOff x="3601720" y="3537585"/>
            <a:chExt cx="5532043" cy="2639695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3601720" y="3537585"/>
              <a:ext cx="5532043" cy="2639695"/>
            </a:xfrm>
            <a:prstGeom prst="rect">
              <a:avLst/>
            </a:prstGeom>
            <a:ln w="12700">
              <a:noFill/>
              <a:prstDash val="solid"/>
            </a:ln>
          </p:spPr>
        </p:pic>
        <p:sp>
          <p:nvSpPr>
            <p:cNvPr id="8" name="AutoShape 8"/>
            <p:cNvSpPr/>
            <p:nvPr/>
          </p:nvSpPr>
          <p:spPr>
            <a:xfrm>
              <a:off x="3601720" y="4795738"/>
              <a:ext cx="1751749" cy="1381542"/>
            </a:xfrm>
            <a:prstGeom prst="rect">
              <a:avLst/>
            </a:prstGeom>
            <a:noFill/>
            <a:ln w="38100" cap="flat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Overview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LabObjectives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Independently complete  FlagOS  development environment setup (Docker  or  Conda  route)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Successfully install and verify  CUDA Toolkit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NVCC) and  Triton  Compiler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Clone  flagos-ai/FlagGems  repository and pass compilation verification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Run the first  Hello World Triton Kernel, understand the basic execution workflow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Prerequisites: Lectures  1–4  foundational theory; basic  Linux  command-line proficiency; GitHub  account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Lab Environment Specifications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Hardware Requirements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NVIDIA GPU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 Capability ≥ 8.0, recommended:  A100/A800  or  RTX 30  series or above)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 ≥ 16 GB, Disk Space  ≥ 50 GB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Software Dependencies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OS	Ubuntu 20.04 / 22.04 LTS (recommended)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CUDA Toolkit	12.1  or  12.2 (compatible with  PyTorch 2.x )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Python  Environment	3.10  or  3.11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Docker  Version	≥ 24.0 (optional route)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Lab Procedures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Phase A: Environment Selection and Initialization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Choose one of the following two routes based on available resources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758950" y="2364740"/>
          <a:ext cx="9097645" cy="131191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097645"/>
              </a:tblGrid>
              <a:tr h="45148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Route 1 — Docker (Recommended)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docker pull nvcr.io/nvidia/pytorch:24.03-py3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docker run --gpus all -it --name flaggems-dev -v $(pwd):/workspace ...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758950" y="4133215"/>
          <a:ext cx="9097645" cy="1860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097645"/>
              </a:tblGrid>
              <a:tr h="48260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Route 2 — Conda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conda create -n flaggems python=3.11 -y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45974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conda activate flaggems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pip install torch==2.3.0 triton==2.3.0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Lab Procedures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Phase B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NVCC  and  CUDA  Verification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Phase C: Clone  FlagGems  and Install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635760" y="1878965"/>
          <a:ext cx="8004810" cy="1352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004810"/>
              </a:tblGrid>
              <a:tr h="45085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nvcc --version          # Verify CUDA  version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nvidia-smi              # Verify GPU  visibility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python -c "import torch; print(torch.cuda.is_available())"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635760" y="4038600"/>
          <a:ext cx="8047990" cy="20802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047990"/>
              </a:tblGrid>
              <a:tr h="52006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git clone https://github.com/flagos-ai/FlagGems.git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cd FlagGems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pip install -e .         #  Install in development mode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python -c "import flag_gems; print('FlagGems OK')"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Lab Procedures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Phase D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Hello World Triton Kernel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Write and run the following minimal  Triton Kernel to complete print output verification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Observe  Triton 's  JIT  compilation output; record in the lab report the  PTX  file path and  Kernel  launch time.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690370" y="2830195"/>
          <a:ext cx="8373110" cy="319659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373110"/>
              </a:tblGrid>
              <a:tr h="53276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import triton, triton.language as tl, torch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53276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@triton.jit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53276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def hello_kernel(x_ptr, out_ptr, n: tl.constexpr):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53276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    idx = tl.program_id(0)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53276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    x = tl.load(x_ptr + idx)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53276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    tl.store(out_ptr + idx, x * 2)</a:t>
                      </a:r>
                      <a:endParaRPr lang="en-US" sz="1100"/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Submission Requirements and Grading Criteria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Lab Report Requirements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Screenshots: terminal output of all four phases (nvcc version, GPU info, FlagGems import success, Kernel output)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Text: describe encountered environment issues and resolution 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Analysis: compare  Docker  and  Conda  routes - pros and cons (within 200  words)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Bonus (optional): draw a toolchain call graph from  Python  code to  GPU  execution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Grading Criteria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81405" y="3966845"/>
          <a:ext cx="9110980" cy="196786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0365"/>
                <a:gridCol w="1751965"/>
                <a:gridCol w="4438650"/>
              </a:tblGrid>
              <a:tr h="41211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 Bold" panose="020B0604020202090204"/>
                          <a:ea typeface="Arial Bold" panose="020B0604020202090204"/>
                          <a:cs typeface="Arial Bold" panose="020B0604020202090204"/>
                          <a:sym typeface="Arial Bold" panose="020B0604020202090204"/>
                        </a:rPr>
                        <a:t>Assessment Dimension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 Bold" panose="020B0604020202090204"/>
                          <a:ea typeface="Arial Bold" panose="020B0604020202090204"/>
                          <a:cs typeface="Arial Bold" panose="020B0604020202090204"/>
                          <a:sym typeface="Arial Bold" panose="020B0604020202090204"/>
                        </a:rPr>
                        <a:t>Score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 Bold" panose="020B0604020202090204"/>
                          <a:ea typeface="Arial Bold" panose="020B0604020202090204"/>
                          <a:cs typeface="Arial Bold" panose="020B0604020202090204"/>
                          <a:sym typeface="Arial Bold" panose="020B0604020202090204"/>
                        </a:rPr>
                        <a:t>Grading Criteria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</a:tr>
              <a:tr h="38925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Environment Configuration Completeness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40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All four phases completed with screenshot evidence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Kernel  Execution Verification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30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Hello World  output correct, compilation parameters recorded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</a:tr>
              <a:tr h="38925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Lab Report Quality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Thorough analysis, clear troubleshooting approach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Bonus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10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Toolchain call graph accurate and complete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7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600" b="0" i="0" u="none" strike="noStrike">
              <a:solidFill>
                <a:srgbClr val="76717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1"/>
          <a:srcRect l="2306" r="2305"/>
          <a:stretch>
            <a:fillRect/>
          </a:stretch>
        </p:blipFill>
        <p:spPr>
          <a:xfrm>
            <a:off x="0" y="-34924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  <a:endParaRPr lang="en-US" sz="4400" b="0" i="0" u="none" strike="noStrike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29&quot;:[50000086,50052716,50000090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4338</Words>
  <Application>WPS 演示</Application>
  <PresentationFormat>宽屏</PresentationFormat>
  <Paragraphs>232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Noto Sans SC</vt:lpstr>
      <vt:lpstr>Garamond</vt:lpstr>
      <vt:lpstr>Calibri</vt:lpstr>
      <vt:lpstr>Calibri Light</vt:lpstr>
      <vt:lpstr>Pretendard</vt:lpstr>
      <vt:lpstr>Segoe Print</vt:lpstr>
      <vt:lpstr>Montserrat SemiBold</vt:lpstr>
      <vt:lpstr>Courier New</vt:lpstr>
      <vt:lpstr>Arial Bold</vt:lpstr>
      <vt:lpstr>Arial Unicode MS</vt:lpstr>
      <vt:lpstr>BatangChe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Zhiqiang Zhao</cp:lastModifiedBy>
  <cp:revision>53</cp:revision>
  <dcterms:created xsi:type="dcterms:W3CDTF">2026-04-14T06:08:00Z</dcterms:created>
  <dcterms:modified xsi:type="dcterms:W3CDTF">2026-05-27T11:18:11Z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9A866395107AA02062CEDD69306860DC_42</vt:lpwstr>
  </property>
  <property fmtid="{D5CDD505-2E9C-101B-9397-08002B2CF9AE}" pid="3" name="KSOProductBuildVer">
    <vt:lpwstr>2052-12.1.0.21915</vt:lpwstr>
  </property>
</Properties>
</file>