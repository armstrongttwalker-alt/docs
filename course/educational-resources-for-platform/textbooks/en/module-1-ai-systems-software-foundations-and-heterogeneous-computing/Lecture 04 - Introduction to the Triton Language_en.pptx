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412" r:id="rId6"/>
    <p:sldId id="413" r:id="rId7"/>
    <p:sldId id="414" r:id="rId8"/>
    <p:sldId id="415" r:id="rId9"/>
    <p:sldId id="416" r:id="rId10"/>
    <p:sldId id="417" r:id="rId11"/>
    <p:sldId id="418" r:id="rId12"/>
    <p:sldId id="419" r:id="rId13"/>
    <p:sldId id="420" r:id="rId14"/>
    <p:sldId id="421" r:id="rId15"/>
    <p:sldId id="422" r:id="rId16"/>
    <p:sldId id="423" r:id="rId17"/>
    <p:sldId id="424" r:id="rId18"/>
    <p:sldId id="425" r:id="rId19"/>
    <p:sldId id="426" r:id="rId20"/>
    <p:sldId id="427" r:id="rId21"/>
    <p:sldId id="428" r:id="rId22"/>
    <p:sldId id="429" r:id="rId23"/>
    <p:sldId id="430" r:id="rId24"/>
    <p:sldId id="431" r:id="rId25"/>
    <p:sldId id="432" r:id="rId26"/>
    <p:sldId id="433" r:id="rId27"/>
    <p:sldId id="434" r:id="rId28"/>
    <p:sldId id="435" r:id="rId29"/>
    <p:sldId id="436" r:id="rId30"/>
    <p:sldId id="437" r:id="rId31"/>
    <p:sldId id="321" r:id="rId32"/>
    <p:sldId id="322" r:id="rId33"/>
    <p:sldId id="281" r:id="rId34"/>
  </p:sldIdLst>
  <p:sldSz cx="12192000" cy="6858000"/>
  <p:notesSz cx="6858000" cy="9144000"/>
  <p:custDataLst>
    <p:tags r:id="rId3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3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gs" Target="tags/tag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需要涉及的要点</a:t>
            </a:r>
            <a:r>
              <a:rPr lang="en-US" altLang="zh-CN"/>
              <a:t>：</a:t>
            </a:r>
            <a:endParaRPr lang="en-US" altLang="zh-CN"/>
          </a:p>
          <a:p>
            <a:r>
              <a:rPr lang="en-US" altLang="zh-CN"/>
              <a:t>- </a:t>
            </a:r>
            <a:r>
              <a:rPr lang="zh-CN" altLang="en-US"/>
              <a:t>第一课时</a:t>
            </a:r>
            <a:r>
              <a:rPr lang="en-US" altLang="zh-CN"/>
              <a:t>：</a:t>
            </a:r>
            <a:r>
              <a:rPr lang="en-US">
                <a:solidFill>
                  <a:srgbClr val="262626"/>
                </a:solidFill>
                <a:latin typeface="Calibri" panose="020F0502020204030204"/>
                <a:ea typeface="Calibri" panose="020F0502020204030204"/>
                <a:cs typeface="Calibri" panose="020F0502020204030204"/>
                <a:sym typeface="Calibri" panose="020F0502020204030204"/>
              </a:rPr>
              <a:t>Compute Architectures </a:t>
            </a:r>
            <a:r>
              <a:rPr lang="zh-CN" altLang="en-US">
                <a:solidFill>
                  <a:srgbClr val="262626"/>
                </a:solidFill>
                <a:latin typeface="Calibri" panose="020F0502020204030204"/>
                <a:ea typeface="Calibri" panose="020F0502020204030204"/>
                <a:cs typeface="Calibri" panose="020F0502020204030204"/>
                <a:sym typeface="Calibri" panose="020F0502020204030204"/>
              </a:rPr>
              <a:t>的逐渐演化</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由</a:t>
            </a:r>
            <a:r>
              <a:rPr lang="en-US" altLang="zh-CN">
                <a:solidFill>
                  <a:srgbClr val="262626"/>
                </a:solidFill>
                <a:latin typeface="Calibri" panose="020F0502020204030204"/>
                <a:ea typeface="Calibri" panose="020F0502020204030204"/>
                <a:cs typeface="Calibri" panose="020F0502020204030204"/>
                <a:sym typeface="Calibri" panose="020F0502020204030204"/>
              </a:rPr>
              <a:t>AI/ML workload </a:t>
            </a:r>
            <a:r>
              <a:rPr lang="zh-CN" altLang="en-US">
                <a:solidFill>
                  <a:srgbClr val="262626"/>
                </a:solidFill>
                <a:latin typeface="Calibri" panose="020F0502020204030204"/>
                <a:ea typeface="Calibri" panose="020F0502020204030204"/>
                <a:cs typeface="Calibri" panose="020F0502020204030204"/>
                <a:sym typeface="Calibri" panose="020F0502020204030204"/>
              </a:rPr>
              <a:t>引导</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逐渐展示出多种多样的架构</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如华为达芬奇</a:t>
            </a:r>
            <a:r>
              <a:rPr lang="en-US" altLang="zh-CN">
                <a:solidFill>
                  <a:srgbClr val="262626"/>
                </a:solidFill>
                <a:latin typeface="Calibri" panose="020F0502020204030204"/>
                <a:ea typeface="Calibri" panose="020F0502020204030204"/>
                <a:cs typeface="Calibri" panose="020F0502020204030204"/>
                <a:sym typeface="Calibri" panose="020F0502020204030204"/>
              </a:rPr>
              <a:t>、AMD</a:t>
            </a:r>
            <a:r>
              <a:rPr lang="zh-CN" altLang="en-US">
                <a:solidFill>
                  <a:srgbClr val="262626"/>
                </a:solidFill>
                <a:latin typeface="Calibri" panose="020F0502020204030204"/>
                <a:ea typeface="Calibri" panose="020F0502020204030204"/>
                <a:cs typeface="Calibri" panose="020F0502020204030204"/>
                <a:sym typeface="Calibri" panose="020F0502020204030204"/>
              </a:rPr>
              <a:t>等等</a:t>
            </a:r>
            <a:endParaRPr lang="zh-CN" altLang="en-US">
              <a:solidFill>
                <a:srgbClr val="262626"/>
              </a:solidFill>
              <a:latin typeface="Calibri" panose="020F0502020204030204"/>
              <a:ea typeface="Calibri" panose="020F0502020204030204"/>
              <a:cs typeface="Calibri" panose="020F0502020204030204"/>
              <a:sym typeface="Calibri" panose="020F0502020204030204"/>
            </a:endParaRPr>
          </a:p>
          <a:p>
            <a:r>
              <a:rPr lang="en-US" altLang="zh-CN">
                <a:solidFill>
                  <a:srgbClr val="262626"/>
                </a:solidFill>
                <a:latin typeface="Calibri" panose="020F0502020204030204"/>
                <a:ea typeface="Calibri" panose="020F0502020204030204"/>
                <a:cs typeface="Calibri" panose="020F0502020204030204"/>
                <a:sym typeface="Calibri" panose="020F0502020204030204"/>
              </a:rPr>
              <a:t>- </a:t>
            </a:r>
            <a:r>
              <a:rPr lang="zh-CN" altLang="en-US">
                <a:solidFill>
                  <a:srgbClr val="262626"/>
                </a:solidFill>
                <a:latin typeface="Calibri" panose="020F0502020204030204"/>
                <a:ea typeface="Calibri" panose="020F0502020204030204"/>
                <a:cs typeface="Calibri" panose="020F0502020204030204"/>
                <a:sym typeface="Calibri" panose="020F0502020204030204"/>
              </a:rPr>
              <a:t>第二课时</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互联的硬件基础</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与</a:t>
            </a:r>
            <a:r>
              <a:rPr lang="en-US" altLang="zh-CN">
                <a:solidFill>
                  <a:srgbClr val="262626"/>
                </a:solidFill>
                <a:latin typeface="Calibri" panose="020F0502020204030204"/>
                <a:ea typeface="Calibri" panose="020F0502020204030204"/>
                <a:cs typeface="Calibri" panose="020F0502020204030204"/>
                <a:sym typeface="Calibri" panose="020F0502020204030204"/>
              </a:rPr>
              <a:t>CUDA core、Tensor core </a:t>
            </a:r>
            <a:r>
              <a:rPr lang="zh-CN" altLang="en-US">
                <a:solidFill>
                  <a:srgbClr val="262626"/>
                </a:solidFill>
                <a:latin typeface="Calibri" panose="020F0502020204030204"/>
                <a:ea typeface="Calibri" panose="020F0502020204030204"/>
                <a:cs typeface="Calibri" panose="020F0502020204030204"/>
                <a:sym typeface="Calibri" panose="020F0502020204030204"/>
              </a:rPr>
              <a:t>的编程</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endParaRPr lang="en-US" altLang="zh-CN">
              <a:solidFill>
                <a:srgbClr val="262626"/>
              </a:solidFill>
              <a:latin typeface="Calibri" panose="020F0502020204030204"/>
              <a:ea typeface="Calibri" panose="020F0502020204030204"/>
              <a:cs typeface="Calibri" panose="020F0502020204030204"/>
              <a:sym typeface="Calibri" panose="020F0502020204030204"/>
            </a:endParaRPr>
          </a:p>
          <a:p>
            <a:r>
              <a:rPr lang="en-US" altLang="zh-CN">
                <a:solidFill>
                  <a:srgbClr val="262626"/>
                </a:solidFill>
                <a:latin typeface="Calibri" panose="020F0502020204030204"/>
                <a:ea typeface="Calibri" panose="020F0502020204030204"/>
                <a:cs typeface="Calibri" panose="020F0502020204030204"/>
                <a:sym typeface="Calibri" panose="020F0502020204030204"/>
              </a:rPr>
              <a:t>- </a:t>
            </a:r>
            <a:r>
              <a:rPr lang="zh-CN" altLang="en-US">
                <a:solidFill>
                  <a:srgbClr val="262626"/>
                </a:solidFill>
                <a:latin typeface="Calibri" panose="020F0502020204030204"/>
                <a:ea typeface="Calibri" panose="020F0502020204030204"/>
                <a:cs typeface="Calibri" panose="020F0502020204030204"/>
                <a:sym typeface="Calibri" panose="020F0502020204030204"/>
              </a:rPr>
              <a:t>可能还需要涉及的点</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课程整体设计</a:t>
            </a:r>
            <a:r>
              <a:rPr lang="en-US" altLang="zh-CN">
                <a:solidFill>
                  <a:srgbClr val="262626"/>
                </a:solidFill>
                <a:latin typeface="Calibri" panose="020F0502020204030204"/>
                <a:ea typeface="Calibri" panose="020F0502020204030204"/>
                <a:cs typeface="Calibri" panose="020F0502020204030204"/>
                <a:sym typeface="Calibri" panose="020F0502020204030204"/>
              </a:rPr>
              <a:t>（Syllabus、</a:t>
            </a:r>
            <a:r>
              <a:rPr lang="zh-CN" altLang="en-US">
                <a:solidFill>
                  <a:srgbClr val="262626"/>
                </a:solidFill>
                <a:latin typeface="Calibri" panose="020F0502020204030204"/>
                <a:ea typeface="Calibri" panose="020F0502020204030204"/>
                <a:cs typeface="Calibri" panose="020F0502020204030204"/>
                <a:sym typeface="Calibri" panose="020F0502020204030204"/>
              </a:rPr>
              <a:t>各个模块的内容</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r>
              <a:rPr lang="zh-CN" altLang="en-US">
                <a:solidFill>
                  <a:srgbClr val="262626"/>
                </a:solidFill>
                <a:latin typeface="Calibri" panose="020F0502020204030204"/>
                <a:ea typeface="Calibri" panose="020F0502020204030204"/>
                <a:cs typeface="Calibri" panose="020F0502020204030204"/>
                <a:sym typeface="Calibri" panose="020F0502020204030204"/>
              </a:rPr>
              <a:t>根据教学大纲生成了个</a:t>
            </a:r>
            <a:r>
              <a:rPr lang="en-US" altLang="zh-CN">
                <a:solidFill>
                  <a:srgbClr val="262626"/>
                </a:solidFill>
                <a:latin typeface="Calibri" panose="020F0502020204030204"/>
                <a:ea typeface="Calibri" panose="020F0502020204030204"/>
                <a:cs typeface="Calibri" panose="020F0502020204030204"/>
                <a:sym typeface="Calibri" panose="020F0502020204030204"/>
              </a:rPr>
              <a:t>overview</a:t>
            </a:r>
            <a:r>
              <a:rPr lang="zh-CN" altLang="en-US">
                <a:solidFill>
                  <a:srgbClr val="262626"/>
                </a:solidFill>
                <a:latin typeface="Calibri" panose="020F0502020204030204"/>
                <a:ea typeface="Calibri" panose="020F0502020204030204"/>
                <a:cs typeface="Calibri" panose="020F0502020204030204"/>
                <a:sym typeface="Calibri" panose="020F0502020204030204"/>
              </a:rPr>
              <a:t>的图</a:t>
            </a:r>
            <a:r>
              <a:rPr lang="en-US" altLang="zh-CN">
                <a:solidFill>
                  <a:srgbClr val="262626"/>
                </a:solidFill>
                <a:latin typeface="Calibri" panose="020F0502020204030204"/>
                <a:ea typeface="Calibri" panose="020F0502020204030204"/>
                <a:cs typeface="Calibri" panose="020F0502020204030204"/>
                <a:sym typeface="Calibri" panose="020F0502020204030204"/>
              </a:rPr>
              <a:t>）</a:t>
            </a:r>
            <a:endParaRPr lang="en-US" altLang="zh-CN">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既是一种编程语言，也是一个编译器。从程序员的视角来看，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作为一门编程语言，专门用于并行编程，它为了运行在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硬件上而设计，但也可以用在一些其他的、和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CPU、GPU</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都不同的加速器芯片上。</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语言可以用来编写神经网络当中的算子，实现非常好的计算性能，使大模型的程序能够更快地运行在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GPU</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上，更迅速地给我们问题的答案。</a:t>
            </a:r>
            <a:b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b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而从芯片的角度来看，</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作为编译器，可以把人类程序员能够理解的</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编程语言，一步步地转换成芯片可以理解的机器语言，把程序代码生成出一个可以执行的二进制文件。在转换的过程中，编译器还会进行分析、思考和调整，让编译出的机器语言更优美、更高效。</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下面两个网址分别是</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Github</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上的开源项目地址，和</a:t>
            </a: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编程语言的说明文档地址。</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Feature	PyTorch (Eager)		CUDA C++		Triton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Ease of Use	Excellent (Python)	Low (C++)		Great (Pythonic)</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Performance	Moderate		Maximum		Near-Maximum</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Memory Mgmt.	Automatic		Manual (Shared/Global)	Automatic (Tiled)</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Optimization	Limited		Manual (Hard)		Compiler-Driven</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6"/>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3.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hyperlink" Target="https://github.com/dao-ailab/flash-attention/blob/main/flash_attn/flash_attn_triton.py" TargetMode="External"/><Relationship Id="rId2" Type="http://schemas.openxmlformats.org/officeDocument/2006/relationships/hyperlink" Target="https://github.com/triton-lang/triton/tree/main/docs/meetups" TargetMode="External"/><Relationship Id="rId1" Type="http://schemas.openxmlformats.org/officeDocument/2006/relationships/hyperlink" Target="https://triton-lang.org/main/index.html" TargetMode="Externa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3" Type="http://schemas.openxmlformats.org/officeDocument/2006/relationships/slideLayout" Target="../slideLayouts/slideLayout17.xml"/><Relationship Id="rId12" Type="http://schemas.openxmlformats.org/officeDocument/2006/relationships/image" Target="../media/image19.png"/><Relationship Id="rId11" Type="http://schemas.openxmlformats.org/officeDocument/2006/relationships/image" Target="../media/image18.jpeg"/><Relationship Id="rId10" Type="http://schemas.openxmlformats.org/officeDocument/2006/relationships/hyperlink" Target="https://flagos.io/Home" TargetMode="Externa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endParaRPr lang="en-US" sz="4000" b="0" i="0" u="none" strike="noStrike">
              <a:solidFill>
                <a:srgbClr val="44546A"/>
              </a:solidFill>
              <a:latin typeface="Montserrat SemiBold"/>
              <a:ea typeface="Montserrat SemiBold"/>
              <a:cs typeface="Montserrat SemiBold"/>
              <a:sym typeface="Montserrat SemiBold"/>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04: Introduction to the Triton Language</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Programming: </a:t>
            </a:r>
            <a:r>
              <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rPr>
              <a:t>High-Performance GPU Kernels with Pythonic Ease</a:t>
            </a:r>
            <a:endParaRPr lang="en-US" sz="20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Overview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Problem: barrier between Python productivity and CUDA C++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Solution: an embedded DSL and compiler for writing efficient custom deep-learning ops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Goal: Enabling developers to write “block-based” algorithms that rival hand-tuned CUDA.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 contrast to “thread-based”; also being called “tile-centric”</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this lecture: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 Philosophy: Why not just use CUDA?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Execution Model: Understanding Grids and Programs.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Building Blocks: Master Block-based programming and Pointer Arithmetic.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Hands-on Syntax: Defining and launching your first @triton.jit kernel.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nvSpPr>
        <p:spPr>
          <a:xfrm>
            <a:off x="3849370" y="1365250"/>
            <a:ext cx="6634480" cy="17532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21B5C2"/>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is a </a:t>
            </a:r>
            <a:r>
              <a:rPr lang="en-US" sz="1800" b="0"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language</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and </a:t>
            </a:r>
            <a:r>
              <a:rPr lang="en-US" sz="1800" b="0" i="0" u="none" strike="noStrike">
                <a:solidFill>
                  <a:srgbClr val="8B0012"/>
                </a:solidFill>
                <a:latin typeface="微软雅黑" panose="020B0503020204020204" charset="-122"/>
                <a:ea typeface="微软雅黑" panose="020B0503020204020204" charset="-122"/>
                <a:cs typeface="微软雅黑" panose="020B0503020204020204" charset="-122"/>
                <a:sym typeface="微软雅黑" panose="020B0503020204020204" charset="-122"/>
              </a:rPr>
              <a:t>compiler</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designed for parallel programming. It aims to provide a Python-based programming environment for efficiently writing custom DNN compute kernels, enabling them to run at maximum throughput on modern GPU hardware.</a:t>
            </a:r>
            <a:endParaRPr lang="en-US" sz="1100"/>
          </a:p>
        </p:txBody>
      </p:sp>
      <p:pic>
        <p:nvPicPr>
          <p:cNvPr id="6" name="Picture 6"/>
          <p:cNvPicPr>
            <a:picLocks noChangeAspect="1"/>
          </p:cNvPicPr>
          <p:nvPr/>
        </p:nvPicPr>
        <p:blipFill>
          <a:blip r:embed="rId1"/>
          <a:srcRect t="14451" r="831" b="10333"/>
          <a:stretch>
            <a:fillRect/>
          </a:stretch>
        </p:blipFill>
        <p:spPr>
          <a:xfrm>
            <a:off x="1510030" y="3300730"/>
            <a:ext cx="9646920" cy="310642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126841" y="1324157"/>
            <a:ext cx="1737383" cy="1976273"/>
          </a:xfrm>
          <a:prstGeom prst="rect">
            <a:avLst/>
          </a:prstGeom>
          <a:ln w="12700">
            <a:noFill/>
            <a:prstDash val="solid"/>
          </a:ln>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vs. Other Open-Source Programming Models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nvSpPr>
        <p:spPr>
          <a:xfrm>
            <a:off x="5748030" y="2316787"/>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MLIR</a:t>
            </a:r>
            <a:endParaRPr lang="en-US" sz="1100"/>
          </a:p>
        </p:txBody>
      </p:sp>
      <p:sp>
        <p:nvSpPr>
          <p:cNvPr id="6" name="AutoShape 6"/>
          <p:cNvSpPr/>
          <p:nvPr/>
        </p:nvSpPr>
        <p:spPr>
          <a:xfrm>
            <a:off x="467360" y="5026025"/>
            <a:ext cx="8201025" cy="1443355"/>
          </a:xfrm>
          <a:prstGeom prst="rect">
            <a:avLst/>
          </a:prstGeom>
          <a:noFill/>
          <a:ln w="12700">
            <a:noFill/>
            <a:prstDash val="solid"/>
          </a:ln>
        </p:spPr>
        <p:txBody>
          <a:bodyPr wrap="square" lIns="91440" tIns="45720" rIns="91440" bIns="45720" rtlCol="0" anchor="t">
            <a:noAutofit/>
          </a:bodyPr>
          <a:lstStyle/>
          <a:p>
            <a:pPr indent="0" algn="l">
              <a:lnSpc>
                <a:spcPct val="100000"/>
              </a:lnSpc>
              <a:spcBef>
                <a:spcPts val="1000"/>
              </a:spcBef>
              <a:defRPr/>
            </a:pPr>
            <a:r>
              <a:rPr lang="en-US" sz="12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Evaluation Criteria</a:t>
            </a:r>
            <a:endParaRPr lang="en-US" sz="1100"/>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Architectural Advancement: </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Evaluates technical generation and the sophistication of software architecture.</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Implementation Efficiency: </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Assesses whether critical and complex operators are efficiently implemented, with performance approaching or exceeding manual optimization.</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Implementation Quality:</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Evaluates the quality of the software as an infrastructure for broader adoption and secondary development.</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Programmability: </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Measures the reduction in programming complexity and the effective improvement in development productivity.</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457200" lvl="1" indent="0" algn="l">
              <a:lnSpc>
                <a:spcPct val="100000"/>
              </a:lnSpc>
              <a:spcBef>
                <a:spcPts val="500"/>
              </a:spcBef>
            </a:pPr>
            <a:r>
              <a:rPr lang="en-US" sz="9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Compatibility:</a:t>
            </a:r>
            <a:r>
              <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 Examines the applicability and constraints across different frameworks, as well as the breadth of the high-level ecosystem.</a:t>
            </a:r>
            <a:endParaRPr lang="en-US" sz="9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1714041" y="956108"/>
            <a:ext cx="78930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Triton</a:t>
            </a:r>
            <a:endParaRPr lang="en-US" sz="1100"/>
          </a:p>
        </p:txBody>
      </p:sp>
      <p:sp>
        <p:nvSpPr>
          <p:cNvPr id="8" name="AutoShape 8"/>
          <p:cNvSpPr/>
          <p:nvPr/>
        </p:nvSpPr>
        <p:spPr>
          <a:xfrm>
            <a:off x="5207785" y="945820"/>
            <a:ext cx="10769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OpenXLA</a:t>
            </a:r>
            <a:endParaRPr lang="en-US" sz="1100"/>
          </a:p>
        </p:txBody>
      </p:sp>
      <p:sp>
        <p:nvSpPr>
          <p:cNvPr id="9" name="AutoShape 9"/>
          <p:cNvSpPr/>
          <p:nvPr/>
        </p:nvSpPr>
        <p:spPr>
          <a:xfrm>
            <a:off x="9177323" y="945820"/>
            <a:ext cx="6648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Mojo</a:t>
            </a:r>
            <a:endParaRPr lang="en-US" sz="1100"/>
          </a:p>
        </p:txBody>
      </p:sp>
      <p:sp>
        <p:nvSpPr>
          <p:cNvPr id="10" name="AutoShape 10"/>
          <p:cNvSpPr/>
          <p:nvPr/>
        </p:nvSpPr>
        <p:spPr>
          <a:xfrm>
            <a:off x="4449093" y="1600769"/>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Pytorch</a:t>
            </a:r>
            <a:endParaRPr lang="en-US" sz="1100"/>
          </a:p>
        </p:txBody>
      </p:sp>
      <p:sp>
        <p:nvSpPr>
          <p:cNvPr id="11" name="AutoShape 11"/>
          <p:cNvSpPr/>
          <p:nvPr/>
        </p:nvSpPr>
        <p:spPr>
          <a:xfrm>
            <a:off x="5660833" y="1600769"/>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TF</a:t>
            </a:r>
            <a:endParaRPr lang="en-US" sz="1100"/>
          </a:p>
        </p:txBody>
      </p:sp>
      <p:sp>
        <p:nvSpPr>
          <p:cNvPr id="12" name="AutoShape 12"/>
          <p:cNvSpPr/>
          <p:nvPr/>
        </p:nvSpPr>
        <p:spPr>
          <a:xfrm>
            <a:off x="6619578" y="1600769"/>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JAX</a:t>
            </a:r>
            <a:endParaRPr lang="en-US" sz="1100"/>
          </a:p>
        </p:txBody>
      </p:sp>
      <p:sp>
        <p:nvSpPr>
          <p:cNvPr id="13" name="AutoShape 13"/>
          <p:cNvSpPr/>
          <p:nvPr/>
        </p:nvSpPr>
        <p:spPr>
          <a:xfrm>
            <a:off x="4594951" y="2177365"/>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OpenXLA</a:t>
            </a:r>
            <a:endParaRPr lang="en-US" sz="1100"/>
          </a:p>
        </p:txBody>
      </p:sp>
      <p:sp>
        <p:nvSpPr>
          <p:cNvPr id="14" name="AutoShape 14"/>
          <p:cNvSpPr/>
          <p:nvPr/>
        </p:nvSpPr>
        <p:spPr>
          <a:xfrm>
            <a:off x="4449093" y="2825427"/>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GPU</a:t>
            </a:r>
            <a:endParaRPr lang="en-US" sz="1100"/>
          </a:p>
        </p:txBody>
      </p:sp>
      <p:sp>
        <p:nvSpPr>
          <p:cNvPr id="15" name="AutoShape 15"/>
          <p:cNvSpPr/>
          <p:nvPr/>
        </p:nvSpPr>
        <p:spPr>
          <a:xfrm>
            <a:off x="5660832" y="2825427"/>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TPU</a:t>
            </a:r>
            <a:endParaRPr lang="en-US" sz="1100"/>
          </a:p>
        </p:txBody>
      </p:sp>
      <p:sp>
        <p:nvSpPr>
          <p:cNvPr id="16" name="AutoShape 16"/>
          <p:cNvSpPr/>
          <p:nvPr/>
        </p:nvSpPr>
        <p:spPr>
          <a:xfrm>
            <a:off x="6619578" y="2814820"/>
            <a:ext cx="870333"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CPU</a:t>
            </a:r>
            <a:endParaRPr lang="en-US" sz="1100"/>
          </a:p>
        </p:txBody>
      </p:sp>
      <p:cxnSp>
        <p:nvCxnSpPr>
          <p:cNvPr id="17" name="Connector 17"/>
          <p:cNvCxnSpPr/>
          <p:nvPr/>
        </p:nvCxnSpPr>
        <p:spPr>
          <a:xfrm rot="10800000" flipV="1">
            <a:off x="5697901" y="1909241"/>
            <a:ext cx="398099"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18" name="Connector 18"/>
          <p:cNvCxnSpPr/>
          <p:nvPr/>
        </p:nvCxnSpPr>
        <p:spPr>
          <a:xfrm>
            <a:off x="5010757" y="1909241"/>
            <a:ext cx="687144"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19" name="Connector 19"/>
          <p:cNvCxnSpPr/>
          <p:nvPr/>
        </p:nvCxnSpPr>
        <p:spPr>
          <a:xfrm rot="10800000" flipV="1">
            <a:off x="5697901" y="1909241"/>
            <a:ext cx="1356844"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id="20" name="Connector 20"/>
          <p:cNvCxnSpPr/>
          <p:nvPr/>
        </p:nvCxnSpPr>
        <p:spPr>
          <a:xfrm rot="10800000" flipV="1">
            <a:off x="5010757" y="2546696"/>
            <a:ext cx="687144" cy="278731"/>
          </a:xfrm>
          <a:prstGeom prst="straightConnector1">
            <a:avLst/>
          </a:prstGeom>
          <a:noFill/>
          <a:ln w="12700" cap="flat">
            <a:solidFill>
              <a:srgbClr val="4472C4">
                <a:alpha val="100000"/>
              </a:srgbClr>
            </a:solidFill>
            <a:prstDash val="solid"/>
            <a:headEnd type="none" w="med" len="med"/>
            <a:tailEnd type="triangle" w="med" len="med"/>
          </a:ln>
        </p:spPr>
      </p:cxnSp>
      <p:cxnSp>
        <p:nvCxnSpPr>
          <p:cNvPr id="21" name="Connector 21"/>
          <p:cNvCxnSpPr/>
          <p:nvPr/>
        </p:nvCxnSpPr>
        <p:spPr>
          <a:xfrm>
            <a:off x="5697901" y="2546696"/>
            <a:ext cx="398098" cy="278731"/>
          </a:xfrm>
          <a:prstGeom prst="straightConnector1">
            <a:avLst/>
          </a:prstGeom>
          <a:noFill/>
          <a:ln w="12700" cap="flat">
            <a:solidFill>
              <a:srgbClr val="4472C4">
                <a:alpha val="100000"/>
              </a:srgbClr>
            </a:solidFill>
            <a:prstDash val="solid"/>
            <a:headEnd type="none" w="med" len="med"/>
            <a:tailEnd type="triangle" w="med" len="med"/>
          </a:ln>
        </p:spPr>
      </p:cxnSp>
      <p:cxnSp>
        <p:nvCxnSpPr>
          <p:cNvPr id="22" name="Connector 22"/>
          <p:cNvCxnSpPr/>
          <p:nvPr/>
        </p:nvCxnSpPr>
        <p:spPr>
          <a:xfrm>
            <a:off x="5697901" y="2546696"/>
            <a:ext cx="1356844" cy="268124"/>
          </a:xfrm>
          <a:prstGeom prst="straightConnector1">
            <a:avLst/>
          </a:prstGeom>
          <a:noFill/>
          <a:ln w="12700" cap="flat">
            <a:solidFill>
              <a:srgbClr val="4472C4">
                <a:alpha val="100000"/>
              </a:srgbClr>
            </a:solidFill>
            <a:prstDash val="solid"/>
            <a:headEnd type="none" w="med" len="med"/>
            <a:tailEnd type="triangle" w="med" len="med"/>
          </a:ln>
        </p:spPr>
      </p:cxnSp>
      <p:sp>
        <p:nvSpPr>
          <p:cNvPr id="23" name="AutoShape 23"/>
          <p:cNvSpPr/>
          <p:nvPr/>
        </p:nvSpPr>
        <p:spPr>
          <a:xfrm>
            <a:off x="2090217" y="2306180"/>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MLIR</a:t>
            </a:r>
            <a:endParaRPr lang="en-US" sz="1100"/>
          </a:p>
        </p:txBody>
      </p:sp>
      <p:sp>
        <p:nvSpPr>
          <p:cNvPr id="24" name="AutoShape 24"/>
          <p:cNvSpPr/>
          <p:nvPr/>
        </p:nvSpPr>
        <p:spPr>
          <a:xfrm>
            <a:off x="1528553" y="1600769"/>
            <a:ext cx="1123328"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Pytorch</a:t>
            </a:r>
            <a:endParaRPr lang="en-US" sz="1100"/>
          </a:p>
        </p:txBody>
      </p:sp>
      <p:sp>
        <p:nvSpPr>
          <p:cNvPr id="25" name="AutoShape 25"/>
          <p:cNvSpPr/>
          <p:nvPr/>
        </p:nvSpPr>
        <p:spPr>
          <a:xfrm>
            <a:off x="937138" y="2166758"/>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Triton</a:t>
            </a:r>
            <a:endParaRPr lang="en-US" sz="1100"/>
          </a:p>
        </p:txBody>
      </p:sp>
      <p:sp>
        <p:nvSpPr>
          <p:cNvPr id="26" name="AutoShape 26"/>
          <p:cNvSpPr/>
          <p:nvPr/>
        </p:nvSpPr>
        <p:spPr>
          <a:xfrm>
            <a:off x="1432193" y="2814820"/>
            <a:ext cx="1123328"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GPU</a:t>
            </a:r>
            <a:endParaRPr lang="en-US" sz="1100"/>
          </a:p>
        </p:txBody>
      </p:sp>
      <p:cxnSp>
        <p:nvCxnSpPr>
          <p:cNvPr id="27" name="Connector 27"/>
          <p:cNvCxnSpPr/>
          <p:nvPr/>
        </p:nvCxnSpPr>
        <p:spPr>
          <a:xfrm rot="10800000" flipV="1">
            <a:off x="2040088" y="1909241"/>
            <a:ext cx="50129" cy="257517"/>
          </a:xfrm>
          <a:prstGeom prst="straightConnector1">
            <a:avLst/>
          </a:prstGeom>
          <a:noFill/>
          <a:ln w="12700" cap="flat">
            <a:solidFill>
              <a:srgbClr val="4472C4">
                <a:alpha val="100000"/>
              </a:srgbClr>
            </a:solidFill>
            <a:prstDash val="solid"/>
            <a:headEnd type="none" w="med" len="med"/>
            <a:tailEnd type="triangle" w="med" len="med"/>
          </a:ln>
        </p:spPr>
      </p:cxnSp>
      <p:cxnSp>
        <p:nvCxnSpPr>
          <p:cNvPr id="28" name="Connector 28"/>
          <p:cNvCxnSpPr/>
          <p:nvPr/>
        </p:nvCxnSpPr>
        <p:spPr>
          <a:xfrm rot="10800000" flipV="1">
            <a:off x="1993857" y="2536089"/>
            <a:ext cx="46231" cy="278731"/>
          </a:xfrm>
          <a:prstGeom prst="straightConnector1">
            <a:avLst/>
          </a:prstGeom>
          <a:noFill/>
          <a:ln w="12700" cap="flat">
            <a:solidFill>
              <a:srgbClr val="4472C4">
                <a:alpha val="100000"/>
              </a:srgbClr>
            </a:solidFill>
            <a:prstDash val="solid"/>
            <a:headEnd type="none" w="med" len="med"/>
            <a:tailEnd type="triangle" w="med" len="med"/>
          </a:ln>
        </p:spPr>
      </p:cxnSp>
      <p:sp>
        <p:nvSpPr>
          <p:cNvPr id="29" name="AutoShape 29"/>
          <p:cNvSpPr/>
          <p:nvPr/>
        </p:nvSpPr>
        <p:spPr>
          <a:xfrm>
            <a:off x="9821649" y="2306180"/>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MLIR</a:t>
            </a:r>
            <a:endParaRPr lang="en-US" sz="1100"/>
          </a:p>
        </p:txBody>
      </p:sp>
      <p:sp>
        <p:nvSpPr>
          <p:cNvPr id="30" name="AutoShape 30"/>
          <p:cNvSpPr/>
          <p:nvPr/>
        </p:nvSpPr>
        <p:spPr>
          <a:xfrm>
            <a:off x="8668570" y="2166758"/>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Mojo</a:t>
            </a:r>
            <a:endParaRPr lang="en-US" sz="1100"/>
          </a:p>
        </p:txBody>
      </p:sp>
      <p:sp>
        <p:nvSpPr>
          <p:cNvPr id="31" name="AutoShape 31"/>
          <p:cNvSpPr/>
          <p:nvPr/>
        </p:nvSpPr>
        <p:spPr>
          <a:xfrm>
            <a:off x="8507403" y="2823700"/>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GPU</a:t>
            </a:r>
            <a:endParaRPr lang="en-US" sz="1100"/>
          </a:p>
        </p:txBody>
      </p:sp>
      <p:sp>
        <p:nvSpPr>
          <p:cNvPr id="32" name="AutoShape 32"/>
          <p:cNvSpPr/>
          <p:nvPr/>
        </p:nvSpPr>
        <p:spPr>
          <a:xfrm>
            <a:off x="9719142" y="2823700"/>
            <a:ext cx="870333" cy="308472"/>
          </a:xfrm>
          <a:prstGeom prst="roundRect">
            <a:avLst>
              <a:gd name="adj" fmla="val 16666"/>
            </a:avLst>
          </a:prstGeom>
          <a:no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t>
            </a:r>
            <a:endParaRPr lang="en-US" sz="1100"/>
          </a:p>
        </p:txBody>
      </p:sp>
      <p:sp>
        <p:nvSpPr>
          <p:cNvPr id="33" name="AutoShape 33"/>
          <p:cNvSpPr/>
          <p:nvPr/>
        </p:nvSpPr>
        <p:spPr>
          <a:xfrm>
            <a:off x="10677888" y="2813093"/>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CPU</a:t>
            </a:r>
            <a:endParaRPr lang="en-US" sz="1100"/>
          </a:p>
        </p:txBody>
      </p:sp>
      <p:cxnSp>
        <p:nvCxnSpPr>
          <p:cNvPr id="34" name="Connector 34"/>
          <p:cNvCxnSpPr/>
          <p:nvPr/>
        </p:nvCxnSpPr>
        <p:spPr>
          <a:xfrm rot="10800000" flipV="1">
            <a:off x="9069067" y="2536089"/>
            <a:ext cx="702453" cy="287611"/>
          </a:xfrm>
          <a:prstGeom prst="straightConnector1">
            <a:avLst/>
          </a:prstGeom>
          <a:noFill/>
          <a:ln w="12700" cap="flat">
            <a:solidFill>
              <a:srgbClr val="4472C4">
                <a:alpha val="100000"/>
              </a:srgbClr>
            </a:solidFill>
            <a:prstDash val="solid"/>
            <a:headEnd type="none" w="med" len="med"/>
            <a:tailEnd type="triangle" w="med" len="med"/>
          </a:ln>
        </p:spPr>
      </p:cxnSp>
      <p:cxnSp>
        <p:nvCxnSpPr>
          <p:cNvPr id="35" name="Connector 35"/>
          <p:cNvCxnSpPr/>
          <p:nvPr/>
        </p:nvCxnSpPr>
        <p:spPr>
          <a:xfrm>
            <a:off x="9771520" y="2536089"/>
            <a:ext cx="1341535" cy="277004"/>
          </a:xfrm>
          <a:prstGeom prst="straightConnector1">
            <a:avLst/>
          </a:prstGeom>
          <a:noFill/>
          <a:ln w="12700" cap="flat">
            <a:solidFill>
              <a:srgbClr val="4472C4">
                <a:alpha val="100000"/>
              </a:srgbClr>
            </a:solidFill>
            <a:prstDash val="solid"/>
            <a:headEnd type="none" w="med" len="med"/>
            <a:tailEnd type="triangle" w="med" len="med"/>
          </a:ln>
        </p:spPr>
      </p:cxnSp>
      <p:cxnSp>
        <p:nvCxnSpPr>
          <p:cNvPr id="36" name="Connector 36"/>
          <p:cNvCxnSpPr/>
          <p:nvPr/>
        </p:nvCxnSpPr>
        <p:spPr>
          <a:xfrm>
            <a:off x="9771520" y="2536089"/>
            <a:ext cx="382789" cy="287611"/>
          </a:xfrm>
          <a:prstGeom prst="straightConnector1">
            <a:avLst/>
          </a:prstGeom>
          <a:noFill/>
          <a:ln w="12700" cap="flat">
            <a:solidFill>
              <a:srgbClr val="4472C4">
                <a:alpha val="100000"/>
              </a:srgbClr>
            </a:solidFill>
            <a:prstDash val="solid"/>
            <a:headEnd type="none" w="med" len="med"/>
            <a:tailEnd type="triangle" w="med" len="med"/>
          </a:ln>
        </p:spPr>
      </p:cxnSp>
      <p:sp>
        <p:nvSpPr>
          <p:cNvPr id="37" name="AutoShape 37"/>
          <p:cNvSpPr/>
          <p:nvPr/>
        </p:nvSpPr>
        <p:spPr>
          <a:xfrm>
            <a:off x="8584925" y="5966668"/>
            <a:ext cx="400497"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8" name="AutoShape 38"/>
          <p:cNvSpPr/>
          <p:nvPr/>
        </p:nvSpPr>
        <p:spPr>
          <a:xfrm>
            <a:off x="9151376" y="5966668"/>
            <a:ext cx="400497"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vert="horz" wrap="square" lIns="91440" tIns="45720" rIns="91440" bIns="45720" rtlCol="0" anchor="ctr">
            <a:noAutofit/>
          </a:bodyPr>
          <a:lstStyle/>
          <a:p>
            <a:pPr indent="0" algn="ctr">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cxnSp>
        <p:nvCxnSpPr>
          <p:cNvPr id="39" name="Connector 39"/>
          <p:cNvCxnSpPr/>
          <p:nvPr/>
        </p:nvCxnSpPr>
        <p:spPr>
          <a:xfrm>
            <a:off x="8985422" y="6120904"/>
            <a:ext cx="165954" cy="0"/>
          </a:xfrm>
          <a:prstGeom prst="straightConnector1">
            <a:avLst/>
          </a:prstGeom>
          <a:noFill/>
          <a:ln w="12700" cap="flat">
            <a:solidFill>
              <a:srgbClr val="4472C4">
                <a:alpha val="100000"/>
              </a:srgbClr>
            </a:solidFill>
            <a:prstDash val="solid"/>
            <a:headEnd type="none" w="med" len="med"/>
            <a:tailEnd type="triangle" w="med" len="med"/>
          </a:ln>
        </p:spPr>
      </p:cxnSp>
      <p:sp>
        <p:nvSpPr>
          <p:cNvPr id="40" name="AutoShape 40"/>
          <p:cNvSpPr/>
          <p:nvPr/>
        </p:nvSpPr>
        <p:spPr>
          <a:xfrm>
            <a:off x="9630962" y="5968194"/>
            <a:ext cx="230949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represent the Primary Path</a:t>
            </a:r>
            <a:endParaRPr lang="en-US" sz="1100"/>
          </a:p>
        </p:txBody>
      </p:sp>
      <p:sp>
        <p:nvSpPr>
          <p:cNvPr id="41" name="AutoShape 41"/>
          <p:cNvSpPr/>
          <p:nvPr/>
        </p:nvSpPr>
        <p:spPr>
          <a:xfrm>
            <a:off x="523875" y="3279140"/>
            <a:ext cx="3453765" cy="1529715"/>
          </a:xfrm>
          <a:prstGeom prst="rect">
            <a:avLst/>
          </a:prstGeom>
          <a:noFill/>
          <a:ln w="12700">
            <a:noFill/>
            <a:prstDash val="solid"/>
          </a:ln>
        </p:spPr>
        <p:txBody>
          <a:bodyPr wrap="square" lIns="91440" tIns="45720" rIns="91440" bIns="45720" rtlCol="0" anchor="t">
            <a:spAutoFit/>
          </a:bodyPr>
          <a:lstStyle/>
          <a:p>
            <a:pPr indent="0" algn="l">
              <a:lnSpc>
                <a:spcPct val="133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AA: Next-generation kernel programming model.</a:t>
            </a:r>
            <a:endParaRPr lang="en-US" sz="1100"/>
          </a:p>
          <a:p>
            <a:pPr indent="0" algn="l">
              <a:lnSpc>
                <a:spcPct val="133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IE: Leading; achieves high hardware utilization.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33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IQ: Robust; high-quality software infrastructure.</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33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 Superior to CUDA; significantly lowers the development barrier.</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33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 Native support within the PyTorch ecosystem.</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AutoShape 42"/>
          <p:cNvSpPr/>
          <p:nvPr/>
        </p:nvSpPr>
        <p:spPr>
          <a:xfrm>
            <a:off x="4053205" y="3279140"/>
            <a:ext cx="4465955" cy="1861185"/>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AA: Overall generational lead, but lacks fine-grained kernel programming capabilities.</a:t>
            </a:r>
            <a:endParaRPr lang="en-US" sz="1100"/>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IE: Leading, though GPU performance remains inferior to Triton.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IQ: Solid; reliable for secondary development.</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 Kernel programming model heavily draws inspiration from Triton.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 Strong support for TensorFlow and JAX; lacks native PyTorch support (requires model exportation).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3" name="AutoShape 43"/>
          <p:cNvSpPr/>
          <p:nvPr/>
        </p:nvSpPr>
        <p:spPr>
          <a:xfrm>
            <a:off x="8507095" y="3279140"/>
            <a:ext cx="3433445" cy="2082165"/>
          </a:xfrm>
          <a:prstGeom prst="rect">
            <a:avLst/>
          </a:prstGeom>
          <a:noFill/>
          <a:ln w="12700">
            <a:noFill/>
            <a:prstDash val="solid"/>
          </a:ln>
        </p:spPr>
        <p:txBody>
          <a:bodyPr wrap="square" lIns="91440" tIns="45720" rIns="91440" bIns="45720" rtlCol="0" anchor="t">
            <a:spAutoFit/>
          </a:bodyPr>
          <a:lstStyle/>
          <a:p>
            <a:pPr indent="0" algn="l">
              <a:lnSpc>
                <a:spcPct val="117000"/>
              </a:lnSpc>
              <a:defRPr/>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AA: Leading by two generations in design philosophy.</a:t>
            </a:r>
            <a:endParaRPr lang="en-US" sz="1100"/>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IE: Currently lacking; primarily supports CPU execution.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IQ: Closed-source at present, but backed by a world-class technical team.</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P: Introduces a novel programming model; limited user feedback for validation.</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a:p>
            <a:pPr indent="0" algn="l">
              <a:lnSpc>
                <a:spcPct val="117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C: No mainstream framework support as of yet.</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AutoShape 44"/>
          <p:cNvSpPr/>
          <p:nvPr/>
        </p:nvSpPr>
        <p:spPr>
          <a:xfrm>
            <a:off x="2555521" y="948450"/>
            <a:ext cx="11982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By OpenAI</a:t>
            </a:r>
            <a:endParaRPr lang="en-US" sz="1100"/>
          </a:p>
        </p:txBody>
      </p:sp>
      <p:sp>
        <p:nvSpPr>
          <p:cNvPr id="45" name="AutoShape 45"/>
          <p:cNvSpPr/>
          <p:nvPr/>
        </p:nvSpPr>
        <p:spPr>
          <a:xfrm>
            <a:off x="6410770" y="934731"/>
            <a:ext cx="117030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By Google</a:t>
            </a:r>
            <a:endParaRPr lang="en-US" sz="1100"/>
          </a:p>
        </p:txBody>
      </p:sp>
      <p:sp>
        <p:nvSpPr>
          <p:cNvPr id="46" name="AutoShape 46"/>
          <p:cNvSpPr/>
          <p:nvPr/>
        </p:nvSpPr>
        <p:spPr>
          <a:xfrm>
            <a:off x="9862126" y="956108"/>
            <a:ext cx="129540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By Modular</a:t>
            </a:r>
            <a:endParaRPr lang="en-US" sz="110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Language &amp; Compiler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nvSpPr>
        <p:spPr>
          <a:xfrm>
            <a:off x="2673250" y="1105365"/>
            <a:ext cx="8391577" cy="5492750"/>
          </a:xfrm>
          <a:prstGeom prst="rect">
            <a:avLst/>
          </a:prstGeom>
          <a:noFill/>
          <a:ln w="12700">
            <a:noFill/>
            <a:prstDash val="solid"/>
          </a:ln>
        </p:spPr>
        <p:txBody>
          <a:bodyPr wrap="square" lIns="91440" tIns="45720" rIns="91440" bIns="45720" rtlCol="0" anchor="t">
            <a:spAutoFit/>
          </a:bodyPr>
          <a:lstStyle/>
          <a:p>
            <a:pPr indent="0" algn="l">
              <a:lnSpc>
                <a:spcPct val="15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 Language</a:t>
            </a:r>
            <a:endParaRPr lang="en-US" sz="1100"/>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Target: Domain-Specific Language (DSL) for parallel programming.</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Hardware: Modern GPUs and AI accelerators.</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Capability: High-performance neural network operator development.</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Triton Compiler</a:t>
            </a:r>
            <a:endPar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Core Task: Translates Triton DSL into optimized machine code.</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Function: Performs advanced static analysis and hardware-specific optimizations.</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Resources</a:t>
            </a:r>
            <a:endPar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GitHub: triton-lang/triton</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50000"/>
              </a:lnSpc>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Docs: triton-lang.org</a:t>
            </a:r>
            <a:endPar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248985" y="4957046"/>
            <a:ext cx="1369970" cy="1556784"/>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1635821" y="1266340"/>
            <a:ext cx="764287" cy="764287"/>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1635821" y="3348750"/>
            <a:ext cx="764287" cy="764287"/>
          </a:xfrm>
          <a:prstGeom prst="rect">
            <a:avLst/>
          </a:prstGeom>
          <a:ln w="12700">
            <a:noFill/>
            <a:prstDash val="solid"/>
          </a:ln>
        </p:spPr>
      </p:pic>
      <p:pic>
        <p:nvPicPr>
          <p:cNvPr id="9" name="Picture 9"/>
          <p:cNvPicPr>
            <a:picLocks noChangeAspect="1"/>
          </p:cNvPicPr>
          <p:nvPr/>
        </p:nvPicPr>
        <p:blipFill>
          <a:blip r:embed="rId4"/>
          <a:srcRect/>
          <a:stretch>
            <a:fillRect/>
          </a:stretch>
        </p:blipFill>
        <p:spPr>
          <a:xfrm>
            <a:off x="1635821" y="5353224"/>
            <a:ext cx="764287" cy="764287"/>
          </a:xfrm>
          <a:prstGeom prst="rect">
            <a:avLst/>
          </a:prstGeom>
          <a:ln w="12700">
            <a:noFill/>
            <a:prstDash val="solid"/>
          </a:ln>
        </p:spPr>
      </p:pic>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Overview | Triton as a Programming Language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nvSpPr>
        <p:spPr>
          <a:xfrm>
            <a:off x="11315785" y="6333924"/>
            <a:ext cx="495300" cy="365125"/>
          </a:xfrm>
          <a:prstGeom prst="rect">
            <a:avLst/>
          </a:prstGeom>
          <a:noFill/>
          <a:ln w="12700">
            <a:noFill/>
            <a:prstDash val="solid"/>
          </a:ln>
        </p:spPr>
        <p:txBody>
          <a:bodyPr vert="horz" wrap="square" lIns="91440" tIns="45720" rIns="91440" bIns="45720" rtlCol="0" anchor="ctr">
            <a:noAutofit/>
          </a:bodyPr>
          <a:lstStyle/>
          <a:p>
            <a:pPr indent="0" algn="r">
              <a:lnSpc>
                <a:spcPct val="100000"/>
              </a:lnSpc>
              <a:defRPr/>
            </a:pPr>
            <a:fld id="{22346B48-D9FE-47A3-AB3E-290C5828BBC2}" type="slidenum">
              <a:rPr sz="1200" b="0" i="0" u="none" strike="noStrike">
                <a:solidFill>
                  <a:srgbClr val="767676"/>
                </a:solidFill>
                <a:latin typeface="Arial" panose="020B0604020202020204"/>
                <a:ea typeface="Arial" panose="020B0604020202020204"/>
                <a:cs typeface="Arial" panose="020B0604020202020204"/>
                <a:sym typeface="Arial" panose="020B0604020202020204"/>
              </a:rPr>
            </a:fld>
            <a:endParaRPr lang="en-US" sz="1100"/>
          </a:p>
        </p:txBody>
      </p:sp>
      <p:pic>
        <p:nvPicPr>
          <p:cNvPr id="6" name="Picture 6"/>
          <p:cNvPicPr>
            <a:picLocks noChangeAspect="1"/>
          </p:cNvPicPr>
          <p:nvPr/>
        </p:nvPicPr>
        <p:blipFill>
          <a:blip r:embed="rId1"/>
          <a:srcRect/>
          <a:stretch>
            <a:fillRect/>
          </a:stretch>
        </p:blipFill>
        <p:spPr>
          <a:xfrm>
            <a:off x="3148965" y="1390015"/>
            <a:ext cx="6315075" cy="2050415"/>
          </a:xfrm>
          <a:prstGeom prst="rect">
            <a:avLst/>
          </a:prstGeom>
          <a:ln w="12700">
            <a:noFill/>
            <a:prstDash val="solid"/>
          </a:ln>
        </p:spPr>
      </p:pic>
      <p:sp>
        <p:nvSpPr>
          <p:cNvPr id="7" name="AutoShape 7"/>
          <p:cNvSpPr/>
          <p:nvPr/>
        </p:nvSpPr>
        <p:spPr>
          <a:xfrm>
            <a:off x="283210" y="3535045"/>
            <a:ext cx="6908800" cy="2913380"/>
          </a:xfrm>
          <a:prstGeom prst="rect">
            <a:avLst/>
          </a:prstGeom>
          <a:noFill/>
          <a:ln w="12700">
            <a:noFill/>
            <a:prstDash val="solid"/>
          </a:ln>
        </p:spPr>
        <p:txBody>
          <a:bodyPr wrap="square" lIns="91440" tIns="45720" rIns="91440" bIns="45720" rtlCol="0" anchor="t">
            <a:spAutoFit/>
          </a:bodyPr>
          <a:lstStyle/>
          <a:p>
            <a:pPr indent="0" algn="l">
              <a:lnSpc>
                <a:spcPct val="167000"/>
              </a:lnSpc>
              <a:defRPr/>
            </a:pPr>
            <a:r>
              <a:rPr lang="en-US" sz="1200" b="0" i="0" u="none" strike="noStrike">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rPr>
              <a:t>Challenges in GPU Programming</a:t>
            </a:r>
            <a:endParaRPr lang="en-US" sz="1100"/>
          </a:p>
          <a:p>
            <a:pPr indent="0" algn="l">
              <a:lnSpc>
                <a:spcPct val="167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Achieving peak performance in CUDA requires manual orchestration of DRAM, SRAM, and ALUs:</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67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Memory Coalescing: </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DRAM accesses must be coalesced to saturate available bandwidth.</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67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Shared Memory Management:</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Data must be manually staged and managed in SRAM to minimize bank conflicts during retrieval.</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67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Execution Scheduling:</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Computation must be precisely partitioned and scheduled—both across and within Streaming Multiprocessors (SMs)—to maximize Instruction/Thread-Level - </a:t>
            </a: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Parallelism (ILP/TLP)</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and leverage specialized units like Tensor Cores.</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8" name="Table 8"/>
          <p:cNvGraphicFramePr>
            <a:graphicFrameLocks noGrp="1"/>
          </p:cNvGraphicFramePr>
          <p:nvPr/>
        </p:nvGraphicFramePr>
        <p:xfrm>
          <a:off x="7499350" y="3800475"/>
          <a:ext cx="4311650" cy="2383155"/>
        </p:xfrm>
        <a:graphic>
          <a:graphicData uri="http://schemas.openxmlformats.org/drawingml/2006/table">
            <a:tbl>
              <a:tblPr>
                <a:effectLst/>
              </a:tblPr>
              <a:tblGrid>
                <a:gridCol w="2075180"/>
                <a:gridCol w="977265"/>
                <a:gridCol w="1259205"/>
              </a:tblGrid>
              <a:tr h="305435">
                <a:tc>
                  <a:txBody>
                    <a:bodyPr/>
                    <a:lstStyle/>
                    <a:p>
                      <a:pPr indent="0" algn="l">
                        <a:lnSpc>
                          <a:spcPct val="100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CUDA</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Triton</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r h="521335">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Memory Coalescing</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Automatic</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r>
              <a:tr h="518795">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Shared Memory Management</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Automatic</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r h="518795">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Intra-SM Scheduling</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Automatic</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solidFill>
                      <a:srgbClr val="ED7D31">
                        <a:alpha val="20000"/>
                      </a:srgbClr>
                    </a:solidFill>
                  </a:tcPr>
                </a:tc>
              </a:tr>
              <a:tr h="518795">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Inter-SM Scheduling</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c>
                  <a:txBody>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Manual</a:t>
                      </a:r>
                      <a:endParaRPr lang="en-US" sz="1100"/>
                    </a:p>
                  </a:txBody>
                  <a:tcPr>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noFill/>
                  </a:tcPr>
                </a:tc>
              </a:tr>
            </a:tbl>
          </a:graphicData>
        </a:graphic>
      </p:graphicFrame>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Open-Source Advantages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4" name="AutoShape 4"/>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PyTorch Ecosystem Integration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Custom Operators for LLMs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cxnSp>
        <p:nvCxnSpPr>
          <p:cNvPr id="5" name="Connector 5"/>
          <p:cNvCxnSpPr/>
          <p:nvPr/>
        </p:nvCxnSpPr>
        <p:spPr>
          <a:xfrm flipV="1">
            <a:off x="264577" y="5716228"/>
            <a:ext cx="10929654" cy="15804"/>
          </a:xfrm>
          <a:prstGeom prst="straightConnector1">
            <a:avLst/>
          </a:prstGeom>
          <a:noFill/>
          <a:ln w="38100" cap="flat">
            <a:solidFill>
              <a:srgbClr val="4472C4">
                <a:alpha val="100000"/>
              </a:srgbClr>
            </a:solidFill>
            <a:prstDash val="solid"/>
            <a:headEnd type="none" w="med" len="med"/>
            <a:tailEnd type="triangle" w="med" len="med"/>
          </a:ln>
        </p:spPr>
      </p:cxnSp>
      <p:cxnSp>
        <p:nvCxnSpPr>
          <p:cNvPr id="6" name="Connector 6"/>
          <p:cNvCxnSpPr/>
          <p:nvPr/>
        </p:nvCxnSpPr>
        <p:spPr>
          <a:xfrm flipV="1">
            <a:off x="1869428" y="5715593"/>
            <a:ext cx="1276" cy="425418"/>
          </a:xfrm>
          <a:prstGeom prst="line">
            <a:avLst/>
          </a:prstGeom>
          <a:noFill/>
          <a:ln w="12700" cap="flat">
            <a:solidFill>
              <a:srgbClr val="4472C4">
                <a:alpha val="100000"/>
              </a:srgbClr>
            </a:solidFill>
            <a:prstDash val="solid"/>
            <a:headEnd type="none" w="med" len="med"/>
            <a:tailEnd type="none" w="med" len="med"/>
          </a:ln>
        </p:spPr>
      </p:cxnSp>
      <p:sp>
        <p:nvSpPr>
          <p:cNvPr id="7" name="AutoShape 7"/>
          <p:cNvSpPr/>
          <p:nvPr/>
        </p:nvSpPr>
        <p:spPr>
          <a:xfrm>
            <a:off x="1869428"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2016</a:t>
            </a:r>
            <a:endParaRPr lang="en-US" sz="1100"/>
          </a:p>
        </p:txBody>
      </p:sp>
      <p:cxnSp>
        <p:nvCxnSpPr>
          <p:cNvPr id="8" name="Connector 8"/>
          <p:cNvCxnSpPr/>
          <p:nvPr/>
        </p:nvCxnSpPr>
        <p:spPr>
          <a:xfrm flipV="1">
            <a:off x="3455296"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9" name="AutoShape 9"/>
          <p:cNvSpPr/>
          <p:nvPr/>
        </p:nvSpPr>
        <p:spPr>
          <a:xfrm>
            <a:off x="3455296"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2018</a:t>
            </a:r>
            <a:endParaRPr lang="en-US" sz="1100"/>
          </a:p>
        </p:txBody>
      </p:sp>
      <p:cxnSp>
        <p:nvCxnSpPr>
          <p:cNvPr id="10" name="Connector 10"/>
          <p:cNvCxnSpPr/>
          <p:nvPr/>
        </p:nvCxnSpPr>
        <p:spPr>
          <a:xfrm flipV="1">
            <a:off x="4993937"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11" name="AutoShape 11"/>
          <p:cNvSpPr/>
          <p:nvPr/>
        </p:nvSpPr>
        <p:spPr>
          <a:xfrm>
            <a:off x="4993937"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2020</a:t>
            </a:r>
            <a:endParaRPr lang="en-US" sz="1100"/>
          </a:p>
        </p:txBody>
      </p:sp>
      <p:cxnSp>
        <p:nvCxnSpPr>
          <p:cNvPr id="12" name="Connector 12"/>
          <p:cNvCxnSpPr/>
          <p:nvPr/>
        </p:nvCxnSpPr>
        <p:spPr>
          <a:xfrm flipV="1">
            <a:off x="8142063" y="5747837"/>
            <a:ext cx="0" cy="356215"/>
          </a:xfrm>
          <a:prstGeom prst="line">
            <a:avLst/>
          </a:prstGeom>
          <a:noFill/>
          <a:ln w="12700" cap="flat">
            <a:solidFill>
              <a:srgbClr val="4472C4">
                <a:alpha val="100000"/>
              </a:srgbClr>
            </a:solidFill>
            <a:prstDash val="solid"/>
            <a:headEnd type="none" w="med" len="med"/>
            <a:tailEnd type="none" w="med" len="med"/>
          </a:ln>
        </p:spPr>
      </p:cxnSp>
      <p:sp>
        <p:nvSpPr>
          <p:cNvPr id="13" name="AutoShape 13"/>
          <p:cNvSpPr/>
          <p:nvPr/>
        </p:nvSpPr>
        <p:spPr>
          <a:xfrm>
            <a:off x="8142063" y="5956980"/>
            <a:ext cx="652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2023</a:t>
            </a:r>
            <a:endParaRPr lang="en-US" sz="1100"/>
          </a:p>
        </p:txBody>
      </p:sp>
      <p:sp>
        <p:nvSpPr>
          <p:cNvPr id="14" name="Freeform 14"/>
          <p:cNvSpPr/>
          <p:nvPr/>
        </p:nvSpPr>
        <p:spPr>
          <a:xfrm>
            <a:off x="1388297" y="2734778"/>
            <a:ext cx="4682169" cy="2057400"/>
          </a:xfrm>
          <a:custGeom>
            <a:avLst/>
            <a:gdLst/>
            <a:ahLst/>
            <a:cxnLst/>
            <a:rect l="l" t="t" r="r" b="b"/>
            <a:pathLst>
              <a:path w="4682169" h="2057400">
                <a:moveTo>
                  <a:pt x="0" y="2057400"/>
                </a:moveTo>
                <a:cubicBezTo>
                  <a:pt x="948369" y="1904288"/>
                  <a:pt x="1896737" y="1751174"/>
                  <a:pt x="2677099" y="1408274"/>
                </a:cubicBezTo>
                <a:cubicBezTo>
                  <a:pt x="3457461" y="1065374"/>
                  <a:pt x="4069815" y="532688"/>
                  <a:pt x="4682169" y="0"/>
                </a:cubicBezTo>
              </a:path>
            </a:pathLst>
          </a:custGeom>
          <a:no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Freeform 15"/>
          <p:cNvSpPr/>
          <p:nvPr/>
        </p:nvSpPr>
        <p:spPr>
          <a:xfrm>
            <a:off x="892539" y="2381622"/>
            <a:ext cx="5501096" cy="1951821"/>
          </a:xfrm>
          <a:custGeom>
            <a:avLst/>
            <a:gdLst/>
            <a:ahLst/>
            <a:cxnLst/>
            <a:rect l="l" t="t" r="r" b="b"/>
            <a:pathLst>
              <a:path w="5501096" h="1951821">
                <a:moveTo>
                  <a:pt x="0" y="1927951"/>
                </a:moveTo>
                <a:cubicBezTo>
                  <a:pt x="1022640" y="1939886"/>
                  <a:pt x="2045280" y="1951821"/>
                  <a:pt x="2962129" y="1630496"/>
                </a:cubicBezTo>
                <a:cubicBezTo>
                  <a:pt x="3878978" y="1309171"/>
                  <a:pt x="5501096" y="0"/>
                  <a:pt x="5501096" y="0"/>
                </a:cubicBezTo>
                <a:lnTo>
                  <a:pt x="5501096" y="0"/>
                </a:lnTo>
              </a:path>
            </a:pathLst>
          </a:custGeom>
          <a:noFill/>
          <a:ln w="50800" cap="flat">
            <a:solidFill>
              <a:srgbClr val="2E75B6">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1855479" y="4317446"/>
            <a:ext cx="12928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Tensorflow</a:t>
            </a:r>
            <a:endParaRPr lang="en-US" sz="1100"/>
          </a:p>
        </p:txBody>
      </p:sp>
      <p:sp>
        <p:nvSpPr>
          <p:cNvPr id="17" name="AutoShape 17"/>
          <p:cNvSpPr/>
          <p:nvPr/>
        </p:nvSpPr>
        <p:spPr>
          <a:xfrm>
            <a:off x="4249757" y="3749108"/>
            <a:ext cx="95567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Pytorch</a:t>
            </a:r>
            <a:endParaRPr lang="en-US" sz="1100"/>
          </a:p>
        </p:txBody>
      </p:sp>
      <p:sp>
        <p:nvSpPr>
          <p:cNvPr id="18" name="AutoShape 18"/>
          <p:cNvSpPr/>
          <p:nvPr/>
        </p:nvSpPr>
        <p:spPr>
          <a:xfrm>
            <a:off x="1464327" y="4600935"/>
            <a:ext cx="6934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Caffe</a:t>
            </a:r>
            <a:endParaRPr lang="en-US" sz="1100"/>
          </a:p>
        </p:txBody>
      </p:sp>
      <p:sp>
        <p:nvSpPr>
          <p:cNvPr id="19" name="AutoShape 19"/>
          <p:cNvSpPr/>
          <p:nvPr/>
        </p:nvSpPr>
        <p:spPr>
          <a:xfrm>
            <a:off x="2440640" y="4689207"/>
            <a:ext cx="6724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MxNet</a:t>
            </a:r>
            <a:endParaRPr lang="en-US" sz="1100"/>
          </a:p>
        </p:txBody>
      </p:sp>
      <p:sp>
        <p:nvSpPr>
          <p:cNvPr id="20" name="AutoShape 20"/>
          <p:cNvSpPr/>
          <p:nvPr/>
        </p:nvSpPr>
        <p:spPr>
          <a:xfrm>
            <a:off x="3963241" y="4027791"/>
            <a:ext cx="1250950"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PaddlePaddle</a:t>
            </a:r>
            <a:endParaRPr lang="en-US" sz="1100"/>
          </a:p>
        </p:txBody>
      </p:sp>
      <p:sp>
        <p:nvSpPr>
          <p:cNvPr id="21" name="AutoShape 21"/>
          <p:cNvSpPr/>
          <p:nvPr/>
        </p:nvSpPr>
        <p:spPr>
          <a:xfrm>
            <a:off x="5085346" y="3236757"/>
            <a:ext cx="48577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Jax</a:t>
            </a:r>
            <a:endParaRPr lang="en-US" sz="1100"/>
          </a:p>
        </p:txBody>
      </p:sp>
      <p:sp>
        <p:nvSpPr>
          <p:cNvPr id="22" name="Freeform 22"/>
          <p:cNvSpPr/>
          <p:nvPr/>
        </p:nvSpPr>
        <p:spPr>
          <a:xfrm>
            <a:off x="3910363" y="2556689"/>
            <a:ext cx="5221995" cy="1830635"/>
          </a:xfrm>
          <a:custGeom>
            <a:avLst/>
            <a:gdLst/>
            <a:ahLst/>
            <a:cxnLst/>
            <a:rect l="l" t="t" r="r" b="b"/>
            <a:pathLst>
              <a:path w="5221995" h="1830635">
                <a:moveTo>
                  <a:pt x="0" y="1795750"/>
                </a:moveTo>
                <a:cubicBezTo>
                  <a:pt x="1272449" y="1813192"/>
                  <a:pt x="2544896" y="1830635"/>
                  <a:pt x="3415228" y="1531344"/>
                </a:cubicBezTo>
                <a:cubicBezTo>
                  <a:pt x="4285560" y="1232052"/>
                  <a:pt x="5221995" y="0"/>
                  <a:pt x="5221995" y="0"/>
                </a:cubicBezTo>
                <a:lnTo>
                  <a:pt x="5221995" y="0"/>
                </a:lnTo>
                <a:lnTo>
                  <a:pt x="5221995" y="0"/>
                </a:lnTo>
                <a:lnTo>
                  <a:pt x="5221995" y="0"/>
                </a:lnTo>
              </a:path>
            </a:pathLst>
          </a:custGeom>
          <a:noFill/>
          <a:ln w="50800" cap="flat">
            <a:solidFill>
              <a:srgbClr val="548235">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5875153" y="2932084"/>
            <a:ext cx="60896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Jittor</a:t>
            </a:r>
            <a:endParaRPr lang="en-US" sz="1100"/>
          </a:p>
        </p:txBody>
      </p:sp>
      <p:sp>
        <p:nvSpPr>
          <p:cNvPr id="24" name="AutoShape 24"/>
          <p:cNvSpPr/>
          <p:nvPr/>
        </p:nvSpPr>
        <p:spPr>
          <a:xfrm>
            <a:off x="4231895" y="2460109"/>
            <a:ext cx="14147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Ecosystems</a:t>
            </a:r>
            <a:endParaRPr lang="en-US" sz="1100"/>
          </a:p>
        </p:txBody>
      </p:sp>
      <p:sp>
        <p:nvSpPr>
          <p:cNvPr id="25" name="AutoShape 25"/>
          <p:cNvSpPr/>
          <p:nvPr/>
        </p:nvSpPr>
        <p:spPr>
          <a:xfrm>
            <a:off x="7839321" y="2280314"/>
            <a:ext cx="12115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Compilers</a:t>
            </a:r>
            <a:endParaRPr lang="en-US" sz="1100"/>
          </a:p>
        </p:txBody>
      </p:sp>
      <p:sp>
        <p:nvSpPr>
          <p:cNvPr id="26" name="AutoShape 26"/>
          <p:cNvSpPr/>
          <p:nvPr/>
        </p:nvSpPr>
        <p:spPr>
          <a:xfrm>
            <a:off x="4073262" y="4487887"/>
            <a:ext cx="60071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TVM</a:t>
            </a:r>
            <a:endParaRPr lang="en-US" sz="1100"/>
          </a:p>
        </p:txBody>
      </p:sp>
      <p:sp>
        <p:nvSpPr>
          <p:cNvPr id="27" name="AutoShape 27"/>
          <p:cNvSpPr/>
          <p:nvPr/>
        </p:nvSpPr>
        <p:spPr>
          <a:xfrm>
            <a:off x="6027260" y="4401090"/>
            <a:ext cx="6680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MLIR</a:t>
            </a:r>
            <a:endParaRPr lang="en-US" sz="1100"/>
          </a:p>
        </p:txBody>
      </p:sp>
      <p:sp>
        <p:nvSpPr>
          <p:cNvPr id="28" name="AutoShape 28"/>
          <p:cNvSpPr/>
          <p:nvPr/>
        </p:nvSpPr>
        <p:spPr>
          <a:xfrm>
            <a:off x="4003735" y="4819437"/>
            <a:ext cx="198310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Tensorcomprehensions</a:t>
            </a:r>
            <a:endParaRPr lang="en-US" sz="1100"/>
          </a:p>
        </p:txBody>
      </p:sp>
      <p:sp>
        <p:nvSpPr>
          <p:cNvPr id="29" name="AutoShape 29"/>
          <p:cNvSpPr/>
          <p:nvPr/>
        </p:nvSpPr>
        <p:spPr>
          <a:xfrm>
            <a:off x="7370495" y="3930803"/>
            <a:ext cx="159956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4472C4"/>
                </a:solidFill>
                <a:latin typeface="Arial" panose="020B0604020202020204"/>
                <a:ea typeface="Arial" panose="020B0604020202020204"/>
                <a:cs typeface="Arial" panose="020B0604020202020204"/>
                <a:sym typeface="Arial" panose="020B0604020202020204"/>
              </a:rPr>
              <a:t>TorchInductor</a:t>
            </a:r>
            <a:endParaRPr lang="en-US" sz="1100"/>
          </a:p>
        </p:txBody>
      </p:sp>
      <p:sp>
        <p:nvSpPr>
          <p:cNvPr id="30" name="AutoShape 30"/>
          <p:cNvSpPr/>
          <p:nvPr/>
        </p:nvSpPr>
        <p:spPr>
          <a:xfrm>
            <a:off x="7062682" y="4226599"/>
            <a:ext cx="155511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4472C4"/>
                </a:solidFill>
                <a:latin typeface="Arial" panose="020B0604020202020204"/>
                <a:ea typeface="Arial" panose="020B0604020202020204"/>
                <a:cs typeface="Arial" panose="020B0604020202020204"/>
                <a:sym typeface="Arial" panose="020B0604020202020204"/>
              </a:rPr>
              <a:t>OpenAI Triton</a:t>
            </a:r>
            <a:endParaRPr lang="en-US" sz="1100"/>
          </a:p>
        </p:txBody>
      </p:sp>
      <p:sp>
        <p:nvSpPr>
          <p:cNvPr id="31" name="AutoShape 31"/>
          <p:cNvSpPr/>
          <p:nvPr/>
        </p:nvSpPr>
        <p:spPr>
          <a:xfrm>
            <a:off x="8161769" y="3552909"/>
            <a:ext cx="107696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OpenXLA</a:t>
            </a:r>
            <a:endParaRPr lang="en-US" sz="1100"/>
          </a:p>
        </p:txBody>
      </p:sp>
      <p:sp>
        <p:nvSpPr>
          <p:cNvPr id="32" name="AutoShape 32"/>
          <p:cNvSpPr/>
          <p:nvPr/>
        </p:nvSpPr>
        <p:spPr>
          <a:xfrm>
            <a:off x="5188840" y="4422846"/>
            <a:ext cx="54927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XLA</a:t>
            </a:r>
            <a:endParaRPr lang="en-US" sz="1100"/>
          </a:p>
        </p:txBody>
      </p:sp>
      <p:sp>
        <p:nvSpPr>
          <p:cNvPr id="33" name="AutoShape 33"/>
          <p:cNvSpPr/>
          <p:nvPr/>
        </p:nvSpPr>
        <p:spPr>
          <a:xfrm>
            <a:off x="8872894" y="2913362"/>
            <a:ext cx="66484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Mojo</a:t>
            </a:r>
            <a:endParaRPr lang="en-US" sz="1100"/>
          </a:p>
        </p:txBody>
      </p:sp>
      <p:sp>
        <p:nvSpPr>
          <p:cNvPr id="34" name="Freeform 34"/>
          <p:cNvSpPr/>
          <p:nvPr/>
        </p:nvSpPr>
        <p:spPr>
          <a:xfrm>
            <a:off x="7629424" y="2205213"/>
            <a:ext cx="3926142" cy="2562112"/>
          </a:xfrm>
          <a:custGeom>
            <a:avLst/>
            <a:gdLst/>
            <a:ahLst/>
            <a:cxnLst/>
            <a:rect l="l" t="t" r="r" b="b"/>
            <a:pathLst>
              <a:path w="3926142" h="2562112">
                <a:moveTo>
                  <a:pt x="0" y="2513286"/>
                </a:moveTo>
                <a:cubicBezTo>
                  <a:pt x="956686" y="2537699"/>
                  <a:pt x="1913372" y="2562112"/>
                  <a:pt x="2567729" y="2143232"/>
                </a:cubicBezTo>
                <a:cubicBezTo>
                  <a:pt x="3222085" y="1724351"/>
                  <a:pt x="3926142" y="0"/>
                  <a:pt x="3926142" y="0"/>
                </a:cubicBezTo>
                <a:lnTo>
                  <a:pt x="3926142" y="0"/>
                </a:lnTo>
                <a:lnTo>
                  <a:pt x="3926142" y="0"/>
                </a:lnTo>
                <a:lnTo>
                  <a:pt x="3926142" y="0"/>
                </a:lnTo>
              </a:path>
            </a:pathLst>
          </a:custGeom>
          <a:noFill/>
          <a:ln w="50800" cap="flat">
            <a:solidFill>
              <a:srgbClr val="7030A0">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5" name="AutoShape 35"/>
          <p:cNvSpPr/>
          <p:nvPr/>
        </p:nvSpPr>
        <p:spPr>
          <a:xfrm>
            <a:off x="8161769" y="4804129"/>
            <a:ext cx="112712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FlashAttn</a:t>
            </a:r>
            <a:endParaRPr lang="en-US" sz="1100"/>
          </a:p>
        </p:txBody>
      </p:sp>
      <p:sp>
        <p:nvSpPr>
          <p:cNvPr id="36" name="AutoShape 36"/>
          <p:cNvSpPr/>
          <p:nvPr/>
        </p:nvSpPr>
        <p:spPr>
          <a:xfrm>
            <a:off x="10560724" y="2071171"/>
            <a:ext cx="74168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FF0000"/>
                </a:solidFill>
                <a:latin typeface="Arial" panose="020B0604020202020204"/>
                <a:ea typeface="Arial" panose="020B0604020202020204"/>
                <a:cs typeface="Arial" panose="020B0604020202020204"/>
                <a:sym typeface="Arial" panose="020B0604020202020204"/>
              </a:rPr>
              <a:t>LLMs</a:t>
            </a:r>
            <a:endParaRPr lang="en-US" sz="1100"/>
          </a:p>
        </p:txBody>
      </p:sp>
      <p:sp>
        <p:nvSpPr>
          <p:cNvPr id="37" name="AutoShape 37"/>
          <p:cNvSpPr/>
          <p:nvPr/>
        </p:nvSpPr>
        <p:spPr>
          <a:xfrm>
            <a:off x="9160969" y="4634435"/>
            <a:ext cx="1908175" cy="30670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Segment anything fast</a:t>
            </a:r>
            <a:endParaRPr lang="en-US" sz="1100"/>
          </a:p>
        </p:txBody>
      </p:sp>
      <p:sp>
        <p:nvSpPr>
          <p:cNvPr id="38" name="AutoShape 38"/>
          <p:cNvSpPr/>
          <p:nvPr/>
        </p:nvSpPr>
        <p:spPr>
          <a:xfrm>
            <a:off x="10296760" y="4137627"/>
            <a:ext cx="934720"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unsloth</a:t>
            </a:r>
            <a:endParaRPr lang="en-US" sz="1100"/>
          </a:p>
        </p:txBody>
      </p:sp>
      <p:sp>
        <p:nvSpPr>
          <p:cNvPr id="39" name="AutoShape 39"/>
          <p:cNvSpPr/>
          <p:nvPr/>
        </p:nvSpPr>
        <p:spPr>
          <a:xfrm>
            <a:off x="9897939" y="4380765"/>
            <a:ext cx="884555" cy="368300"/>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gptfast</a:t>
            </a:r>
            <a:endParaRPr lang="en-US" sz="110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Why Triton? </a:t>
            </a: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Balancing Productivity and Performance</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Productivity-Performance Dilemma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Frameworks like PyTorch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High productivity, but "fusing" custom operators often requires using CUDA C++ to avoid overhead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CUDA 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Offers maximum hardware utilization but is notoriously difficult to write, debug, and maintain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Gap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Most researchers cannot afford weeks of development time to optimize a single CUDA kernel</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Triton’s "Secret Sauce"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Block-Level Abstraction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Don't manage individual threads; you manage blocks of data.</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Automatic Parallelization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The compiler handles memory coalescing, shared memory allocation, and hardware scheduling.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OpenAI Backing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Developed specifically to make GPU programming accessible for the next generation of AI models.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Triton Execution Model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From Threads to Blocks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CUDA Model: Focuses on Threads and Warps. Developers must manually manage synchronization and shared memory.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Triton Model: Focuses on Programs and Blocks. You write code that operates on a "tile" (Block) of data as a single unit.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Key Components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The Grid (Coordinate Space) The Grid is a 1D, 2D, or 3D space of execution instances. When you launch a kernel, you define the grid size (e.g., grid=(1024, )). Each point in this grid is called a Program.</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The Program (Instance) A Program is an independent execution instance of your kernel. Programs run in parallel across the GPU's Compute Units. Each program identifies itself using tl.program_id(axis).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The Block (Data Unit) A Block is a contiguous chunk of data (a "tile") processed by one Program. Constraint: Block sizes must be powers of two (e.g., 128, 256, 512, 1024) to allow for hardware-level optimizations.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Kernel Anatomy &amp; Pointer Arithmetic</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Defining a Triton Kernel</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@triton.jit Decorator: Transforms a standard Python function into a GPU-executable kernel.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Function Signature: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Pointers: Memory addresses for inputs/outputs (e.g., x_ptr).</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Metadata: Size constants or strides (e.g., n_elements).tl.constexpr: Special arguments that must be known at compile-time (like BLOCK_SIZE).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The Core Logic: Pointer Arithmetic</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Identify the Program: pid = tl.program_id(axis=0)Calculate the Start Offset: block_start = pid * BLOCK_SIZE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Generate a Range of Offsets: offsets = block_start + tl.arange(0, BLOCK_SIZE)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Construct Pointers: pointers = base_ptr + offsets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Visualizing the Address Map</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tl.arange(0, 4) $\rightarrow$ [0, 1, 2, 3]</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base_ptr + [0, 1, 2, 3] $\rightarrow$ A vector of 4 memory addresses.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Operations — Load, Store, and Masking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Data Bridge: Global Memory (DRAM) &lt;-&gt; SRAM/Registers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tl.load(pointers, 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Reads a block of data from the addresses specified by the pointers.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Efficiency: Triton automatically ensures "Coalesced Memory Access," meaning the hardware reads data in the most efficient bursts possible.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tl.store(pointers, data, 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92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Writes the computed results from the registers back to Global Memory.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"Masking" Essential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Because Triton requires Block Sizes to be powers of two (e.g., 512), but your actual data might not be (e.g., 500 elements), you must prevent out-of-bounds memory access.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Logic: Create a boolean mask where offsets &lt; total_elements.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Syntax: Python mask = offsets &lt; n_elements data = tl.load(ptr + offsets, mask=mask)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Benefit: If the mask is False, the operation is safely ignored, preventing segmentation faults.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 Vector Addition Kernel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6" name="AutoShape 6"/>
          <p:cNvSpPr/>
          <p:nvPr/>
        </p:nvSpPr>
        <p:spPr>
          <a:xfrm>
            <a:off x="1904365" y="1323975"/>
            <a:ext cx="8382635" cy="5304790"/>
          </a:xfrm>
          <a:prstGeom prst="rect">
            <a:avLst/>
          </a:prstGeom>
          <a:noFill/>
          <a:ln w="12700">
            <a:solidFill>
              <a:srgbClr val="262626">
                <a:alpha val="100000"/>
              </a:srgbClr>
            </a:solidFill>
            <a:prstDash val="solid"/>
          </a:ln>
        </p:spPr>
        <p:txBody>
          <a:bodyPr wrap="square" lIns="91440" tIns="45720" rIns="91440" bIns="45720" rtlCol="0" anchor="t">
            <a:noAutofit/>
          </a:bodyPr>
          <a:lstStyle/>
          <a:p>
            <a:pPr indent="0" algn="l">
              <a:lnSpc>
                <a:spcPct val="100000"/>
              </a:lnSpc>
              <a:defRPr/>
            </a:pPr>
            <a:r>
              <a:rPr lang="en-US" sz="1200" b="0" i="0" u="none" strike="noStrike">
                <a:solidFill>
                  <a:srgbClr val="000000"/>
                </a:solidFill>
                <a:latin typeface="Droid Sans Mono"/>
                <a:ea typeface="Droid Sans Mono"/>
                <a:cs typeface="Droid Sans Mono"/>
                <a:sym typeface="Droid Sans Mono"/>
              </a:rPr>
              <a:t>import triton</a:t>
            </a:r>
            <a:endParaRPr lang="en-US" sz="1100"/>
          </a:p>
          <a:p>
            <a:pPr indent="0" algn="l">
              <a:lnSpc>
                <a:spcPct val="100000"/>
              </a:lnSpc>
            </a:pPr>
            <a:r>
              <a:rPr lang="en-US" sz="1200" b="0" i="0" u="none" strike="noStrike">
                <a:solidFill>
                  <a:srgbClr val="000000"/>
                </a:solidFill>
                <a:latin typeface="Droid Sans Mono"/>
                <a:ea typeface="Droid Sans Mono"/>
                <a:cs typeface="Droid Sans Mono"/>
                <a:sym typeface="Droid Sans Mono"/>
              </a:rPr>
              <a:t>import triton.language as tl</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@triton.jit</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def add_kernel(</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x_ptr,  # Pointer to first input vector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y_ptr,  # Pointer to second input vector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out_ptr, # Pointer to output vector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n_elements, # Size of the vector</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BLOCK_SIZE: tl.constexpr, # Compile-time constant</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1. Identify which "Tile" this program handles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pid = tl.program_id(axis=0)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2. Calculate memory offsets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block_start = pid * BLOCK_SIZE</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offsets = block_start + tl.arange(0, BLOCK_SIZE)</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3. Create a mask to avoid out-of-bounds access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mask = offsets &lt; n_elements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4. Load data from DRAM to Registers</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x = tl.load(x_ptr + offsets, mask=mask)</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y = tl.load(y_ptr + offsets, mask=mask)</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 5. Perform the operation and Store back to DRAM</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output = x + y</a:t>
            </a:r>
            <a:endParaRPr lang="en-US" sz="12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200" b="0" i="0" u="none" strike="noStrike">
                <a:solidFill>
                  <a:srgbClr val="000000"/>
                </a:solidFill>
                <a:latin typeface="Droid Sans Mono"/>
                <a:ea typeface="Droid Sans Mono"/>
                <a:cs typeface="Droid Sans Mono"/>
                <a:sym typeface="Droid Sans Mono"/>
              </a:rPr>
              <a:t>    tl.store(out_ptr + offsets, output, mask=mask)</a:t>
            </a:r>
            <a:endParaRPr lang="en-US" sz="1200" b="0" i="0" u="none" strike="noStrike">
              <a:solidFill>
                <a:srgbClr val="000000"/>
              </a:solidFill>
              <a:latin typeface="Droid Sans Mono"/>
              <a:ea typeface="Droid Sans Mono"/>
              <a:cs typeface="Droid Sans Mono"/>
              <a:sym typeface="Droid Sans Mono"/>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Launching the Kernel from Python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Host-Device Interaction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Calculating the Grid Size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Call Syntax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85800" lvl="2" indent="0" algn="l">
              <a:lnSpc>
                <a:spcPct val="92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Key Mechanics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Lazy Compilation: Triton compiles the kernel the first time it is called. Subsequent calls are near-instant.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Autotuning (Preview): Triton can automatically test different BLOCK_SIZE values to find the fastest one for your specific GPU.</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724660" y="2129790"/>
            <a:ext cx="6407150" cy="460375"/>
          </a:xfrm>
          <a:prstGeom prst="rect">
            <a:avLst/>
          </a:prstGeom>
          <a:noFill/>
          <a:ln w="12700">
            <a:solidFill>
              <a:srgbClr val="262626">
                <a:alpha val="100000"/>
              </a:srgbClr>
            </a:solidFill>
            <a:prstDash val="solid"/>
          </a:ln>
        </p:spPr>
        <p:txBody>
          <a:bodyPr wrap="square" lIns="91440" tIns="45720" rIns="91440" bIns="45720" rtlCol="0" anchor="t">
            <a:spAutoFit/>
          </a:bodyPr>
          <a:lstStyle/>
          <a:p>
            <a:pPr marL="692150" lvl="2" indent="-152400" algn="l">
              <a:lnSpc>
                <a:spcPct val="100000"/>
              </a:lnSpc>
              <a:buChar char=" "/>
              <a:defRPr/>
            </a:pPr>
            <a:r>
              <a:rPr lang="en-US" sz="1200" b="0" i="0" u="none" strike="noStrike">
                <a:solidFill>
                  <a:srgbClr val="000000"/>
                </a:solidFill>
                <a:latin typeface="Droid Sans Mono"/>
                <a:ea typeface="Droid Sans Mono"/>
                <a:cs typeface="Droid Sans Mono"/>
                <a:sym typeface="Droid Sans Mono"/>
              </a:rPr>
              <a:t># A common pattern to calculate grid size</a:t>
            </a:r>
            <a:endParaRPr lang="en-US" sz="1100"/>
          </a:p>
          <a:p>
            <a:pPr marL="692150" lvl="2"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grid = lambda meta: (triton.cdiv(n_elements, meta['BLOCK_SIZE']), )</a:t>
            </a:r>
            <a:endParaRPr lang="en-US" sz="1200" b="0" i="0" u="none" strike="noStrike">
              <a:solidFill>
                <a:srgbClr val="000000"/>
              </a:solidFill>
              <a:latin typeface="Droid Sans Mono"/>
              <a:ea typeface="Droid Sans Mono"/>
              <a:cs typeface="Droid Sans Mono"/>
              <a:sym typeface="Droid Sans Mono"/>
            </a:endParaRPr>
          </a:p>
        </p:txBody>
      </p:sp>
      <p:sp>
        <p:nvSpPr>
          <p:cNvPr id="7" name="AutoShape 7"/>
          <p:cNvSpPr/>
          <p:nvPr/>
        </p:nvSpPr>
        <p:spPr>
          <a:xfrm>
            <a:off x="1724660" y="3027680"/>
            <a:ext cx="6407150" cy="8026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marL="692150" lvl="2" indent="-152400" algn="l">
              <a:lnSpc>
                <a:spcPct val="100000"/>
              </a:lnSpc>
              <a:buChar char=" "/>
              <a:defRPr/>
            </a:pPr>
            <a:r>
              <a:rPr lang="en-US" sz="1200" b="0" i="0" u="none" strike="noStrike">
                <a:solidFill>
                  <a:srgbClr val="000000"/>
                </a:solidFill>
                <a:latin typeface="Droid Sans Mono"/>
                <a:ea typeface="Droid Sans Mono"/>
                <a:cs typeface="Droid Sans Mono"/>
                <a:sym typeface="Droid Sans Mono"/>
              </a:rPr>
              <a:t>add_kernel[grid](</a:t>
            </a:r>
            <a:endParaRPr lang="en-US" sz="1100"/>
          </a:p>
          <a:p>
            <a:pPr marL="692150" lvl="2"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    x, y, output, n_elements, </a:t>
            </a:r>
            <a:endParaRPr lang="en-US" sz="1200" b="0" i="0" u="none" strike="noStrike">
              <a:solidFill>
                <a:srgbClr val="000000"/>
              </a:solidFill>
              <a:latin typeface="Droid Sans Mono"/>
              <a:ea typeface="Droid Sans Mono"/>
              <a:cs typeface="Droid Sans Mono"/>
              <a:sym typeface="Droid Sans Mono"/>
            </a:endParaRPr>
          </a:p>
          <a:p>
            <a:pPr marL="692150" lvl="2"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    BLOCK_SIZE=1024  # Passed as a tl.constexpr</a:t>
            </a:r>
            <a:endParaRPr lang="en-US" sz="1200" b="0" i="0" u="none" strike="noStrike">
              <a:solidFill>
                <a:srgbClr val="000000"/>
              </a:solidFill>
              <a:latin typeface="Droid Sans Mono"/>
              <a:ea typeface="Droid Sans Mono"/>
              <a:cs typeface="Droid Sans Mono"/>
              <a:sym typeface="Droid Sans Mono"/>
            </a:endParaRPr>
          </a:p>
          <a:p>
            <a:pPr marL="692150" lvl="2"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a:t>
            </a:r>
            <a:endParaRPr lang="en-US" sz="1200" b="0" i="0" u="none" strike="noStrike">
              <a:solidFill>
                <a:srgbClr val="000000"/>
              </a:solidFill>
              <a:latin typeface="Droid Sans Mono"/>
              <a:ea typeface="Droid Sans Mono"/>
              <a:cs typeface="Droid Sans Mono"/>
              <a:sym typeface="Droid Sans Mono"/>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200" b="0" i="0" u="none" strike="noStrike" spc="0">
                <a:solidFill>
                  <a:srgbClr val="262626">
                    <a:alpha val="100000"/>
                  </a:srgbClr>
                </a:solidFill>
                <a:latin typeface="Calibri" panose="020F0502020204030204"/>
              </a:defRPr>
            </a:lvl1pPr>
          </a:lstStyle>
          <a:p>
            <a:pPr indent="0" algn="l">
              <a:lnSpc>
                <a:spcPct val="100000"/>
              </a:lnSpc>
            </a:pPr>
            <a:r>
              <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rPr>
              <a:t>The Power of Compile-Time Constants &amp; Specialization</a:t>
            </a:r>
            <a:endParaRPr lang="en-US" sz="32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use tl.constexpr?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Loop Unrolling: The compiler can unroll loops if the number of iterations is a constant.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Allocation: Hardware needs to know exactly how much memory to reserve before the kernel starts.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Dead Code Elimination: If a tl.constexpr value makes a condition always False, the compiler removes that code entirely.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Specialization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Triton generates a new version of the kernel for every unique combination of constexpr values and data types.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Scenario A: Launch with BLOCK_SIZE=128 → Compiled Kernel V1.</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Scenario B: Launch with BLOCK_SIZE=512 → Compiled Kernel V2.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Result: No "if-statements" at runtime to check the block size; the code is hard-coded for that specific size, leading to maximum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Moving to 2D: Tiling &amp; Matrix Multiplication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100" b="0" i="0" u="none" strike="noStrike" spc="0">
                <a:solidFill>
                  <a:srgbClr val="404040">
                    <a:alpha val="100000"/>
                  </a:srgbClr>
                </a:solidFill>
                <a:latin typeface="Calibri" panose="020F0502020204030204"/>
              </a:defRPr>
            </a:lvl1pPr>
          </a:lstStyle>
          <a:p>
            <a:pPr marL="266700" indent="-2667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Beyond Vectors: Thinking in Tiles</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offs_m = tl.arange(0, BLOCK_SIZE_M) (Vertical)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offs_n = tl.arange(0, BLOCK_SIZE_N) (Horizontal)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tile_pointers = base_ptr + offs_m[:, None] * stride_m + offs_n[None, :] * stride_n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66700" indent="-2667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The tl.dot Primitive</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Matrix Multiplication ($C = A \times B$) is the "heavy lifter" of AI. Triton provides a hardware-accelerated primitive for this: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Syntax: accumulator = tl.dot(a_tile, b_tile, accumulator)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Requirement: Triton's tl.dot requires input tiles to be powers of two and typically at least 16 in dimension (depending on GPU architecture).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66700" indent="-266700" algn="l">
              <a:lnSpc>
                <a:spcPct val="100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Memory Layout: Strides</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 navigate 2D memory, Triton uses Strides. A stride tells the kernel how many elements to skip in memory to move to the next row or column.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row_major_stride = [Width, 1]</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Understanding the Memory Hierarchy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xfrm>
            <a:off x="523875" y="1132840"/>
            <a:ext cx="6553835" cy="4853305"/>
          </a:xfrm>
          <a:prstGeom prst="rect">
            <a:avLst/>
          </a:prstGeom>
        </p:spPr>
        <p:txBody>
          <a:bodyPr wrap="square" lIns="91440" tIns="45720" rIns="91440" bIns="45720" anchor="t">
            <a:normAutofit fontScale="90000" lnSpcReduction="10000"/>
          </a:bodyPr>
          <a:lstStyle>
            <a:lvl1pPr algn="l">
              <a:lnSpc>
                <a:spcPct val="83000"/>
              </a:lnSpc>
              <a:defRPr sz="2200" b="0" i="0" u="none" strike="noStrike" spc="0">
                <a:solidFill>
                  <a:srgbClr val="404040">
                    <a:alpha val="100000"/>
                  </a:srgbClr>
                </a:solidFill>
                <a:latin typeface="Calibri" panose="020F0502020204030204"/>
              </a:defRPr>
            </a:lvl1pPr>
          </a:lstStyle>
          <a:p>
            <a:pPr marL="279400" indent="-279400" algn="l">
              <a:lnSpc>
                <a:spcPct val="9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Global Memory (DRAM)</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Location: The large, "slow" memory on the GPU (e.g., 16GB HBM).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Role: Where your input and output tensors (PyTorch tensors) reside.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Access: Costly. We use tl.load and tl.store to access it.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(SRAM)</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Location: Fast, on-chip memory shared by a multiprocessor.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Triton’s Advantage: In CUDA, you must manage this manually (__shared__). In Triton, the compiler automatically uses SRAM to buffer data during operations like tl.dot.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Registers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Location: The fastest, immediate storage for the "Program."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Role: Where actual arithmetic ($+, -, \times$) happens.Scale: Smallest capacity; Triton optimizes register allocation to prevent "spilling."</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xfrm>
            <a:off x="7247890" y="1132840"/>
            <a:ext cx="4601210" cy="485584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Flow of Data</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Load: Global Memory $\rightarrow$ Registers (via SRAM)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 Arithmetic performed on Registers.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Store: Registers $\rightarrow$ Global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Common Built-in Functions &amp; Reduction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Element-wise Math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Arithmetic: +, -, *, /,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Math: tl.exp(), tl.log(), tl.sqrt(), tl.sin(), tl.cos()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Comparison: ==, !=, &lt;, &gt;, tl.where(condition, x, 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Reduction Operations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tl.sum(data, axis=...): Computes the sum along the specified axis.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tl.max(data, axis=...): Finds the maximum value.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tl.argmin() / tl.argmax(): Finds the index of the min/max.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Atomic Operations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tl.atomic_add(pointer, value, 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tl.atomic_max(pointer, value, mask)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 Softmax &amp; Dimensional Reduction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6" name="AutoShape 6"/>
          <p:cNvSpPr/>
          <p:nvPr/>
        </p:nvSpPr>
        <p:spPr>
          <a:xfrm>
            <a:off x="1776095" y="1132840"/>
            <a:ext cx="8640000" cy="51587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Droid Sans Mono"/>
                <a:ea typeface="Droid Sans Mono"/>
                <a:cs typeface="Droid Sans Mono"/>
                <a:sym typeface="Droid Sans Mono"/>
              </a:rPr>
              <a:t>@triton.jit</a:t>
            </a:r>
            <a:endParaRPr lang="en-US" sz="1100"/>
          </a:p>
          <a:p>
            <a:pPr indent="0" algn="l">
              <a:lnSpc>
                <a:spcPct val="100000"/>
              </a:lnSpc>
            </a:pPr>
            <a:r>
              <a:rPr lang="en-US" sz="1600" b="0" i="0" u="none" strike="noStrike">
                <a:solidFill>
                  <a:srgbClr val="000000"/>
                </a:solidFill>
                <a:latin typeface="Droid Sans Mono"/>
                <a:ea typeface="Droid Sans Mono"/>
                <a:cs typeface="Droid Sans Mono"/>
                <a:sym typeface="Droid Sans Mono"/>
              </a:rPr>
              <a:t>def softmax_kernel(output_ptr, input_ptr, row_stride, n_cols, BLOCK_SIZE: tl.constexpr):</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row_idx = tl.program_id(0)</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 Move pointer to the start of the current row</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row_start_ptr = input_ptr + row_idx * row_stride</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offsets = tl.arange(0, BLOCK_SIZE)</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mask = offsets &lt; n_cols</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 Load data</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x = tl.load(row_start_ptr + offsets, mask=mask, other=-float('inf'))</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 Compute Safe Softmax</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z = x - tl.max(x, axis=0)</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numerator = tl.exp(z)</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denominator = tl.sum(numerator, axis=0)</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softmax_out = numerator / denominator</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 Store result</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tl.store(output_ptr + row_idx * row_stride + offsets, softmax_out, mask=mask)</a:t>
            </a:r>
            <a:endParaRPr lang="en-US" sz="1600" b="0" i="0" u="none" strike="noStrike">
              <a:solidFill>
                <a:srgbClr val="000000"/>
              </a:solidFill>
              <a:latin typeface="Droid Sans Mono"/>
              <a:ea typeface="Droid Sans Mono"/>
              <a:cs typeface="Droid Sans Mono"/>
              <a:sym typeface="Droid Sans Mono"/>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Debugging &amp; The Triton Interpreter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1800" b="0"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Challenge: Debugging the GPU</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GPU debugging (using cuda-gdb or Nsight) is complex. Because Triton kernels are JIT-compiled and highly parallel, "printing" variables from inside the GPU is not straightforward.</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 Interpreter (CPU Mode)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Triton provides a built-in Interpreter that allows you to run your kernel on the CPU for debugging purposes.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How it works: Instead of compiling to PTX (GPU machine code), Triton executes the logic using NumPy-like operations on the CPU.</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Key Benefit: You can use standard Python tools like print() or pdb.set_trace() inside your @triton.jit function.Activation:Python# Force execution on the CPU interpreter</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Best Practices for Debugging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Start Small: Use a small BLOCK_SIZE (e.g., 8 or 16) and a small input vector.</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Verify Masks: Check if your masking logic is correctly handling out-of-bounds indices.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92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Check Shapes: Ensure that your 2D tiles and tl.dot inputs have compatible dimensions.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172210" y="3822065"/>
            <a:ext cx="4320000" cy="8026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marL="422275" lvl="1" indent="-152400" algn="l">
              <a:lnSpc>
                <a:spcPct val="100000"/>
              </a:lnSpc>
              <a:buChar char=" "/>
              <a:defRPr/>
            </a:pPr>
            <a:r>
              <a:rPr lang="en-US" sz="1200" b="0" i="0" u="none" strike="noStrike">
                <a:solidFill>
                  <a:srgbClr val="000000"/>
                </a:solidFill>
                <a:latin typeface="Droid Sans Mono"/>
                <a:ea typeface="Droid Sans Mono"/>
                <a:cs typeface="Droid Sans Mono"/>
                <a:sym typeface="Droid Sans Mono"/>
              </a:rPr>
              <a:t>import os</a:t>
            </a:r>
            <a:endParaRPr lang="en-US" sz="1100"/>
          </a:p>
          <a:p>
            <a:pPr marL="422275" lvl="1"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os.environ["TRITON_INTERPRET"] = "1"</a:t>
            </a:r>
            <a:endParaRPr lang="en-US" sz="1200" b="0" i="0" u="none" strike="noStrike">
              <a:solidFill>
                <a:srgbClr val="000000"/>
              </a:solidFill>
              <a:latin typeface="Droid Sans Mono"/>
              <a:ea typeface="Droid Sans Mono"/>
              <a:cs typeface="Droid Sans Mono"/>
              <a:sym typeface="Droid Sans Mono"/>
            </a:endParaRPr>
          </a:p>
          <a:p>
            <a:pPr marL="422275" lvl="1"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 Now calling the kernel will run on CPU</a:t>
            </a:r>
            <a:endParaRPr lang="en-US" sz="1200" b="0" i="0" u="none" strike="noStrike">
              <a:solidFill>
                <a:srgbClr val="000000"/>
              </a:solidFill>
              <a:latin typeface="Droid Sans Mono"/>
              <a:ea typeface="Droid Sans Mono"/>
              <a:cs typeface="Droid Sans Mono"/>
              <a:sym typeface="Droid Sans Mono"/>
            </a:endParaRPr>
          </a:p>
          <a:p>
            <a:pPr marL="422275" lvl="1" indent="-152400" algn="l">
              <a:lnSpc>
                <a:spcPct val="100000"/>
              </a:lnSpc>
              <a:buChar char=" "/>
            </a:pPr>
            <a:r>
              <a:rPr lang="en-US" sz="1200" b="0" i="0" u="none" strike="noStrike">
                <a:solidFill>
                  <a:srgbClr val="000000"/>
                </a:solidFill>
                <a:latin typeface="Droid Sans Mono"/>
                <a:ea typeface="Droid Sans Mono"/>
                <a:cs typeface="Droid Sans Mono"/>
                <a:sym typeface="Droid Sans Mono"/>
              </a:rPr>
              <a:t>add_kernel[grid](...)</a:t>
            </a:r>
            <a:endParaRPr lang="en-US" sz="1200" b="0" i="0" u="none" strike="noStrike">
              <a:solidFill>
                <a:srgbClr val="000000"/>
              </a:solidFill>
              <a:latin typeface="Droid Sans Mono"/>
              <a:ea typeface="Droid Sans Mono"/>
              <a:cs typeface="Droid Sans Mono"/>
              <a:sym typeface="Droid Sans Mono"/>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Performance Optimization &amp; Autotuning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Finding the "Sweet Spot"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on a GPU depends heavily on hardware-specific parameters like Block Size and the number of Warps. A configuration that is fast on an NVIDIA A100 might be slow on an RTX 4090.</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triton.autotune DecoratorInstead of hard-coding values, you can provide Triton with a list of configurations to test. Triton will automatically benchmark them and pick the winner.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23875" y="3721735"/>
            <a:ext cx="5400000" cy="1767841"/>
          </a:xfrm>
          <a:prstGeom prst="rect">
            <a:avLst/>
          </a:prstGeom>
          <a:noFill/>
          <a:ln w="12700">
            <a:solidFill>
              <a:srgbClr val="262626">
                <a:alpha val="100000"/>
              </a:srgbClr>
            </a:solidFill>
            <a:prstDash val="solid"/>
          </a:ln>
        </p:spPr>
        <p:txBody>
          <a:bodyPr wrap="square" lIns="91440" tIns="45720" rIns="91440" bIns="45720" rtlCol="0" anchor="t">
            <a:spAutoFit/>
          </a:bodyPr>
          <a:lstStyle/>
          <a:p>
            <a:pPr indent="0" algn="l">
              <a:lnSpc>
                <a:spcPct val="100000"/>
              </a:lnSpc>
              <a:defRPr/>
            </a:pPr>
            <a:r>
              <a:rPr lang="en-US" sz="1000" b="0" i="0" u="none" strike="noStrike">
                <a:solidFill>
                  <a:srgbClr val="000000"/>
                </a:solidFill>
                <a:latin typeface="Droid Sans Mono"/>
                <a:ea typeface="Droid Sans Mono"/>
                <a:cs typeface="Droid Sans Mono"/>
                <a:sym typeface="Droid Sans Mono"/>
              </a:rPr>
              <a:t>@triton.autotune(</a:t>
            </a:r>
            <a:endParaRPr lang="en-US" sz="1100"/>
          </a:p>
          <a:p>
            <a:pPr indent="0" algn="l">
              <a:lnSpc>
                <a:spcPct val="100000"/>
              </a:lnSpc>
            </a:pPr>
            <a:r>
              <a:rPr lang="en-US" sz="1000" b="0" i="0" u="none" strike="noStrike">
                <a:solidFill>
                  <a:srgbClr val="000000"/>
                </a:solidFill>
                <a:latin typeface="Droid Sans Mono"/>
                <a:ea typeface="Droid Sans Mono"/>
                <a:cs typeface="Droid Sans Mono"/>
                <a:sym typeface="Droid Sans Mono"/>
              </a:rPr>
              <a:t>configs=[</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triton.Config({'BLOCK_SIZE': 128}, num_warps=4),</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triton.Config({'BLOCK_SIZE': 256}, num_warps=8),</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triton.Config({'BLOCK_SIZE': 512}, num_warps=8),</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key=['n_elements'], # Re-run tuning if N changes significantly</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@triton.jit</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def optimized_kernel(..., BLOCK_SIZE: tl.constexpr):</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Droid Sans Mono"/>
                <a:ea typeface="Droid Sans Mono"/>
                <a:cs typeface="Droid Sans Mono"/>
                <a:sym typeface="Droid Sans Mono"/>
              </a:rPr>
              <a:t>    ...</a:t>
            </a:r>
            <a:endParaRPr lang="en-US" sz="10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0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6401435" y="3721735"/>
            <a:ext cx="5400000" cy="1844041"/>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Key Tuning Knobs</a:t>
            </a:r>
            <a:endParaRPr lang="en-US" sz="1100"/>
          </a:p>
          <a:p>
            <a:pPr marL="254000" lvl="1" indent="-203200" algn="l">
              <a:lnSpc>
                <a:spcPct val="100000"/>
              </a:lnSpc>
              <a:buClr>
                <a:srgbClr val="000000"/>
              </a:buClr>
              <a:buChar cha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num_warps: Controls how many warps (groups of 32 threads) execute the block. More warps can hide memory latency but use more registers.</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a:p>
            <a:pPr marL="254000" lvl="1" indent="-203200" algn="l">
              <a:lnSpc>
                <a:spcPct val="100000"/>
              </a:lnSpc>
              <a:buClr>
                <a:srgbClr val="000000"/>
              </a:buClr>
              <a:buChar cha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num_stages: Controls software pipelining. Higher values allow the GPU to load the next block of data while calculating the current one.</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Matrix Multiplication: Strides &amp; Layout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Constructing 2D Tile Pointers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Strides Matter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Flexibility: Strides allow your kernel to handle Transposed Matrices or Sub-views (Slices) without copying data.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Efficiency: Proper strides ensure "Coalesced" access, where the GPU reads contiguous memory blocks.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1985010" y="1877695"/>
            <a:ext cx="7200265" cy="2030095"/>
          </a:xfrm>
          <a:prstGeom prst="rect">
            <a:avLst/>
          </a:prstGeom>
          <a:noFill/>
          <a:ln w="12700">
            <a:solidFill>
              <a:srgbClr val="262626">
                <a:alpha val="100000"/>
              </a:srgbClr>
            </a:solid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Droid Sans Mono"/>
                <a:ea typeface="Droid Sans Mono"/>
                <a:cs typeface="Droid Sans Mono"/>
                <a:sym typeface="Droid Sans Mono"/>
              </a:rPr>
              <a:t># Create 1D offset vectors</a:t>
            </a:r>
            <a:endParaRPr lang="en-US" sz="1100"/>
          </a:p>
          <a:p>
            <a:pPr indent="0" algn="l">
              <a:lnSpc>
                <a:spcPct val="100000"/>
              </a:lnSpc>
            </a:pPr>
            <a:r>
              <a:rPr lang="en-US" sz="1600" b="0" i="0" u="none" strike="noStrike">
                <a:solidFill>
                  <a:srgbClr val="000000"/>
                </a:solidFill>
                <a:latin typeface="Droid Sans Mono"/>
                <a:ea typeface="Droid Sans Mono"/>
                <a:cs typeface="Droid Sans Mono"/>
                <a:sym typeface="Droid Sans Mono"/>
              </a:rPr>
              <a:t>offs_m = tl.arange(0, BLOCK_SIZE_M)</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offs_n = tl.arange(0, BLOCK_SIZE_N)</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Combine into 2D pointer grid (M, N)</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[M, 1] * stride_m + [1, N] * stride_n</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tile_ptr = base_ptr + (offs_m[:, None] * stride_m + </a:t>
            </a:r>
            <a:endParaRPr lang="en-US" sz="1600" b="0" i="0" u="none" strike="noStrike">
              <a:solidFill>
                <a:srgbClr val="000000"/>
              </a:solidFill>
              <a:latin typeface="Droid Sans Mono"/>
              <a:ea typeface="Droid Sans Mono"/>
              <a:cs typeface="Droid Sans Mono"/>
              <a:sym typeface="Droid Sans Mono"/>
            </a:endParaRPr>
          </a:p>
          <a:p>
            <a:pPr indent="0" algn="l">
              <a:lnSpc>
                <a:spcPct val="100000"/>
              </a:lnSpc>
            </a:pPr>
            <a:r>
              <a:rPr lang="en-US" sz="1600" b="0" i="0" u="none" strike="noStrike">
                <a:solidFill>
                  <a:srgbClr val="000000"/>
                </a:solidFill>
                <a:latin typeface="Droid Sans Mono"/>
                <a:ea typeface="Droid Sans Mono"/>
                <a:cs typeface="Droid Sans Mono"/>
                <a:sym typeface="Droid Sans Mono"/>
              </a:rPr>
              <a:t>                       offs_n[None, :] * stride_n)</a:t>
            </a:r>
            <a:endParaRPr lang="en-US" sz="1600" b="0" i="0" u="none" strike="noStrike">
              <a:solidFill>
                <a:srgbClr val="000000"/>
              </a:solidFill>
              <a:latin typeface="Droid Sans Mono"/>
              <a:ea typeface="Droid Sans Mono"/>
              <a:cs typeface="Droid Sans Mono"/>
              <a:sym typeface="Droid Sans Mono"/>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Software Pipelining &amp; num_stages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rmAutofit fontScale="90000"/>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1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Overcoming the Memory Wall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Arithmetic operations on a GPU (like floating-point additions) are much faster than the time it takes to fetch data from Global Memory. To prevent the GPU from sitting idle while waiting for data, we use Software Pipelining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1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What is Software Pipelining?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Instead of a "Load-then-Compute" sequence, the compiler overlaps them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Load data for the next iteration while computing the current iteration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1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Benefit: Hides memory latency by keeping the arithmetic logic units (ALUs) busy.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rmAutofit fontScale="90000" lnSpcReduction="10000"/>
          </a:bodyPr>
          <a:lstStyle>
            <a:lvl1pPr algn="l">
              <a:lnSpc>
                <a:spcPct val="83000"/>
              </a:lnSpc>
              <a:defRPr sz="2200" b="0" i="0" u="none" strike="noStrike" spc="0">
                <a:solidFill>
                  <a:srgbClr val="404040">
                    <a:alpha val="100000"/>
                  </a:srgbClr>
                </a:solidFill>
                <a:latin typeface="Calibri" panose="020F0502020204030204"/>
              </a:defRPr>
            </a:lvl1pPr>
          </a:lstStyle>
          <a:p>
            <a:pPr marL="279400" indent="-279400" algn="l">
              <a:lnSpc>
                <a:spcPct val="10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The num_stages Parameter</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 Triton, this is a tuning knob that determines the depth of the pipeline.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num_stages=2: Standard double-buffering.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num_stages=3+: Used for complex kernels (like FlashAttention) to pre-fetch data even further in advance.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Hardware Requirement: This feature leverages NVIDIA's cp.async instructions, which allow the hardware to move data from Global Memory to SRAM asynchronously.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3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Balancing Act</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Higher num_stages: Better latency hiding but uses more SRAM.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3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Lower num_stages: Saves memory but might lead to "pipeline stalls" where the compute units wait for data.</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Triton vs. CUDA — Shifting Your Mental Model</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Calibri" panose="020F0502020204030204"/>
              </a:defRPr>
            </a:lvl1pPr>
          </a:lstStyle>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A Philosophical Shift</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When to use which?</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Use CUDA if: extreme bit-level manipulation, irregular data structures, or legacy h/w support.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Use Triton if: building DL ops (MatMul, Attn, Norms) and want high perf. with 10x faster devel.</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1018540" y="1908175"/>
          <a:ext cx="8280000" cy="2286000"/>
        </p:xfrm>
        <a:graphic>
          <a:graphicData uri="http://schemas.openxmlformats.org/drawingml/2006/table">
            <a:tbl>
              <a:tblPr>
                <a:effectLst/>
              </a:tblPr>
              <a:tblGrid>
                <a:gridCol w="1800000"/>
                <a:gridCol w="3240000"/>
                <a:gridCol w="3240000"/>
              </a:tblGrid>
              <a:tr h="381000">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Feature</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CUDA C++ (Thread-Centric)</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Triton (Block-Centric)</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Unit of Work</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Single Thread</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Block / Tile (e.g., 128x128)</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Index</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threadIdx, blockIdx</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tl.program_id, tl.arange</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Communication</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Implicit (Handled by Compiler)</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Implicit (Handled by Compiler)</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Optimization</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Automatic via Tiled Abstraction</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Automatic via Tiled Abstraction</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381000">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Portability</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Target-specific (PTX/SASS)</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High-level IR (Easier to retarget)</a:t>
                      </a:r>
                      <a:endParaRPr lang="en-US" sz="110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Limitations &amp; Current Constraints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300" b="0" i="0" u="none" strike="noStrike" spc="0">
                <a:solidFill>
                  <a:srgbClr val="404040">
                    <a:alpha val="100000"/>
                  </a:srgbClr>
                </a:solidFill>
                <a:latin typeface="Calibri" panose="020F0502020204030204"/>
              </a:defRPr>
            </a:lvl1pPr>
          </a:lstStyle>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Structural Constraints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Power of Two: Block sizes (M, N, K) must be powers of two (e.g., 64, 128, 1024). This is a hard requirement for the compiler's tiling logic.</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Static Shapes: While tensors can have dynamic sizes, the BLOCK_SIZE must be a tl.constexpr (fixed at compile time for each specialized version).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Control Flow Restrictions</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No Unstructured Jumps: Triton supports if and else, but complex, highly divergent branching (common in graph algorithms) can lead to significant performance degradation.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Limited Recursion: High-performance kernels are generally flat; recursive logic is not supported.</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92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Hardware Support</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Primary Platform: Highly optimized for NVIDIA GPUs (Ampere, Hopper, etc.).</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Evolving Support: Support for AMD (ROCm) and Intel GPUs is improving but may lag behind in feature parity or specialized performance primitives</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Learning Path: The 4-Stage Roadmap</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1"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rmAutofit/>
          </a:bodyPr>
          <a:lstStyle>
            <a:lvl1pPr algn="l">
              <a:lnSpc>
                <a:spcPct val="100000"/>
              </a:lnSpc>
              <a:defRPr sz="2200" b="0" i="0" u="none" strike="noStrike" spc="0">
                <a:solidFill>
                  <a:srgbClr val="404040">
                    <a:alpha val="100000"/>
                  </a:srgbClr>
                </a:solidFill>
                <a:latin typeface="Calibri" panose="020F0502020204030204"/>
              </a:defRPr>
            </a:lvl1pPr>
          </a:lstStyle>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Level 1: The Basics (1D)</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Goal: Master the "Triton Mindset."</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Task: Implement Vector Addition and Layer Normalization.</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Focus: Pointer arithmetic, tl.arange, and the critical importance of Masking.</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100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Level 2: Reductions &amp; Memory (Intermediate)</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Goal: Understand how blocks communicate internally.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Task: Implement Softmax or a Fast Dropout kernel.</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Focus: tl.sum, tl.max, and using other values in loads for numerical stability.</a:t>
            </a:r>
            <a:endPar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Level 3: Tiling &amp; Strides (Advanced)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Goal: High-performance 2D operations.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Task: Build a Matrix Multiplication (MatMul) from scratch.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Focus: 2D broadcasting, tl.dot, and optimizing Strides for memory coalescing.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Level 4: Production Optimization (Expert)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Goal: Squeeze every TFLOPS out of the hardware.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Task: Implement FlashAttention or fused Transformer blocks.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Focus: autotune, num_stages (pipelining), and num_warps.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92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Conclusion &amp; Next Steps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200" b="0" i="0" u="none" strike="noStrike" spc="0">
                <a:solidFill>
                  <a:srgbClr val="404040">
                    <a:alpha val="100000"/>
                  </a:srgbClr>
                </a:solidFill>
                <a:latin typeface="Calibri" panose="020F0502020204030204"/>
              </a:defRPr>
            </a:lvl1pPr>
          </a:lstStyle>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The Triton Revolution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Near-CUDA speeds with a fraction of the code complexity.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Accessibility: If you can write Python and understand NumPy, you can write GPU kernels.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Let the compiler handle the "dirty work" of memory management, synchronization, and hardware specialized instructions.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Key Resources for Further Exploration</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Official documents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triton-lang.org/main/index.html"/>
              </a:rPr>
              <a:t>https://triton-lang.org/main/index.html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community meetup notes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2" tooltip="https://github.com/triton-lang/triton/tree/main/docs/meetups"/>
              </a:rPr>
              <a:t>https://github.com/triton-lang/triton/tree/main/docs/meetups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Blog (OpenAI) https://openai.com/index/triton/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Example: FlashAttention in Triton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github.com/dao-ailab/flash-attention/blob/main/flash_attn/flash_attn_triton.py"/>
              </a:rPr>
              <a:t>https://github.com/Dao-AILab/flash-attention/blob/main/flash_attn/flash_attn_triton.py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Final Thought: "The goal of Triton is not just to make GPU programming faster, but to make it programmable by the researchers who are actually designing the models."</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1"/>
          <a:srcRect l="2306" r="2305"/>
          <a:stretch>
            <a:fillRect/>
          </a:stretch>
        </p:blipFill>
        <p:spPr>
          <a:xfrm>
            <a:off x="0" y="-34924"/>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ags/tag1.xml><?xml version="1.0" encoding="utf-8"?>
<p:tagLst xmlns:p="http://schemas.openxmlformats.org/presentationml/2006/main">
  <p:tag name="RESOURCE_RECORD_KEY" val="{&quot;29&quot;:[50000086,50052716,5000009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19831</Words>
  <Application>WPS 演示</Application>
  <PresentationFormat>宽屏</PresentationFormat>
  <Paragraphs>645</Paragraphs>
  <Slides>30</Slides>
  <Notes>8</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30</vt:i4>
      </vt:variant>
    </vt:vector>
  </HeadingPairs>
  <TitlesOfParts>
    <vt:vector size="48"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等线</vt:lpstr>
      <vt:lpstr>Arial Unicode MS</vt:lpstr>
      <vt:lpstr>BatangChe</vt:lpstr>
      <vt:lpstr>Droid Sans Mono</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53</cp:revision>
  <dcterms:created xsi:type="dcterms:W3CDTF">2026-04-14T06:08:00Z</dcterms:created>
  <dcterms:modified xsi:type="dcterms:W3CDTF">2026-05-27T11:18:14Z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9A866395107AA02062CEDD69306860DC_42</vt:lpwstr>
  </property>
  <property fmtid="{D5CDD505-2E9C-101B-9397-08002B2CF9AE}" pid="3" name="KSOProductBuildVer">
    <vt:lpwstr>2052-12.1.0.21915</vt:lpwstr>
  </property>
</Properties>
</file>