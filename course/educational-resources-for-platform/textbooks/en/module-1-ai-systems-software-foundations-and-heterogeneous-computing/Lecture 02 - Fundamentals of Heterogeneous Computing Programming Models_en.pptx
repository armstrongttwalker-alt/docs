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4.webp" ContentType="image/webp"/>
  <Override PartName="/ppt/media/image15.webp" ContentType="image/webp"/>
  <Override PartName="/ppt/media/image19.webp" ContentType="image/webp"/>
  <Override PartName="/ppt/media/image30.webp" ContentType="image/webp"/>
  <Override PartName="/ppt/media/image31.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83" r:id="rId6"/>
    <p:sldId id="284"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4" r:id="rId44"/>
    <p:sldId id="326" r:id="rId45"/>
    <p:sldId id="327" r:id="rId46"/>
    <p:sldId id="328" r:id="rId47"/>
    <p:sldId id="321" r:id="rId48"/>
    <p:sldId id="322" r:id="rId49"/>
    <p:sldId id="281" r:id="rId50"/>
  </p:sldIdLst>
  <p:sldSz cx="12192000" cy="6858000"/>
  <p:notesSz cx="6858000" cy="9144000"/>
  <p:custDataLst>
    <p:tags r:id="rId5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3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9A74872-F02B-4E3C-AB47-1B6172E16CCE}" styleName="表样式 1 14">
    <a:wholeTbl>
      <a:tcTxStyle>
        <a:fontRef idx="none">
          <a:srgbClr val="000000"/>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20000"/>
              <a:lumOff val="80000"/>
            </a:schemeClr>
          </a:solidFill>
        </a:fill>
      </a:tcStyle>
    </a:firstCol>
    <a:lastRow>
      <a:tcTxStyle b="on">
        <a:fontRef idx="none">
          <a:srgbClr val="FFFFFF"/>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632" y="72"/>
      </p:cViewPr>
      <p:guideLst>
        <p:guide orient="horz" pos="163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4" Type="http://schemas.openxmlformats.org/officeDocument/2006/relationships/tags" Target="tags/tag2.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需要涉及的要点</a:t>
            </a:r>
            <a:r>
              <a:rPr lang="en-US" altLang="zh-CN"/>
              <a:t>：</a:t>
            </a:r>
            <a:endParaRPr lang="en-US" altLang="zh-CN"/>
          </a:p>
          <a:p>
            <a:r>
              <a:rPr lang="en-US" altLang="zh-CN"/>
              <a:t>- </a:t>
            </a:r>
            <a:r>
              <a:rPr lang="zh-CN" altLang="en-US"/>
              <a:t>第一课时</a:t>
            </a:r>
            <a:r>
              <a:rPr lang="en-US" altLang="zh-CN"/>
              <a:t>：</a:t>
            </a:r>
            <a:r>
              <a:rPr lang="en-US">
                <a:solidFill>
                  <a:srgbClr val="262626"/>
                </a:solidFill>
                <a:latin typeface="Calibri" panose="020F0502020204030204"/>
                <a:ea typeface="Calibri" panose="020F0502020204030204"/>
                <a:cs typeface="Calibri" panose="020F0502020204030204"/>
                <a:sym typeface="Calibri" panose="020F0502020204030204"/>
              </a:rPr>
              <a:t>Compute Architectures </a:t>
            </a:r>
            <a:r>
              <a:rPr lang="zh-CN" altLang="en-US">
                <a:solidFill>
                  <a:srgbClr val="262626"/>
                </a:solidFill>
                <a:latin typeface="Calibri" panose="020F0502020204030204"/>
                <a:ea typeface="Calibri" panose="020F0502020204030204"/>
                <a:cs typeface="Calibri" panose="020F0502020204030204"/>
                <a:sym typeface="Calibri" panose="020F0502020204030204"/>
              </a:rPr>
              <a:t>的逐渐演化</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由</a:t>
            </a:r>
            <a:r>
              <a:rPr lang="en-US" altLang="zh-CN">
                <a:solidFill>
                  <a:srgbClr val="262626"/>
                </a:solidFill>
                <a:latin typeface="Calibri" panose="020F0502020204030204"/>
                <a:ea typeface="Calibri" panose="020F0502020204030204"/>
                <a:cs typeface="Calibri" panose="020F0502020204030204"/>
                <a:sym typeface="Calibri" panose="020F0502020204030204"/>
              </a:rPr>
              <a:t>AI/ML workload </a:t>
            </a:r>
            <a:r>
              <a:rPr lang="zh-CN" altLang="en-US">
                <a:solidFill>
                  <a:srgbClr val="262626"/>
                </a:solidFill>
                <a:latin typeface="Calibri" panose="020F0502020204030204"/>
                <a:ea typeface="Calibri" panose="020F0502020204030204"/>
                <a:cs typeface="Calibri" panose="020F0502020204030204"/>
                <a:sym typeface="Calibri" panose="020F0502020204030204"/>
              </a:rPr>
              <a:t>引导</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逐渐展示出多种多样的架构</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如华为达芬奇</a:t>
            </a:r>
            <a:r>
              <a:rPr lang="en-US" altLang="zh-CN">
                <a:solidFill>
                  <a:srgbClr val="262626"/>
                </a:solidFill>
                <a:latin typeface="Calibri" panose="020F0502020204030204"/>
                <a:ea typeface="Calibri" panose="020F0502020204030204"/>
                <a:cs typeface="Calibri" panose="020F0502020204030204"/>
                <a:sym typeface="Calibri" panose="020F0502020204030204"/>
              </a:rPr>
              <a:t>、AMD</a:t>
            </a:r>
            <a:r>
              <a:rPr lang="zh-CN" altLang="en-US">
                <a:solidFill>
                  <a:srgbClr val="262626"/>
                </a:solidFill>
                <a:latin typeface="Calibri" panose="020F0502020204030204"/>
                <a:ea typeface="Calibri" panose="020F0502020204030204"/>
                <a:cs typeface="Calibri" panose="020F0502020204030204"/>
                <a:sym typeface="Calibri" panose="020F0502020204030204"/>
              </a:rPr>
              <a:t>等等</a:t>
            </a:r>
            <a:endParaRPr lang="zh-CN" altLang="en-US">
              <a:solidFill>
                <a:srgbClr val="262626"/>
              </a:solidFill>
              <a:latin typeface="Calibri" panose="020F0502020204030204"/>
              <a:ea typeface="Calibri" panose="020F0502020204030204"/>
              <a:cs typeface="Calibri" panose="020F0502020204030204"/>
              <a:sym typeface="Calibri" panose="020F0502020204030204"/>
            </a:endParaRPr>
          </a:p>
          <a:p>
            <a:r>
              <a:rPr lang="en-US" altLang="zh-CN">
                <a:solidFill>
                  <a:srgbClr val="262626"/>
                </a:solidFill>
                <a:latin typeface="Calibri" panose="020F0502020204030204"/>
                <a:ea typeface="Calibri" panose="020F0502020204030204"/>
                <a:cs typeface="Calibri" panose="020F0502020204030204"/>
                <a:sym typeface="Calibri" panose="020F0502020204030204"/>
              </a:rPr>
              <a:t>- </a:t>
            </a:r>
            <a:r>
              <a:rPr lang="zh-CN" altLang="en-US">
                <a:solidFill>
                  <a:srgbClr val="262626"/>
                </a:solidFill>
                <a:latin typeface="Calibri" panose="020F0502020204030204"/>
                <a:ea typeface="Calibri" panose="020F0502020204030204"/>
                <a:cs typeface="Calibri" panose="020F0502020204030204"/>
                <a:sym typeface="Calibri" panose="020F0502020204030204"/>
              </a:rPr>
              <a:t>第二课时</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互联的硬件基础</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与</a:t>
            </a:r>
            <a:r>
              <a:rPr lang="en-US" altLang="zh-CN">
                <a:solidFill>
                  <a:srgbClr val="262626"/>
                </a:solidFill>
                <a:latin typeface="Calibri" panose="020F0502020204030204"/>
                <a:ea typeface="Calibri" panose="020F0502020204030204"/>
                <a:cs typeface="Calibri" panose="020F0502020204030204"/>
                <a:sym typeface="Calibri" panose="020F0502020204030204"/>
              </a:rPr>
              <a:t>CUDA core、Tensor core </a:t>
            </a:r>
            <a:r>
              <a:rPr lang="zh-CN" altLang="en-US">
                <a:solidFill>
                  <a:srgbClr val="262626"/>
                </a:solidFill>
                <a:latin typeface="Calibri" panose="020F0502020204030204"/>
                <a:ea typeface="Calibri" panose="020F0502020204030204"/>
                <a:cs typeface="Calibri" panose="020F0502020204030204"/>
                <a:sym typeface="Calibri" panose="020F0502020204030204"/>
              </a:rPr>
              <a:t>的编程</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endParaRPr lang="en-US" altLang="zh-CN">
              <a:solidFill>
                <a:srgbClr val="262626"/>
              </a:solidFill>
              <a:latin typeface="Calibri" panose="020F0502020204030204"/>
              <a:ea typeface="Calibri" panose="020F0502020204030204"/>
              <a:cs typeface="Calibri" panose="020F0502020204030204"/>
              <a:sym typeface="Calibri" panose="020F0502020204030204"/>
            </a:endParaRPr>
          </a:p>
          <a:p>
            <a:r>
              <a:rPr lang="en-US" altLang="zh-CN">
                <a:solidFill>
                  <a:srgbClr val="262626"/>
                </a:solidFill>
                <a:latin typeface="Calibri" panose="020F0502020204030204"/>
                <a:ea typeface="Calibri" panose="020F0502020204030204"/>
                <a:cs typeface="Calibri" panose="020F0502020204030204"/>
                <a:sym typeface="Calibri" panose="020F0502020204030204"/>
              </a:rPr>
              <a:t>- </a:t>
            </a:r>
            <a:r>
              <a:rPr lang="zh-CN" altLang="en-US">
                <a:solidFill>
                  <a:srgbClr val="262626"/>
                </a:solidFill>
                <a:latin typeface="Calibri" panose="020F0502020204030204"/>
                <a:ea typeface="Calibri" panose="020F0502020204030204"/>
                <a:cs typeface="Calibri" panose="020F0502020204030204"/>
                <a:sym typeface="Calibri" panose="020F0502020204030204"/>
              </a:rPr>
              <a:t>可能还需要涉及的点</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课程整体设计</a:t>
            </a:r>
            <a:r>
              <a:rPr lang="en-US" altLang="zh-CN">
                <a:solidFill>
                  <a:srgbClr val="262626"/>
                </a:solidFill>
                <a:latin typeface="Calibri" panose="020F0502020204030204"/>
                <a:ea typeface="Calibri" panose="020F0502020204030204"/>
                <a:cs typeface="Calibri" panose="020F0502020204030204"/>
                <a:sym typeface="Calibri" panose="020F0502020204030204"/>
              </a:rPr>
              <a:t>（Syllabus、</a:t>
            </a:r>
            <a:r>
              <a:rPr lang="zh-CN" altLang="en-US">
                <a:solidFill>
                  <a:srgbClr val="262626"/>
                </a:solidFill>
                <a:latin typeface="Calibri" panose="020F0502020204030204"/>
                <a:ea typeface="Calibri" panose="020F0502020204030204"/>
                <a:cs typeface="Calibri" panose="020F0502020204030204"/>
                <a:sym typeface="Calibri" panose="020F0502020204030204"/>
              </a:rPr>
              <a:t>各个模块的内容</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根据教学大纲生成了个</a:t>
            </a:r>
            <a:r>
              <a:rPr lang="en-US" altLang="zh-CN">
                <a:solidFill>
                  <a:srgbClr val="262626"/>
                </a:solidFill>
                <a:latin typeface="Calibri" panose="020F0502020204030204"/>
                <a:ea typeface="Calibri" panose="020F0502020204030204"/>
                <a:cs typeface="Calibri" panose="020F0502020204030204"/>
                <a:sym typeface="Calibri" panose="020F0502020204030204"/>
              </a:rPr>
              <a:t>overview</a:t>
            </a:r>
            <a:r>
              <a:rPr lang="zh-CN" altLang="en-US">
                <a:solidFill>
                  <a:srgbClr val="262626"/>
                </a:solidFill>
                <a:latin typeface="Calibri" panose="020F0502020204030204"/>
                <a:ea typeface="Calibri" panose="020F0502020204030204"/>
                <a:cs typeface="Calibri" panose="020F0502020204030204"/>
                <a:sym typeface="Calibri" panose="020F0502020204030204"/>
              </a:rPr>
              <a:t>的图</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endParaRPr lang="en-US" altLang="zh-CN">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Janapa Reddi, V. ML Systems Textbook. , from https://www.mlsysbook.ai/contents/core/ml_systems/ml_systems.html</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Janapa Reddi, V. ML Systems Textbook. , from https://www.mlsysbook.ai/contents/core/ml_systems/ml_systems.html</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https://applieddatasystems.com/hpc-solutions-2/gpu-servers/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https://developer.nvidia.com/blog/introducing-nvidia-jetson-thor-the-ultimate-platform-for-physical-ai/</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pic-1 src: https://www.fibermall.com/blog/pcie-development.htm?srsltid=AfmBOorQpZIXd2vThqYRYSiPnQA0t-vEEgy2qs2bqBwevFxZ18Css9BG</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pic-2 src: https://global.icydock.com/resources/icy_tips_367.html</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pic1: https://e2e.ti.com/support/processors-group/processors/f/processors-forum/465737/pcie-system-architecture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pic2: https://www.corsair.com/us/en/explorer/diy-builder/storage/what-is-pcie-and-how-does-it-work/?srsltid=AfmBOopOClHgxQNRCjM-qE1GfLF5emw_NG9baHGOoHVaTlt9bfUfwAtF</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https://www.zhihu.com/question/22233341/answer/1889610843068535566</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gpu-cpu pic src: https://developer.nvidia.com/gpudirect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gpudirect: https://developer.download.nvidia.com/devzone/devcenter/cuda/docs/GPUDirect_Technology_Overview.pdf</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 src: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https://developer.nvidia.com/blog/introduction-cuda-aware-mpi/</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https://keeneland.gatech.edu/software/gpudirect.html</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并行方式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产生大量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P2P</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通信的阶段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典型通信量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P2P</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带宽</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延迟的敏感度</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数据并行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梯度聚合（</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All-Reduce）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大，但可用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Ring/Tree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算法分摊到多链路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中等</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模型并行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张量并行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每一步前向</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反向，层内张量切片之间频繁交换中间结果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持续且密集的小包</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极高</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流水线并行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阶段边界的前向激活</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&amp;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反向梯度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阶段性脉冲式流量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高</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 https://en.wikichip.org/wiki/nvidia/nvlink</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pic1: https://mp.weixin.qq.com/s?__biz=MzI1OTExNzkzNw==&amp;mid=2650480852&amp;idx=3&amp;sn=9c1730bc2ba0262937e29a7096a0697d&amp;chksm=f3811d2cccd9dfae64115574577a78a3875cdf8ef926a79ac1b03232dc910508cff4df37533b&amp;scene=27&amp;poc_token=HHU-pGij3SZqHxnt9yGj91eq4cMpN2yXbZjC5abD</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pic2: https://www.nvidia.com/zh-tw/data-center/nvlink/</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https://developer.nvidia.com/blog/using-cuda-warp-level-primitives/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NVIDIA GPUs execute warps of 32 parallel threads using SIMT, which enables each thread to access its own registers, to load and store from divergent addresses, and to follow divergent control flow paths.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This is the start of an example explaining how GPU’s wide memory buses work.</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desired element is at 0x00001232 as shown 2 slides back.</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8"/>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1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16"/>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p:nvGrpSpPr>
        <p:grpSpPr>
          <a:xfrm>
            <a:off x="9221415" y="158476"/>
            <a:ext cx="2580450" cy="547850"/>
            <a:chOff x="9221415" y="158476"/>
            <a:chExt cx="2580450" cy="547850"/>
          </a:xfrm>
        </p:grpSpPr>
        <p:pic>
          <p:nvPicPr>
            <p:cNvPr id="3" name="Picture 3"/>
            <p:cNvPicPr>
              <a:picLocks noChangeAspect="1"/>
            </p:cNvPicPr>
            <p:nvPr/>
          </p:nvPicPr>
          <p:blipFill>
            <a:blip r:embed="rId13"/>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4"/>
            <a:srcRect l="13229" t="29812" r="10430" b="29795"/>
            <a:stretch>
              <a:fillRect/>
            </a:stretch>
          </p:blipFill>
          <p:spPr>
            <a:xfrm>
              <a:off x="10527164" y="158476"/>
              <a:ext cx="1274701" cy="547850"/>
            </a:xfrm>
            <a:prstGeom prst="rect">
              <a:avLst/>
            </a:prstGeom>
            <a:ln w="12700">
              <a:noFill/>
              <a:prstDash val="solid"/>
            </a:ln>
          </p:spPr>
        </p:pic>
      </p:gr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3.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3.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4.xml"/><Relationship Id="rId4" Type="http://schemas.openxmlformats.org/officeDocument/2006/relationships/image" Target="../media/image15.webp"/><Relationship Id="rId3" Type="http://schemas.openxmlformats.org/officeDocument/2006/relationships/image" Target="../media/image14.webp"/><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4.webp"/><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4.xml"/><Relationship Id="rId2" Type="http://schemas.openxmlformats.org/officeDocument/2006/relationships/image" Target="../media/image17.jpeg"/><Relationship Id="rId1" Type="http://schemas.openxmlformats.org/officeDocument/2006/relationships/image" Target="../media/image16.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3.xml"/><Relationship Id="rId2" Type="http://schemas.openxmlformats.org/officeDocument/2006/relationships/image" Target="../media/image19.webp"/><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3.xml"/><Relationship Id="rId2" Type="http://schemas.openxmlformats.org/officeDocument/2006/relationships/image" Target="../media/image27.jpeg"/><Relationship Id="rId1" Type="http://schemas.openxmlformats.org/officeDocument/2006/relationships/image" Target="../media/image26.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3.xml"/><Relationship Id="rId2" Type="http://schemas.openxmlformats.org/officeDocument/2006/relationships/image" Target="../media/image29.png"/><Relationship Id="rId1" Type="http://schemas.openxmlformats.org/officeDocument/2006/relationships/image" Target="../media/image28.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3.xml"/><Relationship Id="rId2" Type="http://schemas.openxmlformats.org/officeDocument/2006/relationships/image" Target="../media/image31.webp"/><Relationship Id="rId1" Type="http://schemas.openxmlformats.org/officeDocument/2006/relationships/image" Target="../media/image30.webp"/></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3.xml"/><Relationship Id="rId2" Type="http://schemas.openxmlformats.org/officeDocument/2006/relationships/tags" Target="../tags/tag1.xml"/><Relationship Id="rId1"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38.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9.png"/><Relationship Id="rId1"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1.png"/><Relationship Id="rId1"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3.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4.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5.png"/></Relationships>
</file>

<file path=ppt/slides/_rels/slide45.xml.rels><?xml version="1.0" encoding="UTF-8" standalone="yes"?>
<Relationships xmlns="http://schemas.openxmlformats.org/package/2006/relationships"><Relationship Id="rId9" Type="http://schemas.openxmlformats.org/officeDocument/2006/relationships/hyperlink" Target="https://www.zhihu.com/people/95-22-20-18/posts" TargetMode="External"/><Relationship Id="rId8" Type="http://schemas.openxmlformats.org/officeDocument/2006/relationships/hyperlink" Target="https://space.bilibili.com/3546791834290849" TargetMode="External"/><Relationship Id="rId7" Type="http://schemas.openxmlformats.org/officeDocument/2006/relationships/hyperlink" Target="https://github.com/flagos-ai" TargetMode="Externa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3" Type="http://schemas.openxmlformats.org/officeDocument/2006/relationships/slideLayout" Target="../slideLayouts/slideLayout17.xml"/><Relationship Id="rId12" Type="http://schemas.openxmlformats.org/officeDocument/2006/relationships/image" Target="../media/image53.png"/><Relationship Id="rId11" Type="http://schemas.openxmlformats.org/officeDocument/2006/relationships/image" Target="../media/image52.jpeg"/><Relationship Id="rId10" Type="http://schemas.openxmlformats.org/officeDocument/2006/relationships/hyperlink" Target="https://flagos.io/Home" TargetMode="External"/><Relationship Id="rId1" Type="http://schemas.openxmlformats.org/officeDocument/2006/relationships/image" Target="../media/image46.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5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1"/>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endParaRPr lang="en-US" sz="4000" b="0" i="0" u="none" strike="noStrike">
              <a:solidFill>
                <a:srgbClr val="44546A"/>
              </a:solidFill>
              <a:latin typeface="Montserrat SemiBold"/>
              <a:ea typeface="Montserrat SemiBold"/>
              <a:cs typeface="Montserrat SemiBold"/>
              <a:sym typeface="Montserrat SemiBold"/>
            </a:endParaRP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46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Lecture 02: Fundamentals of Heterogeneous Computing Programming Models</a:t>
            </a:r>
            <a:endPar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1" i="0" u="none" strike="noStrike" spc="0">
                <a:solidFill>
                  <a:srgbClr val="8B0012">
                    <a:alpha val="100000"/>
                  </a:srgbClr>
                </a:solidFill>
                <a:latin typeface="Ebrima" panose="02000000000000000000"/>
              </a:defRPr>
            </a:lvl1pPr>
          </a:lstStyle>
          <a:p>
            <a:pPr marL="355600" indent="-355600" algn="l">
              <a:lnSpc>
                <a:spcPct val="100000"/>
              </a:lnSpc>
              <a:spcBef>
                <a:spcPts val="3000"/>
              </a:spcBef>
              <a:buClr>
                <a:srgbClr val="8B0012"/>
              </a:buClr>
              <a:buChar char="•"/>
            </a:pPr>
            <a:r>
              <a:rPr lang="en-US" sz="2800" b="1" i="0" u="none" strike="noStrike">
                <a:solidFill>
                  <a:srgbClr val="8B0012"/>
                </a:solidFill>
                <a:latin typeface="Ebrima" panose="02000000000000000000"/>
                <a:ea typeface="Ebrima" panose="02000000000000000000"/>
                <a:cs typeface="Ebrima" panose="02000000000000000000"/>
                <a:sym typeface="Ebrima" panose="02000000000000000000"/>
              </a:rPr>
              <a:t>Host, Device, and Interconnect</a:t>
            </a:r>
            <a:endParaRPr lang="en-US" sz="2800" b="1" i="0" u="none" strike="noStrike">
              <a:solidFill>
                <a:srgbClr val="8B0012"/>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host-dev: PCIe, NVLink-C2C</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dev-dev: PCIe, NVLink, (RDMA)</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Programming CUDA Cores</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Programming Tensor Cores</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indent="0" algn="l">
              <a:lnSpc>
                <a:spcPct val="100000"/>
              </a:lnSpc>
              <a:spcBef>
                <a:spcPts val="3000"/>
              </a:spcBef>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 </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a:spLocks noGrp="1"/>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AI Hardware Spectrum: Key Examples</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1/2</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nvPicPr>
        <p:blipFill>
          <a:blip r:embed="rId1"/>
          <a:srcRect/>
          <a:stretch>
            <a:fillRect/>
          </a:stretch>
        </p:blipFill>
        <p:spPr>
          <a:xfrm>
            <a:off x="1997341" y="1040818"/>
            <a:ext cx="4397504" cy="2476360"/>
          </a:xfrm>
          <a:prstGeom prst="rect">
            <a:avLst/>
          </a:prstGeom>
          <a:ln w="12700">
            <a:noFill/>
            <a:prstDash val="solid"/>
          </a:ln>
        </p:spPr>
      </p:pic>
      <p:pic>
        <p:nvPicPr>
          <p:cNvPr id="6" name="Picture 6"/>
          <p:cNvPicPr>
            <a:picLocks noChangeAspect="1"/>
          </p:cNvPicPr>
          <p:nvPr/>
        </p:nvPicPr>
        <p:blipFill>
          <a:blip r:embed="rId2"/>
          <a:srcRect/>
          <a:stretch>
            <a:fillRect/>
          </a:stretch>
        </p:blipFill>
        <p:spPr>
          <a:xfrm>
            <a:off x="6649612" y="958566"/>
            <a:ext cx="2449563" cy="2454433"/>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2886321" y="3763880"/>
            <a:ext cx="2620322" cy="2625532"/>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5450504" y="3763828"/>
            <a:ext cx="4847835" cy="2721497"/>
          </a:xfrm>
          <a:prstGeom prst="rect">
            <a:avLst/>
          </a:prstGeom>
          <a:ln w="12700">
            <a:noFill/>
            <a:prstDash val="solid"/>
          </a:ln>
        </p:spPr>
      </p:pic>
      <p:sp>
        <p:nvSpPr>
          <p:cNvPr id="9" name="AutoShape 9"/>
          <p:cNvSpPr/>
          <p:nvPr/>
        </p:nvSpPr>
        <p:spPr>
          <a:xfrm>
            <a:off x="568475" y="1978814"/>
            <a:ext cx="2017265"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Arial" panose="020B0604020202020204"/>
                <a:ea typeface="Arial" panose="020B0604020202020204"/>
                <a:cs typeface="Arial" panose="020B0604020202020204"/>
                <a:sym typeface="Arial" panose="020B0604020202020204"/>
              </a:rPr>
              <a:t>Cloud ML</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NVIDIA DGX 100</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9354070" y="1978586"/>
            <a:ext cx="2448000"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Arial" panose="020B0604020202020204"/>
                <a:ea typeface="Arial" panose="020B0604020202020204"/>
                <a:cs typeface="Arial" panose="020B0604020202020204"/>
                <a:sym typeface="Arial" panose="020B0604020202020204"/>
              </a:rPr>
              <a:t>Edge ML</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NVIDIA Jetson</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AGX Orin</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AutoShape 11"/>
          <p:cNvSpPr/>
          <p:nvPr/>
        </p:nvSpPr>
        <p:spPr>
          <a:xfrm>
            <a:off x="568475" y="4868975"/>
            <a:ext cx="2017265"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Arial" panose="020B0604020202020204"/>
                <a:ea typeface="Arial" panose="020B0604020202020204"/>
                <a:cs typeface="Arial" panose="020B0604020202020204"/>
                <a:sym typeface="Arial" panose="020B0604020202020204"/>
              </a:rPr>
              <a:t>Mobile ML</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iPhone</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2" name="AutoShape 12"/>
          <p:cNvSpPr/>
          <p:nvPr/>
        </p:nvSpPr>
        <p:spPr>
          <a:xfrm>
            <a:off x="9292377" y="4869029"/>
            <a:ext cx="2448000"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Arial" panose="020B0604020202020204"/>
                <a:ea typeface="Arial" panose="020B0604020202020204"/>
                <a:cs typeface="Arial" panose="020B0604020202020204"/>
                <a:sym typeface="Arial" panose="020B0604020202020204"/>
              </a:rPr>
              <a:t>Tiny ML</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Arduino Nano 33</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BLE Sense</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AI Hardware Spectrum: Key Examples</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2/2</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https://www.mlsysbook.ai/contents/core/ml_systems/ml_systems.html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254531" y="1531795"/>
            <a:ext cx="5825790" cy="397320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080311" y="2007539"/>
            <a:ext cx="5857124" cy="2399067"/>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6080311" y="1531838"/>
            <a:ext cx="5838623" cy="475691"/>
          </a:xfrm>
          <a:prstGeom prst="rect">
            <a:avLst/>
          </a:prstGeom>
          <a:ln w="12700">
            <a:noFill/>
            <a:prstDash val="solid"/>
          </a:ln>
        </p:spPr>
      </p:pic>
      <p:sp>
        <p:nvSpPr>
          <p:cNvPr id="9" name="AutoShape 9"/>
          <p:cNvSpPr/>
          <p:nvPr/>
        </p:nvSpPr>
        <p:spPr>
          <a:xfrm>
            <a:off x="935355" y="1531620"/>
            <a:ext cx="5144770" cy="2367280"/>
          </a:xfrm>
          <a:prstGeom prst="rect">
            <a:avLst/>
          </a:prstGeom>
          <a:solidFill>
            <a:srgbClr val="4472C4">
              <a:alpha val="20000"/>
            </a:srgbClr>
          </a:solidFill>
          <a:ln w="12700" cap="flat">
            <a:solidFill>
              <a:srgbClr val="2F5597">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5355" y="3898900"/>
            <a:ext cx="5144770" cy="1606550"/>
          </a:xfrm>
          <a:prstGeom prst="rect">
            <a:avLst/>
          </a:prstGeom>
          <a:solidFill>
            <a:srgbClr val="ED7D31">
              <a:alpha val="20000"/>
            </a:srgbClr>
          </a:solidFill>
          <a:ln w="12700" cap="flat">
            <a:solidFill>
              <a:srgbClr val="843C0B">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6774180" y="1531620"/>
            <a:ext cx="5144770" cy="1435100"/>
          </a:xfrm>
          <a:prstGeom prst="rect">
            <a:avLst/>
          </a:prstGeom>
          <a:solidFill>
            <a:srgbClr val="FFC000">
              <a:alpha val="20000"/>
            </a:srgbClr>
          </a:solidFill>
          <a:ln w="12700" cap="flat">
            <a:solidFill>
              <a:srgbClr val="806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6774180" y="2966720"/>
            <a:ext cx="5144770" cy="1435100"/>
          </a:xfrm>
          <a:prstGeom prst="rect">
            <a:avLst/>
          </a:prstGeom>
          <a:solidFill>
            <a:srgbClr val="70AD47">
              <a:alpha val="20000"/>
            </a:srgbClr>
          </a:solidFill>
          <a:ln w="12700" cap="flat">
            <a:solidFill>
              <a:srgbClr val="385724">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Two Forms of AI Chips (NVIDIA)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Discrete AI Chip: Standalone accelerators (e.g., DGX A100).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Integrated AI Chip: System-on-Chip/SoC (e.g., DRIVE Thor).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r="6249"/>
          <a:stretch>
            <a:fillRect/>
          </a:stretch>
        </p:blipFill>
        <p:spPr>
          <a:xfrm>
            <a:off x="523875" y="2051050"/>
            <a:ext cx="5400000" cy="3402133"/>
          </a:xfrm>
          <a:prstGeom prst="rect">
            <a:avLst/>
          </a:prstGeom>
          <a:ln w="12700">
            <a:noFill/>
            <a:prstDash val="solid"/>
          </a:ln>
        </p:spPr>
      </p:pic>
      <p:pic>
        <p:nvPicPr>
          <p:cNvPr id="10" name="Picture 10"/>
          <p:cNvPicPr>
            <a:picLocks noChangeAspect="1"/>
          </p:cNvPicPr>
          <p:nvPr/>
        </p:nvPicPr>
        <p:blipFill>
          <a:blip r:embed="rId2"/>
          <a:srcRect/>
          <a:stretch>
            <a:fillRect/>
          </a:stretch>
        </p:blipFill>
        <p:spPr>
          <a:xfrm>
            <a:off x="524099" y="5000625"/>
            <a:ext cx="2880000" cy="1720992"/>
          </a:xfrm>
          <a:prstGeom prst="rect">
            <a:avLst/>
          </a:prstGeom>
          <a:ln w="12700">
            <a:noFill/>
            <a:prstDash val="solid"/>
          </a:ln>
        </p:spPr>
      </p:pic>
      <p:cxnSp>
        <p:nvCxnSpPr>
          <p:cNvPr id="11" name="Connector 11"/>
          <p:cNvCxnSpPr/>
          <p:nvPr/>
        </p:nvCxnSpPr>
        <p:spPr>
          <a:xfrm>
            <a:off x="3373120" y="3381375"/>
            <a:ext cx="1800000" cy="0"/>
          </a:xfrm>
          <a:prstGeom prst="line">
            <a:avLst/>
          </a:prstGeom>
          <a:noFill/>
          <a:ln w="38100" cap="flat">
            <a:solidFill>
              <a:srgbClr val="FF0000">
                <a:alpha val="100000"/>
              </a:srgbClr>
            </a:solidFill>
            <a:prstDash val="solid"/>
            <a:headEnd type="none" w="med" len="med"/>
            <a:tailEnd type="none" w="med" len="med"/>
          </a:ln>
        </p:spPr>
      </p:cxnSp>
      <p:cxnSp>
        <p:nvCxnSpPr>
          <p:cNvPr id="12" name="Connector 12"/>
          <p:cNvCxnSpPr/>
          <p:nvPr/>
        </p:nvCxnSpPr>
        <p:spPr>
          <a:xfrm>
            <a:off x="3151505" y="3857625"/>
            <a:ext cx="900000" cy="0"/>
          </a:xfrm>
          <a:prstGeom prst="line">
            <a:avLst/>
          </a:prstGeom>
          <a:noFill/>
          <a:ln w="38100" cap="flat">
            <a:solidFill>
              <a:srgbClr val="92D050">
                <a:alpha val="100000"/>
              </a:srgbClr>
            </a:solidFill>
            <a:prstDash val="solid"/>
            <a:headEnd type="none" w="med" len="med"/>
            <a:tailEnd type="none" w="med" len="med"/>
          </a:ln>
        </p:spPr>
      </p:cxnSp>
      <p:cxnSp>
        <p:nvCxnSpPr>
          <p:cNvPr id="13" name="Connector 13"/>
          <p:cNvCxnSpPr/>
          <p:nvPr/>
        </p:nvCxnSpPr>
        <p:spPr>
          <a:xfrm>
            <a:off x="3016885" y="4324350"/>
            <a:ext cx="900000" cy="0"/>
          </a:xfrm>
          <a:prstGeom prst="line">
            <a:avLst/>
          </a:prstGeom>
          <a:noFill/>
          <a:ln w="38100" cap="flat">
            <a:solidFill>
              <a:srgbClr val="00B050">
                <a:alpha val="100000"/>
              </a:srgbClr>
            </a:solidFill>
            <a:prstDash val="solid"/>
            <a:headEnd type="none" w="med" len="med"/>
            <a:tailEnd type="none" w="med" len="med"/>
          </a:ln>
        </p:spPr>
      </p:cxnSp>
      <p:cxnSp>
        <p:nvCxnSpPr>
          <p:cNvPr id="14" name="Connector 14"/>
          <p:cNvCxnSpPr/>
          <p:nvPr/>
        </p:nvCxnSpPr>
        <p:spPr>
          <a:xfrm>
            <a:off x="2921000" y="4781550"/>
            <a:ext cx="900000" cy="0"/>
          </a:xfrm>
          <a:prstGeom prst="line">
            <a:avLst/>
          </a:prstGeom>
          <a:noFill/>
          <a:ln w="38100" cap="flat">
            <a:solidFill>
              <a:srgbClr val="EA609E">
                <a:alpha val="100000"/>
              </a:srgbClr>
            </a:solidFill>
            <a:prstDash val="solid"/>
            <a:headEnd type="none" w="med" len="med"/>
            <a:tailEnd type="none" w="med" len="med"/>
          </a:ln>
        </p:spPr>
      </p:cxnSp>
      <p:cxnSp>
        <p:nvCxnSpPr>
          <p:cNvPr id="15" name="Connector 15"/>
          <p:cNvCxnSpPr/>
          <p:nvPr/>
        </p:nvCxnSpPr>
        <p:spPr>
          <a:xfrm>
            <a:off x="3723640" y="2867660"/>
            <a:ext cx="2160000" cy="0"/>
          </a:xfrm>
          <a:prstGeom prst="line">
            <a:avLst/>
          </a:prstGeom>
          <a:noFill/>
          <a:ln w="38100" cap="flat">
            <a:solidFill>
              <a:srgbClr val="00B0F0">
                <a:alpha val="100000"/>
              </a:srgbClr>
            </a:solidFill>
            <a:prstDash val="solid"/>
            <a:headEnd type="none" w="med" len="med"/>
            <a:tailEnd type="none" w="med" len="med"/>
          </a:ln>
        </p:spPr>
      </p:cxnSp>
      <p:pic>
        <p:nvPicPr>
          <p:cNvPr id="16" name="图片 15"/>
          <p:cNvPicPr>
            <a:picLocks noChangeAspect="1"/>
          </p:cNvPicPr>
          <p:nvPr/>
        </p:nvPicPr>
        <p:blipFill>
          <a:blip r:embed="rId3"/>
          <a:stretch>
            <a:fillRect/>
          </a:stretch>
        </p:blipFill>
        <p:spPr>
          <a:xfrm>
            <a:off x="6041390" y="3450570"/>
            <a:ext cx="5760000" cy="2814619"/>
          </a:xfrm>
          <a:prstGeom prst="rect">
            <a:avLst/>
          </a:prstGeom>
        </p:spPr>
      </p:pic>
      <p:pic>
        <p:nvPicPr>
          <p:cNvPr id="17" name="图片 16"/>
          <p:cNvPicPr>
            <a:picLocks noChangeAspect="1"/>
          </p:cNvPicPr>
          <p:nvPr/>
        </p:nvPicPr>
        <p:blipFill>
          <a:blip r:embed="rId4"/>
          <a:srcRect l="20776" t="49408" r="24224" b="6128"/>
          <a:stretch>
            <a:fillRect/>
          </a:stretch>
        </p:blipFill>
        <p:spPr>
          <a:xfrm>
            <a:off x="6852020" y="2010575"/>
            <a:ext cx="3168000" cy="1440000"/>
          </a:xfrm>
          <a:prstGeom prst="rect">
            <a:avLst/>
          </a:prstGeom>
        </p:spPr>
      </p:pic>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Hetergeneous Integration of CPU and XPUs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rmAutofit lnSpcReduction="20000"/>
          </a:bodyPr>
          <a:lstStyle>
            <a:lvl1pPr algn="l">
              <a:lnSpc>
                <a:spcPct val="83000"/>
              </a:lnSpc>
              <a:defRPr sz="2400" b="0" i="0" u="none" strike="noStrike" spc="0">
                <a:solidFill>
                  <a:srgbClr val="404040">
                    <a:alpha val="100000"/>
                  </a:srgbClr>
                </a:solidFill>
                <a:latin typeface="Calibri" panose="020F0502020204030204"/>
              </a:defRPr>
            </a:lvl1pPr>
          </a:lstStyle>
          <a:p>
            <a:pPr marL="304800" indent="-304800" algn="l">
              <a:lnSpc>
                <a:spcPct val="83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Inter-chip (board-level) integration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83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83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83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83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protocols: PCIe, NVLink, etc.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Intra-chip integration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protocols: one-way or two-way coherency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7" name="Group 7"/>
          <p:cNvGrpSpPr/>
          <p:nvPr/>
        </p:nvGrpSpPr>
        <p:grpSpPr>
          <a:xfrm>
            <a:off x="354965" y="1708150"/>
            <a:ext cx="5760085" cy="3441700"/>
            <a:chOff x="354965" y="1708150"/>
            <a:chExt cx="5760085" cy="3441700"/>
          </a:xfrm>
        </p:grpSpPr>
        <p:pic>
          <p:nvPicPr>
            <p:cNvPr id="8" name="Picture 8"/>
            <p:cNvPicPr>
              <a:picLocks noChangeAspect="1"/>
            </p:cNvPicPr>
            <p:nvPr/>
          </p:nvPicPr>
          <p:blipFill>
            <a:blip r:embed="rId1"/>
            <a:srcRect/>
            <a:stretch>
              <a:fillRect/>
            </a:stretch>
          </p:blipFill>
          <p:spPr>
            <a:xfrm>
              <a:off x="354965" y="1708150"/>
              <a:ext cx="5760085" cy="3441700"/>
            </a:xfrm>
            <a:prstGeom prst="rect">
              <a:avLst/>
            </a:prstGeom>
            <a:ln w="12700">
              <a:noFill/>
              <a:prstDash val="solid"/>
            </a:ln>
          </p:spPr>
        </p:pic>
        <p:sp>
          <p:nvSpPr>
            <p:cNvPr id="9" name="AutoShape 9"/>
            <p:cNvSpPr/>
            <p:nvPr/>
          </p:nvSpPr>
          <p:spPr>
            <a:xfrm>
              <a:off x="1508125" y="2423795"/>
              <a:ext cx="575945" cy="539750"/>
            </a:xfrm>
            <a:prstGeom prst="rect">
              <a:avLst/>
            </a:prstGeom>
            <a:noFill/>
            <a:ln w="38100" cap="flat">
              <a:solidFill>
                <a:srgbClr val="7030A0">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523875" y="3928110"/>
              <a:ext cx="575945" cy="539750"/>
            </a:xfrm>
            <a:prstGeom prst="rect">
              <a:avLst/>
            </a:prstGeom>
            <a:noFill/>
            <a:ln w="38100" cap="flat">
              <a:solidFill>
                <a:srgbClr val="7030A0">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11" name="Connector 11"/>
            <p:cNvCxnSpPr/>
            <p:nvPr/>
          </p:nvCxnSpPr>
          <p:spPr>
            <a:xfrm rot="10800000" flipV="1">
              <a:off x="812165" y="2963545"/>
              <a:ext cx="984250" cy="964565"/>
            </a:xfrm>
            <a:prstGeom prst="line">
              <a:avLst/>
            </a:prstGeom>
            <a:noFill/>
            <a:ln w="38100" cap="flat">
              <a:solidFill>
                <a:srgbClr val="7030A0">
                  <a:alpha val="100000"/>
                </a:srgbClr>
              </a:solidFill>
              <a:prstDash val="sysDot"/>
              <a:headEnd type="none" w="med" len="med"/>
              <a:tailEnd type="none" w="med" len="med"/>
            </a:ln>
          </p:spPr>
        </p:cxnSp>
        <p:sp>
          <p:nvSpPr>
            <p:cNvPr id="12" name="AutoShape 12"/>
            <p:cNvSpPr/>
            <p:nvPr/>
          </p:nvSpPr>
          <p:spPr>
            <a:xfrm>
              <a:off x="1245235" y="1840230"/>
              <a:ext cx="864235" cy="5219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7030A0"/>
                  </a:solidFill>
                  <a:latin typeface="Arial" panose="020B0604020202020204"/>
                  <a:ea typeface="Arial" panose="020B0604020202020204"/>
                  <a:cs typeface="Arial" panose="020B0604020202020204"/>
                  <a:sym typeface="Arial" panose="020B0604020202020204"/>
                </a:rPr>
                <a:t>CPU</a:t>
              </a:r>
              <a:endParaRPr lang="en-US" sz="1100"/>
            </a:p>
            <a:p>
              <a:pPr indent="0" algn="ctr">
                <a:lnSpc>
                  <a:spcPct val="100000"/>
                </a:lnSpc>
              </a:pPr>
              <a:r>
                <a:rPr lang="en-US" sz="1400" b="1" i="0" u="none" strike="noStrike">
                  <a:solidFill>
                    <a:srgbClr val="7030A0"/>
                  </a:solidFill>
                  <a:latin typeface="Arial" panose="020B0604020202020204"/>
                  <a:ea typeface="Arial" panose="020B0604020202020204"/>
                  <a:cs typeface="Arial" panose="020B0604020202020204"/>
                  <a:sym typeface="Arial" panose="020B0604020202020204"/>
                </a:rPr>
                <a:t>“host”</a:t>
              </a:r>
              <a:endParaRPr lang="en-US" sz="1400" b="1" i="0" u="none" strike="noStrike">
                <a:solidFill>
                  <a:srgbClr val="7030A0"/>
                </a:solidFill>
                <a:latin typeface="Arial" panose="020B0604020202020204"/>
                <a:ea typeface="Arial" panose="020B0604020202020204"/>
                <a:cs typeface="Arial" panose="020B0604020202020204"/>
                <a:sym typeface="Arial" panose="020B0604020202020204"/>
              </a:endParaRPr>
            </a:p>
          </p:txBody>
        </p:sp>
        <p:sp>
          <p:nvSpPr>
            <p:cNvPr id="13" name="AutoShape 13"/>
            <p:cNvSpPr/>
            <p:nvPr/>
          </p:nvSpPr>
          <p:spPr>
            <a:xfrm>
              <a:off x="381000" y="4485005"/>
              <a:ext cx="864235" cy="5219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7030A0"/>
                  </a:solidFill>
                  <a:latin typeface="Arial" panose="020B0604020202020204"/>
                  <a:ea typeface="Arial" panose="020B0604020202020204"/>
                  <a:cs typeface="Arial" panose="020B0604020202020204"/>
                  <a:sym typeface="Arial" panose="020B0604020202020204"/>
                </a:rPr>
                <a:t>XPU</a:t>
              </a:r>
              <a:endParaRPr lang="en-US" sz="1100"/>
            </a:p>
            <a:p>
              <a:pPr indent="0" algn="ctr">
                <a:lnSpc>
                  <a:spcPct val="100000"/>
                </a:lnSpc>
              </a:pPr>
              <a:r>
                <a:rPr lang="en-US" sz="1400" b="1" i="0" u="none" strike="noStrike">
                  <a:solidFill>
                    <a:srgbClr val="7030A0"/>
                  </a:solidFill>
                  <a:latin typeface="Arial" panose="020B0604020202020204"/>
                  <a:ea typeface="Arial" panose="020B0604020202020204"/>
                  <a:cs typeface="Arial" panose="020B0604020202020204"/>
                  <a:sym typeface="Arial" panose="020B0604020202020204"/>
                </a:rPr>
                <a:t>“device”</a:t>
              </a:r>
              <a:endParaRPr lang="en-US" sz="1400" b="1" i="0" u="none" strike="noStrike">
                <a:solidFill>
                  <a:srgbClr val="7030A0"/>
                </a:solidFill>
                <a:latin typeface="Arial" panose="020B0604020202020204"/>
                <a:ea typeface="Arial" panose="020B0604020202020204"/>
                <a:cs typeface="Arial" panose="020B0604020202020204"/>
                <a:sym typeface="Arial" panose="020B0604020202020204"/>
              </a:endParaRPr>
            </a:p>
          </p:txBody>
        </p:sp>
      </p:grpSp>
      <p:grpSp>
        <p:nvGrpSpPr>
          <p:cNvPr id="22" name="组合 21"/>
          <p:cNvGrpSpPr/>
          <p:nvPr/>
        </p:nvGrpSpPr>
        <p:grpSpPr>
          <a:xfrm>
            <a:off x="6210300" y="1840230"/>
            <a:ext cx="5760085" cy="3224530"/>
            <a:chOff x="9780" y="2898"/>
            <a:chExt cx="9071" cy="5078"/>
          </a:xfrm>
          <a:solidFill>
            <a:schemeClr val="bg1"/>
          </a:solidFill>
        </p:grpSpPr>
        <p:grpSp>
          <p:nvGrpSpPr>
            <p:cNvPr id="23" name="组合 22"/>
            <p:cNvGrpSpPr/>
            <p:nvPr/>
          </p:nvGrpSpPr>
          <p:grpSpPr>
            <a:xfrm>
              <a:off x="9780" y="3544"/>
              <a:ext cx="9071" cy="4432"/>
              <a:chOff x="9780" y="3544"/>
              <a:chExt cx="9071" cy="4432"/>
            </a:xfrm>
            <a:grpFill/>
          </p:grpSpPr>
          <p:pic>
            <p:nvPicPr>
              <p:cNvPr id="24" name="图片 23"/>
              <p:cNvPicPr>
                <a:picLocks noChangeAspect="1"/>
              </p:cNvPicPr>
              <p:nvPr/>
            </p:nvPicPr>
            <p:blipFill>
              <a:blip r:embed="rId2"/>
              <a:stretch>
                <a:fillRect/>
              </a:stretch>
            </p:blipFill>
            <p:spPr>
              <a:xfrm>
                <a:off x="9780" y="3544"/>
                <a:ext cx="9071" cy="4432"/>
              </a:xfrm>
              <a:prstGeom prst="rect">
                <a:avLst/>
              </a:prstGeom>
              <a:grpFill/>
            </p:spPr>
          </p:pic>
          <p:sp>
            <p:nvSpPr>
              <p:cNvPr id="25" name="矩形 24"/>
              <p:cNvSpPr/>
              <p:nvPr/>
            </p:nvSpPr>
            <p:spPr>
              <a:xfrm>
                <a:off x="11053" y="4207"/>
                <a:ext cx="1417" cy="1417"/>
              </a:xfrm>
              <a:prstGeom prst="rect">
                <a:avLst/>
              </a:prstGeom>
              <a:noFill/>
              <a:ln w="38100">
                <a:solidFill>
                  <a:srgbClr val="7030A0"/>
                </a:solidFill>
              </a:ln>
              <a:extLst>
                <a:ext uri="{909E8E84-426E-40DD-AFC4-6F175D3DCCD1}">
                  <a14:hiddenFill xmlns:a14="http://schemas.microsoft.com/office/drawing/2010/main">
                    <a:grp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6" name="矩形 25"/>
              <p:cNvSpPr/>
              <p:nvPr/>
            </p:nvSpPr>
            <p:spPr>
              <a:xfrm>
                <a:off x="12655" y="3863"/>
                <a:ext cx="1871" cy="1984"/>
              </a:xfrm>
              <a:prstGeom prst="rect">
                <a:avLst/>
              </a:prstGeom>
              <a:noFill/>
              <a:ln w="38100">
                <a:solidFill>
                  <a:srgbClr val="7030A0"/>
                </a:solidFill>
              </a:ln>
              <a:extLst>
                <a:ext uri="{909E8E84-426E-40DD-AFC4-6F175D3DCCD1}">
                  <a14:hiddenFill xmlns:a14="http://schemas.microsoft.com/office/drawing/2010/main">
                    <a:grp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7" name="肘形连接符 26"/>
              <p:cNvCxnSpPr>
                <a:stCxn id="25" idx="2"/>
                <a:endCxn id="26" idx="2"/>
              </p:cNvCxnSpPr>
              <p:nvPr/>
            </p:nvCxnSpPr>
            <p:spPr>
              <a:xfrm rot="5400000" flipV="1">
                <a:off x="12565" y="4820"/>
                <a:ext cx="223" cy="1829"/>
              </a:xfrm>
              <a:prstGeom prst="bentConnector3">
                <a:avLst>
                  <a:gd name="adj1" fmla="val 597309"/>
                </a:avLst>
              </a:prstGeom>
              <a:grpFill/>
              <a:ln w="38100">
                <a:solidFill>
                  <a:srgbClr val="7030A0"/>
                </a:solidFill>
                <a:prstDash val="sysDot"/>
              </a:ln>
            </p:spPr>
            <p:style>
              <a:lnRef idx="2">
                <a:schemeClr val="accent1"/>
              </a:lnRef>
              <a:fillRef idx="0">
                <a:srgbClr val="FFFFFF"/>
              </a:fillRef>
              <a:effectRef idx="0">
                <a:srgbClr val="FFFFFF"/>
              </a:effectRef>
              <a:fontRef idx="minor">
                <a:schemeClr val="tx1"/>
              </a:fontRef>
            </p:style>
          </p:cxnSp>
        </p:grpSp>
        <p:sp>
          <p:nvSpPr>
            <p:cNvPr id="28" name="文本框 27"/>
            <p:cNvSpPr txBox="1"/>
            <p:nvPr/>
          </p:nvSpPr>
          <p:spPr>
            <a:xfrm>
              <a:off x="11053" y="3288"/>
              <a:ext cx="1361" cy="822"/>
            </a:xfrm>
            <a:prstGeom prst="rect">
              <a:avLst/>
            </a:prstGeom>
            <a:grpFill/>
          </p:spPr>
          <p:txBody>
            <a:bodyPr wrap="square" rtlCol="0">
              <a:spAutoFit/>
            </a:bodyPr>
            <a:lstStyle/>
            <a:p>
              <a:pPr algn="ctr"/>
              <a:r>
                <a:rPr lang="x-none" altLang="zh-CN" sz="1400" b="1">
                  <a:solidFill>
                    <a:srgbClr val="7030A0"/>
                  </a:solidFill>
                </a:rPr>
                <a:t>CPU</a:t>
              </a:r>
              <a:endParaRPr lang="x-none" altLang="zh-CN" sz="1400" b="1">
                <a:solidFill>
                  <a:srgbClr val="7030A0"/>
                </a:solidFill>
              </a:endParaRPr>
            </a:p>
            <a:p>
              <a:pPr algn="ctr"/>
              <a:r>
                <a:rPr lang="x-none" altLang="zh-CN" sz="1400" b="1">
                  <a:solidFill>
                    <a:srgbClr val="7030A0"/>
                  </a:solidFill>
                </a:rPr>
                <a:t>“host”</a:t>
              </a:r>
              <a:endParaRPr lang="x-none" altLang="zh-CN" sz="1400" b="1">
                <a:solidFill>
                  <a:srgbClr val="7030A0"/>
                </a:solidFill>
              </a:endParaRPr>
            </a:p>
          </p:txBody>
        </p:sp>
        <p:sp>
          <p:nvSpPr>
            <p:cNvPr id="29" name="文本框 28"/>
            <p:cNvSpPr txBox="1"/>
            <p:nvPr/>
          </p:nvSpPr>
          <p:spPr>
            <a:xfrm>
              <a:off x="12910" y="2898"/>
              <a:ext cx="1361" cy="822"/>
            </a:xfrm>
            <a:prstGeom prst="rect">
              <a:avLst/>
            </a:prstGeom>
            <a:grpFill/>
          </p:spPr>
          <p:txBody>
            <a:bodyPr wrap="square" rtlCol="0">
              <a:spAutoFit/>
            </a:bodyPr>
            <a:lstStyle/>
            <a:p>
              <a:pPr algn="ctr"/>
              <a:r>
                <a:rPr lang="x-none" altLang="zh-CN" sz="1400" b="1">
                  <a:solidFill>
                    <a:srgbClr val="7030A0"/>
                  </a:solidFill>
                </a:rPr>
                <a:t>XPU</a:t>
              </a:r>
              <a:endParaRPr lang="x-none" altLang="zh-CN" sz="1400" b="1">
                <a:solidFill>
                  <a:srgbClr val="7030A0"/>
                </a:solidFill>
              </a:endParaRPr>
            </a:p>
            <a:p>
              <a:pPr algn="ctr"/>
              <a:r>
                <a:rPr lang="x-none" altLang="zh-CN" sz="1400" b="1">
                  <a:solidFill>
                    <a:srgbClr val="7030A0"/>
                  </a:solidFill>
                </a:rPr>
                <a:t>“device”</a:t>
              </a:r>
              <a:endParaRPr lang="x-none" altLang="zh-CN" sz="1400" b="1">
                <a:solidFill>
                  <a:srgbClr val="7030A0"/>
                </a:solidFill>
              </a:endParaRPr>
            </a:p>
          </p:txBody>
        </p:sp>
      </p:gr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PCIe Basic Knowledge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Market Adoption (in Aug. 2025)</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Mainstream: PCIe 4.0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Latest device: PCIe 5.0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Not yet in production: PCIe 6.0/7.0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PCIe Lanes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“x” = number of lane pairs (TX/RX)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e.g. PCIe 5.0, “x1” = 4GB/s, “x16” = 32GB/s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x4: most NVMe SSD, NIC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x16: most GPU, FPGA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495300" y="3530346"/>
            <a:ext cx="5669280" cy="3081528"/>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193155" y="3721100"/>
            <a:ext cx="5608320" cy="2829560"/>
          </a:xfrm>
          <a:prstGeom prst="rect">
            <a:avLst/>
          </a:prstGeom>
          <a:ln w="12700">
            <a:noFill/>
            <a:prstDash val="solid"/>
          </a:ln>
        </p:spPr>
      </p:pic>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PCIe Architecture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523240" y="1656715"/>
            <a:ext cx="5003800" cy="4187825"/>
          </a:xfrm>
          <a:prstGeom prst="rect">
            <a:avLst/>
          </a:prstGeom>
          <a:ln w="12700">
            <a:noFill/>
            <a:prstDash val="solid"/>
          </a:ln>
        </p:spPr>
      </p:pic>
      <p:pic>
        <p:nvPicPr>
          <p:cNvPr id="8" name="图片 7"/>
          <p:cNvPicPr/>
          <p:nvPr/>
        </p:nvPicPr>
        <p:blipFill>
          <a:blip r:embed="rId2"/>
          <a:stretch>
            <a:fillRect/>
          </a:stretch>
        </p:blipFill>
        <p:spPr>
          <a:xfrm>
            <a:off x="5891530" y="857250"/>
            <a:ext cx="6041390" cy="5593080"/>
          </a:xfrm>
          <a:prstGeom prst="rect">
            <a:avLst/>
          </a:prstGeom>
        </p:spPr>
      </p:pic>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PCIe Devices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955675" y="1229995"/>
            <a:ext cx="2491740" cy="1934845"/>
          </a:xfrm>
          <a:prstGeom prst="rect">
            <a:avLst/>
          </a:prstGeom>
          <a:ln w="12700">
            <a:noFill/>
            <a:prstDash val="solid"/>
          </a:ln>
        </p:spPr>
      </p:pic>
      <p:sp>
        <p:nvSpPr>
          <p:cNvPr id="7" name="AutoShape 7"/>
          <p:cNvSpPr/>
          <p:nvPr/>
        </p:nvSpPr>
        <p:spPr>
          <a:xfrm>
            <a:off x="539750" y="3164840"/>
            <a:ext cx="332422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GPU </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(Nvidia A100, PCIe 4.0 x16)</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8" name="Picture 8"/>
          <p:cNvPicPr>
            <a:picLocks noChangeAspect="1"/>
          </p:cNvPicPr>
          <p:nvPr/>
        </p:nvPicPr>
        <p:blipFill>
          <a:blip r:embed="rId2"/>
          <a:srcRect/>
          <a:stretch>
            <a:fillRect/>
          </a:stretch>
        </p:blipFill>
        <p:spPr>
          <a:xfrm>
            <a:off x="8595360" y="1767205"/>
            <a:ext cx="2664460" cy="860425"/>
          </a:xfrm>
          <a:prstGeom prst="rect">
            <a:avLst/>
          </a:prstGeom>
          <a:ln w="12700">
            <a:noFill/>
            <a:prstDash val="solid"/>
          </a:ln>
        </p:spPr>
      </p:pic>
      <p:sp>
        <p:nvSpPr>
          <p:cNvPr id="9" name="AutoShape 9"/>
          <p:cNvSpPr/>
          <p:nvPr/>
        </p:nvSpPr>
        <p:spPr>
          <a:xfrm>
            <a:off x="8325485" y="3164840"/>
            <a:ext cx="332422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NVMe SSD</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(Sumsung 970, PCIe 4.0 x4)</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10" name="Picture 10"/>
          <p:cNvPicPr>
            <a:picLocks noChangeAspect="1"/>
          </p:cNvPicPr>
          <p:nvPr/>
        </p:nvPicPr>
        <p:blipFill>
          <a:blip r:embed="rId3"/>
          <a:srcRect l="-1658" t="3077" r="1658" b="46340"/>
          <a:stretch>
            <a:fillRect/>
          </a:stretch>
        </p:blipFill>
        <p:spPr>
          <a:xfrm>
            <a:off x="4304665" y="1464310"/>
            <a:ext cx="3077845" cy="1629410"/>
          </a:xfrm>
          <a:prstGeom prst="rect">
            <a:avLst/>
          </a:prstGeom>
          <a:ln w="12700">
            <a:noFill/>
            <a:prstDash val="solid"/>
          </a:ln>
        </p:spPr>
      </p:pic>
      <p:sp>
        <p:nvSpPr>
          <p:cNvPr id="11" name="AutoShape 11"/>
          <p:cNvSpPr/>
          <p:nvPr/>
        </p:nvSpPr>
        <p:spPr>
          <a:xfrm>
            <a:off x="4256405" y="3164840"/>
            <a:ext cx="332422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FPGA </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(AMD V80, PCIe 4.0/5.0 x16)</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12" name="Picture 12"/>
          <p:cNvPicPr>
            <a:picLocks noChangeAspect="1"/>
          </p:cNvPicPr>
          <p:nvPr/>
        </p:nvPicPr>
        <p:blipFill>
          <a:blip r:embed="rId4"/>
          <a:srcRect/>
          <a:stretch>
            <a:fillRect/>
          </a:stretch>
        </p:blipFill>
        <p:spPr>
          <a:xfrm>
            <a:off x="986790" y="4113530"/>
            <a:ext cx="2460625" cy="1684655"/>
          </a:xfrm>
          <a:prstGeom prst="rect">
            <a:avLst/>
          </a:prstGeom>
          <a:ln w="12700">
            <a:noFill/>
            <a:prstDash val="solid"/>
          </a:ln>
        </p:spPr>
      </p:pic>
      <p:sp>
        <p:nvSpPr>
          <p:cNvPr id="13" name="AutoShape 13"/>
          <p:cNvSpPr/>
          <p:nvPr/>
        </p:nvSpPr>
        <p:spPr>
          <a:xfrm>
            <a:off x="240665" y="5888990"/>
            <a:ext cx="383349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Network Interface Card, NIC</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(Intel E810 10/25 GbE, PCIe 4.0 x4)</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14" name="Picture 14"/>
          <p:cNvPicPr>
            <a:picLocks noChangeAspect="1"/>
          </p:cNvPicPr>
          <p:nvPr/>
        </p:nvPicPr>
        <p:blipFill>
          <a:blip r:embed="rId5"/>
          <a:srcRect/>
          <a:stretch>
            <a:fillRect/>
          </a:stretch>
        </p:blipFill>
        <p:spPr>
          <a:xfrm>
            <a:off x="4837430" y="4025265"/>
            <a:ext cx="2304415" cy="1739265"/>
          </a:xfrm>
          <a:prstGeom prst="rect">
            <a:avLst/>
          </a:prstGeom>
          <a:ln w="12700">
            <a:noFill/>
            <a:prstDash val="solid"/>
          </a:ln>
        </p:spPr>
      </p:pic>
      <p:sp>
        <p:nvSpPr>
          <p:cNvPr id="15" name="AutoShape 15"/>
          <p:cNvSpPr/>
          <p:nvPr/>
        </p:nvSpPr>
        <p:spPr>
          <a:xfrm>
            <a:off x="4179570" y="5888990"/>
            <a:ext cx="383349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WiFi 6E Card</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(Intel AX210, PCIe 3.0 x1)</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16" name="Picture 16"/>
          <p:cNvPicPr>
            <a:picLocks noChangeAspect="1"/>
          </p:cNvPicPr>
          <p:nvPr/>
        </p:nvPicPr>
        <p:blipFill>
          <a:blip r:embed="rId6"/>
          <a:srcRect/>
          <a:stretch>
            <a:fillRect/>
          </a:stretch>
        </p:blipFill>
        <p:spPr>
          <a:xfrm>
            <a:off x="8655050" y="4265295"/>
            <a:ext cx="2545080" cy="1567815"/>
          </a:xfrm>
          <a:prstGeom prst="rect">
            <a:avLst/>
          </a:prstGeom>
          <a:ln w="12700">
            <a:noFill/>
            <a:prstDash val="solid"/>
          </a:ln>
        </p:spPr>
      </p:pic>
      <p:sp>
        <p:nvSpPr>
          <p:cNvPr id="17" name="AutoShape 17"/>
          <p:cNvSpPr/>
          <p:nvPr/>
        </p:nvSpPr>
        <p:spPr>
          <a:xfrm>
            <a:off x="8070850" y="5888990"/>
            <a:ext cx="383349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RAID Controller</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(Broadcom 9560-16i, PCIe 4.0 x8)</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531" t="17681" r="12704" b="9334"/>
          <a:stretch>
            <a:fillRect/>
          </a:stretch>
        </p:blipFill>
        <p:spPr>
          <a:xfrm>
            <a:off x="6472555" y="3593465"/>
            <a:ext cx="5648960" cy="2800985"/>
          </a:xfrm>
          <a:prstGeom prst="rect">
            <a:avLst/>
          </a:prstGeom>
          <a:ln w="12700">
            <a:noFill/>
            <a:prstDash val="solid"/>
          </a:ln>
        </p:spPr>
      </p:pic>
      <p:sp>
        <p:nvSpPr>
          <p:cNvPr id="3" name="AutoShape 3"/>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PCIe Role in AI: </a:t>
            </a: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GPU-Host Connection</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a:spLocks noGrp="1"/>
          </p:cNvSpPr>
          <p:nvPr>
            <p:ph type="body" sz="quarter" idx="9" hasCustomPrompt="1"/>
          </p:nvPr>
        </p:nvSpPr>
        <p:spPr>
          <a:xfrm>
            <a:off x="523875" y="1323975"/>
            <a:ext cx="1053274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 connect to most Host with PCIe </a:t>
            </a:r>
            <a:r>
              <a:rPr lang="en-US" sz="1800" b="0" i="1" u="none" strike="noStrike">
                <a:solidFill>
                  <a:srgbClr val="404040"/>
                </a:solidFill>
                <a:latin typeface="Calibri" panose="020F0502020204030204"/>
                <a:ea typeface="Calibri" panose="020F0502020204030204"/>
                <a:cs typeface="Calibri" panose="020F0502020204030204"/>
                <a:sym typeface="Calibri" panose="020F0502020204030204"/>
              </a:rPr>
              <a:t>(currently 2025.08)</a:t>
            </a:r>
            <a:endParaRPr lang="en-US" sz="1800" b="0" i="1"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Host-&gt;GPU: Commands (CUDA  kernels, OpenCL bin)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Training data, Model weights...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GPU-&gt;Host: GPU status (kernel completion, CUDA events)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Computation results (gradients, inference output)...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Traditional Data Transfer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1st Copy: NVMe SSD -&gt; host Memory [with DMA]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2nd Copy: host Memory -&gt; GPU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Nvidia GPUDirect Storage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(from 2020.06)</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Only 1 Copy: NVMe SSD -&gt; GPU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9" name="组合 8"/>
          <p:cNvGrpSpPr/>
          <p:nvPr/>
        </p:nvGrpSpPr>
        <p:grpSpPr>
          <a:xfrm>
            <a:off x="8512175" y="880745"/>
            <a:ext cx="3346450" cy="2400300"/>
            <a:chOff x="13405" y="1387"/>
            <a:chExt cx="5270" cy="3780"/>
          </a:xfrm>
        </p:grpSpPr>
        <p:pic>
          <p:nvPicPr>
            <p:cNvPr id="7" name="Picture 7"/>
            <p:cNvPicPr>
              <a:picLocks noChangeAspect="1"/>
            </p:cNvPicPr>
            <p:nvPr/>
          </p:nvPicPr>
          <p:blipFill>
            <a:blip r:embed="rId2"/>
            <a:srcRect/>
            <a:stretch>
              <a:fillRect/>
            </a:stretch>
          </p:blipFill>
          <p:spPr>
            <a:xfrm>
              <a:off x="13673" y="1387"/>
              <a:ext cx="4644" cy="3110"/>
            </a:xfrm>
            <a:prstGeom prst="rect">
              <a:avLst/>
            </a:prstGeom>
            <a:ln w="12700">
              <a:noFill/>
              <a:prstDash val="solid"/>
            </a:ln>
          </p:spPr>
        </p:pic>
        <p:sp>
          <p:nvSpPr>
            <p:cNvPr id="8" name="AutoShape 8"/>
            <p:cNvSpPr/>
            <p:nvPr/>
          </p:nvSpPr>
          <p:spPr>
            <a:xfrm>
              <a:off x="13405" y="4587"/>
              <a:ext cx="5270" cy="58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GPUs to mainboard with PCIe</a:t>
              </a:r>
              <a:endParaRPr lang="en-US" sz="1100"/>
            </a:p>
          </p:txBody>
        </p:sp>
      </p:gr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PCIe Role in AI: </a:t>
            </a: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GPU-GPU Connection</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 connect each other with PCIe </a:t>
            </a:r>
            <a:r>
              <a:rPr lang="en-US" sz="1800" b="0" i="1" u="none" strike="noStrike">
                <a:solidFill>
                  <a:srgbClr val="404040"/>
                </a:solidFill>
                <a:latin typeface="Calibri" panose="020F0502020204030204"/>
                <a:ea typeface="Calibri" panose="020F0502020204030204"/>
                <a:cs typeface="Calibri" panose="020F0502020204030204"/>
                <a:sym typeface="Calibri" panose="020F0502020204030204"/>
              </a:rPr>
              <a:t>(before 2016 NVlink published)</a:t>
            </a:r>
            <a:endParaRPr lang="en-US" sz="1800" b="0" i="1"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Data/Pipeline/Tensor/Expert Parallelism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Traditional Data Transfer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0</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write to host shared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1</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read from host shared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GPUDirect Peer-to-Peer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Direct access with Load/Store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Direct transfer with cudaMemCpy()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643245" y="1922780"/>
            <a:ext cx="6231255" cy="176847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490335" y="4077970"/>
            <a:ext cx="4413250" cy="2386965"/>
          </a:xfrm>
          <a:prstGeom prst="rect">
            <a:avLst/>
          </a:prstGeom>
          <a:ln w="12700">
            <a:noFill/>
            <a:prstDash val="solid"/>
          </a:ln>
        </p:spPr>
      </p:pic>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NVLink: GPU Interconnect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NVLink 1.0 first introduced with P100 GPU in 2016</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4 NVLinks, each with 8 channels, 40 GB/s bidirectional bandwidth, 160 GB/s in total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Faster than PCIe 3.0 x 16 (32 GB/s)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Serial communication based on high-speed differential signaling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NVLink 1.0, 5 GB/s per channel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8" name="图片 7"/>
          <p:cNvPicPr/>
          <p:nvPr/>
        </p:nvPicPr>
        <p:blipFill>
          <a:blip r:embed="rId1"/>
          <a:stretch>
            <a:fillRect/>
          </a:stretch>
        </p:blipFill>
        <p:spPr>
          <a:xfrm>
            <a:off x="668020" y="3832860"/>
            <a:ext cx="4147820" cy="2273300"/>
          </a:xfrm>
          <a:prstGeom prst="rect">
            <a:avLst/>
          </a:prstGeom>
        </p:spPr>
      </p:pic>
      <p:pic>
        <p:nvPicPr>
          <p:cNvPr id="9" name="图片 8"/>
          <p:cNvPicPr/>
          <p:nvPr/>
        </p:nvPicPr>
        <p:blipFill>
          <a:blip r:embed="rId2"/>
          <a:stretch>
            <a:fillRect/>
          </a:stretch>
        </p:blipFill>
        <p:spPr>
          <a:xfrm>
            <a:off x="5165090" y="4199890"/>
            <a:ext cx="6636385" cy="1906270"/>
          </a:xfrm>
          <a:prstGeom prst="rect">
            <a:avLst/>
          </a:prstGeom>
        </p:spPr>
      </p:pic>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NVLink Generations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Updatest: NVLink 5.0 in 2024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07860" y="2142490"/>
            <a:ext cx="5143500" cy="3616960"/>
          </a:xfrm>
          <a:prstGeom prst="rect">
            <a:avLst/>
          </a:prstGeom>
          <a:ln w="12700">
            <a:noFill/>
            <a:prstDash val="solid"/>
          </a:ln>
        </p:spPr>
      </p:pic>
      <p:sp>
        <p:nvSpPr>
          <p:cNvPr id="10" name="AutoShape 10"/>
          <p:cNvSpPr/>
          <p:nvPr/>
        </p:nvSpPr>
        <p:spPr>
          <a:xfrm>
            <a:off x="12216765" y="6080760"/>
            <a:ext cx="406400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aphicFrame>
        <p:nvGraphicFramePr>
          <p:cNvPr id="12" name="表格 11"/>
          <p:cNvGraphicFramePr/>
          <p:nvPr>
            <p:custDataLst>
              <p:tags r:id="rId2"/>
            </p:custDataLst>
          </p:nvPr>
        </p:nvGraphicFramePr>
        <p:xfrm>
          <a:off x="316230" y="2142490"/>
          <a:ext cx="6831330" cy="3305175"/>
        </p:xfrm>
        <a:graphic>
          <a:graphicData uri="http://schemas.openxmlformats.org/drawingml/2006/table">
            <a:tbl>
              <a:tblPr firstRow="1" bandCol="1">
                <a:tableStyleId>{19A74872-F02B-4E3C-AB47-1B6172E16CCE}</a:tableStyleId>
              </a:tblPr>
              <a:tblGrid>
                <a:gridCol w="1985010"/>
                <a:gridCol w="969264"/>
                <a:gridCol w="969264"/>
                <a:gridCol w="969264"/>
                <a:gridCol w="969264"/>
                <a:gridCol w="969264"/>
              </a:tblGrid>
              <a:tr h="292735">
                <a:tc>
                  <a:txBody>
                    <a:bodyPr/>
                    <a:lstStyle/>
                    <a:p>
                      <a:endParaRPr sz="1200"/>
                    </a:p>
                  </a:txBody>
                  <a:tcPr marL="0" marR="0" marT="0" marB="0" anchor="ctr"/>
                </a:tc>
                <a:tc>
                  <a:txBody>
                    <a:bodyPr/>
                    <a:lstStyle/>
                    <a:p>
                      <a:pPr algn="ctr"/>
                      <a:r>
                        <a:rPr lang="en-US" altLang="zh-CN" sz="1200"/>
                        <a:t>NVLink 1</a:t>
                      </a:r>
                      <a:endParaRPr lang="en-US" altLang="zh-CN" sz="1200"/>
                    </a:p>
                  </a:txBody>
                  <a:tcPr marL="0" marR="0" marT="0" marB="0" anchor="ctr"/>
                </a:tc>
                <a:tc>
                  <a:txBody>
                    <a:bodyPr/>
                    <a:lstStyle/>
                    <a:p>
                      <a:pPr algn="ctr"/>
                      <a:r>
                        <a:rPr lang="en-US" altLang="zh-CN" sz="1200"/>
                        <a:t>NVLink 2</a:t>
                      </a:r>
                      <a:endParaRPr lang="en-US" altLang="zh-CN" sz="1200"/>
                    </a:p>
                  </a:txBody>
                  <a:tcPr marL="0" marR="0" marT="0" marB="0" anchor="ctr"/>
                </a:tc>
                <a:tc>
                  <a:txBody>
                    <a:bodyPr/>
                    <a:lstStyle/>
                    <a:p>
                      <a:pPr algn="ctr"/>
                      <a:r>
                        <a:rPr lang="en-US" altLang="zh-CN" sz="1200"/>
                        <a:t>NVLink 3</a:t>
                      </a:r>
                      <a:endParaRPr lang="en-US" altLang="zh-CN" sz="1200"/>
                    </a:p>
                  </a:txBody>
                  <a:tcPr marL="0" marR="0" marT="0" marB="0" anchor="ctr"/>
                </a:tc>
                <a:tc>
                  <a:txBody>
                    <a:bodyPr/>
                    <a:lstStyle/>
                    <a:p>
                      <a:pPr algn="ctr"/>
                      <a:r>
                        <a:rPr lang="en-US" altLang="zh-CN" sz="1200"/>
                        <a:t>NVLink 4</a:t>
                      </a:r>
                      <a:endParaRPr lang="en-US" altLang="zh-CN" sz="1200"/>
                    </a:p>
                  </a:txBody>
                  <a:tcPr marL="0" marR="0" marT="0" marB="0" anchor="ctr"/>
                </a:tc>
                <a:tc>
                  <a:txBody>
                    <a:bodyPr/>
                    <a:lstStyle/>
                    <a:p>
                      <a:pPr algn="ctr"/>
                      <a:r>
                        <a:rPr lang="en-US" altLang="zh-CN" sz="1200"/>
                        <a:t>NVLink 5</a:t>
                      </a:r>
                      <a:endParaRPr lang="en-US" altLang="zh-CN" sz="1200"/>
                    </a:p>
                  </a:txBody>
                  <a:tcPr marL="0" marR="0" marT="0" marB="0" anchor="ctr"/>
                </a:tc>
              </a:tr>
              <a:tr h="292735">
                <a:tc>
                  <a:txBody>
                    <a:bodyPr/>
                    <a:lstStyle/>
                    <a:p>
                      <a:r>
                        <a:rPr lang="en-US" altLang="zh-CN" sz="1200" b="1">
                          <a:latin typeface="Arial Bold" panose="020B0604020202090204" charset="0"/>
                          <a:cs typeface="Arial Bold" panose="020B0604020202090204" charset="0"/>
                        </a:rPr>
                        <a:t>Year</a:t>
                      </a:r>
                      <a:endParaRPr lang="en-US" altLang="zh-CN" sz="1200" b="1">
                        <a:latin typeface="Arial Bold" panose="020B0604020202090204" charset="0"/>
                        <a:cs typeface="Arial Bold" panose="020B0604020202090204" charset="0"/>
                      </a:endParaRPr>
                    </a:p>
                  </a:txBody>
                  <a:tcPr marL="0" marR="0" marT="0" marB="0" anchor="ctr"/>
                </a:tc>
                <a:tc>
                  <a:txBody>
                    <a:bodyPr/>
                    <a:lstStyle/>
                    <a:p>
                      <a:pPr algn="ctr"/>
                      <a:r>
                        <a:rPr lang="en-US" altLang="zh-CN" sz="1200"/>
                        <a:t>2016</a:t>
                      </a:r>
                      <a:endParaRPr lang="en-US" altLang="zh-CN" sz="1200"/>
                    </a:p>
                  </a:txBody>
                  <a:tcPr marL="0" marR="0" marT="0" marB="0" anchor="ctr"/>
                </a:tc>
                <a:tc>
                  <a:txBody>
                    <a:bodyPr/>
                    <a:lstStyle/>
                    <a:p>
                      <a:pPr algn="ctr"/>
                      <a:r>
                        <a:rPr lang="en-US" altLang="zh-CN" sz="1200"/>
                        <a:t>2018</a:t>
                      </a:r>
                      <a:endParaRPr lang="en-US" altLang="zh-CN" sz="1200"/>
                    </a:p>
                  </a:txBody>
                  <a:tcPr marL="0" marR="0" marT="0" marB="0" anchor="ctr"/>
                </a:tc>
                <a:tc>
                  <a:txBody>
                    <a:bodyPr/>
                    <a:lstStyle/>
                    <a:p>
                      <a:pPr algn="ctr"/>
                      <a:r>
                        <a:rPr lang="en-US" altLang="zh-CN" sz="1200"/>
                        <a:t>2020</a:t>
                      </a:r>
                      <a:endParaRPr lang="en-US" altLang="zh-CN" sz="1200"/>
                    </a:p>
                  </a:txBody>
                  <a:tcPr marL="0" marR="0" marT="0" marB="0" anchor="ctr"/>
                </a:tc>
                <a:tc>
                  <a:txBody>
                    <a:bodyPr/>
                    <a:lstStyle/>
                    <a:p>
                      <a:pPr algn="ctr"/>
                      <a:r>
                        <a:rPr lang="en-US" altLang="zh-CN" sz="1200"/>
                        <a:t>2022</a:t>
                      </a:r>
                      <a:endParaRPr lang="en-US" altLang="zh-CN" sz="1200"/>
                    </a:p>
                  </a:txBody>
                  <a:tcPr marL="0" marR="0" marT="0" marB="0" anchor="ctr"/>
                </a:tc>
                <a:tc>
                  <a:txBody>
                    <a:bodyPr/>
                    <a:lstStyle/>
                    <a:p>
                      <a:pPr algn="ctr"/>
                      <a:r>
                        <a:rPr lang="en-US" altLang="zh-CN" sz="1200"/>
                        <a:t>2024</a:t>
                      </a:r>
                      <a:endParaRPr lang="en-US" altLang="zh-CN" sz="1200"/>
                    </a:p>
                  </a:txBody>
                  <a:tcPr marL="0" marR="0" marT="0" marB="0" anchor="ctr"/>
                </a:tc>
              </a:tr>
              <a:tr h="292735">
                <a:tc>
                  <a:txBody>
                    <a:bodyPr/>
                    <a:lstStyle/>
                    <a:p>
                      <a:r>
                        <a:rPr lang="en-US" altLang="zh-CN" sz="1200" b="1">
                          <a:latin typeface="Arial Bold" panose="020B0604020202090204" charset="0"/>
                          <a:cs typeface="Arial Bold" panose="020B0604020202090204" charset="0"/>
                        </a:rPr>
                        <a:t>Lanes per port</a:t>
                      </a:r>
                      <a:endParaRPr lang="en-US" altLang="zh-CN" sz="1200" b="1">
                        <a:latin typeface="Arial Bold" panose="020B0604020202090204" charset="0"/>
                        <a:cs typeface="Arial Bold" panose="020B0604020202090204" charset="0"/>
                      </a:endParaRPr>
                    </a:p>
                  </a:txBody>
                  <a:tcPr marL="0" marR="0" marT="0" marB="0" anchor="ctr"/>
                </a:tc>
                <a:tc>
                  <a:txBody>
                    <a:bodyPr/>
                    <a:lstStyle/>
                    <a:p>
                      <a:pPr algn="ctr"/>
                      <a:r>
                        <a:rPr lang="en-US" altLang="zh-CN" sz="1200"/>
                        <a:t>X8</a:t>
                      </a:r>
                      <a:endParaRPr lang="en-US" altLang="zh-CN" sz="1200"/>
                    </a:p>
                  </a:txBody>
                  <a:tcPr marL="0" marR="0" marT="0" marB="0" anchor="ctr"/>
                </a:tc>
                <a:tc>
                  <a:txBody>
                    <a:bodyPr/>
                    <a:lstStyle/>
                    <a:p>
                      <a:pPr algn="ctr"/>
                      <a:r>
                        <a:rPr lang="en-US" altLang="zh-CN" sz="1200"/>
                        <a:t>X8</a:t>
                      </a:r>
                      <a:endParaRPr lang="en-US" altLang="zh-CN" sz="1200"/>
                    </a:p>
                  </a:txBody>
                  <a:tcPr marL="0" marR="0" marT="0" marB="0" anchor="ctr"/>
                </a:tc>
                <a:tc>
                  <a:txBody>
                    <a:bodyPr/>
                    <a:lstStyle/>
                    <a:p>
                      <a:pPr algn="ctr"/>
                      <a:r>
                        <a:rPr lang="en-US" altLang="zh-CN" sz="1200"/>
                        <a:t>X4</a:t>
                      </a:r>
                      <a:endParaRPr lang="en-US" altLang="zh-CN" sz="1200"/>
                    </a:p>
                  </a:txBody>
                  <a:tcPr marL="0" marR="0" marT="0" marB="0" anchor="ctr"/>
                </a:tc>
                <a:tc>
                  <a:txBody>
                    <a:bodyPr/>
                    <a:lstStyle/>
                    <a:p>
                      <a:pPr algn="ctr"/>
                      <a:r>
                        <a:rPr lang="en-US" altLang="zh-CN" sz="1200"/>
                        <a:t>X2</a:t>
                      </a:r>
                      <a:endParaRPr lang="en-US" altLang="zh-CN" sz="1200"/>
                    </a:p>
                  </a:txBody>
                  <a:tcPr marL="0" marR="0" marT="0" marB="0" anchor="ctr"/>
                </a:tc>
                <a:tc>
                  <a:txBody>
                    <a:bodyPr/>
                    <a:lstStyle/>
                    <a:p>
                      <a:pPr algn="ctr"/>
                      <a:r>
                        <a:rPr lang="en-US" altLang="zh-CN" sz="1200"/>
                        <a:t>X2</a:t>
                      </a:r>
                      <a:endParaRPr lang="en-US" altLang="zh-CN" sz="1200"/>
                    </a:p>
                  </a:txBody>
                  <a:tcPr marL="0" marR="0" marT="0" marB="0" anchor="ctr"/>
                </a:tc>
              </a:tr>
              <a:tr h="292735">
                <a:tc>
                  <a:txBody>
                    <a:bodyPr/>
                    <a:lstStyle/>
                    <a:p>
                      <a:r>
                        <a:rPr lang="en-US" altLang="zh-CN" sz="1200" b="1">
                          <a:latin typeface="Arial Bold" panose="020B0604020202090204" charset="0"/>
                          <a:cs typeface="Arial Bold" panose="020B0604020202090204" charset="0"/>
                        </a:rPr>
                        <a:t>Lane rate (Gbps)</a:t>
                      </a:r>
                      <a:endParaRPr lang="en-US" altLang="zh-CN" sz="1200" b="1">
                        <a:latin typeface="Arial Bold" panose="020B0604020202090204" charset="0"/>
                        <a:cs typeface="Arial Bold" panose="020B0604020202090204" charset="0"/>
                      </a:endParaRPr>
                    </a:p>
                  </a:txBody>
                  <a:tcPr marL="0" marR="0" marT="0" marB="0" anchor="ctr"/>
                </a:tc>
                <a:tc>
                  <a:txBody>
                    <a:bodyPr/>
                    <a:lstStyle/>
                    <a:p>
                      <a:pPr algn="ctr"/>
                      <a:r>
                        <a:rPr lang="en-US" altLang="zh-CN" sz="1200"/>
                        <a:t>20</a:t>
                      </a:r>
                      <a:endParaRPr lang="en-US" altLang="zh-CN" sz="1200"/>
                    </a:p>
                  </a:txBody>
                  <a:tcPr marL="0" marR="0" marT="0" marB="0" anchor="ctr"/>
                </a:tc>
                <a:tc>
                  <a:txBody>
                    <a:bodyPr/>
                    <a:lstStyle/>
                    <a:p>
                      <a:pPr algn="ctr"/>
                      <a:r>
                        <a:rPr lang="en-US" altLang="zh-CN" sz="1200"/>
                        <a:t>25</a:t>
                      </a:r>
                      <a:endParaRPr lang="en-US" altLang="zh-CN" sz="1200"/>
                    </a:p>
                  </a:txBody>
                  <a:tcPr marL="0" marR="0" marT="0" marB="0" anchor="ctr"/>
                </a:tc>
                <a:tc>
                  <a:txBody>
                    <a:bodyPr/>
                    <a:lstStyle/>
                    <a:p>
                      <a:pPr algn="ctr"/>
                      <a:r>
                        <a:rPr lang="en-US" altLang="zh-CN" sz="1200"/>
                        <a:t>50</a:t>
                      </a:r>
                      <a:endParaRPr lang="en-US" altLang="zh-CN" sz="1200"/>
                    </a:p>
                  </a:txBody>
                  <a:tcPr marL="0" marR="0" marT="0" marB="0" anchor="ctr"/>
                </a:tc>
                <a:tc>
                  <a:txBody>
                    <a:bodyPr/>
                    <a:lstStyle/>
                    <a:p>
                      <a:pPr algn="ctr"/>
                      <a:r>
                        <a:rPr lang="en-US" altLang="zh-CN" sz="1200"/>
                        <a:t>100</a:t>
                      </a:r>
                      <a:endParaRPr lang="en-US" altLang="zh-CN" sz="1200"/>
                    </a:p>
                  </a:txBody>
                  <a:tcPr marL="0" marR="0" marT="0" marB="0" anchor="ctr"/>
                </a:tc>
                <a:tc>
                  <a:txBody>
                    <a:bodyPr/>
                    <a:lstStyle/>
                    <a:p>
                      <a:pPr algn="ctr"/>
                      <a:r>
                        <a:rPr lang="en-US" altLang="zh-CN" sz="1200"/>
                        <a:t>200</a:t>
                      </a:r>
                      <a:endParaRPr lang="en-US" altLang="zh-CN" sz="1200"/>
                    </a:p>
                  </a:txBody>
                  <a:tcPr marL="0" marR="0" marT="0" marB="0" anchor="ctr"/>
                </a:tc>
              </a:tr>
              <a:tr h="292735">
                <a:tc>
                  <a:txBody>
                    <a:bodyPr/>
                    <a:lstStyle/>
                    <a:p>
                      <a:r>
                        <a:rPr lang="en-US" altLang="zh-CN" sz="1200" b="1">
                          <a:latin typeface="Arial Bold" panose="020B0604020202090204" charset="0"/>
                          <a:cs typeface="Arial Bold" panose="020B0604020202090204" charset="0"/>
                        </a:rPr>
                        <a:t>Modulation</a:t>
                      </a:r>
                      <a:endParaRPr lang="en-US" altLang="zh-CN" sz="1200" b="1">
                        <a:latin typeface="Arial Bold" panose="020B0604020202090204" charset="0"/>
                        <a:cs typeface="Arial Bold" panose="020B0604020202090204" charset="0"/>
                      </a:endParaRPr>
                    </a:p>
                  </a:txBody>
                  <a:tcPr marL="0" marR="0" marT="0" marB="0" anchor="ctr"/>
                </a:tc>
                <a:tc>
                  <a:txBody>
                    <a:bodyPr/>
                    <a:lstStyle/>
                    <a:p>
                      <a:pPr algn="ctr"/>
                      <a:r>
                        <a:rPr lang="en-US" altLang="zh-CN" sz="1200"/>
                        <a:t>NRZ</a:t>
                      </a:r>
                      <a:endParaRPr lang="en-US" altLang="zh-CN" sz="1200"/>
                    </a:p>
                  </a:txBody>
                  <a:tcPr marL="0" marR="0" marT="0" marB="0" anchor="ctr"/>
                </a:tc>
                <a:tc>
                  <a:txBody>
                    <a:bodyPr/>
                    <a:lstStyle/>
                    <a:p>
                      <a:pPr algn="ctr"/>
                      <a:r>
                        <a:rPr lang="en-US" altLang="zh-CN" sz="1200"/>
                        <a:t>NRZ</a:t>
                      </a:r>
                      <a:endParaRPr lang="en-US" altLang="zh-CN" sz="1200"/>
                    </a:p>
                  </a:txBody>
                  <a:tcPr marL="0" marR="0" marT="0" marB="0" anchor="ctr"/>
                </a:tc>
                <a:tc>
                  <a:txBody>
                    <a:bodyPr/>
                    <a:lstStyle/>
                    <a:p>
                      <a:pPr algn="ctr"/>
                      <a:r>
                        <a:rPr lang="en-US" altLang="zh-CN" sz="1200"/>
                        <a:t>NRZ</a:t>
                      </a:r>
                      <a:endParaRPr lang="en-US" altLang="zh-CN" sz="1200"/>
                    </a:p>
                  </a:txBody>
                  <a:tcPr marL="0" marR="0" marT="0" marB="0" anchor="ctr"/>
                </a:tc>
                <a:tc>
                  <a:txBody>
                    <a:bodyPr/>
                    <a:lstStyle/>
                    <a:p>
                      <a:pPr algn="ctr"/>
                      <a:r>
                        <a:rPr lang="en-US" altLang="zh-CN" sz="1200"/>
                        <a:t>PAM4</a:t>
                      </a:r>
                      <a:endParaRPr lang="en-US" altLang="zh-CN" sz="1200"/>
                    </a:p>
                  </a:txBody>
                  <a:tcPr marL="0" marR="0" marT="0" marB="0" anchor="ctr"/>
                </a:tc>
                <a:tc>
                  <a:txBody>
                    <a:bodyPr/>
                    <a:lstStyle/>
                    <a:p>
                      <a:pPr algn="ctr"/>
                      <a:r>
                        <a:rPr lang="en-US" altLang="zh-CN" sz="1200"/>
                        <a:t>PAM4</a:t>
                      </a:r>
                      <a:endParaRPr lang="en-US" altLang="zh-CN" sz="1200"/>
                    </a:p>
                  </a:txBody>
                  <a:tcPr marL="0" marR="0" marT="0" marB="0" anchor="ctr"/>
                </a:tc>
              </a:tr>
              <a:tr h="335280">
                <a:tc>
                  <a:txBody>
                    <a:bodyPr/>
                    <a:lstStyle/>
                    <a:p>
                      <a:r>
                        <a:rPr lang="en-US" altLang="zh-CN" sz="1200" b="1">
                          <a:latin typeface="Arial Bold" panose="020B0604020202090204" charset="0"/>
                          <a:cs typeface="Arial Bold" panose="020B0604020202090204" charset="0"/>
                        </a:rPr>
                        <a:t>Nyquist frequency (Gbaud)</a:t>
                      </a:r>
                      <a:endParaRPr lang="en-US" altLang="zh-CN" sz="1200" b="1">
                        <a:latin typeface="Arial Bold" panose="020B0604020202090204" charset="0"/>
                        <a:cs typeface="Arial Bold" panose="020B0604020202090204" charset="0"/>
                      </a:endParaRPr>
                    </a:p>
                  </a:txBody>
                  <a:tcPr marL="0" marR="0" marT="0" marB="0" anchor="ctr"/>
                </a:tc>
                <a:tc>
                  <a:txBody>
                    <a:bodyPr/>
                    <a:lstStyle/>
                    <a:p>
                      <a:pPr algn="ctr"/>
                      <a:r>
                        <a:rPr lang="en-US" altLang="zh-CN" sz="1200"/>
                        <a:t>20</a:t>
                      </a:r>
                      <a:endParaRPr lang="en-US" altLang="zh-CN" sz="1200"/>
                    </a:p>
                  </a:txBody>
                  <a:tcPr marL="0" marR="0" marT="0" marB="0" anchor="ctr"/>
                </a:tc>
                <a:tc>
                  <a:txBody>
                    <a:bodyPr/>
                    <a:lstStyle/>
                    <a:p>
                      <a:pPr algn="ctr"/>
                      <a:r>
                        <a:rPr lang="en-US" altLang="zh-CN" sz="1200"/>
                        <a:t>25</a:t>
                      </a:r>
                      <a:endParaRPr lang="en-US" altLang="zh-CN" sz="1200"/>
                    </a:p>
                  </a:txBody>
                  <a:tcPr marL="0" marR="0" marT="0" marB="0" anchor="ctr"/>
                </a:tc>
                <a:tc>
                  <a:txBody>
                    <a:bodyPr/>
                    <a:lstStyle/>
                    <a:p>
                      <a:pPr algn="ctr"/>
                      <a:r>
                        <a:rPr lang="en-US" altLang="zh-CN" sz="1200"/>
                        <a:t>50</a:t>
                      </a:r>
                      <a:endParaRPr lang="en-US" altLang="zh-CN" sz="1200"/>
                    </a:p>
                  </a:txBody>
                  <a:tcPr marL="0" marR="0" marT="0" marB="0" anchor="ctr"/>
                </a:tc>
                <a:tc>
                  <a:txBody>
                    <a:bodyPr/>
                    <a:lstStyle/>
                    <a:p>
                      <a:pPr algn="ctr"/>
                      <a:r>
                        <a:rPr lang="en-US" altLang="zh-CN" sz="1200"/>
                        <a:t>50</a:t>
                      </a:r>
                      <a:endParaRPr lang="en-US" altLang="zh-CN" sz="1200"/>
                    </a:p>
                  </a:txBody>
                  <a:tcPr marL="0" marR="0" marT="0" marB="0" anchor="ctr"/>
                </a:tc>
                <a:tc>
                  <a:txBody>
                    <a:bodyPr/>
                    <a:lstStyle/>
                    <a:p>
                      <a:pPr algn="ctr"/>
                      <a:r>
                        <a:rPr lang="en-US" altLang="zh-CN" sz="1200"/>
                        <a:t>100</a:t>
                      </a:r>
                      <a:endParaRPr lang="en-US" altLang="zh-CN" sz="1200"/>
                    </a:p>
                  </a:txBody>
                  <a:tcPr marL="0" marR="0" marT="0" marB="0" anchor="ctr"/>
                </a:tc>
              </a:tr>
              <a:tr h="585470">
                <a:tc>
                  <a:txBody>
                    <a:bodyPr/>
                    <a:lstStyle/>
                    <a:p>
                      <a:r>
                        <a:rPr lang="en-US" altLang="zh-CN" sz="1200" b="1">
                          <a:latin typeface="Arial Bold" panose="020B0604020202090204" charset="0"/>
                          <a:cs typeface="Arial Bold" panose="020B0604020202090204" charset="0"/>
                        </a:rPr>
                        <a:t>Bidirectional bandwidth per port (GB/s)</a:t>
                      </a:r>
                      <a:endParaRPr lang="en-US" altLang="zh-CN" sz="1200" b="1">
                        <a:latin typeface="Arial Bold" panose="020B0604020202090204" charset="0"/>
                        <a:cs typeface="Arial Bold" panose="020B0604020202090204" charset="0"/>
                      </a:endParaRPr>
                    </a:p>
                  </a:txBody>
                  <a:tcPr marL="0" marR="0" marT="0" marB="0" anchor="ctr"/>
                </a:tc>
                <a:tc>
                  <a:txBody>
                    <a:bodyPr/>
                    <a:lstStyle/>
                    <a:p>
                      <a:pPr algn="ctr"/>
                      <a:r>
                        <a:rPr lang="en-US" altLang="zh-CN" sz="1200"/>
                        <a:t>40</a:t>
                      </a:r>
                      <a:endParaRPr lang="en-US" altLang="zh-CN" sz="1200"/>
                    </a:p>
                  </a:txBody>
                  <a:tcPr marL="0" marR="0" marT="0" marB="0" anchor="ctr"/>
                </a:tc>
                <a:tc>
                  <a:txBody>
                    <a:bodyPr/>
                    <a:lstStyle/>
                    <a:p>
                      <a:pPr algn="ctr"/>
                      <a:r>
                        <a:rPr lang="en-US" altLang="zh-CN" sz="1200"/>
                        <a:t>50</a:t>
                      </a:r>
                      <a:endParaRPr lang="en-US" altLang="zh-CN" sz="1200"/>
                    </a:p>
                  </a:txBody>
                  <a:tcPr marL="0" marR="0" marT="0" marB="0" anchor="ctr"/>
                </a:tc>
                <a:tc>
                  <a:txBody>
                    <a:bodyPr/>
                    <a:lstStyle/>
                    <a:p>
                      <a:pPr algn="ctr"/>
                      <a:r>
                        <a:rPr lang="en-US" altLang="zh-CN" sz="1200"/>
                        <a:t>50</a:t>
                      </a:r>
                      <a:endParaRPr lang="en-US" altLang="zh-CN" sz="1200"/>
                    </a:p>
                  </a:txBody>
                  <a:tcPr marL="0" marR="0" marT="0" marB="0" anchor="ctr"/>
                </a:tc>
                <a:tc>
                  <a:txBody>
                    <a:bodyPr/>
                    <a:lstStyle/>
                    <a:p>
                      <a:pPr algn="ctr"/>
                      <a:r>
                        <a:rPr lang="en-US" altLang="zh-CN" sz="1200"/>
                        <a:t>50</a:t>
                      </a:r>
                      <a:endParaRPr lang="en-US" altLang="zh-CN" sz="1200"/>
                    </a:p>
                  </a:txBody>
                  <a:tcPr marL="0" marR="0" marT="0" marB="0" anchor="ctr"/>
                </a:tc>
                <a:tc>
                  <a:txBody>
                    <a:bodyPr/>
                    <a:lstStyle/>
                    <a:p>
                      <a:pPr algn="ctr"/>
                      <a:r>
                        <a:rPr lang="en-US" altLang="zh-CN" sz="1200"/>
                        <a:t>100</a:t>
                      </a:r>
                      <a:endParaRPr lang="en-US" altLang="zh-CN" sz="1200"/>
                    </a:p>
                  </a:txBody>
                  <a:tcPr marL="0" marR="0" marT="0" marB="0" anchor="ctr"/>
                </a:tc>
              </a:tr>
              <a:tr h="292735">
                <a:tc>
                  <a:txBody>
                    <a:bodyPr/>
                    <a:lstStyle/>
                    <a:p>
                      <a:r>
                        <a:rPr lang="en-US" altLang="zh-CN" sz="1200" b="1">
                          <a:latin typeface="Arial Bold" panose="020B0604020202090204" charset="0"/>
                          <a:cs typeface="Arial Bold" panose="020B0604020202090204" charset="0"/>
                        </a:rPr>
                        <a:t>Applicable GPU</a:t>
                      </a:r>
                      <a:endParaRPr lang="en-US" altLang="zh-CN" sz="1200" b="1">
                        <a:latin typeface="Arial Bold" panose="020B0604020202090204" charset="0"/>
                        <a:cs typeface="Arial Bold" panose="020B0604020202090204" charset="0"/>
                      </a:endParaRPr>
                    </a:p>
                  </a:txBody>
                  <a:tcPr marL="0" marR="0" marT="0" marB="0" anchor="ctr"/>
                </a:tc>
                <a:tc>
                  <a:txBody>
                    <a:bodyPr/>
                    <a:lstStyle/>
                    <a:p>
                      <a:pPr algn="ctr"/>
                      <a:r>
                        <a:rPr lang="en-US" altLang="zh-CN" sz="1200"/>
                        <a:t>P100</a:t>
                      </a:r>
                      <a:endParaRPr lang="en-US" altLang="zh-CN" sz="1200"/>
                    </a:p>
                  </a:txBody>
                  <a:tcPr marL="0" marR="0" marT="0" marB="0" anchor="ctr"/>
                </a:tc>
                <a:tc>
                  <a:txBody>
                    <a:bodyPr/>
                    <a:lstStyle/>
                    <a:p>
                      <a:pPr algn="ctr"/>
                      <a:r>
                        <a:rPr lang="en-US" altLang="zh-CN" sz="1200"/>
                        <a:t>V100</a:t>
                      </a:r>
                      <a:endParaRPr lang="en-US" altLang="zh-CN" sz="1200"/>
                    </a:p>
                  </a:txBody>
                  <a:tcPr marL="0" marR="0" marT="0" marB="0" anchor="ctr"/>
                </a:tc>
                <a:tc>
                  <a:txBody>
                    <a:bodyPr/>
                    <a:lstStyle/>
                    <a:p>
                      <a:pPr algn="ctr"/>
                      <a:r>
                        <a:rPr lang="en-US" altLang="zh-CN" sz="1200"/>
                        <a:t>A100</a:t>
                      </a:r>
                      <a:endParaRPr lang="en-US" altLang="zh-CN" sz="1200"/>
                    </a:p>
                  </a:txBody>
                  <a:tcPr marL="0" marR="0" marT="0" marB="0" anchor="ctr"/>
                </a:tc>
                <a:tc>
                  <a:txBody>
                    <a:bodyPr/>
                    <a:lstStyle/>
                    <a:p>
                      <a:pPr algn="ctr"/>
                      <a:r>
                        <a:rPr lang="en-US" altLang="zh-CN" sz="1200"/>
                        <a:t>H100</a:t>
                      </a:r>
                      <a:endParaRPr lang="en-US" altLang="zh-CN" sz="1200"/>
                    </a:p>
                  </a:txBody>
                  <a:tcPr marL="0" marR="0" marT="0" marB="0" anchor="ctr"/>
                </a:tc>
                <a:tc>
                  <a:txBody>
                    <a:bodyPr/>
                    <a:lstStyle/>
                    <a:p>
                      <a:pPr algn="ctr"/>
                      <a:r>
                        <a:rPr lang="en-US" altLang="zh-CN" sz="1200"/>
                        <a:t>B100</a:t>
                      </a:r>
                      <a:endParaRPr lang="en-US" altLang="zh-CN" sz="1200"/>
                    </a:p>
                  </a:txBody>
                  <a:tcPr marL="0" marR="0" marT="0" marB="0" anchor="ctr"/>
                </a:tc>
              </a:tr>
              <a:tr h="292735">
                <a:tc>
                  <a:txBody>
                    <a:bodyPr/>
                    <a:lstStyle/>
                    <a:p>
                      <a:r>
                        <a:rPr lang="en-US" altLang="zh-CN" sz="1200" b="1">
                          <a:latin typeface="Arial Bold" panose="020B0604020202090204" charset="0"/>
                          <a:cs typeface="Arial Bold" panose="020B0604020202090204" charset="0"/>
                        </a:rPr>
                        <a:t>Ports per GPU</a:t>
                      </a:r>
                      <a:endParaRPr lang="en-US" altLang="zh-CN" sz="1200" b="1">
                        <a:latin typeface="Arial Bold" panose="020B0604020202090204" charset="0"/>
                        <a:cs typeface="Arial Bold" panose="020B0604020202090204" charset="0"/>
                      </a:endParaRPr>
                    </a:p>
                  </a:txBody>
                  <a:tcPr marL="0" marR="0" marT="0" marB="0" anchor="ctr"/>
                </a:tc>
                <a:tc>
                  <a:txBody>
                    <a:bodyPr/>
                    <a:lstStyle/>
                    <a:p>
                      <a:pPr algn="ctr"/>
                      <a:r>
                        <a:rPr lang="en-US" altLang="zh-CN" sz="1200"/>
                        <a:t>4</a:t>
                      </a:r>
                      <a:endParaRPr lang="en-US" altLang="zh-CN" sz="1200"/>
                    </a:p>
                  </a:txBody>
                  <a:tcPr marL="0" marR="0" marT="0" marB="0" anchor="ctr"/>
                </a:tc>
                <a:tc>
                  <a:txBody>
                    <a:bodyPr/>
                    <a:lstStyle/>
                    <a:p>
                      <a:pPr algn="ctr"/>
                      <a:r>
                        <a:rPr lang="en-US" altLang="zh-CN" sz="1200"/>
                        <a:t>6</a:t>
                      </a:r>
                      <a:endParaRPr lang="en-US" altLang="zh-CN" sz="1200"/>
                    </a:p>
                  </a:txBody>
                  <a:tcPr marL="0" marR="0" marT="0" marB="0" anchor="ctr"/>
                </a:tc>
                <a:tc>
                  <a:txBody>
                    <a:bodyPr/>
                    <a:lstStyle/>
                    <a:p>
                      <a:pPr algn="ctr"/>
                      <a:r>
                        <a:rPr lang="en-US" altLang="zh-CN" sz="1200"/>
                        <a:t>12</a:t>
                      </a:r>
                      <a:endParaRPr lang="en-US" altLang="zh-CN" sz="1200"/>
                    </a:p>
                  </a:txBody>
                  <a:tcPr marL="0" marR="0" marT="0" marB="0" anchor="ctr"/>
                </a:tc>
                <a:tc>
                  <a:txBody>
                    <a:bodyPr/>
                    <a:lstStyle/>
                    <a:p>
                      <a:pPr algn="ctr"/>
                      <a:r>
                        <a:rPr lang="en-US" altLang="zh-CN" sz="1200"/>
                        <a:t>18</a:t>
                      </a:r>
                      <a:endParaRPr lang="en-US" altLang="zh-CN" sz="1200"/>
                    </a:p>
                  </a:txBody>
                  <a:tcPr marL="0" marR="0" marT="0" marB="0" anchor="ctr"/>
                </a:tc>
                <a:tc>
                  <a:txBody>
                    <a:bodyPr/>
                    <a:lstStyle/>
                    <a:p>
                      <a:pPr algn="ctr"/>
                      <a:r>
                        <a:rPr lang="en-US" altLang="zh-CN" sz="1200"/>
                        <a:t>18</a:t>
                      </a:r>
                      <a:endParaRPr lang="en-US" altLang="zh-CN" sz="1200"/>
                    </a:p>
                  </a:txBody>
                  <a:tcPr marL="0" marR="0" marT="0" marB="0" anchor="ctr"/>
                </a:tc>
              </a:tr>
              <a:tr h="335280">
                <a:tc>
                  <a:txBody>
                    <a:bodyPr/>
                    <a:lstStyle/>
                    <a:p>
                      <a:r>
                        <a:rPr lang="en-US" altLang="zh-CN" sz="1200" b="1">
                          <a:latin typeface="Arial Bold" panose="020B0604020202090204" charset="0"/>
                          <a:cs typeface="Arial Bold" panose="020B0604020202090204" charset="0"/>
                        </a:rPr>
                        <a:t>Bandwidth per GPU (GB/s)</a:t>
                      </a:r>
                      <a:endParaRPr lang="en-US" altLang="zh-CN" sz="1200" b="1">
                        <a:latin typeface="Arial Bold" panose="020B0604020202090204" charset="0"/>
                        <a:cs typeface="Arial Bold" panose="020B0604020202090204" charset="0"/>
                      </a:endParaRPr>
                    </a:p>
                  </a:txBody>
                  <a:tcPr marL="0" marR="0" marT="0" marB="0" anchor="ctr"/>
                </a:tc>
                <a:tc>
                  <a:txBody>
                    <a:bodyPr/>
                    <a:lstStyle/>
                    <a:p>
                      <a:pPr algn="ctr"/>
                      <a:r>
                        <a:rPr lang="en-US" altLang="zh-CN" sz="1200"/>
                        <a:t>160</a:t>
                      </a:r>
                      <a:endParaRPr lang="en-US" altLang="zh-CN" sz="1200"/>
                    </a:p>
                  </a:txBody>
                  <a:tcPr marL="0" marR="0" marT="0" marB="0" anchor="ctr"/>
                </a:tc>
                <a:tc>
                  <a:txBody>
                    <a:bodyPr/>
                    <a:lstStyle/>
                    <a:p>
                      <a:pPr algn="ctr"/>
                      <a:r>
                        <a:rPr lang="en-US" altLang="zh-CN" sz="1200"/>
                        <a:t>300</a:t>
                      </a:r>
                      <a:endParaRPr lang="en-US" altLang="zh-CN" sz="1200"/>
                    </a:p>
                  </a:txBody>
                  <a:tcPr marL="0" marR="0" marT="0" marB="0" anchor="ctr"/>
                </a:tc>
                <a:tc>
                  <a:txBody>
                    <a:bodyPr/>
                    <a:lstStyle/>
                    <a:p>
                      <a:pPr algn="ctr"/>
                      <a:r>
                        <a:rPr lang="en-US" altLang="zh-CN" sz="1200"/>
                        <a:t>600</a:t>
                      </a:r>
                      <a:endParaRPr lang="en-US" altLang="zh-CN" sz="1200"/>
                    </a:p>
                  </a:txBody>
                  <a:tcPr marL="0" marR="0" marT="0" marB="0" anchor="ctr"/>
                </a:tc>
                <a:tc>
                  <a:txBody>
                    <a:bodyPr/>
                    <a:lstStyle/>
                    <a:p>
                      <a:pPr algn="ctr"/>
                      <a:r>
                        <a:rPr lang="en-US" altLang="zh-CN" sz="1200"/>
                        <a:t>900</a:t>
                      </a:r>
                      <a:endParaRPr lang="en-US" altLang="zh-CN" sz="1200"/>
                    </a:p>
                  </a:txBody>
                  <a:tcPr marL="0" marR="0" marT="0" marB="0" anchor="ctr"/>
                </a:tc>
                <a:tc>
                  <a:txBody>
                    <a:bodyPr/>
                    <a:lstStyle/>
                    <a:p>
                      <a:pPr algn="ctr"/>
                      <a:r>
                        <a:rPr lang="en-US" altLang="zh-CN" sz="1200"/>
                        <a:t>900</a:t>
                      </a:r>
                      <a:endParaRPr lang="en-US" altLang="zh-CN" sz="1200"/>
                    </a:p>
                  </a:txBody>
                  <a:tcPr marL="0" marR="0" marT="0" marB="0" anchor="ctr"/>
                </a:tc>
              </a:tr>
            </a:tbl>
          </a:graphicData>
        </a:graphic>
      </p:graphicFrame>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Heterogeneous Host-Device Interaction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without Unified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with Unified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519555" y="2704465"/>
            <a:ext cx="3600000" cy="3651589"/>
          </a:xfrm>
          <a:prstGeom prst="rect">
            <a:avLst/>
          </a:prstGeom>
          <a:ln w="12700">
            <a:noFill/>
            <a:prstDash val="solid"/>
          </a:ln>
        </p:spPr>
      </p:pic>
      <p:pic>
        <p:nvPicPr>
          <p:cNvPr id="8" name="Picture 8"/>
          <p:cNvPicPr>
            <a:picLocks noChangeAspect="1"/>
          </p:cNvPicPr>
          <p:nvPr/>
        </p:nvPicPr>
        <p:blipFill>
          <a:blip r:embed="rId1"/>
          <a:srcRect/>
          <a:stretch>
            <a:fillRect/>
          </a:stretch>
        </p:blipFill>
        <p:spPr>
          <a:xfrm>
            <a:off x="7129145" y="2704465"/>
            <a:ext cx="3600000" cy="3651589"/>
          </a:xfrm>
          <a:prstGeom prst="rect">
            <a:avLst/>
          </a:prstGeom>
          <a:ln w="12700">
            <a:noFill/>
            <a:prstDash val="solid"/>
          </a:ln>
        </p:spPr>
      </p:pic>
      <p:sp>
        <p:nvSpPr>
          <p:cNvPr id="9" name="AutoShape 9"/>
          <p:cNvSpPr/>
          <p:nvPr/>
        </p:nvSpPr>
        <p:spPr>
          <a:xfrm>
            <a:off x="1122680" y="1691640"/>
            <a:ext cx="1800000" cy="1476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7C7C7C"/>
                </a:solidFill>
                <a:latin typeface="微软雅黑" panose="020B0503020204020204" charset="-122"/>
                <a:ea typeface="微软雅黑" panose="020B0503020204020204" charset="-122"/>
                <a:cs typeface="微软雅黑" panose="020B0503020204020204" charset="-122"/>
                <a:sym typeface="微软雅黑" panose="020B0503020204020204" charset="-122"/>
              </a:rPr>
              <a:t>①</a:t>
            </a: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 malloc</a:t>
            </a:r>
            <a:endParaRPr lang="en-US" sz="1100"/>
          </a:p>
          <a:p>
            <a:pPr indent="0" algn="l">
              <a:lnSpc>
                <a:spcPct val="100000"/>
              </a:lnSpc>
            </a:pPr>
            <a:r>
              <a:rPr lang="en-US" sz="1800" b="0" i="0" u="none" strike="noStrike">
                <a:solidFill>
                  <a:srgbClr val="7C7C7C"/>
                </a:solidFill>
                <a:latin typeface="微软雅黑" panose="020B0503020204020204" charset="-122"/>
                <a:ea typeface="微软雅黑" panose="020B0503020204020204" charset="-122"/>
                <a:cs typeface="微软雅黑" panose="020B0503020204020204" charset="-122"/>
                <a:sym typeface="微软雅黑" panose="020B0503020204020204" charset="-122"/>
              </a:rPr>
              <a:t>②</a:t>
            </a: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 cudaMalloc</a:t>
            </a:r>
            <a:endParaRPr lang="en-US" sz="1800" b="0" i="0" u="none" strike="noStrike">
              <a:solidFill>
                <a:srgbClr val="7C7C7C"/>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1800" b="0" i="0" u="none" strike="noStrike">
                <a:solidFill>
                  <a:srgbClr val="7C7C7C"/>
                </a:solidFill>
                <a:latin typeface="微软雅黑" panose="020B0503020204020204" charset="-122"/>
                <a:ea typeface="微软雅黑" panose="020B0503020204020204" charset="-122"/>
                <a:cs typeface="微软雅黑" panose="020B0503020204020204" charset="-122"/>
                <a:sym typeface="微软雅黑" panose="020B0503020204020204" charset="-122"/>
              </a:rPr>
              <a:t>③</a:t>
            </a: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cudaMemcpy</a:t>
            </a:r>
            <a:endParaRPr lang="en-US" sz="1800" b="0" i="0" u="none" strike="noStrike">
              <a:solidFill>
                <a:srgbClr val="7C7C7C"/>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a:t>
            </a:r>
            <a:endParaRPr lang="en-US" sz="1800" b="0" i="0" u="none" strike="noStrike">
              <a:solidFill>
                <a:srgbClr val="7C7C7C"/>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1800" b="0" i="0" u="none" strike="noStrike">
                <a:solidFill>
                  <a:srgbClr val="7C7C7C"/>
                </a:solidFill>
                <a:latin typeface="微软雅黑" panose="020B0503020204020204" charset="-122"/>
                <a:ea typeface="微软雅黑" panose="020B0503020204020204" charset="-122"/>
                <a:cs typeface="微软雅黑" panose="020B0503020204020204" charset="-122"/>
                <a:sym typeface="微软雅黑" panose="020B0503020204020204" charset="-122"/>
              </a:rPr>
              <a:t>⑥</a:t>
            </a: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cudaMemcpy</a:t>
            </a:r>
            <a:endParaRPr lang="en-US" sz="1800" b="0" i="0" u="none" strike="noStrike">
              <a:solidFill>
                <a:srgbClr val="7C7C7C"/>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419100" y="6076315"/>
            <a:ext cx="2880000" cy="64516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7C7C7C"/>
                </a:solidFill>
                <a:latin typeface="微软雅黑" panose="020B0503020204020204" charset="-122"/>
                <a:ea typeface="微软雅黑" panose="020B0503020204020204" charset="-122"/>
                <a:cs typeface="微软雅黑" panose="020B0503020204020204" charset="-122"/>
                <a:sym typeface="微软雅黑" panose="020B0503020204020204" charset="-122"/>
              </a:rPr>
              <a:t>④</a:t>
            </a: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 cudaLaunchKernel</a:t>
            </a:r>
            <a:endParaRPr lang="en-US" sz="1100"/>
          </a:p>
          <a:p>
            <a:pPr indent="0" algn="l">
              <a:lnSpc>
                <a:spcPct val="100000"/>
              </a:lnSpc>
            </a:pPr>
            <a:r>
              <a:rPr lang="en-US" sz="1800" b="0" i="0" u="none" strike="noStrike">
                <a:solidFill>
                  <a:srgbClr val="7C7C7C"/>
                </a:solidFill>
                <a:latin typeface="微软雅黑" panose="020B0503020204020204" charset="-122"/>
                <a:ea typeface="微软雅黑" panose="020B0503020204020204" charset="-122"/>
                <a:cs typeface="微软雅黑" panose="020B0503020204020204" charset="-122"/>
                <a:sym typeface="微软雅黑" panose="020B0503020204020204" charset="-122"/>
              </a:rPr>
              <a:t>⑤</a:t>
            </a: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cudaDeviceSynchronize</a:t>
            </a:r>
            <a:endParaRPr lang="en-US" sz="1800" b="0" i="0" u="none" strike="noStrike">
              <a:solidFill>
                <a:srgbClr val="7C7C7C"/>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Host, Device, and Interconnect</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8B0012"/>
              </a:buClr>
              <a:buSzTx/>
              <a:buChar char="•"/>
            </a:pPr>
            <a:r>
              <a:rPr lang="en-US" sz="2800" b="1" i="0" u="none" strike="noStrike">
                <a:solidFill>
                  <a:srgbClr val="8B0012"/>
                </a:solidFill>
                <a:latin typeface="Ebrima" panose="02000000000000000000"/>
                <a:ea typeface="Ebrima" panose="02000000000000000000"/>
                <a:cs typeface="Ebrima" panose="02000000000000000000"/>
                <a:sym typeface="Ebrima" panose="02000000000000000000"/>
              </a:rPr>
              <a:t>Programming CUDA Cores</a:t>
            </a:r>
            <a:endParaRPr lang="en-US" sz="280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8B0012"/>
              </a:buClr>
              <a:buSzTx/>
              <a:buChar char="•"/>
            </a:pPr>
            <a:r>
              <a:rPr lang="en-US">
                <a:solidFill>
                  <a:srgbClr val="404040"/>
                </a:solidFill>
                <a:ea typeface="Ebrima" panose="02000000000000000000"/>
                <a:cs typeface="Ebrima" panose="02000000000000000000"/>
                <a:sym typeface="Ebrima" panose="02000000000000000000"/>
              </a:rPr>
              <a:t>Programming Tensor Cores</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a:spLocks noGrp="1"/>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Questions on Heterogeneous Programming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compile the “kernel” code?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do CPU and GPU interact?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express parallelism?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express synchronization?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manage and access data?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is kernel code executed on GPU?</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Misc. topics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debugging tools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useful libraries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(incomplete list of) Concepts on Hetero-Programming</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compile the “kernel” code?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do CPU and GPU interact?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express parallelism?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express synchronization?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manage and access data?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is kernel code executed on GPU?</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“”compiler” </a:t>
            </a:r>
            <a:r>
              <a:rPr lang="en-US" sz="2400" b="0" i="0" u="none" strike="noStrike">
                <a:solidFill>
                  <a:srgbClr val="808080"/>
                </a:solidFill>
                <a:latin typeface="Calibri" panose="020F0502020204030204"/>
                <a:ea typeface="Calibri" panose="020F0502020204030204"/>
                <a:cs typeface="Calibri" panose="020F0502020204030204"/>
                <a:sym typeface="Calibri" panose="020F0502020204030204"/>
              </a:rPr>
              <a:t>(later lectures)</a:t>
            </a:r>
            <a:endParaRPr lang="en-US" sz="2400" b="0" i="0" u="none" strike="noStrike">
              <a:solidFill>
                <a:srgbClr val="80808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host, device, kernels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threads, blocks, grid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__syncthreads()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xxMalloc(), xxxMemcpy(), global/shared/constant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warp scheduling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do CPU and GPU interact?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Tale of </a:t>
            </a:r>
            <a:r>
              <a:rPr lang="en-US" sz="2400" b="0" i="0" u="none" strike="noStrike">
                <a:solidFill>
                  <a:srgbClr val="548235"/>
                </a:solidFill>
                <a:latin typeface="Calibri" panose="020F0502020204030204"/>
                <a:ea typeface="Calibri" panose="020F0502020204030204"/>
                <a:cs typeface="Calibri" panose="020F0502020204030204"/>
                <a:sym typeface="Calibri" panose="020F0502020204030204"/>
              </a:rPr>
              <a:t>Host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and </a:t>
            </a:r>
            <a:r>
              <a:rPr lang="en-US" sz="2400" b="0" i="0" u="none" strike="noStrike">
                <a:solidFill>
                  <a:srgbClr val="548235"/>
                </a:solidFill>
                <a:latin typeface="Calibri" panose="020F0502020204030204"/>
                <a:ea typeface="Calibri" panose="020F0502020204030204"/>
                <a:cs typeface="Calibri" panose="020F0502020204030204"/>
                <a:sym typeface="Calibri" panose="020F0502020204030204"/>
              </a:rPr>
              <a:t>Device</a:t>
            </a:r>
            <a:endParaRPr lang="en-US" sz="2400" b="0" i="0" u="none" strike="noStrike">
              <a:solidFill>
                <a:srgbClr val="548235"/>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host ~ CPU;  device ~ GPU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 OpenCL/ROCm, CPUs can also serve as devices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CPU-GPU interface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x86-NV5090 @ PCIe 5.0: 64 GB/s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Grace-Hopper NVLink C2C: 900 GB/s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Grace-Blackwell NVLink C2C: 1.8 TB/s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kernel ≈ a device function interface for the host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BFBFBF"/>
              </a:buClr>
              <a:buChar char="•"/>
            </a:pPr>
            <a:r>
              <a:rPr lang="en-US" sz="2400" b="0" i="0" u="none" strike="noStrike">
                <a:solidFill>
                  <a:srgbClr val="BFBFBF"/>
                </a:solidFill>
                <a:latin typeface="Calibri" panose="020F0502020204030204"/>
                <a:ea typeface="Calibri" panose="020F0502020204030204"/>
                <a:cs typeface="Calibri" panose="020F0502020204030204"/>
                <a:sym typeface="Calibri" panose="020F0502020204030204"/>
              </a:rPr>
              <a:t>xxxMalloc(), xxxMemcpy()</a:t>
            </a:r>
            <a:endParaRPr lang="en-US" sz="2400" b="0" i="0" u="none" strike="noStrike">
              <a:solidFill>
                <a:srgbClr val="BFBFB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do CPU and GPU interact? (host program)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Host program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Running as part of normal C/C++ application on CPU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Launch a grid of kernel thread blocks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Call returns when all threads have terminated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3124200" y="3074035"/>
            <a:ext cx="5928995" cy="3103245"/>
          </a:xfrm>
          <a:prstGeom prst="rect">
            <a:avLst/>
          </a:prstGeom>
          <a:ln w="12700">
            <a:noFill/>
            <a:prstDash val="solid"/>
          </a:ln>
        </p:spPr>
      </p:pic>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do CPU and GPU interact? (kernel program)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Kernel definition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__global__ denotes a kernel function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 computes its thread id from its position in its block (threadIdx) and its block’s position in the grid (blockIdx)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3575050" y="3292475"/>
            <a:ext cx="4320000" cy="1856747"/>
          </a:xfrm>
          <a:prstGeom prst="rect">
            <a:avLst/>
          </a:prstGeom>
          <a:ln w="12700">
            <a:noFill/>
            <a:prstDash val="solid"/>
          </a:ln>
        </p:spPr>
      </p:pic>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to Express Parallelism?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Thread Hierachy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smallest unit of execution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100000"/>
              </a:lnSpc>
              <a:spcBef>
                <a:spcPts val="750"/>
              </a:spcBef>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(not the smallest unit of scheduling)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 Block (Block)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 group of threads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Cooperate through shared memory and synchronization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Organized in up to 3-dims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Grid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 collection of thread blocks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Organized in up to 3-dims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Lauched by CPUs, executed on GPUs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7205980" y="1323975"/>
            <a:ext cx="3600000" cy="4453476"/>
          </a:xfrm>
          <a:prstGeom prst="rect">
            <a:avLst/>
          </a:prstGeom>
          <a:ln w="12700">
            <a:noFill/>
            <a:prstDash val="solid"/>
          </a:ln>
        </p:spPr>
      </p:pic>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Grid: Blocks of Threads in 1D</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adapted from UW CSEP 590, Dr. Hari Sadasivan</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Threads in grid have access to:</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Their respective block: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blockIdx.x</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(for the “Thread” above: == 4)</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Their respective thread ID in a block: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threadIdx.x</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(for the “Thread” above: == 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Their block's dimension: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blockDim.x</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(for the example above: == 4)</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number of blocks in the grid: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gridDim.x</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(for the example above: == 8)</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496185" y="1324052"/>
            <a:ext cx="7200000" cy="1769143"/>
          </a:xfrm>
          <a:prstGeom prst="rect">
            <a:avLst/>
          </a:prstGeom>
          <a:ln w="12700">
            <a:noFill/>
            <a:prstDash val="solid"/>
          </a:ln>
        </p:spPr>
      </p:pic>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Grid: Blocks of Threads in 2D</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Each color is a block of threads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Each small square is a thread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concept is the same in 1D and 2D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 2D each block and thread now has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two-dimensional index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Threads in grid have access to:</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Their respective block IDs: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blockIdx.x, blockIdx.y</a:t>
            </a:r>
            <a:endPar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Their respective thread IDs in a block: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threadIdx.x, threadIdx.y</a:t>
            </a:r>
            <a:endPar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adapted from UW CSEP 590, Dr. Hari Sadasivan</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a:spLocks noGrp="1"/>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6210330" y="1323956"/>
            <a:ext cx="4320000" cy="4245204"/>
          </a:xfrm>
          <a:prstGeom prst="rect">
            <a:avLst/>
          </a:prstGeom>
          <a:ln w="12700">
            <a:noFill/>
            <a:prstDash val="solid"/>
          </a:ln>
        </p:spPr>
      </p:pic>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to Express Synchronizations?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__syncthreads()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xxxDeviceSynchronize()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events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(to be discussed in later lectures)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to Manage and Access Data?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CUDA memory model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Distinct host and device address spaces </a:t>
            </a:r>
            <a:r>
              <a:rPr lang="en-US" sz="2000" b="0" i="0" u="none" strike="noStrike">
                <a:solidFill>
                  <a:srgbClr val="F4B183"/>
                </a:solidFill>
                <a:latin typeface="Calibri" panose="020F0502020204030204"/>
                <a:ea typeface="Calibri" panose="020F0502020204030204"/>
                <a:cs typeface="Calibri" panose="020F0502020204030204"/>
                <a:sym typeface="Calibri" panose="020F0502020204030204"/>
              </a:rPr>
              <a:t>(when not using unified memory)</a:t>
            </a:r>
            <a:endParaRPr lang="en-US" sz="2000" b="0" i="0" u="none" strike="noStrike">
              <a:solidFill>
                <a:srgbClr val="F4B183"/>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 allocation in GPU through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cudaMalloc()</a:t>
            </a:r>
            <a:endPar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Move data between address spaces through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cudaMemcpy()</a:t>
            </a:r>
            <a:endPar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p:txBody>
      </p:sp>
      <p:pic>
        <p:nvPicPr>
          <p:cNvPr id="5" name="Picture 5"/>
          <p:cNvPicPr>
            <a:picLocks noChangeAspect="1"/>
          </p:cNvPicPr>
          <p:nvPr/>
        </p:nvPicPr>
        <p:blipFill>
          <a:blip r:embed="rId1"/>
          <a:srcRect/>
          <a:stretch>
            <a:fillRect/>
          </a:stretch>
        </p:blipFill>
        <p:spPr>
          <a:xfrm>
            <a:off x="1129665" y="3429000"/>
            <a:ext cx="4680000" cy="2449664"/>
          </a:xfrm>
          <a:prstGeom prst="rect">
            <a:avLst/>
          </a:prstGeom>
          <a:ln w="12700">
            <a:noFill/>
            <a:prstDash val="solid"/>
          </a:ln>
        </p:spPr>
      </p:pic>
      <p:pic>
        <p:nvPicPr>
          <p:cNvPr id="6" name="Picture 6"/>
          <p:cNvPicPr>
            <a:picLocks noChangeAspect="1"/>
          </p:cNvPicPr>
          <p:nvPr/>
        </p:nvPicPr>
        <p:blipFill>
          <a:blip r:embed="rId2"/>
          <a:srcRect/>
          <a:stretch>
            <a:fillRect/>
          </a:stretch>
        </p:blipFill>
        <p:spPr>
          <a:xfrm>
            <a:off x="6049010" y="3657600"/>
            <a:ext cx="4680000" cy="1901367"/>
          </a:xfrm>
          <a:prstGeom prst="rect">
            <a:avLst/>
          </a:prstGeom>
          <a:ln w="12700">
            <a:noFill/>
            <a:prstDash val="solid"/>
          </a:ln>
        </p:spPr>
      </p:pic>
      <p:sp>
        <p:nvSpPr>
          <p:cNvPr id="7" name="AutoShape 7"/>
          <p:cNvSpPr/>
          <p:nvPr/>
        </p:nvSpPr>
        <p:spPr>
          <a:xfrm>
            <a:off x="1407160" y="4256405"/>
            <a:ext cx="4133850" cy="826135"/>
          </a:xfrm>
          <a:prstGeom prst="rect">
            <a:avLst/>
          </a:prstGeom>
          <a:noFill/>
          <a:ln w="12700" cap="flat" cmpd="sng">
            <a:solidFill>
              <a:srgbClr val="548235">
                <a:alpha val="100000"/>
              </a:srgbClr>
            </a:solidFill>
            <a:prstDash val="solid"/>
            <a:roun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to Manage and Access Data?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CUDA memory model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Three distinct types of address spaces visible to kernels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__global__</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accessible by all threads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__device__</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distinct from CPU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__shared__</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shared by threads in a block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5" name="Group 5"/>
          <p:cNvGrpSpPr/>
          <p:nvPr/>
        </p:nvGrpSpPr>
        <p:grpSpPr>
          <a:xfrm>
            <a:off x="1151255" y="3877945"/>
            <a:ext cx="9000000" cy="1888713"/>
            <a:chOff x="1151255" y="3877945"/>
            <a:chExt cx="9000000" cy="1888713"/>
          </a:xfrm>
        </p:grpSpPr>
        <p:pic>
          <p:nvPicPr>
            <p:cNvPr id="6" name="Picture 6"/>
            <p:cNvPicPr>
              <a:picLocks noChangeAspect="1"/>
            </p:cNvPicPr>
            <p:nvPr/>
          </p:nvPicPr>
          <p:blipFill>
            <a:blip r:embed="rId1"/>
            <a:srcRect r="11284"/>
            <a:stretch>
              <a:fillRect/>
            </a:stretch>
          </p:blipFill>
          <p:spPr>
            <a:xfrm>
              <a:off x="1151255" y="3877945"/>
              <a:ext cx="6176072" cy="1888713"/>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058704" y="4203001"/>
              <a:ext cx="2092551" cy="1218962"/>
            </a:xfrm>
            <a:prstGeom prst="rect">
              <a:avLst/>
            </a:prstGeom>
            <a:ln w="12700">
              <a:noFill/>
              <a:prstDash val="solid"/>
            </a:ln>
          </p:spPr>
        </p:pic>
        <p:cxnSp>
          <p:nvCxnSpPr>
            <p:cNvPr id="8" name="Connector 8"/>
            <p:cNvCxnSpPr/>
            <p:nvPr/>
          </p:nvCxnSpPr>
          <p:spPr>
            <a:xfrm flipV="1">
              <a:off x="7327327" y="4812482"/>
              <a:ext cx="731377" cy="10158"/>
            </a:xfrm>
            <a:prstGeom prst="straightConnector1">
              <a:avLst/>
            </a:prstGeom>
            <a:solidFill>
              <a:srgbClr val="4472C4">
                <a:alpha val="100000"/>
              </a:srgbClr>
            </a:solidFill>
            <a:ln w="12700" cap="flat" cmpd="sng">
              <a:solidFill>
                <a:srgbClr val="000000">
                  <a:alpha val="100000"/>
                </a:srgbClr>
              </a:solidFill>
              <a:prstDash val="solid"/>
              <a:round/>
              <a:headEnd type="triangle" w="med" len="med"/>
              <a:tailEnd type="triangle" w="med" len="med"/>
            </a:ln>
          </p:spPr>
        </p:cxnSp>
      </p:gr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is Kernel Code Executed on GPU?</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6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SIMD execution can be combined with pipelining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6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ALUs all execute the same instruction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6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Pipelining is used to break instruction into phases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6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When first instruction completes (4 cycles here), the next instruction is ready to execute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5" name="Table 5"/>
          <p:cNvGraphicFramePr>
            <a:graphicFrameLocks noGrp="1"/>
          </p:cNvGraphicFramePr>
          <p:nvPr/>
        </p:nvGraphicFramePr>
        <p:xfrm>
          <a:off x="4113607" y="6121095"/>
          <a:ext cx="5360670" cy="262890"/>
        </p:xfrm>
        <a:graphic>
          <a:graphicData uri="http://schemas.openxmlformats.org/drawingml/2006/table">
            <a:tbl>
              <a:tblPr>
                <a:effectLst/>
              </a:tblPr>
              <a:tblGrid>
                <a:gridCol w="595630"/>
                <a:gridCol w="595630"/>
                <a:gridCol w="595630"/>
                <a:gridCol w="595630"/>
                <a:gridCol w="595630"/>
                <a:gridCol w="595630"/>
                <a:gridCol w="595630"/>
                <a:gridCol w="595630"/>
                <a:gridCol w="595630"/>
              </a:tblGrid>
              <a:tr h="262890">
                <a:tc>
                  <a:txBody>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1</a:t>
                      </a:r>
                      <a:endParaRPr lang="en-US" sz="1100"/>
                    </a:p>
                  </a:txBody>
                  <a:tcPr marL="64294" marR="64294" marT="32147" marB="321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2</a:t>
                      </a:r>
                      <a:endParaRPr lang="en-US" sz="1100"/>
                    </a:p>
                  </a:txBody>
                  <a:tcPr marL="64294" marR="64294" marT="32147" marB="321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3</a:t>
                      </a:r>
                      <a:endParaRPr lang="en-US" sz="1100"/>
                    </a:p>
                  </a:txBody>
                  <a:tcPr marL="64294" marR="64294" marT="32147" marB="321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4</a:t>
                      </a:r>
                      <a:endParaRPr lang="en-US" sz="1100"/>
                    </a:p>
                  </a:txBody>
                  <a:tcPr marL="64294" marR="64294" marT="32147" marB="321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5</a:t>
                      </a:r>
                      <a:endParaRPr lang="en-US" sz="1100"/>
                    </a:p>
                  </a:txBody>
                  <a:tcPr marL="64294" marR="64294" marT="32147" marB="321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6</a:t>
                      </a:r>
                      <a:endParaRPr lang="en-US" sz="1100"/>
                    </a:p>
                  </a:txBody>
                  <a:tcPr marL="64294" marR="64294" marT="32147" marB="321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7</a:t>
                      </a:r>
                      <a:endParaRPr lang="en-US" sz="1100"/>
                    </a:p>
                  </a:txBody>
                  <a:tcPr marL="64294" marR="64294" marT="32147" marB="321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8</a:t>
                      </a:r>
                      <a:endParaRPr lang="en-US" sz="1100"/>
                    </a:p>
                  </a:txBody>
                  <a:tcPr marL="64294" marR="64294" marT="32147" marB="321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9</a:t>
                      </a:r>
                      <a:endParaRPr lang="en-US" sz="1100"/>
                    </a:p>
                  </a:txBody>
                  <a:tcPr marL="64294" marR="64294" marT="32147" marB="3214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grpSp>
        <p:nvGrpSpPr>
          <p:cNvPr id="6" name="Group 6"/>
          <p:cNvGrpSpPr/>
          <p:nvPr/>
        </p:nvGrpSpPr>
        <p:grpSpPr>
          <a:xfrm>
            <a:off x="4085691" y="3495766"/>
            <a:ext cx="964406" cy="910828"/>
            <a:chOff x="4085691" y="3495766"/>
            <a:chExt cx="964406" cy="910828"/>
          </a:xfrm>
        </p:grpSpPr>
        <p:sp>
          <p:nvSpPr>
            <p:cNvPr id="7" name="AutoShape 7"/>
            <p:cNvSpPr/>
            <p:nvPr/>
          </p:nvSpPr>
          <p:spPr>
            <a:xfrm>
              <a:off x="4460738" y="3495766"/>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8" name="AutoShape 8"/>
            <p:cNvSpPr/>
            <p:nvPr/>
          </p:nvSpPr>
          <p:spPr>
            <a:xfrm>
              <a:off x="4407160" y="3549344"/>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9" name="AutoShape 9"/>
            <p:cNvSpPr/>
            <p:nvPr/>
          </p:nvSpPr>
          <p:spPr>
            <a:xfrm>
              <a:off x="4353582" y="3602922"/>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0" name="AutoShape 10"/>
            <p:cNvSpPr/>
            <p:nvPr/>
          </p:nvSpPr>
          <p:spPr>
            <a:xfrm>
              <a:off x="4300003" y="3656500"/>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1" name="AutoShape 11"/>
            <p:cNvSpPr/>
            <p:nvPr/>
          </p:nvSpPr>
          <p:spPr>
            <a:xfrm>
              <a:off x="4246425" y="3710078"/>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2" name="AutoShape 12"/>
            <p:cNvSpPr/>
            <p:nvPr/>
          </p:nvSpPr>
          <p:spPr>
            <a:xfrm>
              <a:off x="4192847" y="3763657"/>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3" name="AutoShape 13"/>
            <p:cNvSpPr/>
            <p:nvPr/>
          </p:nvSpPr>
          <p:spPr>
            <a:xfrm>
              <a:off x="4139269" y="3817235"/>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4" name="AutoShape 14"/>
            <p:cNvSpPr/>
            <p:nvPr/>
          </p:nvSpPr>
          <p:spPr>
            <a:xfrm>
              <a:off x="4085691" y="3870813"/>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grpSp>
      <p:grpSp>
        <p:nvGrpSpPr>
          <p:cNvPr id="15" name="Group 15"/>
          <p:cNvGrpSpPr/>
          <p:nvPr/>
        </p:nvGrpSpPr>
        <p:grpSpPr>
          <a:xfrm>
            <a:off x="4675050" y="4031548"/>
            <a:ext cx="964406" cy="910828"/>
            <a:chOff x="4675050" y="4031548"/>
            <a:chExt cx="964406" cy="910828"/>
          </a:xfrm>
        </p:grpSpPr>
        <p:sp>
          <p:nvSpPr>
            <p:cNvPr id="16" name="AutoShape 16"/>
            <p:cNvSpPr/>
            <p:nvPr/>
          </p:nvSpPr>
          <p:spPr>
            <a:xfrm>
              <a:off x="5050097" y="4031548"/>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7" name="AutoShape 17"/>
            <p:cNvSpPr/>
            <p:nvPr/>
          </p:nvSpPr>
          <p:spPr>
            <a:xfrm>
              <a:off x="4996519" y="4085126"/>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8" name="AutoShape 18"/>
            <p:cNvSpPr/>
            <p:nvPr/>
          </p:nvSpPr>
          <p:spPr>
            <a:xfrm>
              <a:off x="4942941" y="4138704"/>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9" name="AutoShape 19"/>
            <p:cNvSpPr/>
            <p:nvPr/>
          </p:nvSpPr>
          <p:spPr>
            <a:xfrm>
              <a:off x="4889362" y="4192282"/>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0" name="AutoShape 20"/>
            <p:cNvSpPr/>
            <p:nvPr/>
          </p:nvSpPr>
          <p:spPr>
            <a:xfrm>
              <a:off x="4835784" y="4245860"/>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1" name="AutoShape 21"/>
            <p:cNvSpPr/>
            <p:nvPr/>
          </p:nvSpPr>
          <p:spPr>
            <a:xfrm>
              <a:off x="4782206" y="4299439"/>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2" name="AutoShape 22"/>
            <p:cNvSpPr/>
            <p:nvPr/>
          </p:nvSpPr>
          <p:spPr>
            <a:xfrm>
              <a:off x="4728628" y="4353017"/>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3" name="AutoShape 23"/>
            <p:cNvSpPr/>
            <p:nvPr/>
          </p:nvSpPr>
          <p:spPr>
            <a:xfrm>
              <a:off x="4675050" y="4406595"/>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grpSp>
      <p:grpSp>
        <p:nvGrpSpPr>
          <p:cNvPr id="24" name="Group 24"/>
          <p:cNvGrpSpPr/>
          <p:nvPr/>
        </p:nvGrpSpPr>
        <p:grpSpPr>
          <a:xfrm>
            <a:off x="5264409" y="4567329"/>
            <a:ext cx="964406" cy="910828"/>
            <a:chOff x="5264409" y="4567329"/>
            <a:chExt cx="964406" cy="910828"/>
          </a:xfrm>
        </p:grpSpPr>
        <p:sp>
          <p:nvSpPr>
            <p:cNvPr id="25" name="AutoShape 25"/>
            <p:cNvSpPr/>
            <p:nvPr/>
          </p:nvSpPr>
          <p:spPr>
            <a:xfrm>
              <a:off x="5639456" y="4567329"/>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6" name="AutoShape 26"/>
            <p:cNvSpPr/>
            <p:nvPr/>
          </p:nvSpPr>
          <p:spPr>
            <a:xfrm>
              <a:off x="5585878" y="4620907"/>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7" name="AutoShape 27"/>
            <p:cNvSpPr/>
            <p:nvPr/>
          </p:nvSpPr>
          <p:spPr>
            <a:xfrm>
              <a:off x="5532300" y="4674485"/>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8" name="AutoShape 28"/>
            <p:cNvSpPr/>
            <p:nvPr/>
          </p:nvSpPr>
          <p:spPr>
            <a:xfrm>
              <a:off x="5478721" y="4728063"/>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9" name="AutoShape 29"/>
            <p:cNvSpPr/>
            <p:nvPr/>
          </p:nvSpPr>
          <p:spPr>
            <a:xfrm>
              <a:off x="5425143" y="4781641"/>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0" name="AutoShape 30"/>
            <p:cNvSpPr/>
            <p:nvPr/>
          </p:nvSpPr>
          <p:spPr>
            <a:xfrm>
              <a:off x="5371565" y="4835220"/>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1" name="AutoShape 31"/>
            <p:cNvSpPr/>
            <p:nvPr/>
          </p:nvSpPr>
          <p:spPr>
            <a:xfrm>
              <a:off x="5317987" y="4888798"/>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2" name="AutoShape 32"/>
            <p:cNvSpPr/>
            <p:nvPr/>
          </p:nvSpPr>
          <p:spPr>
            <a:xfrm>
              <a:off x="5264409" y="4942376"/>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grpSp>
      <p:grpSp>
        <p:nvGrpSpPr>
          <p:cNvPr id="33" name="Group 33"/>
          <p:cNvGrpSpPr/>
          <p:nvPr/>
        </p:nvGrpSpPr>
        <p:grpSpPr>
          <a:xfrm>
            <a:off x="5853769" y="5103110"/>
            <a:ext cx="964406" cy="910828"/>
            <a:chOff x="5853769" y="5103110"/>
            <a:chExt cx="964406" cy="910828"/>
          </a:xfrm>
        </p:grpSpPr>
        <p:sp>
          <p:nvSpPr>
            <p:cNvPr id="34" name="AutoShape 34"/>
            <p:cNvSpPr/>
            <p:nvPr/>
          </p:nvSpPr>
          <p:spPr>
            <a:xfrm>
              <a:off x="6228816" y="5103110"/>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5" name="AutoShape 35"/>
            <p:cNvSpPr/>
            <p:nvPr/>
          </p:nvSpPr>
          <p:spPr>
            <a:xfrm>
              <a:off x="6175238" y="5156688"/>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6" name="AutoShape 36"/>
            <p:cNvSpPr/>
            <p:nvPr/>
          </p:nvSpPr>
          <p:spPr>
            <a:xfrm>
              <a:off x="6121660" y="5210266"/>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7" name="AutoShape 37"/>
            <p:cNvSpPr/>
            <p:nvPr/>
          </p:nvSpPr>
          <p:spPr>
            <a:xfrm>
              <a:off x="6068081" y="5263844"/>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8" name="AutoShape 38"/>
            <p:cNvSpPr/>
            <p:nvPr/>
          </p:nvSpPr>
          <p:spPr>
            <a:xfrm>
              <a:off x="6014503" y="5317422"/>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9" name="AutoShape 39"/>
            <p:cNvSpPr/>
            <p:nvPr/>
          </p:nvSpPr>
          <p:spPr>
            <a:xfrm>
              <a:off x="5960925" y="5371001"/>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40" name="AutoShape 40"/>
            <p:cNvSpPr/>
            <p:nvPr/>
          </p:nvSpPr>
          <p:spPr>
            <a:xfrm>
              <a:off x="5907347" y="5424579"/>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41" name="AutoShape 41"/>
            <p:cNvSpPr/>
            <p:nvPr/>
          </p:nvSpPr>
          <p:spPr>
            <a:xfrm>
              <a:off x="5853769" y="5478157"/>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grpSp>
      <p:grpSp>
        <p:nvGrpSpPr>
          <p:cNvPr id="42" name="Group 42"/>
          <p:cNvGrpSpPr/>
          <p:nvPr/>
        </p:nvGrpSpPr>
        <p:grpSpPr>
          <a:xfrm>
            <a:off x="6496706" y="3495766"/>
            <a:ext cx="964406" cy="910828"/>
            <a:chOff x="6496706" y="3495766"/>
            <a:chExt cx="964406" cy="910828"/>
          </a:xfrm>
        </p:grpSpPr>
        <p:sp>
          <p:nvSpPr>
            <p:cNvPr id="43" name="AutoShape 43"/>
            <p:cNvSpPr/>
            <p:nvPr/>
          </p:nvSpPr>
          <p:spPr>
            <a:xfrm>
              <a:off x="6871753" y="3495766"/>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44" name="AutoShape 44"/>
            <p:cNvSpPr/>
            <p:nvPr/>
          </p:nvSpPr>
          <p:spPr>
            <a:xfrm>
              <a:off x="6818175" y="3549344"/>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45" name="AutoShape 45"/>
            <p:cNvSpPr/>
            <p:nvPr/>
          </p:nvSpPr>
          <p:spPr>
            <a:xfrm>
              <a:off x="6764597" y="3602922"/>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46" name="AutoShape 46"/>
            <p:cNvSpPr/>
            <p:nvPr/>
          </p:nvSpPr>
          <p:spPr>
            <a:xfrm>
              <a:off x="6711018" y="3656500"/>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47" name="AutoShape 47"/>
            <p:cNvSpPr/>
            <p:nvPr/>
          </p:nvSpPr>
          <p:spPr>
            <a:xfrm>
              <a:off x="6657440" y="3710078"/>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48" name="AutoShape 48"/>
            <p:cNvSpPr/>
            <p:nvPr/>
          </p:nvSpPr>
          <p:spPr>
            <a:xfrm>
              <a:off x="6603862" y="3763657"/>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49" name="AutoShape 49"/>
            <p:cNvSpPr/>
            <p:nvPr/>
          </p:nvSpPr>
          <p:spPr>
            <a:xfrm>
              <a:off x="6550284" y="3817235"/>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0" name="AutoShape 50"/>
            <p:cNvSpPr/>
            <p:nvPr/>
          </p:nvSpPr>
          <p:spPr>
            <a:xfrm>
              <a:off x="6496706" y="3870813"/>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grpSp>
      <p:grpSp>
        <p:nvGrpSpPr>
          <p:cNvPr id="51" name="Group 51"/>
          <p:cNvGrpSpPr/>
          <p:nvPr/>
        </p:nvGrpSpPr>
        <p:grpSpPr>
          <a:xfrm>
            <a:off x="7086066" y="4031548"/>
            <a:ext cx="964406" cy="910828"/>
            <a:chOff x="7086066" y="4031548"/>
            <a:chExt cx="964406" cy="910828"/>
          </a:xfrm>
        </p:grpSpPr>
        <p:sp>
          <p:nvSpPr>
            <p:cNvPr id="52" name="AutoShape 52"/>
            <p:cNvSpPr/>
            <p:nvPr/>
          </p:nvSpPr>
          <p:spPr>
            <a:xfrm>
              <a:off x="7461113" y="4031548"/>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3" name="AutoShape 53"/>
            <p:cNvSpPr/>
            <p:nvPr/>
          </p:nvSpPr>
          <p:spPr>
            <a:xfrm>
              <a:off x="7407535" y="4085126"/>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4" name="AutoShape 54"/>
            <p:cNvSpPr/>
            <p:nvPr/>
          </p:nvSpPr>
          <p:spPr>
            <a:xfrm>
              <a:off x="7353957" y="4138704"/>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5" name="AutoShape 55"/>
            <p:cNvSpPr/>
            <p:nvPr/>
          </p:nvSpPr>
          <p:spPr>
            <a:xfrm>
              <a:off x="7300378" y="4192282"/>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6" name="AutoShape 56"/>
            <p:cNvSpPr/>
            <p:nvPr/>
          </p:nvSpPr>
          <p:spPr>
            <a:xfrm>
              <a:off x="7246800" y="4245860"/>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7" name="AutoShape 57"/>
            <p:cNvSpPr/>
            <p:nvPr/>
          </p:nvSpPr>
          <p:spPr>
            <a:xfrm>
              <a:off x="7193222" y="4299439"/>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8" name="AutoShape 58"/>
            <p:cNvSpPr/>
            <p:nvPr/>
          </p:nvSpPr>
          <p:spPr>
            <a:xfrm>
              <a:off x="7139644" y="4353017"/>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9" name="AutoShape 59"/>
            <p:cNvSpPr/>
            <p:nvPr/>
          </p:nvSpPr>
          <p:spPr>
            <a:xfrm>
              <a:off x="7086066" y="4406595"/>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grpSp>
      <p:grpSp>
        <p:nvGrpSpPr>
          <p:cNvPr id="60" name="Group 60"/>
          <p:cNvGrpSpPr/>
          <p:nvPr/>
        </p:nvGrpSpPr>
        <p:grpSpPr>
          <a:xfrm>
            <a:off x="7675425" y="4567329"/>
            <a:ext cx="964406" cy="910828"/>
            <a:chOff x="7675425" y="4567329"/>
            <a:chExt cx="964406" cy="910828"/>
          </a:xfrm>
        </p:grpSpPr>
        <p:sp>
          <p:nvSpPr>
            <p:cNvPr id="61" name="AutoShape 61"/>
            <p:cNvSpPr/>
            <p:nvPr/>
          </p:nvSpPr>
          <p:spPr>
            <a:xfrm>
              <a:off x="8050472" y="4567329"/>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2" name="AutoShape 62"/>
            <p:cNvSpPr/>
            <p:nvPr/>
          </p:nvSpPr>
          <p:spPr>
            <a:xfrm>
              <a:off x="7996894" y="4620907"/>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3" name="AutoShape 63"/>
            <p:cNvSpPr/>
            <p:nvPr/>
          </p:nvSpPr>
          <p:spPr>
            <a:xfrm>
              <a:off x="7943316" y="4674485"/>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4" name="AutoShape 64"/>
            <p:cNvSpPr/>
            <p:nvPr/>
          </p:nvSpPr>
          <p:spPr>
            <a:xfrm>
              <a:off x="7889737" y="4728063"/>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5" name="AutoShape 65"/>
            <p:cNvSpPr/>
            <p:nvPr/>
          </p:nvSpPr>
          <p:spPr>
            <a:xfrm>
              <a:off x="7836159" y="4781641"/>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6" name="AutoShape 66"/>
            <p:cNvSpPr/>
            <p:nvPr/>
          </p:nvSpPr>
          <p:spPr>
            <a:xfrm>
              <a:off x="7782581" y="4835220"/>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7" name="AutoShape 67"/>
            <p:cNvSpPr/>
            <p:nvPr/>
          </p:nvSpPr>
          <p:spPr>
            <a:xfrm>
              <a:off x="7729003" y="4888798"/>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8" name="AutoShape 68"/>
            <p:cNvSpPr/>
            <p:nvPr/>
          </p:nvSpPr>
          <p:spPr>
            <a:xfrm>
              <a:off x="7675425" y="4942376"/>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grpSp>
      <p:grpSp>
        <p:nvGrpSpPr>
          <p:cNvPr id="69" name="Group 69"/>
          <p:cNvGrpSpPr/>
          <p:nvPr/>
        </p:nvGrpSpPr>
        <p:grpSpPr>
          <a:xfrm>
            <a:off x="8264784" y="5103110"/>
            <a:ext cx="964406" cy="910828"/>
            <a:chOff x="8264784" y="5103110"/>
            <a:chExt cx="964406" cy="910828"/>
          </a:xfrm>
        </p:grpSpPr>
        <p:sp>
          <p:nvSpPr>
            <p:cNvPr id="70" name="AutoShape 70"/>
            <p:cNvSpPr/>
            <p:nvPr/>
          </p:nvSpPr>
          <p:spPr>
            <a:xfrm>
              <a:off x="8639831" y="5103110"/>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1" name="AutoShape 71"/>
            <p:cNvSpPr/>
            <p:nvPr/>
          </p:nvSpPr>
          <p:spPr>
            <a:xfrm>
              <a:off x="8586253" y="5156688"/>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2" name="AutoShape 72"/>
            <p:cNvSpPr/>
            <p:nvPr/>
          </p:nvSpPr>
          <p:spPr>
            <a:xfrm>
              <a:off x="8532675" y="5210266"/>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3" name="AutoShape 73"/>
            <p:cNvSpPr/>
            <p:nvPr/>
          </p:nvSpPr>
          <p:spPr>
            <a:xfrm>
              <a:off x="8479096" y="5263844"/>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4" name="AutoShape 74"/>
            <p:cNvSpPr/>
            <p:nvPr/>
          </p:nvSpPr>
          <p:spPr>
            <a:xfrm>
              <a:off x="8425518" y="5317422"/>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5" name="AutoShape 75"/>
            <p:cNvSpPr/>
            <p:nvPr/>
          </p:nvSpPr>
          <p:spPr>
            <a:xfrm>
              <a:off x="8371940" y="5371001"/>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6" name="AutoShape 76"/>
            <p:cNvSpPr/>
            <p:nvPr/>
          </p:nvSpPr>
          <p:spPr>
            <a:xfrm>
              <a:off x="8318362" y="5424579"/>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7" name="AutoShape 77"/>
            <p:cNvSpPr/>
            <p:nvPr/>
          </p:nvSpPr>
          <p:spPr>
            <a:xfrm>
              <a:off x="8264784" y="5478157"/>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grpSp>
      <p:sp>
        <p:nvSpPr>
          <p:cNvPr id="78" name="AutoShape 78"/>
          <p:cNvSpPr/>
          <p:nvPr/>
        </p:nvSpPr>
        <p:spPr>
          <a:xfrm>
            <a:off x="9282769" y="3873592"/>
            <a:ext cx="331470" cy="309245"/>
          </a:xfrm>
          <a:prstGeom prst="rect">
            <a:avLst/>
          </a:prstGeom>
          <a:noFill/>
          <a:ln w="12700">
            <a:noFill/>
            <a:prstDash val="solid"/>
          </a:ln>
        </p:spPr>
        <p:txBody>
          <a:bodyPr wrap="none" lIns="64291" tIns="32146" rIns="64291" bIns="32146" rtlCol="0" anchor="t">
            <a:sp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100"/>
          </a:p>
        </p:txBody>
      </p:sp>
      <p:sp>
        <p:nvSpPr>
          <p:cNvPr id="79" name="AutoShape 79"/>
          <p:cNvSpPr/>
          <p:nvPr/>
        </p:nvSpPr>
        <p:spPr>
          <a:xfrm rot="10800000" flipV="1">
            <a:off x="3577828" y="3870813"/>
            <a:ext cx="160734" cy="2143125"/>
          </a:xfrm>
          <a:prstGeom prst="leftBracket">
            <a:avLst>
              <a:gd name="adj" fmla="val 8333"/>
            </a:avLst>
          </a:prstGeom>
          <a:noFill/>
          <a:ln w="12700" cap="flat">
            <a:solidFill>
              <a:srgbClr val="000000">
                <a:alpha val="100000"/>
              </a:srgbClr>
            </a:solidFill>
            <a:prstDash val="solid"/>
          </a:ln>
        </p:spPr>
        <p:txBody>
          <a:bodyPr wrap="square" lIns="64291" tIns="32146" rIns="64291" bIns="32146"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0" name="AutoShape 80"/>
          <p:cNvSpPr/>
          <p:nvPr/>
        </p:nvSpPr>
        <p:spPr>
          <a:xfrm>
            <a:off x="9614535" y="6014085"/>
            <a:ext cx="335280" cy="304165"/>
          </a:xfrm>
          <a:prstGeom prst="rect">
            <a:avLst/>
          </a:prstGeom>
          <a:noFill/>
          <a:ln w="12700">
            <a:noFill/>
            <a:prstDash val="solid"/>
          </a:ln>
        </p:spPr>
        <p:txBody>
          <a:bodyPr wrap="square" lIns="64291" tIns="32146" rIns="64291" bIns="32146"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100"/>
          </a:p>
        </p:txBody>
      </p:sp>
      <p:sp>
        <p:nvSpPr>
          <p:cNvPr id="81" name="AutoShape 81"/>
          <p:cNvSpPr/>
          <p:nvPr/>
        </p:nvSpPr>
        <p:spPr>
          <a:xfrm>
            <a:off x="3417094" y="6121095"/>
            <a:ext cx="670560" cy="309245"/>
          </a:xfrm>
          <a:prstGeom prst="rect">
            <a:avLst/>
          </a:prstGeom>
          <a:noFill/>
          <a:ln w="12700">
            <a:noFill/>
            <a:prstDash val="solid"/>
          </a:ln>
        </p:spPr>
        <p:txBody>
          <a:bodyPr wrap="none" lIns="64291" tIns="32146" rIns="64291" bIns="32146" rtlCol="0" anchor="t">
            <a:spAutoFit/>
          </a:bodyPr>
          <a:lstStyle/>
          <a:p>
            <a:pPr indent="0" algn="l">
              <a:lnSpc>
                <a:spcPct val="100000"/>
              </a:lnSpc>
              <a:defRPr/>
            </a:pPr>
            <a:r>
              <a:rPr lang="en-US" sz="1600" b="1" i="0" u="none" strike="noStrike">
                <a:solidFill>
                  <a:srgbClr val="000000"/>
                </a:solidFill>
                <a:latin typeface="Arial" panose="020B0604020202020204"/>
                <a:ea typeface="Arial" panose="020B0604020202020204"/>
                <a:cs typeface="Arial" panose="020B0604020202020204"/>
                <a:sym typeface="Arial" panose="020B0604020202020204"/>
              </a:rPr>
              <a:t>Cycle</a:t>
            </a:r>
            <a:endParaRPr lang="en-US" sz="1100"/>
          </a:p>
        </p:txBody>
      </p:sp>
      <p:cxnSp>
        <p:nvCxnSpPr>
          <p:cNvPr id="82" name="Connector 82"/>
          <p:cNvCxnSpPr/>
          <p:nvPr/>
        </p:nvCxnSpPr>
        <p:spPr>
          <a:xfrm>
            <a:off x="4810125" y="4084009"/>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3" name="Connector 83"/>
          <p:cNvCxnSpPr/>
          <p:nvPr/>
        </p:nvCxnSpPr>
        <p:spPr>
          <a:xfrm>
            <a:off x="5399484" y="4619790"/>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4" name="Connector 84"/>
          <p:cNvCxnSpPr/>
          <p:nvPr/>
        </p:nvCxnSpPr>
        <p:spPr>
          <a:xfrm>
            <a:off x="5988844" y="5209150"/>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5" name="Connector 85"/>
          <p:cNvCxnSpPr/>
          <p:nvPr/>
        </p:nvCxnSpPr>
        <p:spPr>
          <a:xfrm>
            <a:off x="6578203" y="5692469"/>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6" name="Connector 86"/>
          <p:cNvCxnSpPr/>
          <p:nvPr/>
        </p:nvCxnSpPr>
        <p:spPr>
          <a:xfrm>
            <a:off x="7221141" y="4085126"/>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7" name="Connector 87"/>
          <p:cNvCxnSpPr/>
          <p:nvPr/>
        </p:nvCxnSpPr>
        <p:spPr>
          <a:xfrm>
            <a:off x="7810500" y="4620907"/>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8" name="Connector 88"/>
          <p:cNvCxnSpPr/>
          <p:nvPr/>
        </p:nvCxnSpPr>
        <p:spPr>
          <a:xfrm>
            <a:off x="8399859" y="5156688"/>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9" name="Connector 89"/>
          <p:cNvCxnSpPr/>
          <p:nvPr/>
        </p:nvCxnSpPr>
        <p:spPr>
          <a:xfrm>
            <a:off x="9042797" y="5691353"/>
            <a:ext cx="1339453" cy="1117"/>
          </a:xfrm>
          <a:prstGeom prst="straightConnector1">
            <a:avLst/>
          </a:prstGeom>
          <a:noFill/>
          <a:ln w="12700" cap="flat">
            <a:solidFill>
              <a:srgbClr val="000000">
                <a:alpha val="100000"/>
              </a:srgbClr>
            </a:solidFill>
            <a:prstDash val="solid"/>
            <a:headEnd type="none" w="med" len="med"/>
            <a:tailEnd type="none" w="med" len="med"/>
          </a:ln>
        </p:spPr>
      </p:cxnSp>
      <p:grpSp>
        <p:nvGrpSpPr>
          <p:cNvPr id="90" name="Group 90"/>
          <p:cNvGrpSpPr/>
          <p:nvPr/>
        </p:nvGrpSpPr>
        <p:grpSpPr>
          <a:xfrm>
            <a:off x="2660000" y="3026508"/>
            <a:ext cx="1668180" cy="808446"/>
            <a:chOff x="2660000" y="3026508"/>
            <a:chExt cx="1668180" cy="808446"/>
          </a:xfrm>
        </p:grpSpPr>
        <p:sp>
          <p:nvSpPr>
            <p:cNvPr id="91" name="AutoShape 91"/>
            <p:cNvSpPr/>
            <p:nvPr/>
          </p:nvSpPr>
          <p:spPr>
            <a:xfrm>
              <a:off x="3890961" y="3245595"/>
              <a:ext cx="437219" cy="589359"/>
            </a:xfrm>
            <a:prstGeom prst="rightBrace">
              <a:avLst>
                <a:gd name="adj1" fmla="val 8333"/>
                <a:gd name="adj2" fmla="val 50000"/>
              </a:avLst>
            </a:prstGeom>
            <a:noFill/>
            <a:ln w="12700" cap="flat">
              <a:solidFill>
                <a:srgbClr val="000000">
                  <a:alpha val="100000"/>
                </a:srgbClr>
              </a:solidFill>
              <a:prstDash val="solid"/>
            </a:ln>
            <a:effectLst>
              <a:outerShdw blurRad="63500" dist="12700" dir="5400000" sx="102000" sy="102000" rotWithShape="0">
                <a:srgbClr val="000000">
                  <a:alpha val="32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92" name="AutoShape 92"/>
            <p:cNvSpPr/>
            <p:nvPr/>
          </p:nvSpPr>
          <p:spPr>
            <a:xfrm>
              <a:off x="2660000" y="3026508"/>
              <a:ext cx="1230630" cy="73723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SIMD Width</a:t>
              </a:r>
              <a:endParaRPr lang="en-US" sz="1100"/>
            </a:p>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(16 in AMD)</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(8 in NVIDIA)</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3" name="AutoShape 93"/>
          <p:cNvSpPr/>
          <p:nvPr/>
        </p:nvSpPr>
        <p:spPr>
          <a:xfrm>
            <a:off x="1100455" y="4086225"/>
            <a:ext cx="1728000" cy="132207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AMD: Wavefront</a:t>
            </a:r>
            <a:endParaRPr lang="en-US" sz="1100"/>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(64 work-items)</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NVIDIA: Warp</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(32 threads)</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SIMD, SPMD, and SIMT (1/3)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200" b="0" i="0" u="none" strike="noStrike" spc="0">
                <a:solidFill>
                  <a:srgbClr val="A5A5A5">
                    <a:alpha val="100000"/>
                  </a:srgbClr>
                </a:solidFill>
                <a:latin typeface="Garamond" panose="02020404030301010803"/>
              </a:defRPr>
            </a:lvl1pPr>
          </a:lstStyle>
          <a:p>
            <a:pPr indent="0" algn="l">
              <a:lnSpc>
                <a:spcPct val="100000"/>
              </a:lnSpc>
            </a:pPr>
            <a:r>
              <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https://www.intel.com/content/www/us/en/developer/articles/technical/accelerating-compute-intensive-workloads-with-intel-avx-512-using-microsoft-visual-studio.html</a:t>
            </a:r>
            <a:endPar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SIMD is an architecture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 </a:t>
            </a:r>
            <a:r>
              <a:rPr lang="en-US" sz="2000" b="0" i="0" u="none" strike="noStrike">
                <a:solidFill>
                  <a:srgbClr val="548235"/>
                </a:solidFill>
                <a:latin typeface="Calibri" panose="020F0502020204030204"/>
                <a:ea typeface="Calibri" panose="020F0502020204030204"/>
                <a:cs typeface="Calibri" panose="020F0502020204030204"/>
                <a:sym typeface="Calibri" panose="020F0502020204030204"/>
              </a:rPr>
              <a:t>single sequential instruction stream</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of SIMD instructions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For example, a matrix-vector multiplcation using AVX-512:</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1179830" y="2739390"/>
          <a:ext cx="6480000" cy="381000"/>
        </p:xfrm>
        <a:graphic>
          <a:graphicData uri="http://schemas.openxmlformats.org/drawingml/2006/table">
            <a:tbl>
              <a:tblPr>
                <a:effectLst/>
              </a:tblPr>
              <a:tblGrid>
                <a:gridCol w="6480000"/>
              </a:tblGrid>
              <a:tr h="381000">
                <a:tc>
                  <a:txBody>
                    <a:bodyPr/>
                    <a:lstStyle/>
                    <a:p>
                      <a:pPr indent="0" algn="l">
                        <a:lnSpc>
                          <a:spcPct val="100000"/>
                        </a:lnSpc>
                        <a:defRPr/>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static float *outx16;</a:t>
                      </a:r>
                      <a:endParaRPr lang="en-US" sz="1100"/>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static float *avx512Multiply() {</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for (uint64_t i = 0; i &lt; row; i++) {</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__m512 sumx16 = _mm512_set1_ps(0.0);</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for (uint64_t j = 0; j &lt; col; j += 16) {</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__m512 a = _mm512_loadu_ps(&amp;(t1[i*col + j]));</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__m512 b = _mm512_loadu_ps(&amp;(t2[j]));</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sumx16 = _mm512_fmadd_ps(a, b, sumx16);</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outx16[i] = _mm512_reduce_add_ps(sumx16);</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return outx16;</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SIMD, SPMD, and SIMT (2/3)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SPMD is a programming paradigm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“programmers normally write a single program that runs on all processors of an MIMD computer, relying on conditional statements when different processors should execute different sections of code.”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A6A6A6"/>
              </a:buClr>
              <a:buChar char="•"/>
            </a:pPr>
            <a:r>
              <a:rPr lang="en-US" sz="2000" b="0" i="0" u="none" strike="noStrike">
                <a:solidFill>
                  <a:srgbClr val="A6A6A6"/>
                </a:solidFill>
                <a:latin typeface="Calibri" panose="020F0502020204030204"/>
                <a:ea typeface="Calibri" panose="020F0502020204030204"/>
                <a:cs typeface="Calibri" panose="020F0502020204030204"/>
                <a:sym typeface="Calibri" panose="020F0502020204030204"/>
              </a:rPr>
              <a:t>see Section 6.3 of Computer Organization and Design, Fifth Edition: The Hardware/Software interface by David A. Patterson, John L. Hennessy</a:t>
            </a:r>
            <a:endParaRPr lang="en-US" sz="2000" b="0" i="0" u="none" strike="noStrike">
              <a:solidFill>
                <a:srgbClr val="A6A6A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SIMD, SPMD, and SIMT (3/3)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200" b="0" i="0" u="none" strike="noStrike" spc="0">
                <a:solidFill>
                  <a:srgbClr val="A5A5A5">
                    <a:alpha val="100000"/>
                  </a:srgbClr>
                </a:solidFill>
                <a:latin typeface="Garamond" panose="02020404030301010803"/>
              </a:defRPr>
            </a:lvl1pPr>
          </a:lstStyle>
          <a:p>
            <a:pPr indent="0" algn="l">
              <a:lnSpc>
                <a:spcPct val="100000"/>
              </a:lnSpc>
            </a:pPr>
            <a:r>
              <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rPr>
              <a:t>adapted from UW CSEP 590, Dr. Hari Sadasivan</a:t>
            </a:r>
            <a:endPar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SIMT is both a programming model and an execution model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Multiple instruction streams of scalar instructions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Can treat each thread separately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i.e., can execute each thread  independently (on any type of scalar pipeline)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MIMD processing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Can group threads into warps flexibly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i.e., can group threads  that are supposed to truly execute the same instruction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dynamically obtain and maximize benefits of SIMD processing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For NVIDIA GPUs, </a:t>
            </a:r>
            <a:r>
              <a:rPr lang="en-US" sz="1600" b="1" i="0" u="none" strike="noStrike">
                <a:solidFill>
                  <a:srgbClr val="548235"/>
                </a:solidFill>
                <a:latin typeface="Calibri" panose="020F0502020204030204"/>
                <a:ea typeface="Calibri" panose="020F0502020204030204"/>
                <a:cs typeface="Calibri" panose="020F0502020204030204"/>
                <a:sym typeface="Calibri" panose="020F0502020204030204"/>
              </a:rPr>
              <a:t>warp</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size = 32; For AMD GPUs, </a:t>
            </a:r>
            <a:r>
              <a:rPr lang="en-US" sz="1600" b="1" i="0" u="none" strike="noStrike">
                <a:solidFill>
                  <a:srgbClr val="548235"/>
                </a:solidFill>
                <a:latin typeface="Calibri" panose="020F0502020204030204"/>
                <a:ea typeface="Calibri" panose="020F0502020204030204"/>
                <a:cs typeface="Calibri" panose="020F0502020204030204"/>
                <a:sym typeface="Calibri" panose="020F0502020204030204"/>
              </a:rPr>
              <a:t>wavefront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size = 64</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SIMT: How to Express the Work of a Thread?</a:t>
            </a:r>
            <a:b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(the </a:t>
            </a:r>
            <a:r>
              <a:rPr lang="en-US" sz="2000" b="1" i="0" u="none" strike="noStrike">
                <a:solidFill>
                  <a:srgbClr val="548235"/>
                </a:solidFill>
                <a:latin typeface="Calibri" panose="020F0502020204030204"/>
                <a:ea typeface="Calibri" panose="020F0502020204030204"/>
                <a:cs typeface="Calibri" panose="020F0502020204030204"/>
                <a:sym typeface="Calibri" panose="020F0502020204030204"/>
              </a:rPr>
              <a:t>Single Instruction</a:t>
            </a: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 Stream in </a:t>
            </a:r>
            <a:r>
              <a:rPr lang="en-US" sz="2000" b="1" i="0" u="none" strike="noStrike">
                <a:solidFill>
                  <a:srgbClr val="548235"/>
                </a:solidFill>
                <a:latin typeface="Calibri" panose="020F0502020204030204"/>
                <a:ea typeface="Calibri" panose="020F0502020204030204"/>
                <a:cs typeface="Calibri" panose="020F0502020204030204"/>
                <a:sym typeface="Calibri" panose="020F0502020204030204"/>
              </a:rPr>
              <a:t>SI</a:t>
            </a: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MT)</a:t>
            </a:r>
            <a:endPar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indent="0" algn="l">
              <a:lnSpc>
                <a:spcPct val="100000"/>
              </a:lnSpc>
              <a:spcBef>
                <a:spcPts val="1500"/>
              </a:spcBef>
            </a:pPr>
          </a:p>
          <a:p>
            <a:pPr indent="0" algn="l">
              <a:lnSpc>
                <a:spcPct val="100000"/>
              </a:lnSpc>
              <a:spcBef>
                <a:spcPts val="1500"/>
              </a:spcBef>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A simple embarrassingly parallel loop:</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for (int i= 0; i&lt;N; i++)</a:t>
            </a:r>
            <a:endPar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  h_a[i] *= 2.0;</a:t>
            </a:r>
            <a:endPar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endPar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Can be translated into a GPU kernel:</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400" b="1" i="0" u="none" strike="noStrike">
                <a:solidFill>
                  <a:srgbClr val="C00000"/>
                </a:solidFill>
                <a:latin typeface="Courier New" panose="02070309020205020404"/>
                <a:ea typeface="Courier New" panose="02070309020205020404"/>
                <a:cs typeface="Courier New" panose="02070309020205020404"/>
                <a:sym typeface="Courier New" panose="02070309020205020404"/>
              </a:rPr>
              <a:t>__global__</a:t>
            </a:r>
            <a:r>
              <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 void myKernel(int N, double *d_a) {</a:t>
            </a:r>
            <a:endPar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  int i = threadldx.x + blockldx.x * blockDim.x; </a:t>
            </a:r>
            <a:endPar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  if (i&lt;N) d_a[i] *= 2.0;</a:t>
            </a:r>
            <a:endPar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a:t>
            </a:r>
            <a:endPar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p:txBody>
      </p:sp>
      <p:sp>
        <p:nvSpPr>
          <p:cNvPr id="5" name="AutoShape 5"/>
          <p:cNvSpPr>
            <a:spLocks noGrp="1"/>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adapted from UW CSEP 590, Dr. Hari Sadasivan</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rmAutofit/>
          </a:bodyPr>
          <a:lstStyle>
            <a:lvl1pPr algn="l">
              <a:lnSpc>
                <a:spcPct val="100000"/>
              </a:lnSpc>
              <a:defRPr sz="1900" b="0" i="0" u="none" strike="noStrike" spc="0">
                <a:solidFill>
                  <a:srgbClr val="404040">
                    <a:alpha val="100000"/>
                  </a:srgbClr>
                </a:solidFill>
                <a:latin typeface="Calibri" panose="020F0502020204030204"/>
              </a:defRPr>
            </a:lvl1pPr>
          </a:lstStyle>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A device function that will be  launched from the host program is called a kernel &amp; is declared with the </a:t>
            </a:r>
            <a:r>
              <a:rPr lang="en-US" sz="1900" b="0" i="0" u="none" strike="noStrike">
                <a:solidFill>
                  <a:srgbClr val="C00000"/>
                </a:solidFill>
                <a:latin typeface="Calibri" panose="020F0502020204030204"/>
                <a:ea typeface="Calibri" panose="020F0502020204030204"/>
                <a:cs typeface="Calibri" panose="020F0502020204030204"/>
                <a:sym typeface="Calibri" panose="020F0502020204030204"/>
              </a:rPr>
              <a:t>__global__</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attribute</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Kernels should be declared void</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All pointers passed to kernels  must point to memory on the device</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All threads execute the kernel's  body “simultaneously”</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Each thread uses its unique thread and block IDs to compute a global ID</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There could be more than N threads in the grid</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SIMT: How to Express the Thread Structure?</a:t>
            </a:r>
            <a:b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(The Grid: </a:t>
            </a:r>
            <a:r>
              <a:rPr lang="en-US" sz="2000" b="1" i="0" u="none" strike="noStrike">
                <a:solidFill>
                  <a:srgbClr val="548235"/>
                </a:solidFill>
                <a:latin typeface="Calibri" panose="020F0502020204030204"/>
                <a:ea typeface="Calibri" panose="020F0502020204030204"/>
                <a:cs typeface="Calibri" panose="020F0502020204030204"/>
                <a:sym typeface="Calibri" panose="020F0502020204030204"/>
              </a:rPr>
              <a:t>Multi-threading</a:t>
            </a: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 in SI</a:t>
            </a:r>
            <a:r>
              <a:rPr lang="en-US" sz="2000" b="1" i="0" u="none" strike="noStrike">
                <a:solidFill>
                  <a:srgbClr val="548235"/>
                </a:solidFill>
                <a:latin typeface="Calibri" panose="020F0502020204030204"/>
                <a:ea typeface="Calibri" panose="020F0502020204030204"/>
                <a:cs typeface="Calibri" panose="020F0502020204030204"/>
                <a:sym typeface="Calibri" panose="020F0502020204030204"/>
              </a:rPr>
              <a:t>MT</a:t>
            </a: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500" b="0" i="0" u="none" strike="noStrike" spc="0">
                <a:solidFill>
                  <a:srgbClr val="404040">
                    <a:alpha val="100000"/>
                  </a:srgbClr>
                </a:solidFill>
                <a:latin typeface="Calibri" panose="020F0502020204030204"/>
              </a:defRPr>
            </a:lvl1pPr>
          </a:lstStyle>
          <a:p>
            <a:pPr indent="0" algn="l">
              <a:lnSpc>
                <a:spcPct val="100000"/>
              </a:lnSpc>
              <a:spcBef>
                <a:spcPts val="1500"/>
              </a:spcBef>
            </a:pPr>
            <a:r>
              <a:rPr lang="en-US" sz="2500" b="0" i="0" u="none" strike="noStrike">
                <a:solidFill>
                  <a:srgbClr val="404040"/>
                </a:solidFill>
                <a:latin typeface="Calibri" panose="020F0502020204030204"/>
                <a:ea typeface="Calibri" panose="020F0502020204030204"/>
                <a:cs typeface="Calibri" panose="020F0502020204030204"/>
                <a:sym typeface="Calibri" panose="020F0502020204030204"/>
              </a:rPr>
              <a:t>Kernels are launched from the host:</a:t>
            </a:r>
            <a:endParaRPr lang="en-US" sz="2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dim3 threads(256,1,1);           // 3D dimensions of a block of threads</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dim3 blocks((N+256-1)/256,1,1);  // 3D dimensions the grid of blocks</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myKernel&lt;&lt;&lt;blocks,threads,0,0&gt;&gt;&gt;(N,a);</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Optimizations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548235">
                    <a:alpha val="100000"/>
                  </a:srgbClr>
                </a:solidFill>
                <a:latin typeface="Calibri" panose="020F0502020204030204"/>
              </a:defRPr>
            </a:lvl1pPr>
          </a:lstStyle>
          <a:p>
            <a:pPr marL="304800" indent="-304800" algn="l">
              <a:lnSpc>
                <a:spcPct val="100000"/>
              </a:lnSpc>
              <a:spcBef>
                <a:spcPts val="1500"/>
              </a:spcBef>
              <a:buClr>
                <a:srgbClr val="548235"/>
              </a:buClr>
              <a:buChar char="•"/>
            </a:pPr>
            <a:r>
              <a:rPr lang="en-US" sz="2400" b="1" i="0" u="none" strike="noStrike">
                <a:solidFill>
                  <a:srgbClr val="548235"/>
                </a:solidFill>
                <a:latin typeface="Calibri" panose="020F0502020204030204"/>
                <a:ea typeface="Calibri" panose="020F0502020204030204"/>
                <a:cs typeface="Calibri" panose="020F0502020204030204"/>
                <a:sym typeface="Calibri" panose="020F0502020204030204"/>
              </a:rPr>
              <a:t>Resource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-aware optimizations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resouces: SM, registers, shared memory, memory bandwidth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(a incomplete list)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choose an “optimal” block size, to maximize active warps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improve the utilization of memory bandwidth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after partitioning, map the (task, data) to a suitable thread id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avoid control divergence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coalese global memory access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avoid shared memory bank conflicts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analysis tools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81570" y="2277110"/>
            <a:ext cx="4320000" cy="2302851"/>
          </a:xfrm>
          <a:prstGeom prst="rect">
            <a:avLst/>
          </a:prstGeom>
          <a:ln w="12700">
            <a:noFill/>
            <a:prstDash val="solid"/>
          </a:ln>
        </p:spPr>
      </p:pic>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Coalescing Memory Accesses: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Array X is a pointer to an array of integers (4-bytes each) located at address 0x00001232</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 thread wants to access the data at X[0]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int tmp = X[0];</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nvSpPr>
        <p:spPr>
          <a:xfrm>
            <a:off x="2948200" y="2844278"/>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0x00001232</a:t>
            </a:r>
            <a:endParaRPr lang="en-US" sz="1100"/>
          </a:p>
        </p:txBody>
      </p:sp>
      <p:sp>
        <p:nvSpPr>
          <p:cNvPr id="6" name="AutoShape 6"/>
          <p:cNvSpPr/>
          <p:nvPr/>
        </p:nvSpPr>
        <p:spPr>
          <a:xfrm>
            <a:off x="2618000" y="2806178"/>
            <a:ext cx="289560"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ourier"/>
                <a:ea typeface="Courier"/>
                <a:cs typeface="Courier"/>
                <a:sym typeface="Courier"/>
              </a:rPr>
              <a:t>X</a:t>
            </a:r>
            <a:endParaRPr lang="en-US" sz="1100"/>
          </a:p>
        </p:txBody>
      </p:sp>
      <p:cxnSp>
        <p:nvCxnSpPr>
          <p:cNvPr id="7" name="Connector 7"/>
          <p:cNvCxnSpPr/>
          <p:nvPr/>
        </p:nvCxnSpPr>
        <p:spPr>
          <a:xfrm flipV="1">
            <a:off x="4573800" y="2313104"/>
            <a:ext cx="2243086" cy="683574"/>
          </a:xfrm>
          <a:prstGeom prst="straightConnector1">
            <a:avLst/>
          </a:prstGeom>
          <a:noFill/>
          <a:ln w="12700" cap="flat">
            <a:solidFill>
              <a:srgbClr val="4472C4">
                <a:alpha val="100000"/>
              </a:srgbClr>
            </a:solidFill>
            <a:prstDash val="solid"/>
            <a:headEnd type="none" w="med" len="med"/>
            <a:tailEnd type="arrow" w="med" len="med"/>
          </a:ln>
        </p:spPr>
      </p:cxnSp>
      <p:sp>
        <p:nvSpPr>
          <p:cNvPr id="8" name="AutoShape 8"/>
          <p:cNvSpPr/>
          <p:nvPr/>
        </p:nvSpPr>
        <p:spPr>
          <a:xfrm>
            <a:off x="6816886" y="2175822"/>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0</a:t>
            </a:r>
            <a:endParaRPr lang="en-US" sz="1100"/>
          </a:p>
        </p:txBody>
      </p:sp>
      <p:sp>
        <p:nvSpPr>
          <p:cNvPr id="9" name="AutoShape 9"/>
          <p:cNvSpPr/>
          <p:nvPr/>
        </p:nvSpPr>
        <p:spPr>
          <a:xfrm>
            <a:off x="6816886" y="2486260"/>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10" name="AutoShape 10"/>
          <p:cNvSpPr/>
          <p:nvPr/>
        </p:nvSpPr>
        <p:spPr>
          <a:xfrm>
            <a:off x="6816886" y="2790688"/>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11" name="AutoShape 11"/>
          <p:cNvSpPr/>
          <p:nvPr/>
        </p:nvSpPr>
        <p:spPr>
          <a:xfrm>
            <a:off x="6816886" y="3100754"/>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12" name="AutoShape 12"/>
          <p:cNvSpPr/>
          <p:nvPr/>
        </p:nvSpPr>
        <p:spPr>
          <a:xfrm>
            <a:off x="6816886" y="3405554"/>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4</a:t>
            </a:r>
            <a:endParaRPr lang="en-US" sz="1100"/>
          </a:p>
        </p:txBody>
      </p:sp>
      <p:sp>
        <p:nvSpPr>
          <p:cNvPr id="13" name="AutoShape 13"/>
          <p:cNvSpPr/>
          <p:nvPr/>
        </p:nvSpPr>
        <p:spPr>
          <a:xfrm>
            <a:off x="6816886" y="3715992"/>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5</a:t>
            </a:r>
            <a:endParaRPr lang="en-US" sz="1100"/>
          </a:p>
        </p:txBody>
      </p:sp>
      <p:sp>
        <p:nvSpPr>
          <p:cNvPr id="14" name="AutoShape 14"/>
          <p:cNvSpPr/>
          <p:nvPr/>
        </p:nvSpPr>
        <p:spPr>
          <a:xfrm>
            <a:off x="6816886" y="4020420"/>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6</a:t>
            </a:r>
            <a:endParaRPr lang="en-US" sz="1100"/>
          </a:p>
        </p:txBody>
      </p:sp>
      <p:sp>
        <p:nvSpPr>
          <p:cNvPr id="15" name="AutoShape 15"/>
          <p:cNvSpPr/>
          <p:nvPr/>
        </p:nvSpPr>
        <p:spPr>
          <a:xfrm>
            <a:off x="6816886" y="4330486"/>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7</a:t>
            </a:r>
            <a:endParaRPr lang="en-US" sz="1100"/>
          </a:p>
        </p:txBody>
      </p:sp>
      <p:sp>
        <p:nvSpPr>
          <p:cNvPr id="16" name="AutoShape 16"/>
          <p:cNvSpPr/>
          <p:nvPr/>
        </p:nvSpPr>
        <p:spPr>
          <a:xfrm>
            <a:off x="8442486" y="2128438"/>
            <a:ext cx="10915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0x00001232</a:t>
            </a:r>
            <a:endParaRPr lang="en-US" sz="1100"/>
          </a:p>
        </p:txBody>
      </p:sp>
      <p:sp>
        <p:nvSpPr>
          <p:cNvPr id="17" name="AutoShape 17"/>
          <p:cNvSpPr/>
          <p:nvPr/>
        </p:nvSpPr>
        <p:spPr>
          <a:xfrm>
            <a:off x="8442486" y="2440906"/>
            <a:ext cx="10915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0x00001236</a:t>
            </a:r>
            <a:endParaRPr lang="en-US" sz="1100"/>
          </a:p>
        </p:txBody>
      </p:sp>
      <p:sp>
        <p:nvSpPr>
          <p:cNvPr id="18" name="AutoShape 18"/>
          <p:cNvSpPr/>
          <p:nvPr/>
        </p:nvSpPr>
        <p:spPr>
          <a:xfrm>
            <a:off x="8442486" y="4294984"/>
            <a:ext cx="10915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0x00001248</a:t>
            </a:r>
            <a:endParaRPr lang="en-US" sz="1100"/>
          </a:p>
        </p:txBody>
      </p:sp>
      <p:sp>
        <p:nvSpPr>
          <p:cNvPr id="19" name="AutoShape 19"/>
          <p:cNvSpPr/>
          <p:nvPr/>
        </p:nvSpPr>
        <p:spPr>
          <a:xfrm>
            <a:off x="9022654" y="3110978"/>
            <a:ext cx="232410" cy="73723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100"/>
          </a:p>
          <a:p>
            <a:pPr indent="0" algn="l">
              <a:lnSpc>
                <a:spcPct val="100000"/>
              </a:lnSpc>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400" b="1"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400" b="1"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0" name="AutoShape 20"/>
          <p:cNvSpPr/>
          <p:nvPr/>
        </p:nvSpPr>
        <p:spPr>
          <a:xfrm>
            <a:off x="9039973" y="4606538"/>
            <a:ext cx="232410" cy="52197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100"/>
          </a:p>
          <a:p>
            <a:pPr indent="0" algn="l">
              <a:lnSpc>
                <a:spcPct val="100000"/>
              </a:lnSpc>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400" b="1"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1" name="AutoShape 21"/>
          <p:cNvSpPr/>
          <p:nvPr/>
        </p:nvSpPr>
        <p:spPr>
          <a:xfrm>
            <a:off x="7508441" y="4607758"/>
            <a:ext cx="232410" cy="52197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100"/>
          </a:p>
          <a:p>
            <a:pPr indent="0" algn="l">
              <a:lnSpc>
                <a:spcPct val="100000"/>
              </a:lnSpc>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400" b="1"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Coalescing Memory Accesses: Bus Addressing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Assume that the GDDR memory bus is 32-bytes (256-bits) wide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byte-addressable bus must make accesses that are aligned to the bus width, so the bottom 5 bits are masked off</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Any access in the range 0x00001220 to 0x0000123F will produce the address 0x00001220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5" name="Table 5"/>
          <p:cNvGraphicFramePr>
            <a:graphicFrameLocks noGrp="1"/>
          </p:cNvGraphicFramePr>
          <p:nvPr/>
        </p:nvGraphicFramePr>
        <p:xfrm>
          <a:off x="2730474" y="2872740"/>
          <a:ext cx="6096000" cy="1112520"/>
        </p:xfrm>
        <a:graphic>
          <a:graphicData uri="http://schemas.openxmlformats.org/drawingml/2006/table">
            <a:tbl>
              <a:tblPr>
                <a:effectLst/>
              </a:tblPr>
              <a:tblGrid>
                <a:gridCol w="3048000"/>
                <a:gridCol w="3048000"/>
              </a:tblGrid>
              <a:tr h="370840">
                <a:tc>
                  <a:txBody>
                    <a:bodyPr/>
                    <a:lstStyle/>
                    <a:p>
                      <a:pPr indent="0" algn="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Desired address:</a:t>
                      </a:r>
                      <a:endParaRPr lang="en-US" sz="1100"/>
                    </a:p>
                  </a:txBody>
                  <a:tcPr>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prstDash val="solid"/>
                      <a:round/>
                      <a:headEnd type="none" w="med" len="med"/>
                      <a:tailEnd type="none" w="med" len="med"/>
                    </a:lnT>
                    <a:lnB w="38100" cap="flat" cmpd="sng" algn="ctr">
                      <a:prstDash val="solid"/>
                      <a:round/>
                      <a:headEnd type="none" w="med" len="med"/>
                      <a:tailEnd type="none" w="med" len="med"/>
                    </a:lnB>
                    <a:noFill/>
                  </a:tcPr>
                </a:tc>
                <a:tc>
                  <a:txBody>
                    <a:bodyPr/>
                    <a:lstStyle/>
                    <a:p>
                      <a:pPr indent="0" algn="l">
                        <a:lnSpc>
                          <a:spcPct val="100000"/>
                        </a:lnSpc>
                        <a:defRPr/>
                      </a:pPr>
                      <a:r>
                        <a:rPr lang="en-US" sz="1600" b="0" i="0" u="none" strike="noStrike">
                          <a:solidFill>
                            <a:srgbClr val="000000"/>
                          </a:solidFill>
                          <a:latin typeface="Courier New" panose="02070309020205020404"/>
                          <a:ea typeface="Courier New" panose="02070309020205020404"/>
                          <a:cs typeface="Courier New" panose="02070309020205020404"/>
                          <a:sym typeface="Courier New" panose="02070309020205020404"/>
                        </a:rPr>
                        <a:t>0x00001232</a:t>
                      </a:r>
                      <a:endParaRPr lang="en-US" sz="1100"/>
                    </a:p>
                  </a:txBody>
                  <a:tcPr>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prstDash val="solid"/>
                      <a:round/>
                      <a:headEnd type="none" w="med" len="med"/>
                      <a:tailEnd type="none" w="med" len="med"/>
                    </a:lnT>
                    <a:lnB w="38100" cap="flat" cmpd="sng" algn="ctr">
                      <a:prstDash val="solid"/>
                      <a:round/>
                      <a:headEnd type="none" w="med" len="med"/>
                      <a:tailEnd type="none" w="med" len="med"/>
                    </a:lnB>
                    <a:noFill/>
                  </a:tcPr>
                </a:tc>
              </a:tr>
              <a:tr h="370840">
                <a:tc>
                  <a:txBody>
                    <a:bodyPr/>
                    <a:lstStyle/>
                    <a:p>
                      <a:pPr indent="0" algn="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Bus mask:</a:t>
                      </a:r>
                      <a:endParaRPr lang="en-US" sz="1100"/>
                    </a:p>
                  </a:txBody>
                  <a:tcPr>
                    <a:lnL w="12700" cap="flat" cmpd="sng" algn="ctr">
                      <a:prstDash val="solid"/>
                      <a:round/>
                      <a:headEnd type="none" w="med" len="med"/>
                      <a:tailEnd type="none" w="med" len="med"/>
                    </a:lnL>
                    <a:lnR w="12700" cap="flat" cmpd="sng" algn="ctr">
                      <a:prstDash val="solid"/>
                      <a:round/>
                      <a:headEnd type="none" w="med" len="med"/>
                      <a:tailEnd type="none" w="med" len="med"/>
                    </a:lnR>
                    <a:lnT w="38100" cap="flat" cmpd="sng" algn="ctr">
                      <a:prstDash val="solid"/>
                      <a:round/>
                      <a:headEnd type="none" w="med" len="med"/>
                      <a:tailEnd type="none" w="med" len="med"/>
                    </a:lnT>
                    <a:lnB w="12700" cap="flat" cmpd="sng" algn="ctr">
                      <a:prstDash val="solid"/>
                      <a:round/>
                      <a:headEnd type="none" w="med" len="med"/>
                      <a:tailEnd type="none" w="med" len="med"/>
                    </a:lnB>
                    <a:noFill/>
                  </a:tcPr>
                </a:tc>
                <a:tc>
                  <a:txBody>
                    <a:bodyPr/>
                    <a:lstStyle/>
                    <a:p>
                      <a:pPr indent="0" algn="l">
                        <a:lnSpc>
                          <a:spcPct val="100000"/>
                        </a:lnSpc>
                        <a:defRPr/>
                      </a:pPr>
                      <a:r>
                        <a:rPr lang="en-US" sz="1600" b="0" i="0" u="none" strike="noStrike">
                          <a:solidFill>
                            <a:srgbClr val="000000"/>
                          </a:solidFill>
                          <a:latin typeface="Courier New" panose="02070309020205020404"/>
                          <a:ea typeface="Courier New" panose="02070309020205020404"/>
                          <a:cs typeface="Courier New" panose="02070309020205020404"/>
                          <a:sym typeface="Courier New" panose="02070309020205020404"/>
                        </a:rPr>
                        <a:t>0xFFFFFFE0</a:t>
                      </a:r>
                      <a:endParaRPr lang="en-US" sz="1100"/>
                    </a:p>
                  </a:txBody>
                  <a:tcPr>
                    <a:lnL w="12700" cap="flat" cmpd="sng" algn="ctr">
                      <a:prstDash val="solid"/>
                      <a:round/>
                      <a:headEnd type="none" w="med" len="med"/>
                      <a:tailEnd type="none" w="med" len="med"/>
                    </a:lnL>
                    <a:lnR w="12700" cap="flat" cmpd="sng" algn="ctr">
                      <a:prstDash val="solid"/>
                      <a:round/>
                      <a:headEnd type="none" w="med" len="med"/>
                      <a:tailEnd type="none" w="med" len="med"/>
                    </a:lnR>
                    <a:lnT w="38100" cap="flat" cmpd="sng" algn="ctr">
                      <a:prstDash val="solid"/>
                      <a:round/>
                      <a:headEnd type="none" w="med" len="med"/>
                      <a:tailEnd type="none" w="med" len="med"/>
                    </a:lnT>
                    <a:lnB w="12700" cap="flat" cmpd="sng" algn="ctr">
                      <a:prstDash val="solid"/>
                      <a:round/>
                      <a:headEnd type="none" w="med" len="med"/>
                      <a:tailEnd type="none" w="med" len="med"/>
                    </a:lnB>
                    <a:noFill/>
                  </a:tcPr>
                </a:tc>
              </a:tr>
              <a:tr h="370840">
                <a:tc>
                  <a:txBody>
                    <a:bodyPr/>
                    <a:lstStyle/>
                    <a:p>
                      <a:pPr indent="0" algn="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Bus access:</a:t>
                      </a:r>
                      <a:endParaRPr lang="en-US" sz="1100"/>
                    </a:p>
                  </a:txBody>
                  <a:tcPr>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prstDash val="solid"/>
                      <a:round/>
                      <a:headEnd type="none" w="med" len="med"/>
                      <a:tailEnd type="none" w="med" len="med"/>
                    </a:lnT>
                    <a:lnB w="12700" cap="flat" cmpd="sng" algn="ctr">
                      <a:prstDash val="solid"/>
                      <a:round/>
                      <a:headEnd type="none" w="med" len="med"/>
                      <a:tailEnd type="none" w="med" len="med"/>
                    </a:lnB>
                    <a:noFill/>
                  </a:tcPr>
                </a:tc>
                <a:tc>
                  <a:txBody>
                    <a:bodyPr/>
                    <a:lstStyle/>
                    <a:p>
                      <a:pPr indent="0" algn="l">
                        <a:lnSpc>
                          <a:spcPct val="100000"/>
                        </a:lnSpc>
                        <a:defRPr/>
                      </a:pPr>
                      <a:r>
                        <a:rPr lang="en-US" sz="1600" b="0" i="0" u="none" strike="noStrike">
                          <a:solidFill>
                            <a:srgbClr val="000000"/>
                          </a:solidFill>
                          <a:latin typeface="Courier New" panose="02070309020205020404"/>
                          <a:ea typeface="Courier New" panose="02070309020205020404"/>
                          <a:cs typeface="Courier New" panose="02070309020205020404"/>
                          <a:sym typeface="Courier New" panose="02070309020205020404"/>
                        </a:rPr>
                        <a:t>0x00001220</a:t>
                      </a:r>
                      <a:endParaRPr lang="en-US" sz="1100"/>
                    </a:p>
                  </a:txBody>
                  <a:tcPr>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prstDash val="solid"/>
                      <a:round/>
                      <a:headEnd type="none" w="med" len="med"/>
                      <a:tailEnd type="none" w="med" len="med"/>
                    </a:lnT>
                    <a:lnB w="12700" cap="flat" cmpd="sng" algn="ctr">
                      <a:prstDash val="solid"/>
                      <a:round/>
                      <a:headEnd type="none" w="med" len="med"/>
                      <a:tailEnd type="none" w="med" len="med"/>
                    </a:lnB>
                    <a:noFill/>
                  </a:tcPr>
                </a:tc>
              </a:tr>
            </a:tbl>
          </a:graphicData>
        </a:graphic>
      </p:graphicFrame>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Coalescing Memory Accesses: Bus Addressing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All data in the range 0x00001220 to 0x0000123F is returned on the bus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 this case, 4 bytes are useful and 28 bytes are wasted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5" name="Group 5"/>
          <p:cNvGrpSpPr/>
          <p:nvPr/>
        </p:nvGrpSpPr>
        <p:grpSpPr>
          <a:xfrm>
            <a:off x="5576588" y="4940816"/>
            <a:ext cx="4519912" cy="304800"/>
            <a:chOff x="5576588" y="4940816"/>
            <a:chExt cx="4519912" cy="304800"/>
          </a:xfrm>
        </p:grpSpPr>
        <p:sp>
          <p:nvSpPr>
            <p:cNvPr id="6" name="AutoShape 6"/>
            <p:cNvSpPr/>
            <p:nvPr/>
          </p:nvSpPr>
          <p:spPr>
            <a:xfrm>
              <a:off x="5576588"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7" name="AutoShape 7"/>
            <p:cNvSpPr/>
            <p:nvPr/>
          </p:nvSpPr>
          <p:spPr>
            <a:xfrm>
              <a:off x="6151102"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8" name="AutoShape 8"/>
            <p:cNvSpPr/>
            <p:nvPr/>
          </p:nvSpPr>
          <p:spPr>
            <a:xfrm>
              <a:off x="6725616"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9" name="AutoShape 9"/>
            <p:cNvSpPr/>
            <p:nvPr/>
          </p:nvSpPr>
          <p:spPr>
            <a:xfrm>
              <a:off x="7287430"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0</a:t>
              </a:r>
              <a:endParaRPr lang="en-US" sz="1100"/>
            </a:p>
          </p:txBody>
        </p:sp>
        <p:sp>
          <p:nvSpPr>
            <p:cNvPr id="10" name="AutoShape 10"/>
            <p:cNvSpPr/>
            <p:nvPr/>
          </p:nvSpPr>
          <p:spPr>
            <a:xfrm>
              <a:off x="7849244"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11" name="AutoShape 11"/>
            <p:cNvSpPr/>
            <p:nvPr/>
          </p:nvSpPr>
          <p:spPr>
            <a:xfrm>
              <a:off x="8411058"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12" name="AutoShape 12"/>
            <p:cNvSpPr/>
            <p:nvPr/>
          </p:nvSpPr>
          <p:spPr>
            <a:xfrm>
              <a:off x="8972872"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13" name="AutoShape 13"/>
            <p:cNvSpPr/>
            <p:nvPr/>
          </p:nvSpPr>
          <p:spPr>
            <a:xfrm>
              <a:off x="9534686"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4</a:t>
              </a:r>
              <a:endParaRPr lang="en-US" sz="1100"/>
            </a:p>
          </p:txBody>
        </p:sp>
      </p:grpSp>
      <p:sp>
        <p:nvSpPr>
          <p:cNvPr id="14" name="AutoShape 14"/>
          <p:cNvSpPr/>
          <p:nvPr/>
        </p:nvSpPr>
        <p:spPr>
          <a:xfrm rot="-5400000">
            <a:off x="3433961" y="4338955"/>
            <a:ext cx="146566" cy="1705888"/>
          </a:xfrm>
          <a:prstGeom prst="leftBracket">
            <a:avLst>
              <a:gd name="adj" fmla="val 8333"/>
            </a:avLst>
          </a:prstGeom>
          <a:noFill/>
          <a:ln w="12700" cap="flat">
            <a:solidFill>
              <a:srgbClr val="4472C4">
                <a:alpha val="100000"/>
              </a:srgbClr>
            </a:solidFill>
            <a:prstDash val="solid"/>
          </a:ln>
          <a:effectLst>
            <a:outerShdw blurRad="63500" dist="12700" dir="5400000" sx="102000" sy="102000" rotWithShape="0">
              <a:srgbClr val="000000">
                <a:alpha val="32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2960602" y="4895850"/>
            <a:ext cx="10915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0x00001232</a:t>
            </a:r>
            <a:endParaRPr lang="en-US" sz="1100"/>
          </a:p>
        </p:txBody>
      </p:sp>
      <p:cxnSp>
        <p:nvCxnSpPr>
          <p:cNvPr id="16" name="Connector 16"/>
          <p:cNvCxnSpPr/>
          <p:nvPr/>
        </p:nvCxnSpPr>
        <p:spPr>
          <a:xfrm rot="-5400000">
            <a:off x="3505200" y="3638550"/>
            <a:ext cx="1244600" cy="1117600"/>
          </a:xfrm>
          <a:prstGeom prst="straightConnector1">
            <a:avLst/>
          </a:prstGeom>
          <a:noFill/>
          <a:ln w="12700" cap="flat">
            <a:solidFill>
              <a:srgbClr val="4472C4">
                <a:alpha val="100000"/>
              </a:srgbClr>
            </a:solidFill>
            <a:prstDash val="solid"/>
            <a:headEnd type="none" w="med" len="med"/>
            <a:tailEnd type="arrow" w="med" len="med"/>
          </a:ln>
        </p:spPr>
      </p:cxnSp>
      <p:cxnSp>
        <p:nvCxnSpPr>
          <p:cNvPr id="17" name="Connector 17"/>
          <p:cNvCxnSpPr/>
          <p:nvPr/>
        </p:nvCxnSpPr>
        <p:spPr>
          <a:xfrm>
            <a:off x="5317212" y="3575050"/>
            <a:ext cx="1395704" cy="1244600"/>
          </a:xfrm>
          <a:prstGeom prst="straightConnector1">
            <a:avLst/>
          </a:prstGeom>
          <a:noFill/>
          <a:ln w="12700" cap="flat">
            <a:solidFill>
              <a:srgbClr val="4472C4">
                <a:alpha val="100000"/>
              </a:srgbClr>
            </a:solidFill>
            <a:prstDash val="solid"/>
            <a:headEnd type="none" w="med" len="med"/>
            <a:tailEnd type="arrow" w="med" len="med"/>
          </a:ln>
        </p:spPr>
      </p:cxnSp>
      <p:sp>
        <p:nvSpPr>
          <p:cNvPr id="18" name="AutoShape 18"/>
          <p:cNvSpPr/>
          <p:nvPr/>
        </p:nvSpPr>
        <p:spPr>
          <a:xfrm>
            <a:off x="2233504" y="3758684"/>
            <a:ext cx="14344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Send an address</a:t>
            </a:r>
            <a:endParaRPr lang="en-US" sz="1100"/>
          </a:p>
        </p:txBody>
      </p:sp>
      <p:sp>
        <p:nvSpPr>
          <p:cNvPr id="19" name="AutoShape 19"/>
          <p:cNvSpPr/>
          <p:nvPr/>
        </p:nvSpPr>
        <p:spPr>
          <a:xfrm>
            <a:off x="6029379" y="3758684"/>
            <a:ext cx="1158240"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Receive data</a:t>
            </a:r>
            <a:endParaRPr lang="en-US" sz="1100"/>
          </a:p>
        </p:txBody>
      </p:sp>
      <p:sp>
        <p:nvSpPr>
          <p:cNvPr id="20" name="AutoShape 20"/>
          <p:cNvSpPr/>
          <p:nvPr/>
        </p:nvSpPr>
        <p:spPr>
          <a:xfrm>
            <a:off x="5368012" y="5253682"/>
            <a:ext cx="958850" cy="27559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0x00001220</a:t>
            </a:r>
            <a:endParaRPr lang="en-US" sz="1100"/>
          </a:p>
        </p:txBody>
      </p:sp>
      <p:sp>
        <p:nvSpPr>
          <p:cNvPr id="21" name="AutoShape 21"/>
          <p:cNvSpPr/>
          <p:nvPr/>
        </p:nvSpPr>
        <p:spPr>
          <a:xfrm>
            <a:off x="3969629" y="2787650"/>
            <a:ext cx="1961271" cy="762000"/>
          </a:xfrm>
          <a:prstGeom prst="rect">
            <a:avLst/>
          </a:prstGeom>
          <a:gradFill rotWithShape="1">
            <a:gsLst>
              <a:gs pos="0">
                <a:srgbClr val="ED7D31">
                  <a:alpha val="100000"/>
                </a:srgbClr>
              </a:gs>
              <a:gs pos="100000">
                <a:srgbClr val="BF4D00">
                  <a:alpha val="100000"/>
                </a:srgbClr>
              </a:gs>
            </a:gsLst>
            <a:lin ang="4140000"/>
          </a:gradFill>
          <a:ln w="12700" cap="flat">
            <a:solidFill>
              <a:srgbClr val="ED7D31">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Memory Controller</a:t>
            </a:r>
            <a:endParaRPr lang="en-US" sz="1100"/>
          </a:p>
        </p:txBody>
      </p:sp>
      <p:sp>
        <p:nvSpPr>
          <p:cNvPr id="22" name="AutoShape 22"/>
          <p:cNvSpPr/>
          <p:nvPr/>
        </p:nvSpPr>
        <p:spPr>
          <a:xfrm>
            <a:off x="8041218" y="3943350"/>
            <a:ext cx="143192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Desired element</a:t>
            </a:r>
            <a:endParaRPr lang="en-US" sz="1100"/>
          </a:p>
        </p:txBody>
      </p:sp>
      <p:sp>
        <p:nvSpPr>
          <p:cNvPr id="23" name="AutoShape 23"/>
          <p:cNvSpPr/>
          <p:nvPr/>
        </p:nvSpPr>
        <p:spPr>
          <a:xfrm>
            <a:off x="7295975" y="4840551"/>
            <a:ext cx="561814" cy="502082"/>
          </a:xfrm>
          <a:prstGeom prst="donut">
            <a:avLst>
              <a:gd name="adj" fmla="val 13588"/>
            </a:avLst>
          </a:prstGeom>
          <a:solidFill>
            <a:srgbClr val="FF0000">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24" name="Connector 24"/>
          <p:cNvCxnSpPr/>
          <p:nvPr/>
        </p:nvCxnSpPr>
        <p:spPr>
          <a:xfrm rot="10800000" flipV="1">
            <a:off x="7775514" y="4312681"/>
            <a:ext cx="635545" cy="601397"/>
          </a:xfrm>
          <a:prstGeom prst="straightConnector1">
            <a:avLst/>
          </a:prstGeom>
          <a:noFill/>
          <a:ln w="12700" cap="flat">
            <a:solidFill>
              <a:srgbClr val="4472C4">
                <a:alpha val="100000"/>
              </a:srgbClr>
            </a:solidFill>
            <a:prstDash val="solid"/>
            <a:headEnd type="none" w="med" len="med"/>
            <a:tailEnd type="arrow" w="med" len="med"/>
          </a:ln>
        </p:spPr>
      </p:cxnSp>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Coalescing Memory Accesses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To fully utilize the bus, GPUs combine the accesses of multiple threads into fewer requests when possible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Consider the following kernel code: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Assuming that array X is the same array from the example, the first 16 threads will access addresses 0x00001232 through 0x00001272</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If each request was sent out individually, there would be 16 accesses total, with 64 useful bytes of data and 448 wasted bytes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Notice that each access in the same 32-byte range would return exactly the same data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nvSpPr>
        <p:spPr>
          <a:xfrm>
            <a:off x="2051050" y="2789555"/>
            <a:ext cx="8107680" cy="39878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000" b="0" i="0" u="none" strike="noStrike">
                <a:solidFill>
                  <a:srgbClr val="000000"/>
                </a:solidFill>
                <a:latin typeface="Courier New" panose="02070309020205020404"/>
                <a:ea typeface="Courier New" panose="02070309020205020404"/>
                <a:cs typeface="Courier New" panose="02070309020205020404"/>
                <a:sym typeface="Courier New" panose="02070309020205020404"/>
              </a:rPr>
              <a:t>int tmp = X[threadIdx.x + blockDim.x * blockIdx.x]; </a:t>
            </a:r>
            <a:endParaRPr lang="en-US" sz="1100"/>
          </a:p>
        </p:txBody>
      </p:sp>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Coalescing Memory Accesses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When GPU threads access data in the same 32-byte range, multiple accesses are combined so that each range is only accessed once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Combining accesses is called coalescing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For this example, only 3 accesses are required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If the start of the array was 256-bit aligned, only two accesses would be required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5" name="Group 5"/>
          <p:cNvGrpSpPr/>
          <p:nvPr/>
        </p:nvGrpSpPr>
        <p:grpSpPr>
          <a:xfrm>
            <a:off x="3682570" y="3921998"/>
            <a:ext cx="4753888" cy="2072986"/>
            <a:chOff x="3682570" y="3921998"/>
            <a:chExt cx="4753888" cy="2072986"/>
          </a:xfrm>
        </p:grpSpPr>
        <p:sp>
          <p:nvSpPr>
            <p:cNvPr id="6" name="AutoShape 6"/>
            <p:cNvSpPr/>
            <p:nvPr/>
          </p:nvSpPr>
          <p:spPr>
            <a:xfrm>
              <a:off x="3922122"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7" name="AutoShape 7"/>
            <p:cNvSpPr/>
            <p:nvPr/>
          </p:nvSpPr>
          <p:spPr>
            <a:xfrm>
              <a:off x="4481148"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8" name="AutoShape 8"/>
            <p:cNvSpPr/>
            <p:nvPr/>
          </p:nvSpPr>
          <p:spPr>
            <a:xfrm>
              <a:off x="5040174"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9" name="AutoShape 9"/>
            <p:cNvSpPr/>
            <p:nvPr/>
          </p:nvSpPr>
          <p:spPr>
            <a:xfrm>
              <a:off x="5601988"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0</a:t>
              </a:r>
              <a:endParaRPr lang="en-US" sz="1100"/>
            </a:p>
          </p:txBody>
        </p:sp>
        <p:sp>
          <p:nvSpPr>
            <p:cNvPr id="10" name="AutoShape 10"/>
            <p:cNvSpPr/>
            <p:nvPr/>
          </p:nvSpPr>
          <p:spPr>
            <a:xfrm>
              <a:off x="6163802"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11" name="AutoShape 11"/>
            <p:cNvSpPr/>
            <p:nvPr/>
          </p:nvSpPr>
          <p:spPr>
            <a:xfrm>
              <a:off x="6725616"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12" name="AutoShape 12"/>
            <p:cNvSpPr/>
            <p:nvPr/>
          </p:nvSpPr>
          <p:spPr>
            <a:xfrm>
              <a:off x="7287430"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13" name="AutoShape 13"/>
            <p:cNvSpPr/>
            <p:nvPr/>
          </p:nvSpPr>
          <p:spPr>
            <a:xfrm>
              <a:off x="7849244"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4</a:t>
              </a:r>
              <a:endParaRPr lang="en-US" sz="1100"/>
            </a:p>
          </p:txBody>
        </p:sp>
        <p:sp>
          <p:nvSpPr>
            <p:cNvPr id="14" name="AutoShape 14"/>
            <p:cNvSpPr/>
            <p:nvPr/>
          </p:nvSpPr>
          <p:spPr>
            <a:xfrm>
              <a:off x="3682570" y="4234864"/>
              <a:ext cx="944880" cy="27559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0x00001220</a:t>
              </a:r>
              <a:endParaRPr lang="en-US" sz="1100"/>
            </a:p>
          </p:txBody>
        </p:sp>
        <p:sp>
          <p:nvSpPr>
            <p:cNvPr id="15" name="AutoShape 15"/>
            <p:cNvSpPr/>
            <p:nvPr/>
          </p:nvSpPr>
          <p:spPr>
            <a:xfrm>
              <a:off x="3950310"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5</a:t>
              </a:r>
              <a:endParaRPr lang="en-US" sz="1100"/>
            </a:p>
          </p:txBody>
        </p:sp>
        <p:sp>
          <p:nvSpPr>
            <p:cNvPr id="16" name="AutoShape 16"/>
            <p:cNvSpPr/>
            <p:nvPr/>
          </p:nvSpPr>
          <p:spPr>
            <a:xfrm>
              <a:off x="4493848"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6</a:t>
              </a:r>
              <a:endParaRPr lang="en-US" sz="1100"/>
            </a:p>
          </p:txBody>
        </p:sp>
        <p:sp>
          <p:nvSpPr>
            <p:cNvPr id="17" name="AutoShape 17"/>
            <p:cNvSpPr/>
            <p:nvPr/>
          </p:nvSpPr>
          <p:spPr>
            <a:xfrm>
              <a:off x="5052874"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7</a:t>
              </a:r>
              <a:endParaRPr lang="en-US" sz="1100"/>
            </a:p>
          </p:txBody>
        </p:sp>
        <p:sp>
          <p:nvSpPr>
            <p:cNvPr id="18" name="AutoShape 18"/>
            <p:cNvSpPr/>
            <p:nvPr/>
          </p:nvSpPr>
          <p:spPr>
            <a:xfrm>
              <a:off x="5614688"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8</a:t>
              </a:r>
              <a:endParaRPr lang="en-US" sz="1100"/>
            </a:p>
          </p:txBody>
        </p:sp>
        <p:sp>
          <p:nvSpPr>
            <p:cNvPr id="19" name="AutoShape 19"/>
            <p:cNvSpPr/>
            <p:nvPr/>
          </p:nvSpPr>
          <p:spPr>
            <a:xfrm>
              <a:off x="6176502"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9</a:t>
              </a:r>
              <a:endParaRPr lang="en-US" sz="1100"/>
            </a:p>
          </p:txBody>
        </p:sp>
        <p:sp>
          <p:nvSpPr>
            <p:cNvPr id="20" name="AutoShape 20"/>
            <p:cNvSpPr/>
            <p:nvPr/>
          </p:nvSpPr>
          <p:spPr>
            <a:xfrm>
              <a:off x="6738316"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10</a:t>
              </a:r>
              <a:endParaRPr lang="en-US" sz="1100"/>
            </a:p>
          </p:txBody>
        </p:sp>
        <p:sp>
          <p:nvSpPr>
            <p:cNvPr id="21" name="AutoShape 21"/>
            <p:cNvSpPr/>
            <p:nvPr/>
          </p:nvSpPr>
          <p:spPr>
            <a:xfrm>
              <a:off x="7300130"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11</a:t>
              </a:r>
              <a:endParaRPr lang="en-US" sz="1100"/>
            </a:p>
          </p:txBody>
        </p:sp>
        <p:sp>
          <p:nvSpPr>
            <p:cNvPr id="22" name="AutoShape 22"/>
            <p:cNvSpPr/>
            <p:nvPr/>
          </p:nvSpPr>
          <p:spPr>
            <a:xfrm>
              <a:off x="7861944"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12</a:t>
              </a:r>
              <a:endParaRPr lang="en-US" sz="1100"/>
            </a:p>
          </p:txBody>
        </p:sp>
        <p:sp>
          <p:nvSpPr>
            <p:cNvPr id="23" name="AutoShape 23"/>
            <p:cNvSpPr/>
            <p:nvPr/>
          </p:nvSpPr>
          <p:spPr>
            <a:xfrm>
              <a:off x="3695270" y="4977129"/>
              <a:ext cx="944880" cy="27559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0x00001240</a:t>
              </a:r>
              <a:endParaRPr lang="en-US" sz="1100"/>
            </a:p>
          </p:txBody>
        </p:sp>
        <p:sp>
          <p:nvSpPr>
            <p:cNvPr id="24" name="AutoShape 24"/>
            <p:cNvSpPr/>
            <p:nvPr/>
          </p:nvSpPr>
          <p:spPr>
            <a:xfrm>
              <a:off x="3947522"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13</a:t>
              </a:r>
              <a:endParaRPr lang="en-US" sz="1100"/>
            </a:p>
          </p:txBody>
        </p:sp>
        <p:sp>
          <p:nvSpPr>
            <p:cNvPr id="25" name="AutoShape 25"/>
            <p:cNvSpPr/>
            <p:nvPr/>
          </p:nvSpPr>
          <p:spPr>
            <a:xfrm>
              <a:off x="4506548"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14</a:t>
              </a:r>
              <a:endParaRPr lang="en-US" sz="1100"/>
            </a:p>
          </p:txBody>
        </p:sp>
        <p:sp>
          <p:nvSpPr>
            <p:cNvPr id="26" name="AutoShape 26"/>
            <p:cNvSpPr/>
            <p:nvPr/>
          </p:nvSpPr>
          <p:spPr>
            <a:xfrm>
              <a:off x="5065574"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15</a:t>
              </a:r>
              <a:endParaRPr lang="en-US" sz="1100"/>
            </a:p>
          </p:txBody>
        </p:sp>
        <p:sp>
          <p:nvSpPr>
            <p:cNvPr id="27" name="AutoShape 27"/>
            <p:cNvSpPr/>
            <p:nvPr/>
          </p:nvSpPr>
          <p:spPr>
            <a:xfrm>
              <a:off x="5627388"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28" name="AutoShape 28"/>
            <p:cNvSpPr/>
            <p:nvPr/>
          </p:nvSpPr>
          <p:spPr>
            <a:xfrm>
              <a:off x="6189202"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29" name="AutoShape 29"/>
            <p:cNvSpPr/>
            <p:nvPr/>
          </p:nvSpPr>
          <p:spPr>
            <a:xfrm>
              <a:off x="6751016"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30" name="AutoShape 30"/>
            <p:cNvSpPr/>
            <p:nvPr/>
          </p:nvSpPr>
          <p:spPr>
            <a:xfrm>
              <a:off x="7312830"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31" name="AutoShape 31"/>
            <p:cNvSpPr/>
            <p:nvPr/>
          </p:nvSpPr>
          <p:spPr>
            <a:xfrm>
              <a:off x="7874644"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32" name="AutoShape 32"/>
            <p:cNvSpPr/>
            <p:nvPr/>
          </p:nvSpPr>
          <p:spPr>
            <a:xfrm>
              <a:off x="3707970" y="5719394"/>
              <a:ext cx="944880" cy="27559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0x00001260</a:t>
              </a:r>
              <a:endParaRPr lang="en-US" sz="1100"/>
            </a:p>
          </p:txBody>
        </p:sp>
      </p:gr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Host, Device, and Interconnect</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SzTx/>
              <a:buChar char="•"/>
            </a:pPr>
            <a:r>
              <a:rPr lang="en-US" sz="2800" i="0" u="none" strike="noStrike">
                <a:solidFill>
                  <a:srgbClr val="404040"/>
                </a:solidFill>
                <a:latin typeface="Ebrima" panose="02000000000000000000"/>
                <a:ea typeface="Ebrima" panose="02000000000000000000"/>
                <a:cs typeface="Ebrima" panose="02000000000000000000"/>
                <a:sym typeface="Ebrima" panose="02000000000000000000"/>
              </a:rPr>
              <a:t>Programming CUDA Cores</a:t>
            </a:r>
            <a:endParaRPr lang="en-US" sz="280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8B0012"/>
              </a:buClr>
              <a:buChar char="•"/>
            </a:pPr>
            <a:r>
              <a:rPr lang="en-US" b="1">
                <a:solidFill>
                  <a:srgbClr val="8B0012"/>
                </a:solidFill>
                <a:ea typeface="Ebrima" panose="02000000000000000000"/>
                <a:cs typeface="Ebrima" panose="02000000000000000000"/>
                <a:sym typeface="Ebrima" panose="02000000000000000000"/>
              </a:rPr>
              <a:t>Programming Tensor Cores</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a:spLocks noGrp="1"/>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dirty="0">
                <a:sym typeface="+mn-ea"/>
              </a:rPr>
              <a:t>Tensor Core Evolution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Trending:</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Larger MMA size and arithmetic intensity</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Support for lower precisions and async, vectorized memory copy</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33" name="Content Placeholder 5"/>
          <p:cNvGraphicFramePr/>
          <p:nvPr/>
        </p:nvGraphicFramePr>
        <p:xfrm>
          <a:off x="390525" y="3253054"/>
          <a:ext cx="11440887" cy="2673350"/>
        </p:xfrm>
        <a:graphic>
          <a:graphicData uri="http://schemas.openxmlformats.org/drawingml/2006/table">
            <a:tbl>
              <a:tblPr firstRow="1" bandRow="1">
                <a:tableStyleId>{5C22544A-7EE6-4342-B048-85BDC9FD1C3A}</a:tableStyleId>
              </a:tblPr>
              <a:tblGrid>
                <a:gridCol w="1833193"/>
                <a:gridCol w="2609539"/>
                <a:gridCol w="947057"/>
                <a:gridCol w="1197429"/>
                <a:gridCol w="794657"/>
                <a:gridCol w="1491343"/>
                <a:gridCol w="2567669"/>
              </a:tblGrid>
              <a:tr h="370840">
                <a:tc>
                  <a:txBody>
                    <a:bodyPr/>
                    <a:lstStyle/>
                    <a:p>
                      <a:pPr algn="l" latinLnBrk="1">
                        <a:buNone/>
                      </a:pPr>
                      <a:r>
                        <a:rPr lang="en-US" sz="1800" dirty="0">
                          <a:solidFill>
                            <a:srgbClr val="E6E6E6"/>
                          </a:solidFill>
                          <a:effectLst/>
                        </a:rPr>
                        <a:t>Arch</a:t>
                      </a:r>
                      <a:endParaRPr lang="en-US" sz="1800" dirty="0">
                        <a:solidFill>
                          <a:srgbClr val="E6E6E6"/>
                        </a:solidFill>
                        <a:effectLst/>
                      </a:endParaRPr>
                    </a:p>
                  </a:txBody>
                  <a:tcPr marL="95250" marR="95250" marT="47625" marB="47625" anchor="ctr"/>
                </a:tc>
                <a:tc>
                  <a:txBody>
                    <a:bodyPr/>
                    <a:lstStyle/>
                    <a:p>
                      <a:pPr algn="l" latinLnBrk="1">
                        <a:buNone/>
                      </a:pPr>
                      <a:r>
                        <a:rPr lang="en-US" sz="1800" dirty="0" err="1">
                          <a:solidFill>
                            <a:srgbClr val="E6E6E6"/>
                          </a:solidFill>
                          <a:effectLst/>
                        </a:rPr>
                        <a:t>Dtype</a:t>
                      </a:r>
                      <a:endParaRPr lang="en-US" sz="1800" dirty="0">
                        <a:solidFill>
                          <a:srgbClr val="E6E6E6"/>
                        </a:solidFill>
                        <a:effectLst/>
                      </a:endParaRPr>
                    </a:p>
                  </a:txBody>
                  <a:tcPr marL="95250" marR="95250" marT="47625" marB="47625" anchor="ctr"/>
                </a:tc>
                <a:tc>
                  <a:txBody>
                    <a:bodyPr/>
                    <a:lstStyle/>
                    <a:p>
                      <a:pPr algn="l" latinLnBrk="1">
                        <a:buNone/>
                      </a:pPr>
                      <a:r>
                        <a:rPr lang="en-US" sz="1800">
                          <a:solidFill>
                            <a:srgbClr val="E6E6E6"/>
                          </a:solidFill>
                          <a:effectLst/>
                        </a:rPr>
                        <a:t>TC per SM</a:t>
                      </a:r>
                      <a:endParaRPr lang="en-US" sz="1800">
                        <a:solidFill>
                          <a:srgbClr val="E6E6E6"/>
                        </a:solidFill>
                        <a:effectLst/>
                      </a:endParaRPr>
                    </a:p>
                  </a:txBody>
                  <a:tcPr marL="95250" marR="95250" marT="47625" marB="47625" anchor="ctr"/>
                </a:tc>
                <a:tc>
                  <a:txBody>
                    <a:bodyPr/>
                    <a:lstStyle/>
                    <a:p>
                      <a:pPr algn="l" latinLnBrk="1">
                        <a:buNone/>
                      </a:pPr>
                      <a:r>
                        <a:rPr lang="en-US" sz="1800" dirty="0">
                          <a:solidFill>
                            <a:srgbClr val="E6E6E6"/>
                          </a:solidFill>
                          <a:effectLst/>
                        </a:rPr>
                        <a:t>TC </a:t>
                      </a:r>
                      <a:r>
                        <a:rPr lang="en-US" sz="1800" dirty="0" err="1">
                          <a:solidFill>
                            <a:srgbClr val="E6E6E6"/>
                          </a:solidFill>
                          <a:effectLst/>
                        </a:rPr>
                        <a:t>m,n,k</a:t>
                      </a:r>
                      <a:endParaRPr lang="en-US" sz="1800" dirty="0">
                        <a:solidFill>
                          <a:srgbClr val="E6E6E6"/>
                        </a:solidFill>
                        <a:effectLst/>
                      </a:endParaRPr>
                    </a:p>
                  </a:txBody>
                  <a:tcPr marL="95250" marR="95250" marT="47625" marB="47625" anchor="ctr"/>
                </a:tc>
                <a:tc>
                  <a:txBody>
                    <a:bodyPr/>
                    <a:lstStyle/>
                    <a:p>
                      <a:pPr algn="l" latinLnBrk="1">
                        <a:buNone/>
                      </a:pPr>
                      <a:r>
                        <a:rPr lang="en-US" altLang="zh-CN" sz="1800" dirty="0">
                          <a:solidFill>
                            <a:srgbClr val="E6E6E6"/>
                          </a:solidFill>
                          <a:effectLst/>
                        </a:rPr>
                        <a:t>Sparsity</a:t>
                      </a:r>
                      <a:endParaRPr lang="zh-CN" altLang="en-US" sz="1800" dirty="0">
                        <a:solidFill>
                          <a:srgbClr val="E6E6E6"/>
                        </a:solidFill>
                        <a:effectLst/>
                      </a:endParaRPr>
                    </a:p>
                  </a:txBody>
                  <a:tcPr marL="95250" marR="95250" marT="47625" marB="47625" anchor="ctr"/>
                </a:tc>
                <a:tc>
                  <a:txBody>
                    <a:bodyPr/>
                    <a:lstStyle/>
                    <a:p>
                      <a:pPr algn="l" latinLnBrk="1">
                        <a:buNone/>
                      </a:pPr>
                      <a:r>
                        <a:rPr lang="en-US" altLang="zh-CN" sz="1800" dirty="0">
                          <a:solidFill>
                            <a:srgbClr val="E6E6E6"/>
                          </a:solidFill>
                          <a:effectLst/>
                        </a:rPr>
                        <a:t>Mem.</a:t>
                      </a:r>
                      <a:endParaRPr lang="en-US" altLang="zh-CN" sz="1800" dirty="0">
                        <a:solidFill>
                          <a:srgbClr val="E6E6E6"/>
                        </a:solidFill>
                        <a:effectLst/>
                      </a:endParaRPr>
                    </a:p>
                    <a:p>
                      <a:pPr algn="l" latinLnBrk="1">
                        <a:buNone/>
                      </a:pPr>
                      <a:r>
                        <a:rPr lang="en-US" altLang="zh-CN" sz="1800" dirty="0">
                          <a:solidFill>
                            <a:srgbClr val="E6E6E6"/>
                          </a:solidFill>
                          <a:effectLst/>
                        </a:rPr>
                        <a:t>Access</a:t>
                      </a:r>
                      <a:endParaRPr lang="zh-CN" altLang="en-US" sz="1800" dirty="0">
                        <a:solidFill>
                          <a:srgbClr val="E6E6E6"/>
                        </a:solidFill>
                        <a:effectLst/>
                      </a:endParaRPr>
                    </a:p>
                  </a:txBody>
                  <a:tcPr marL="95250" marR="95250" marT="47625" marB="47625" anchor="ctr"/>
                </a:tc>
                <a:tc>
                  <a:txBody>
                    <a:bodyPr/>
                    <a:lstStyle/>
                    <a:p>
                      <a:pPr algn="l" latinLnBrk="1">
                        <a:buNone/>
                      </a:pPr>
                      <a:r>
                        <a:rPr lang="en-US" altLang="zh-CN" sz="1800" dirty="0">
                          <a:solidFill>
                            <a:srgbClr val="E6E6E6"/>
                          </a:solidFill>
                          <a:effectLst/>
                        </a:rPr>
                        <a:t>Instructions</a:t>
                      </a:r>
                      <a:endParaRPr lang="zh-CN" altLang="en-US" sz="1800" dirty="0">
                        <a:solidFill>
                          <a:srgbClr val="E6E6E6"/>
                        </a:solidFill>
                        <a:effectLst/>
                      </a:endParaRPr>
                    </a:p>
                  </a:txBody>
                  <a:tcPr marL="95250" marR="95250" marT="47625" marB="47625" anchor="ctr"/>
                </a:tc>
              </a:tr>
              <a:tr h="370840">
                <a:tc>
                  <a:txBody>
                    <a:bodyPr/>
                    <a:lstStyle/>
                    <a:p>
                      <a:pPr latinLnBrk="1">
                        <a:buNone/>
                      </a:pPr>
                      <a:r>
                        <a:rPr lang="en-US" sz="1800">
                          <a:effectLst/>
                        </a:rPr>
                        <a:t>Volta(SM70)</a:t>
                      </a:r>
                      <a:endParaRPr lang="en-US" sz="1800">
                        <a:effectLst/>
                      </a:endParaRPr>
                    </a:p>
                  </a:txBody>
                  <a:tcPr marL="95250" marR="95250" marT="47625" marB="47625" anchor="ctr"/>
                </a:tc>
                <a:tc>
                  <a:txBody>
                    <a:bodyPr/>
                    <a:lstStyle/>
                    <a:p>
                      <a:pPr latinLnBrk="1">
                        <a:buNone/>
                      </a:pPr>
                      <a:r>
                        <a:rPr lang="en-US" sz="1800">
                          <a:effectLst/>
                        </a:rPr>
                        <a:t>FP16</a:t>
                      </a:r>
                      <a:endParaRPr lang="en-US" sz="1800">
                        <a:effectLst/>
                      </a:endParaRPr>
                    </a:p>
                  </a:txBody>
                  <a:tcPr marL="95250" marR="95250" marT="47625" marB="47625" anchor="ctr"/>
                </a:tc>
                <a:tc>
                  <a:txBody>
                    <a:bodyPr/>
                    <a:lstStyle/>
                    <a:p>
                      <a:pPr latinLnBrk="1">
                        <a:buNone/>
                      </a:pPr>
                      <a:r>
                        <a:rPr lang="en-US" sz="1800">
                          <a:effectLst/>
                        </a:rPr>
                        <a:t>8</a:t>
                      </a:r>
                      <a:endParaRPr lang="en-US" sz="1800">
                        <a:effectLst/>
                      </a:endParaRPr>
                    </a:p>
                  </a:txBody>
                  <a:tcPr marL="95250" marR="95250" marT="47625" marB="47625" anchor="ctr"/>
                </a:tc>
                <a:tc>
                  <a:txBody>
                    <a:bodyPr/>
                    <a:lstStyle/>
                    <a:p>
                      <a:pPr latinLnBrk="1">
                        <a:buNone/>
                      </a:pPr>
                      <a:r>
                        <a:rPr lang="en-US" sz="1800">
                          <a:effectLst/>
                        </a:rPr>
                        <a:t>4 x 4 x 4</a:t>
                      </a:r>
                      <a:endParaRPr lang="en-US" sz="1800">
                        <a:effectLst/>
                      </a:endParaRPr>
                    </a:p>
                  </a:txBody>
                  <a:tcPr marL="95250" marR="95250" marT="47625" marB="47625" anchor="ctr"/>
                </a:tc>
                <a:tc>
                  <a:txBody>
                    <a:bodyPr/>
                    <a:lstStyle/>
                    <a:p>
                      <a:pPr latinLnBrk="1">
                        <a:buNone/>
                      </a:pPr>
                      <a:r>
                        <a:rPr lang="en-US" sz="1800">
                          <a:effectLst/>
                        </a:rPr>
                        <a:t>No</a:t>
                      </a:r>
                      <a:endParaRPr lang="en-US" sz="1800">
                        <a:effectLst/>
                      </a:endParaRPr>
                    </a:p>
                  </a:txBody>
                  <a:tcPr marL="95250" marR="95250" marT="47625" marB="47625" anchor="ctr"/>
                </a:tc>
                <a:tc>
                  <a:txBody>
                    <a:bodyPr/>
                    <a:lstStyle/>
                    <a:p>
                      <a:pPr latinLnBrk="1">
                        <a:buNone/>
                      </a:pPr>
                      <a:r>
                        <a:rPr lang="en-US" sz="1800">
                          <a:effectLst/>
                        </a:rPr>
                        <a:t>N/A</a:t>
                      </a:r>
                      <a:endParaRPr lang="en-US" sz="1800">
                        <a:effectLst/>
                      </a:endParaRPr>
                    </a:p>
                  </a:txBody>
                  <a:tcPr marL="95250" marR="95250" marT="47625" marB="47625" anchor="ctr"/>
                </a:tc>
                <a:tc>
                  <a:txBody>
                    <a:bodyPr/>
                    <a:lstStyle/>
                    <a:p>
                      <a:pPr latinLnBrk="1">
                        <a:buNone/>
                      </a:pPr>
                      <a:r>
                        <a:rPr lang="en-US" sz="1800">
                          <a:effectLst/>
                        </a:rPr>
                        <a:t>mma</a:t>
                      </a:r>
                      <a:endParaRPr lang="en-US" sz="1800">
                        <a:effectLst/>
                      </a:endParaRPr>
                    </a:p>
                  </a:txBody>
                  <a:tcPr marL="95250" marR="95250" marT="47625" marB="47625" anchor="ctr"/>
                </a:tc>
              </a:tr>
              <a:tr h="370840">
                <a:tc>
                  <a:txBody>
                    <a:bodyPr/>
                    <a:lstStyle/>
                    <a:p>
                      <a:pPr latinLnBrk="1">
                        <a:buNone/>
                      </a:pPr>
                      <a:r>
                        <a:rPr lang="en-US" sz="1800">
                          <a:effectLst/>
                        </a:rPr>
                        <a:t>Turing(SM75)</a:t>
                      </a:r>
                      <a:endParaRPr lang="en-US" sz="1800">
                        <a:effectLst/>
                      </a:endParaRPr>
                    </a:p>
                  </a:txBody>
                  <a:tcPr marL="95250" marR="95250" marT="47625" marB="47625" anchor="ctr"/>
                </a:tc>
                <a:tc>
                  <a:txBody>
                    <a:bodyPr/>
                    <a:lstStyle/>
                    <a:p>
                      <a:pPr latinLnBrk="1">
                        <a:buNone/>
                      </a:pPr>
                      <a:r>
                        <a:rPr lang="en-US" sz="1800">
                          <a:effectLst/>
                        </a:rPr>
                        <a:t>FP16,INT8,INT4,Binary</a:t>
                      </a:r>
                      <a:endParaRPr lang="en-US" sz="1800">
                        <a:effectLst/>
                      </a:endParaRPr>
                    </a:p>
                  </a:txBody>
                  <a:tcPr marL="95250" marR="95250" marT="47625" marB="47625" anchor="ctr"/>
                </a:tc>
                <a:tc>
                  <a:txBody>
                    <a:bodyPr/>
                    <a:lstStyle/>
                    <a:p>
                      <a:pPr latinLnBrk="1">
                        <a:buNone/>
                      </a:pPr>
                      <a:r>
                        <a:rPr lang="en-US" sz="1800" dirty="0">
                          <a:effectLst/>
                        </a:rPr>
                        <a:t>8</a:t>
                      </a:r>
                      <a:endParaRPr lang="en-US" sz="1800" dirty="0">
                        <a:effectLst/>
                      </a:endParaRPr>
                    </a:p>
                  </a:txBody>
                  <a:tcPr marL="95250" marR="95250" marT="47625" marB="47625" anchor="ctr"/>
                </a:tc>
                <a:tc>
                  <a:txBody>
                    <a:bodyPr/>
                    <a:lstStyle/>
                    <a:p>
                      <a:pPr latinLnBrk="1">
                        <a:buNone/>
                      </a:pPr>
                      <a:r>
                        <a:rPr lang="en-US" sz="1800" dirty="0">
                          <a:effectLst/>
                        </a:rPr>
                        <a:t>4 x 4 x 4</a:t>
                      </a:r>
                      <a:endParaRPr lang="en-US" sz="1800" dirty="0">
                        <a:effectLst/>
                      </a:endParaRPr>
                    </a:p>
                  </a:txBody>
                  <a:tcPr marL="95250" marR="95250" marT="47625" marB="47625" anchor="ctr"/>
                </a:tc>
                <a:tc>
                  <a:txBody>
                    <a:bodyPr/>
                    <a:lstStyle/>
                    <a:p>
                      <a:pPr latinLnBrk="1">
                        <a:buNone/>
                      </a:pPr>
                      <a:r>
                        <a:rPr lang="en-US" sz="1800">
                          <a:effectLst/>
                        </a:rPr>
                        <a:t>No</a:t>
                      </a:r>
                      <a:endParaRPr lang="en-US" sz="1800">
                        <a:effectLst/>
                      </a:endParaRPr>
                    </a:p>
                  </a:txBody>
                  <a:tcPr marL="95250" marR="95250" marT="47625" marB="47625" anchor="ctr"/>
                </a:tc>
                <a:tc>
                  <a:txBody>
                    <a:bodyPr/>
                    <a:lstStyle/>
                    <a:p>
                      <a:pPr latinLnBrk="1">
                        <a:buNone/>
                      </a:pPr>
                      <a:r>
                        <a:rPr lang="en-US" sz="1800">
                          <a:effectLst/>
                        </a:rPr>
                        <a:t>ldmatrix</a:t>
                      </a:r>
                      <a:endParaRPr lang="en-US" sz="1800">
                        <a:effectLst/>
                      </a:endParaRPr>
                    </a:p>
                  </a:txBody>
                  <a:tcPr marL="95250" marR="95250" marT="47625" marB="47625" anchor="ctr"/>
                </a:tc>
                <a:tc>
                  <a:txBody>
                    <a:bodyPr/>
                    <a:lstStyle/>
                    <a:p>
                      <a:pPr latinLnBrk="1">
                        <a:buNone/>
                      </a:pPr>
                      <a:r>
                        <a:rPr lang="en-US" sz="1800">
                          <a:effectLst/>
                        </a:rPr>
                        <a:t>mma,ldmatrix</a:t>
                      </a:r>
                      <a:endParaRPr lang="en-US" sz="1800">
                        <a:effectLst/>
                      </a:endParaRPr>
                    </a:p>
                  </a:txBody>
                  <a:tcPr marL="95250" marR="95250" marT="47625" marB="47625" anchor="ctr"/>
                </a:tc>
              </a:tr>
              <a:tr h="370840">
                <a:tc>
                  <a:txBody>
                    <a:bodyPr/>
                    <a:lstStyle/>
                    <a:p>
                      <a:pPr latinLnBrk="1">
                        <a:buNone/>
                      </a:pPr>
                      <a:r>
                        <a:rPr lang="en-US" sz="1800">
                          <a:effectLst/>
                        </a:rPr>
                        <a:t>Ampere(SM80)</a:t>
                      </a:r>
                      <a:endParaRPr lang="en-US" sz="1800">
                        <a:effectLst/>
                      </a:endParaRPr>
                    </a:p>
                  </a:txBody>
                  <a:tcPr marL="95250" marR="95250" marT="47625" marB="47625" anchor="ctr"/>
                </a:tc>
                <a:tc>
                  <a:txBody>
                    <a:bodyPr/>
                    <a:lstStyle/>
                    <a:p>
                      <a:pPr latinLnBrk="1">
                        <a:buNone/>
                      </a:pPr>
                      <a:r>
                        <a:rPr lang="en-US" sz="1800">
                          <a:effectLst/>
                        </a:rPr>
                        <a:t>FP16,BF16,TF32,FP64,INT8,INT4,Binary</a:t>
                      </a:r>
                      <a:endParaRPr lang="en-US" sz="1800">
                        <a:effectLst/>
                      </a:endParaRPr>
                    </a:p>
                  </a:txBody>
                  <a:tcPr marL="95250" marR="95250" marT="47625" marB="47625" anchor="ctr"/>
                </a:tc>
                <a:tc>
                  <a:txBody>
                    <a:bodyPr/>
                    <a:lstStyle/>
                    <a:p>
                      <a:pPr latinLnBrk="1">
                        <a:buNone/>
                      </a:pPr>
                      <a:r>
                        <a:rPr lang="en-US" sz="1800">
                          <a:effectLst/>
                        </a:rPr>
                        <a:t>4</a:t>
                      </a:r>
                      <a:endParaRPr lang="en-US" sz="1800">
                        <a:effectLst/>
                      </a:endParaRPr>
                    </a:p>
                  </a:txBody>
                  <a:tcPr marL="95250" marR="95250" marT="47625" marB="47625" anchor="ctr"/>
                </a:tc>
                <a:tc>
                  <a:txBody>
                    <a:bodyPr/>
                    <a:lstStyle/>
                    <a:p>
                      <a:pPr latinLnBrk="1">
                        <a:buNone/>
                      </a:pPr>
                      <a:r>
                        <a:rPr lang="en-US" sz="1800">
                          <a:effectLst/>
                        </a:rPr>
                        <a:t>8 x 4 x 8</a:t>
                      </a:r>
                      <a:endParaRPr lang="en-US" sz="1800">
                        <a:effectLst/>
                      </a:endParaRPr>
                    </a:p>
                  </a:txBody>
                  <a:tcPr marL="95250" marR="95250" marT="47625" marB="47625" anchor="ctr"/>
                </a:tc>
                <a:tc>
                  <a:txBody>
                    <a:bodyPr/>
                    <a:lstStyle/>
                    <a:p>
                      <a:pPr latinLnBrk="1">
                        <a:buNone/>
                      </a:pPr>
                      <a:r>
                        <a:rPr lang="en-US" sz="1800">
                          <a:effectLst/>
                        </a:rPr>
                        <a:t>Yes</a:t>
                      </a:r>
                      <a:endParaRPr lang="en-US" sz="1800">
                        <a:effectLst/>
                      </a:endParaRPr>
                    </a:p>
                  </a:txBody>
                  <a:tcPr marL="95250" marR="95250" marT="47625" marB="47625" anchor="ctr"/>
                </a:tc>
                <a:tc>
                  <a:txBody>
                    <a:bodyPr/>
                    <a:lstStyle/>
                    <a:p>
                      <a:pPr latinLnBrk="1">
                        <a:buNone/>
                      </a:pPr>
                      <a:r>
                        <a:rPr lang="en-US" sz="1800">
                          <a:effectLst/>
                        </a:rPr>
                        <a:t>async Copy</a:t>
                      </a:r>
                      <a:endParaRPr lang="en-US" sz="1800">
                        <a:effectLst/>
                      </a:endParaRPr>
                    </a:p>
                  </a:txBody>
                  <a:tcPr marL="95250" marR="95250" marT="47625" marB="47625" anchor="ctr"/>
                </a:tc>
                <a:tc>
                  <a:txBody>
                    <a:bodyPr/>
                    <a:lstStyle/>
                    <a:p>
                      <a:pPr latinLnBrk="1">
                        <a:buNone/>
                      </a:pPr>
                      <a:r>
                        <a:rPr lang="en-US" sz="1800">
                          <a:effectLst/>
                        </a:rPr>
                        <a:t>mma,ldmatrix, mma.sp</a:t>
                      </a:r>
                      <a:endParaRPr lang="en-US" sz="1800">
                        <a:effectLst/>
                      </a:endParaRPr>
                    </a:p>
                  </a:txBody>
                  <a:tcPr marL="95250" marR="95250" marT="47625" marB="47625" anchor="ctr"/>
                </a:tc>
              </a:tr>
              <a:tr h="370840">
                <a:tc>
                  <a:txBody>
                    <a:bodyPr/>
                    <a:lstStyle/>
                    <a:p>
                      <a:pPr latinLnBrk="1">
                        <a:buNone/>
                      </a:pPr>
                      <a:r>
                        <a:rPr lang="en-US" sz="1800">
                          <a:effectLst/>
                        </a:rPr>
                        <a:t>Hopper(SM90)</a:t>
                      </a:r>
                      <a:endParaRPr lang="en-US" sz="1800">
                        <a:effectLst/>
                      </a:endParaRPr>
                    </a:p>
                  </a:txBody>
                  <a:tcPr marL="95250" marR="95250" marT="47625" marB="47625" anchor="ctr"/>
                </a:tc>
                <a:tc>
                  <a:txBody>
                    <a:bodyPr/>
                    <a:lstStyle/>
                    <a:p>
                      <a:pPr latinLnBrk="1">
                        <a:buNone/>
                      </a:pPr>
                      <a:r>
                        <a:rPr lang="en-US" sz="1800" dirty="0">
                          <a:effectLst/>
                        </a:rPr>
                        <a:t>FP16,BF16,TF32,FP64,INT8,Binary</a:t>
                      </a:r>
                      <a:endParaRPr lang="en-US" sz="1800" dirty="0">
                        <a:effectLst/>
                      </a:endParaRPr>
                    </a:p>
                  </a:txBody>
                  <a:tcPr marL="95250" marR="95250" marT="47625" marB="47625" anchor="ctr"/>
                </a:tc>
                <a:tc>
                  <a:txBody>
                    <a:bodyPr/>
                    <a:lstStyle/>
                    <a:p>
                      <a:pPr latinLnBrk="1">
                        <a:buNone/>
                      </a:pPr>
                      <a:r>
                        <a:rPr lang="en-US" sz="1800">
                          <a:effectLst/>
                        </a:rPr>
                        <a:t>4</a:t>
                      </a:r>
                      <a:endParaRPr lang="en-US" sz="1800">
                        <a:effectLst/>
                      </a:endParaRPr>
                    </a:p>
                  </a:txBody>
                  <a:tcPr marL="95250" marR="95250" marT="47625" marB="47625" anchor="ctr"/>
                </a:tc>
                <a:tc>
                  <a:txBody>
                    <a:bodyPr/>
                    <a:lstStyle/>
                    <a:p>
                      <a:pPr latinLnBrk="1">
                        <a:buNone/>
                      </a:pPr>
                      <a:r>
                        <a:rPr lang="en-US" sz="1800">
                          <a:effectLst/>
                        </a:rPr>
                        <a:t>8 x 4 x 16</a:t>
                      </a:r>
                      <a:endParaRPr lang="en-US" sz="1800">
                        <a:effectLst/>
                      </a:endParaRPr>
                    </a:p>
                  </a:txBody>
                  <a:tcPr marL="95250" marR="95250" marT="47625" marB="47625" anchor="ctr"/>
                </a:tc>
                <a:tc>
                  <a:txBody>
                    <a:bodyPr/>
                    <a:lstStyle/>
                    <a:p>
                      <a:pPr latinLnBrk="1">
                        <a:buNone/>
                      </a:pPr>
                      <a:r>
                        <a:rPr lang="en-US" sz="1800">
                          <a:effectLst/>
                        </a:rPr>
                        <a:t>Yes</a:t>
                      </a:r>
                      <a:endParaRPr lang="en-US" sz="1800">
                        <a:effectLst/>
                      </a:endParaRPr>
                    </a:p>
                  </a:txBody>
                  <a:tcPr marL="95250" marR="95250" marT="47625" marB="47625" anchor="ctr"/>
                </a:tc>
                <a:tc>
                  <a:txBody>
                    <a:bodyPr/>
                    <a:lstStyle/>
                    <a:p>
                      <a:pPr latinLnBrk="1">
                        <a:buNone/>
                      </a:pPr>
                      <a:r>
                        <a:rPr lang="en-US" sz="1800">
                          <a:effectLst/>
                        </a:rPr>
                        <a:t>TMA</a:t>
                      </a:r>
                      <a:endParaRPr lang="en-US" sz="1800">
                        <a:effectLst/>
                      </a:endParaRPr>
                    </a:p>
                  </a:txBody>
                  <a:tcPr marL="95250" marR="95250" marT="47625" marB="47625" anchor="ctr"/>
                </a:tc>
                <a:tc>
                  <a:txBody>
                    <a:bodyPr/>
                    <a:lstStyle/>
                    <a:p>
                      <a:pPr latinLnBrk="1">
                        <a:buNone/>
                      </a:pPr>
                      <a:r>
                        <a:rPr lang="en-US" sz="1800" dirty="0" err="1">
                          <a:effectLst/>
                        </a:rPr>
                        <a:t>mma,ldmatrix</a:t>
                      </a:r>
                      <a:r>
                        <a:rPr lang="en-US" sz="1800" dirty="0">
                          <a:effectLst/>
                        </a:rPr>
                        <a:t>, </a:t>
                      </a:r>
                      <a:r>
                        <a:rPr lang="en-US" sz="1800" dirty="0" err="1">
                          <a:effectLst/>
                        </a:rPr>
                        <a:t>mma.sp</a:t>
                      </a:r>
                      <a:r>
                        <a:rPr lang="en-US" sz="1800" dirty="0">
                          <a:effectLst/>
                        </a:rPr>
                        <a:t>, </a:t>
                      </a:r>
                      <a:r>
                        <a:rPr lang="en-US" sz="1800" dirty="0" err="1">
                          <a:effectLst/>
                        </a:rPr>
                        <a:t>wgmma</a:t>
                      </a:r>
                      <a:endParaRPr lang="en-US" sz="1800" dirty="0">
                        <a:effectLst/>
                      </a:endParaRPr>
                    </a:p>
                  </a:txBody>
                  <a:tcPr marL="95250" marR="95250" marT="47625" marB="47625" anchor="ctr"/>
                </a:tc>
              </a:tr>
            </a:tbl>
          </a:graphicData>
        </a:graphic>
      </p:graphicFrame>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dirty="0">
                <a:sym typeface="+mn-ea"/>
              </a:rPr>
              <a:t>Tensor Core Evolution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146" name="Picture 2" descr="图片"/>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68372" y="1091325"/>
            <a:ext cx="9226686" cy="57666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dirty="0">
                <a:sym typeface="+mn-ea"/>
              </a:rPr>
              <a:t>MMA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xfrm>
            <a:off x="523875" y="1323975"/>
            <a:ext cx="585533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Given a matrix, the multiply and accumulate (MMA) instruction computes D = A * B + C:</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A is an M by K matrix</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B is a K by N matrix</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C and D are M by N matrices</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We denote the matrix shapes as</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mMnNkK</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or MxNxK.</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SMEM &lt;-&gt; RF &lt;-&gt; Tensor Core</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90606" y="1132872"/>
            <a:ext cx="5699588" cy="53666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pic>
        <p:nvPicPr>
          <p:cNvPr id="3" name="Picture 3"/>
          <p:cNvPicPr>
            <a:picLocks noChangeAspect="1"/>
          </p:cNvPicPr>
          <p:nvPr/>
        </p:nvPicPr>
        <p:blipFill>
          <a:blip r:embed="rId1"/>
          <a:srcRect/>
          <a:stretch>
            <a:fillRect/>
          </a:stretch>
        </p:blipFill>
        <p:spPr>
          <a:xfrm>
            <a:off x="852170" y="1318260"/>
            <a:ext cx="9408795" cy="4853305"/>
          </a:xfrm>
          <a:prstGeom prst="rect">
            <a:avLst/>
          </a:prstGeom>
          <a:ln w="12700">
            <a:noFill/>
            <a:prstDash val="solid"/>
          </a:ln>
        </p:spPr>
      </p:pic>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1"/>
          <a:srcRect l="2306" r="2305"/>
          <a:stretch>
            <a:fillRect/>
          </a:stretch>
        </p:blipFill>
        <p:spPr>
          <a:xfrm>
            <a:off x="0" y="-34924"/>
            <a:ext cx="12192000" cy="6858000"/>
          </a:xfrm>
          <a:prstGeom prst="rect">
            <a:avLst/>
          </a:prstGeom>
        </p:spPr>
      </p:pic>
      <p:sp>
        <p:nvSpPr>
          <p:cNvPr id="3" name="AutoShape 3"/>
          <p:cNvSpPr>
            <a:spLocks noGrp="1"/>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endPar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ags/tag1.xml><?xml version="1.0" encoding="utf-8"?>
<p:tagLst xmlns:p="http://schemas.openxmlformats.org/presentationml/2006/main">
  <p:tag name="TABLE_ENDDRAG_ORIGIN_RECT" val="537*260"/>
  <p:tag name="TABLE_ENDDRAG_RECT" val="33*168*537*260"/>
</p:tagLst>
</file>

<file path=ppt/tags/tag2.xml><?xml version="1.0" encoding="utf-8"?>
<p:tagLst xmlns:p="http://schemas.openxmlformats.org/presentationml/2006/main">
  <p:tag name="RESOURCE_RECORD_KEY" val="{&quot;29&quot;:[50000086,50052716,5000009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12663</Words>
  <Application>WPS 演示</Application>
  <PresentationFormat>宽屏</PresentationFormat>
  <Paragraphs>1023</Paragraphs>
  <Slides>46</Slides>
  <Notes>15</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46</vt:i4>
      </vt:variant>
    </vt:vector>
  </HeadingPairs>
  <TitlesOfParts>
    <vt:vector size="68"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Ebrima</vt:lpstr>
      <vt:lpstr>Arial Unicode MS</vt:lpstr>
      <vt:lpstr>BatangChe</vt:lpstr>
      <vt:lpstr>等线</vt:lpstr>
      <vt:lpstr>Arial Bold</vt:lpstr>
      <vt:lpstr>Courier New</vt:lpstr>
      <vt:lpstr>Courier</vt:lpstr>
      <vt:lpstr>Courier New</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53</cp:revision>
  <dcterms:created xsi:type="dcterms:W3CDTF">2026-04-14T06:08:00Z</dcterms:created>
  <dcterms:modified xsi:type="dcterms:W3CDTF">2026-05-27T11:17:12Z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9A866395107AA02062CEDD69306860DC_42</vt:lpwstr>
  </property>
  <property fmtid="{D5CDD505-2E9C-101B-9397-08002B2CF9AE}" pid="3" name="KSOProductBuildVer">
    <vt:lpwstr>2052-12.1.0.21915</vt:lpwstr>
  </property>
</Properties>
</file>