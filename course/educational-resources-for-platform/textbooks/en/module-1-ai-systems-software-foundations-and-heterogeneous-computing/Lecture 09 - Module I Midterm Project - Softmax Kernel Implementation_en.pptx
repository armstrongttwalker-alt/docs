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509" r:id="rId6"/>
    <p:sldId id="510" r:id="rId7"/>
    <p:sldId id="511" r:id="rId8"/>
    <p:sldId id="512" r:id="rId9"/>
    <p:sldId id="513" r:id="rId10"/>
    <p:sldId id="514" r:id="rId11"/>
    <p:sldId id="321" r:id="rId12"/>
    <p:sldId id="322" r:id="rId13"/>
    <p:sldId id="281" r:id="rId14"/>
  </p:sldIdLst>
  <p:sldSz cx="12192000" cy="6858000"/>
  <p:notesSz cx="6858000" cy="9144000"/>
  <p:custDataLst>
    <p:tags r:id="rId1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3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需要涉及的要点</a:t>
            </a:r>
            <a:r>
              <a:rPr lang="en-US" altLang="zh-CN"/>
              <a:t>：</a:t>
            </a:r>
            <a:endParaRPr lang="en-US" altLang="zh-CN"/>
          </a:p>
          <a:p>
            <a:r>
              <a:rPr lang="en-US" altLang="zh-CN"/>
              <a:t>- </a:t>
            </a:r>
            <a:r>
              <a:rPr lang="zh-CN" altLang="en-US"/>
              <a:t>第一课时</a:t>
            </a:r>
            <a:r>
              <a:rPr lang="en-US" altLang="zh-CN"/>
              <a:t>：</a:t>
            </a:r>
            <a:r>
              <a:rPr lang="en-US">
                <a:solidFill>
                  <a:srgbClr val="262626"/>
                </a:solidFill>
                <a:latin typeface="Calibri" panose="020F0502020204030204"/>
                <a:ea typeface="Calibri" panose="020F0502020204030204"/>
                <a:cs typeface="Calibri" panose="020F0502020204030204"/>
                <a:sym typeface="Calibri" panose="020F0502020204030204"/>
              </a:rPr>
              <a:t>Compute Architectures </a:t>
            </a:r>
            <a:r>
              <a:rPr lang="zh-CN" altLang="en-US">
                <a:solidFill>
                  <a:srgbClr val="262626"/>
                </a:solidFill>
                <a:latin typeface="Calibri" panose="020F0502020204030204"/>
                <a:ea typeface="Calibri" panose="020F0502020204030204"/>
                <a:cs typeface="Calibri" panose="020F0502020204030204"/>
                <a:sym typeface="Calibri" panose="020F0502020204030204"/>
              </a:rPr>
              <a:t>的逐渐演化</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由</a:t>
            </a:r>
            <a:r>
              <a:rPr lang="en-US" altLang="zh-CN">
                <a:solidFill>
                  <a:srgbClr val="262626"/>
                </a:solidFill>
                <a:latin typeface="Calibri" panose="020F0502020204030204"/>
                <a:ea typeface="Calibri" panose="020F0502020204030204"/>
                <a:cs typeface="Calibri" panose="020F0502020204030204"/>
                <a:sym typeface="Calibri" panose="020F0502020204030204"/>
              </a:rPr>
              <a:t>AI/ML workload </a:t>
            </a:r>
            <a:r>
              <a:rPr lang="zh-CN" altLang="en-US">
                <a:solidFill>
                  <a:srgbClr val="262626"/>
                </a:solidFill>
                <a:latin typeface="Calibri" panose="020F0502020204030204"/>
                <a:ea typeface="Calibri" panose="020F0502020204030204"/>
                <a:cs typeface="Calibri" panose="020F0502020204030204"/>
                <a:sym typeface="Calibri" panose="020F0502020204030204"/>
              </a:rPr>
              <a:t>引导</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逐渐展示出多种多样的架构</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如华为达芬奇</a:t>
            </a:r>
            <a:r>
              <a:rPr lang="en-US" altLang="zh-CN">
                <a:solidFill>
                  <a:srgbClr val="262626"/>
                </a:solidFill>
                <a:latin typeface="Calibri" panose="020F0502020204030204"/>
                <a:ea typeface="Calibri" panose="020F0502020204030204"/>
                <a:cs typeface="Calibri" panose="020F0502020204030204"/>
                <a:sym typeface="Calibri" panose="020F0502020204030204"/>
              </a:rPr>
              <a:t>、AMD</a:t>
            </a:r>
            <a:r>
              <a:rPr lang="zh-CN" altLang="en-US">
                <a:solidFill>
                  <a:srgbClr val="262626"/>
                </a:solidFill>
                <a:latin typeface="Calibri" panose="020F0502020204030204"/>
                <a:ea typeface="Calibri" panose="020F0502020204030204"/>
                <a:cs typeface="Calibri" panose="020F0502020204030204"/>
                <a:sym typeface="Calibri" panose="020F0502020204030204"/>
              </a:rPr>
              <a:t>等等</a:t>
            </a:r>
            <a:endParaRPr lang="zh-CN" altLang="en-US">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第二课时</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互联的硬件基础</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与</a:t>
            </a:r>
            <a:r>
              <a:rPr lang="en-US" altLang="zh-CN">
                <a:solidFill>
                  <a:srgbClr val="262626"/>
                </a:solidFill>
                <a:latin typeface="Calibri" panose="020F0502020204030204"/>
                <a:ea typeface="Calibri" panose="020F0502020204030204"/>
                <a:cs typeface="Calibri" panose="020F0502020204030204"/>
                <a:sym typeface="Calibri" panose="020F0502020204030204"/>
              </a:rPr>
              <a:t>CUDA core、Tensor core </a:t>
            </a:r>
            <a:r>
              <a:rPr lang="zh-CN" altLang="en-US">
                <a:solidFill>
                  <a:srgbClr val="262626"/>
                </a:solidFill>
                <a:latin typeface="Calibri" panose="020F0502020204030204"/>
                <a:ea typeface="Calibri" panose="020F0502020204030204"/>
                <a:cs typeface="Calibri" panose="020F0502020204030204"/>
                <a:sym typeface="Calibri" panose="020F0502020204030204"/>
              </a:rPr>
              <a:t>的编程</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可能还需要涉及的点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课程整体设计</a:t>
            </a:r>
            <a:r>
              <a:rPr lang="en-US" altLang="zh-CN">
                <a:solidFill>
                  <a:srgbClr val="262626"/>
                </a:solidFill>
                <a:latin typeface="Calibri" panose="020F0502020204030204"/>
                <a:ea typeface="Calibri" panose="020F0502020204030204"/>
                <a:cs typeface="Calibri" panose="020F0502020204030204"/>
                <a:sym typeface="Calibri" panose="020F0502020204030204"/>
              </a:rPr>
              <a:t>（Syllabus、</a:t>
            </a:r>
            <a:r>
              <a:rPr lang="zh-CN" altLang="en-US">
                <a:solidFill>
                  <a:srgbClr val="262626"/>
                </a:solidFill>
                <a:latin typeface="Calibri" panose="020F0502020204030204"/>
                <a:ea typeface="Calibri" panose="020F0502020204030204"/>
                <a:cs typeface="Calibri" panose="020F0502020204030204"/>
                <a:sym typeface="Calibri" panose="020F0502020204030204"/>
              </a:rPr>
              <a:t>各个模块的内容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根据教学大纲生成了个</a:t>
            </a:r>
            <a:r>
              <a:rPr lang="en-US" altLang="zh-CN">
                <a:solidFill>
                  <a:srgbClr val="262626"/>
                </a:solidFill>
                <a:latin typeface="Calibri" panose="020F0502020204030204"/>
                <a:ea typeface="Calibri" panose="020F0502020204030204"/>
                <a:cs typeface="Calibri" panose="020F0502020204030204"/>
                <a:sym typeface="Calibri" panose="020F0502020204030204"/>
              </a:rPr>
              <a:t>overview</a:t>
            </a:r>
            <a:r>
              <a:rPr lang="zh-CN" altLang="en-US">
                <a:solidFill>
                  <a:srgbClr val="262626"/>
                </a:solidFill>
                <a:latin typeface="Calibri" panose="020F0502020204030204"/>
                <a:ea typeface="Calibri" panose="020F0502020204030204"/>
                <a:cs typeface="Calibri" panose="020F0502020204030204"/>
                <a:sym typeface="Calibri" panose="020F0502020204030204"/>
              </a:rPr>
              <a:t>的图</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6"/>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3" Type="http://schemas.openxmlformats.org/officeDocument/2006/relationships/slideLayout" Target="../slideLayouts/slideLayout17.xml"/><Relationship Id="rId12" Type="http://schemas.openxmlformats.org/officeDocument/2006/relationships/image" Target="../media/image13.png"/><Relationship Id="rId11" Type="http://schemas.openxmlformats.org/officeDocument/2006/relationships/image" Target="../media/image12.jpeg"/><Relationship Id="rId10" Type="http://schemas.openxmlformats.org/officeDocument/2006/relationships/hyperlink" Target="https://flagos.io/Home" TargetMode="Externa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9</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Module I Midterm Project</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Softmax Kernel  Implementation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Softmax  is one of the most fundamental operators in deep learning, ubiquitous in  Transformer  attention mechanisms and classification tasks. An efficient  Softmax  implementation requires the combined use of  Tiling (Tiling), Online Normalization (Online Normalization), and  Reduction  optimization techniques, making it an ideal project for assessing Module I comprehensive skills.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Project Objectives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Using  Triton  to implement a numerically stable  Safe Softmax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 arbitrary-shaped  2D  input tensors, computing along the last dimension (dim=-1)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Compare with  PyTorch  native  F.softmax  output, maximum absolute error  &lt; 1e-5</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float32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(throughput) reaching  PyTorch  of the built-in implementation 70%  or above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(Advanced) Register the operator in the  FlagGems  framework and pass its test suite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Implementation Specifications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Numerical Stability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Must implement  Safe Softmax, i.e., subtract the row-wise maximum before computing exponentials to prevent overflow</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Kernel  Structure Requirements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Program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Block) processes one row of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Use  tl.load  for block-wise loading, handle boundary cases where row length is not divisible by  BLOCK_SIZE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Complete a three-step  Reduction: compute maximum →  compute exponential sum →  normalize and write back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Interface Specification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2586355" y="2066925"/>
          <a:ext cx="7934960" cy="396240"/>
        </p:xfrm>
        <a:graphic>
          <a:graphicData uri="http://schemas.openxmlformats.org/drawingml/2006/table">
            <a:tbl>
              <a:tblPr>
                <a:effectLst/>
              </a:tblPr>
              <a:tblGrid>
                <a:gridCol w="7934960"/>
              </a:tblGrid>
              <a:tr h="396240">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softmax(x_i) = exp(x_i - max(x)) / sum(exp(x_j - max(x)))</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2681605" y="4830445"/>
          <a:ext cx="7935595" cy="909320"/>
        </p:xfrm>
        <a:graphic>
          <a:graphicData uri="http://schemas.openxmlformats.org/drawingml/2006/table">
            <a:tbl>
              <a:tblPr>
                <a:effectLst/>
              </a:tblPr>
              <a:tblGrid>
                <a:gridCol w="7935595"/>
              </a:tblGrid>
              <a:tr h="454660">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flaggems_softmax(x: torch.Tensor) -&gt; torch.Tensor:</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4660">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 x: [M, N], Returns a tensor of the same shape , with values being the softmax  result</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Testing and Validation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Correctness Test Cases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Basic: shape  [128, 256]</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dtype=float32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Boundary: N=1, N=65537 (non-power-of- 2 ), M=1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Precision: compare with  torch.nn.functional.softmax(x, dim=-1) , atol=1e-5</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Benchmark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Test shape: [1024, 4096] (simulating  Transformer Attention  scenario)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Tools: triton.testing.Benchmark  or  torch.utils.benchmark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Reported metrics: GB/s (memory bandwidth utilization) and  ms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Submission Checklist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softmax_kernel.py: contains  Kernel  implementation and test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eport.pdf: no more than  4  pages, including implementation approach, correctness verification screenshots, and performance comparison charts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FlagGems  repository  PR  link or  diff  file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2004695" y="3737610"/>
          <a:ext cx="8947150" cy="2289175"/>
        </p:xfrm>
        <a:graphic>
          <a:graphicData uri="http://schemas.openxmlformats.org/drawingml/2006/table">
            <a:tbl>
              <a:tblPr>
                <a:effectLst/>
              </a:tblPr>
              <a:tblGrid>
                <a:gridCol w="2867660"/>
                <a:gridCol w="1720850"/>
                <a:gridCol w="4358640"/>
              </a:tblGrid>
              <a:tr h="400685">
                <a:tc>
                  <a:txBody>
                    <a:bodyPr/>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Grading Criteria</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77190">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Code Correctness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40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All test cases passed, including boundary  case</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Numerical Stability</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Safe Softmax  implemented correctly, no NaN/Inf</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Performance (Throughput)</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≥70%  of reference implementation for full score, linear interpolation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Lab Report</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Analysis Block Size  selection, Occupancy  impact</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Advanced: FlagGems  Integration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PR  merged or test suite passed</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1"/>
          <a:srcRect l="2306" r="2305"/>
          <a:stretch>
            <a:fillRect/>
          </a:stretch>
        </p:blipFill>
        <p:spPr>
          <a:xfrm>
            <a:off x="0" y="-34924"/>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ags/tag1.xml><?xml version="1.0" encoding="utf-8"?>
<p:tagLst xmlns:p="http://schemas.openxmlformats.org/presentationml/2006/main">
  <p:tag name="RESOURCE_RECORD_KEY" val="{&quot;29&quot;:[50000086,50052716,500000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3743</Words>
  <Application>WPS 演示</Application>
  <PresentationFormat>宽屏</PresentationFormat>
  <Paragraphs>186</Paragraphs>
  <Slides>10</Slides>
  <Notes>2</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10</vt:i4>
      </vt:variant>
    </vt:vector>
  </HeadingPairs>
  <TitlesOfParts>
    <vt:vector size="27"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Courier New</vt:lpstr>
      <vt:lpstr>Arial Unicode MS</vt:lpstr>
      <vt:lpstr>BatangChe</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53</cp:revision>
  <dcterms:created xsi:type="dcterms:W3CDTF">2026-04-14T06:08:00Z</dcterms:created>
  <dcterms:modified xsi:type="dcterms:W3CDTF">2026-05-27T11:18:08Z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9A866395107AA02062CEDD69306860DC_42</vt:lpwstr>
  </property>
  <property fmtid="{D5CDD505-2E9C-101B-9397-08002B2CF9AE}" pid="3" name="KSOProductBuildVer">
    <vt:lpwstr>2052-12.1.0.21915</vt:lpwstr>
  </property>
</Properties>
</file>