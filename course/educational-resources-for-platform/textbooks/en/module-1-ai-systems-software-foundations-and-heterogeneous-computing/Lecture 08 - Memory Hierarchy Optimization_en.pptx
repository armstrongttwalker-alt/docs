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488" r:id="rId6"/>
    <p:sldId id="489" r:id="rId7"/>
    <p:sldId id="490" r:id="rId8"/>
    <p:sldId id="491" r:id="rId9"/>
    <p:sldId id="492" r:id="rId10"/>
    <p:sldId id="493" r:id="rId11"/>
    <p:sldId id="494" r:id="rId12"/>
    <p:sldId id="495" r:id="rId13"/>
    <p:sldId id="496" r:id="rId14"/>
    <p:sldId id="497" r:id="rId15"/>
    <p:sldId id="498" r:id="rId16"/>
    <p:sldId id="499" r:id="rId17"/>
    <p:sldId id="500" r:id="rId18"/>
    <p:sldId id="501" r:id="rId19"/>
    <p:sldId id="502" r:id="rId20"/>
    <p:sldId id="503" r:id="rId21"/>
    <p:sldId id="504" r:id="rId22"/>
    <p:sldId id="505" r:id="rId23"/>
    <p:sldId id="506" r:id="rId24"/>
    <p:sldId id="507" r:id="rId25"/>
    <p:sldId id="508" r:id="rId26"/>
    <p:sldId id="321" r:id="rId27"/>
    <p:sldId id="322" r:id="rId28"/>
    <p:sldId id="281" r:id="rId29"/>
  </p:sldIdLst>
  <p:sldSz cx="12192000" cy="6858000"/>
  <p:notesSz cx="6858000" cy="9144000"/>
  <p:custDataLst>
    <p:tags r:id="rId33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3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3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需要涉及的要点</a:t>
            </a:r>
            <a:r>
              <a:rPr lang="en-US" altLang="zh-CN"/>
              <a:t>：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第一课时</a:t>
            </a:r>
            <a:r>
              <a:rPr lang="en-US" altLang="zh-CN"/>
              <a:t>：</a:t>
            </a:r>
            <a:r>
              <a:rPr 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Compute Architectures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的逐渐演化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由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AI/ML workload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引导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逐渐展示出多种多样的架构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如华为达芬奇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、AMD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等等</a:t>
            </a:r>
            <a:endParaRPr lang="zh-CN" altLang="en-US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第二课时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互联的硬件基础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与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CUDA core、Tensor core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的编程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。</a:t>
            </a:r>
            <a:endParaRPr lang="en-US" altLang="zh-CN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- 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可能还需要涉及的点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：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课程整体设计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（Syllabus、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各个模块的内容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，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根据教学大纲生成了个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overview</a:t>
            </a:r>
            <a:r>
              <a:rPr lang="zh-CN" altLang="en-US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的图</a:t>
            </a:r>
            <a:r>
              <a:rPr lang="en-US" altLang="zh-CN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）</a:t>
            </a:r>
            <a:endParaRPr lang="en-US" altLang="zh-CN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4A4A4A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配图建议：GPU Memory Hierarchy 总图（CUDA官方图）</a:t>
            </a:r>
            <a:endParaRPr lang="en-US" sz="1200" b="0" i="0" u="none" strike="noStrike">
              <a:solidFill>
                <a:srgbClr val="4A4A4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4A4A4A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代码示例：CUDA Shared Memory 声明与使用</a:t>
            </a:r>
            <a:endParaRPr lang="en-US" sz="1200" b="0" i="0" u="none" strike="noStrike">
              <a:solidFill>
                <a:srgbClr val="4A4A4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4A4A4A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配图建议：memory access flow 图</a:t>
            </a:r>
            <a:endParaRPr lang="en-US" sz="1200" b="0" i="0" u="none" strike="noStrike">
              <a:solidFill>
                <a:srgbClr val="4A4A4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4A4A4A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图片来源：NVIDIA Developer Forums</a:t>
            </a:r>
            <a:endParaRPr lang="en-US" sz="1200" b="0" i="0" u="none" strike="noStrike">
              <a:solidFill>
                <a:srgbClr val="4A4A4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4A4A4A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配图建议：padding 避免 conflict 图</a:t>
            </a:r>
            <a:endParaRPr lang="en-US" sz="1200" b="0" i="0" u="none" strike="noStrike">
              <a:solidFill>
                <a:srgbClr val="4A4A4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4A4A4A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配图建议：reduction shared memory 图</a:t>
            </a:r>
            <a:endParaRPr lang="en-US" sz="1200" b="0" i="0" u="none" strike="noStrike">
              <a:solidFill>
                <a:srgbClr val="4A4A4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  <a:endParaRPr lang="en-US" sz="1200" b="0" i="0" u="none" strike="noStrik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51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36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algn="r"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2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600" b="0" i="0" u="none" strike="noStrike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  <a:endParaRPr lang="en-US" sz="3200" b="1" i="0" u="none" strike="noStrik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  <a:endParaRPr lang="en-US" sz="2400" b="0" i="0" u="none" strike="noStrike">
              <a:solidFill>
                <a:srgbClr val="262626"/>
              </a:solidFill>
              <a:latin typeface="Calibri Light" panose="020F0302020204030204"/>
              <a:ea typeface="Calibri Light" panose="020F0302020204030204"/>
              <a:cs typeface="Calibri Light" panose="020F0302020204030204"/>
              <a:sym typeface="Calibri Light" panose="020F0302020204030204"/>
            </a:endParaRP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  <a:endParaRPr lang="en-US" sz="51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  <a:endParaRPr lang="en-US" sz="2400" b="0" i="0" u="none" strike="noStrike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  <a:endParaRPr lang="en-US" sz="4400" b="0" i="0" u="none" strike="noStrike">
              <a:solidFill>
                <a:srgbClr val="44546A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  <a:endParaRPr lang="en-US" sz="4400" b="0" i="0" u="none" strike="noStrike">
              <a:solidFill>
                <a:srgbClr val="44546A"/>
              </a:solidFill>
              <a:latin typeface="Pretendard"/>
              <a:ea typeface="Pretendard"/>
              <a:cs typeface="Pretendard"/>
              <a:sym typeface="Pretendar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zhihu.com/people/95-22-20-18/posts" TargetMode="External"/><Relationship Id="rId8" Type="http://schemas.openxmlformats.org/officeDocument/2006/relationships/hyperlink" Target="https://space.bilibili.com/3546791834290849" TargetMode="External"/><Relationship Id="rId7" Type="http://schemas.openxmlformats.org/officeDocument/2006/relationships/hyperlink" Target="https://github.com/flagos-ai" TargetMode="Externa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3" Type="http://schemas.openxmlformats.org/officeDocument/2006/relationships/slideLayout" Target="../slideLayouts/slideLayout17.xml"/><Relationship Id="rId12" Type="http://schemas.openxmlformats.org/officeDocument/2006/relationships/image" Target="../media/image23.png"/><Relationship Id="rId11" Type="http://schemas.openxmlformats.org/officeDocument/2006/relationships/image" Target="../media/image22.jpeg"/><Relationship Id="rId10" Type="http://schemas.openxmlformats.org/officeDocument/2006/relationships/hyperlink" Target="https://flagos.io/Home" TargetMode="External"/><Relationship Id="rId1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1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  <a:endParaRPr lang="en-US" sz="4000" b="0" i="0" u="none" strike="noStrike">
              <a:solidFill>
                <a:srgbClr val="44546A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0956" y="3124206"/>
            <a:ext cx="115728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2412279" y="492573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716968" y="4716188"/>
            <a:ext cx="326038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GPU Memory Hierarchy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716969" y="5020953"/>
            <a:ext cx="2133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Hierarchy Overview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7723744" y="496869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028434" y="4759147"/>
            <a:ext cx="305483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Shared Memory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028434" y="5063912"/>
            <a:ext cx="14668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Optimization Strategies</a:t>
            </a:r>
            <a:endParaRPr lang="en-US" sz="1200" b="0" i="0" u="none" strike="noStrike">
              <a:solidFill>
                <a:srgbClr val="4A4A4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2412279" y="576383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2716969" y="5554291"/>
            <a:ext cx="2198698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Bank Conflict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716969" y="5859055"/>
            <a:ext cx="12954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Bank Conflicts and Solutions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7723744" y="580679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028434" y="5597250"/>
            <a:ext cx="2919818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Reduction Kernel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8434" y="5902014"/>
            <a:ext cx="15716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Reduction Kernel Optimization</a:t>
            </a:r>
            <a:endParaRPr lang="en-US" sz="1100"/>
          </a:p>
        </p:txBody>
      </p:sp>
      <p:sp>
        <p:nvSpPr>
          <p:cNvPr id="15" name="AutoShape 15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08: Memory Hierarchy Optimization</a:t>
            </a:r>
            <a:endParaRPr lang="en-US" sz="51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AutoShape 16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800225" y="3938588"/>
            <a:ext cx="10391775" cy="4746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A4A4A">
                    <a:alpha val="100000"/>
                  </a:srgbClr>
                </a:solidFill>
                <a:latin typeface="MiSans" panose="00000500000000000000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A4A4A"/>
              </a:buClr>
              <a:buChar char="•"/>
            </a:pPr>
            <a:r>
              <a:rPr lang="en-US" sz="24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Shared Memory &amp; Cache Optimization Techniques</a:t>
            </a:r>
            <a:endParaRPr lang="en-US" sz="2400" b="0" i="0" u="none" strike="noStrike">
              <a:solidFill>
                <a:srgbClr val="4A4A4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59136" y="616033"/>
            <a:ext cx="11607839" cy="37687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GPU Memory Hierarchy Overview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76834" y="1318809"/>
            <a:ext cx="5606059" cy="4447159"/>
          </a:xfrm>
          <a:custGeom>
            <a:avLst/>
            <a:gdLst/>
            <a:ahLst/>
            <a:cxnLst/>
            <a:rect l="l" t="t" r="r" b="b"/>
            <a:pathLst>
              <a:path w="5606059" h="4447159">
                <a:moveTo>
                  <a:pt x="75380" y="0"/>
                </a:moveTo>
                <a:lnTo>
                  <a:pt x="5530679" y="0"/>
                </a:lnTo>
                <a:cubicBezTo>
                  <a:pt x="5572310" y="0"/>
                  <a:pt x="5606059" y="33748"/>
                  <a:pt x="5606059" y="75380"/>
                </a:cubicBezTo>
                <a:lnTo>
                  <a:pt x="5606059" y="4371779"/>
                </a:lnTo>
                <a:cubicBezTo>
                  <a:pt x="5606059" y="4413411"/>
                  <a:pt x="5572310" y="4447159"/>
                  <a:pt x="5530679" y="4447159"/>
                </a:cubicBezTo>
                <a:lnTo>
                  <a:pt x="75380" y="4447159"/>
                </a:lnTo>
                <a:cubicBezTo>
                  <a:pt x="33748" y="4447159"/>
                  <a:pt x="0" y="4413411"/>
                  <a:pt x="0" y="4371779"/>
                </a:cubicBezTo>
                <a:lnTo>
                  <a:pt x="0" y="75380"/>
                </a:lnTo>
                <a:cubicBezTo>
                  <a:pt x="0" y="33776"/>
                  <a:pt x="33776" y="0"/>
                  <a:pt x="75380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588769" y="1544211"/>
            <a:ext cx="188439" cy="189691"/>
          </a:xfrm>
          <a:custGeom>
            <a:avLst/>
            <a:gdLst/>
            <a:ahLst/>
            <a:cxnLst/>
            <a:rect l="l" t="t" r="r" b="b"/>
            <a:pathLst>
              <a:path w="188439" h="189691">
                <a:moveTo>
                  <a:pt x="85570" y="2540"/>
                </a:moveTo>
                <a:cubicBezTo>
                  <a:pt x="91054" y="0"/>
                  <a:pt x="97385" y="0"/>
                  <a:pt x="102869" y="2540"/>
                </a:cubicBezTo>
                <a:lnTo>
                  <a:pt x="183323" y="39712"/>
                </a:lnTo>
                <a:cubicBezTo>
                  <a:pt x="186453" y="41148"/>
                  <a:pt x="188439" y="44276"/>
                  <a:pt x="188439" y="47735"/>
                </a:cubicBezTo>
                <a:cubicBezTo>
                  <a:pt x="188439" y="51195"/>
                  <a:pt x="186453" y="54324"/>
                  <a:pt x="183323" y="55759"/>
                </a:cubicBezTo>
                <a:lnTo>
                  <a:pt x="102869" y="92932"/>
                </a:lnTo>
                <a:cubicBezTo>
                  <a:pt x="97385" y="95471"/>
                  <a:pt x="91054" y="95471"/>
                  <a:pt x="85570" y="92932"/>
                </a:cubicBezTo>
                <a:lnTo>
                  <a:pt x="5116" y="55759"/>
                </a:lnTo>
                <a:cubicBezTo>
                  <a:pt x="1988" y="54287"/>
                  <a:pt x="0" y="51159"/>
                  <a:pt x="0" y="47735"/>
                </a:cubicBezTo>
                <a:cubicBezTo>
                  <a:pt x="0" y="44313"/>
                  <a:pt x="1988" y="41148"/>
                  <a:pt x="5116" y="39712"/>
                </a:cubicBezTo>
                <a:lnTo>
                  <a:pt x="85570" y="2540"/>
                </a:lnTo>
                <a:close/>
                <a:moveTo>
                  <a:pt x="17703" y="81007"/>
                </a:moveTo>
                <a:lnTo>
                  <a:pt x="78174" y="108942"/>
                </a:lnTo>
                <a:cubicBezTo>
                  <a:pt x="88368" y="113653"/>
                  <a:pt x="100108" y="113653"/>
                  <a:pt x="110303" y="108942"/>
                </a:cubicBezTo>
                <a:lnTo>
                  <a:pt x="170773" y="81007"/>
                </a:lnTo>
                <a:lnTo>
                  <a:pt x="183323" y="86822"/>
                </a:lnTo>
                <a:cubicBezTo>
                  <a:pt x="186453" y="88257"/>
                  <a:pt x="188439" y="91387"/>
                  <a:pt x="188439" y="94845"/>
                </a:cubicBezTo>
                <a:cubicBezTo>
                  <a:pt x="188439" y="98306"/>
                  <a:pt x="186453" y="101434"/>
                  <a:pt x="183323" y="102869"/>
                </a:cubicBezTo>
                <a:lnTo>
                  <a:pt x="102869" y="140042"/>
                </a:lnTo>
                <a:cubicBezTo>
                  <a:pt x="97385" y="142582"/>
                  <a:pt x="91054" y="142582"/>
                  <a:pt x="85570" y="140042"/>
                </a:cubicBezTo>
                <a:lnTo>
                  <a:pt x="5116" y="102869"/>
                </a:lnTo>
                <a:cubicBezTo>
                  <a:pt x="1988" y="101397"/>
                  <a:pt x="0" y="98267"/>
                  <a:pt x="0" y="94845"/>
                </a:cubicBezTo>
                <a:cubicBezTo>
                  <a:pt x="0" y="91423"/>
                  <a:pt x="1988" y="88257"/>
                  <a:pt x="5116" y="86822"/>
                </a:cubicBezTo>
                <a:lnTo>
                  <a:pt x="17666" y="81007"/>
                </a:lnTo>
                <a:close/>
                <a:moveTo>
                  <a:pt x="5116" y="133932"/>
                </a:moveTo>
                <a:lnTo>
                  <a:pt x="17666" y="128117"/>
                </a:lnTo>
                <a:lnTo>
                  <a:pt x="78135" y="156051"/>
                </a:lnTo>
                <a:cubicBezTo>
                  <a:pt x="88331" y="160762"/>
                  <a:pt x="100071" y="160762"/>
                  <a:pt x="110266" y="156051"/>
                </a:cubicBezTo>
                <a:lnTo>
                  <a:pt x="170736" y="128117"/>
                </a:lnTo>
                <a:lnTo>
                  <a:pt x="183286" y="133932"/>
                </a:lnTo>
                <a:cubicBezTo>
                  <a:pt x="186414" y="135367"/>
                  <a:pt x="188402" y="138496"/>
                  <a:pt x="188402" y="141955"/>
                </a:cubicBezTo>
                <a:cubicBezTo>
                  <a:pt x="188402" y="145415"/>
                  <a:pt x="186414" y="148543"/>
                  <a:pt x="183286" y="149979"/>
                </a:cubicBezTo>
                <a:lnTo>
                  <a:pt x="102832" y="187151"/>
                </a:lnTo>
                <a:cubicBezTo>
                  <a:pt x="97348" y="189691"/>
                  <a:pt x="91017" y="189691"/>
                  <a:pt x="85535" y="187151"/>
                </a:cubicBezTo>
                <a:lnTo>
                  <a:pt x="5116" y="149979"/>
                </a:lnTo>
                <a:cubicBezTo>
                  <a:pt x="1988" y="148506"/>
                  <a:pt x="0" y="145378"/>
                  <a:pt x="0" y="141955"/>
                </a:cubicBezTo>
                <a:cubicBezTo>
                  <a:pt x="0" y="138531"/>
                  <a:pt x="1988" y="135367"/>
                  <a:pt x="5116" y="133932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43722" y="1501053"/>
            <a:ext cx="5087852" cy="2638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Structure (Fastest to Slowest)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583964" y="1921744"/>
            <a:ext cx="5210244" cy="640692"/>
          </a:xfrm>
          <a:custGeom>
            <a:avLst/>
            <a:gdLst/>
            <a:ahLst/>
            <a:cxnLst/>
            <a:rect l="l" t="t" r="r" b="b"/>
            <a:pathLst>
              <a:path w="5210244" h="640692">
                <a:moveTo>
                  <a:pt x="37501" y="0"/>
                </a:moveTo>
                <a:lnTo>
                  <a:pt x="5134867" y="0"/>
                </a:lnTo>
                <a:cubicBezTo>
                  <a:pt x="5176496" y="0"/>
                  <a:pt x="5210244" y="33748"/>
                  <a:pt x="5210244" y="75377"/>
                </a:cubicBezTo>
                <a:lnTo>
                  <a:pt x="5210244" y="565315"/>
                </a:lnTo>
                <a:cubicBezTo>
                  <a:pt x="5210244" y="606944"/>
                  <a:pt x="5176496" y="640692"/>
                  <a:pt x="5134867" y="640692"/>
                </a:cubicBez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583964" y="1921744"/>
            <a:ext cx="37501" cy="640692"/>
          </a:xfrm>
          <a:custGeom>
            <a:avLst/>
            <a:gdLst/>
            <a:ahLst/>
            <a:cxnLst/>
            <a:rect l="l" t="t" r="r" b="b"/>
            <a:pathLst>
              <a:path w="37501" h="640692">
                <a:moveTo>
                  <a:pt x="37501" y="0"/>
                </a:moveTo>
                <a:lnTo>
                  <a:pt x="37501" y="0"/>
                </a:lnTo>
                <a:lnTo>
                  <a:pt x="37501" y="640692"/>
                </a:ln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715728" y="2091227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50752" y="0"/>
                </a:moveTo>
                <a:lnTo>
                  <a:pt x="150752" y="0"/>
                </a:lnTo>
                <a:cubicBezTo>
                  <a:pt x="233953" y="0"/>
                  <a:pt x="301502" y="67549"/>
                  <a:pt x="301502" y="150752"/>
                </a:cubicBezTo>
                <a:lnTo>
                  <a:pt x="301502" y="150752"/>
                </a:lnTo>
                <a:cubicBezTo>
                  <a:pt x="301502" y="233953"/>
                  <a:pt x="233953" y="301502"/>
                  <a:pt x="150752" y="301502"/>
                </a:cubicBezTo>
                <a:lnTo>
                  <a:pt x="150752" y="301502"/>
                </a:lnTo>
                <a:cubicBezTo>
                  <a:pt x="67549" y="301502"/>
                  <a:pt x="0" y="233953"/>
                  <a:pt x="0" y="150752"/>
                </a:cubicBezTo>
                <a:lnTo>
                  <a:pt x="0" y="150752"/>
                </a:lnTo>
                <a:cubicBezTo>
                  <a:pt x="0" y="67549"/>
                  <a:pt x="67549" y="0"/>
                  <a:pt x="150752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78040" y="2091227"/>
            <a:ext cx="376878" cy="3015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30209" y="2034757"/>
            <a:ext cx="4626176" cy="2261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Register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30209" y="2260858"/>
            <a:ext cx="4616754" cy="188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Fastest, private to each thread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583964" y="2675265"/>
            <a:ext cx="5210244" cy="640692"/>
          </a:xfrm>
          <a:custGeom>
            <a:avLst/>
            <a:gdLst/>
            <a:ahLst/>
            <a:cxnLst/>
            <a:rect l="l" t="t" r="r" b="b"/>
            <a:pathLst>
              <a:path w="5210244" h="640692">
                <a:moveTo>
                  <a:pt x="37501" y="0"/>
                </a:moveTo>
                <a:lnTo>
                  <a:pt x="5134867" y="0"/>
                </a:lnTo>
                <a:cubicBezTo>
                  <a:pt x="5176496" y="0"/>
                  <a:pt x="5210244" y="33748"/>
                  <a:pt x="5210244" y="75377"/>
                </a:cubicBezTo>
                <a:lnTo>
                  <a:pt x="5210244" y="565315"/>
                </a:lnTo>
                <a:cubicBezTo>
                  <a:pt x="5210244" y="606944"/>
                  <a:pt x="5176496" y="640692"/>
                  <a:pt x="5134867" y="640692"/>
                </a:cubicBez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583964" y="2675265"/>
            <a:ext cx="37501" cy="640692"/>
          </a:xfrm>
          <a:custGeom>
            <a:avLst/>
            <a:gdLst/>
            <a:ahLst/>
            <a:cxnLst/>
            <a:rect l="l" t="t" r="r" b="b"/>
            <a:pathLst>
              <a:path w="37501" h="640692">
                <a:moveTo>
                  <a:pt x="37501" y="0"/>
                </a:moveTo>
                <a:lnTo>
                  <a:pt x="37501" y="0"/>
                </a:lnTo>
                <a:lnTo>
                  <a:pt x="37501" y="640692"/>
                </a:ln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715728" y="2844748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50752" y="0"/>
                </a:moveTo>
                <a:lnTo>
                  <a:pt x="150752" y="0"/>
                </a:lnTo>
                <a:cubicBezTo>
                  <a:pt x="233953" y="0"/>
                  <a:pt x="301502" y="67549"/>
                  <a:pt x="301502" y="150752"/>
                </a:cubicBezTo>
                <a:lnTo>
                  <a:pt x="301502" y="150752"/>
                </a:lnTo>
                <a:cubicBezTo>
                  <a:pt x="301502" y="233953"/>
                  <a:pt x="233953" y="301502"/>
                  <a:pt x="150752" y="301502"/>
                </a:cubicBezTo>
                <a:lnTo>
                  <a:pt x="150752" y="301502"/>
                </a:lnTo>
                <a:cubicBezTo>
                  <a:pt x="67549" y="301502"/>
                  <a:pt x="0" y="233953"/>
                  <a:pt x="0" y="150752"/>
                </a:cubicBezTo>
                <a:lnTo>
                  <a:pt x="0" y="150752"/>
                </a:lnTo>
                <a:cubicBezTo>
                  <a:pt x="0" y="67549"/>
                  <a:pt x="67549" y="0"/>
                  <a:pt x="150752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78040" y="2844748"/>
            <a:ext cx="376878" cy="3015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130209" y="2788279"/>
            <a:ext cx="4626176" cy="2261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Shared Memory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130209" y="3014379"/>
            <a:ext cx="4616754" cy="188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High-speed memory inside SM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583964" y="3428786"/>
            <a:ext cx="5210244" cy="640692"/>
          </a:xfrm>
          <a:custGeom>
            <a:avLst/>
            <a:gdLst/>
            <a:ahLst/>
            <a:cxnLst/>
            <a:rect l="l" t="t" r="r" b="b"/>
            <a:pathLst>
              <a:path w="5210244" h="640692">
                <a:moveTo>
                  <a:pt x="37501" y="0"/>
                </a:moveTo>
                <a:lnTo>
                  <a:pt x="5134867" y="0"/>
                </a:lnTo>
                <a:cubicBezTo>
                  <a:pt x="5176496" y="0"/>
                  <a:pt x="5210244" y="33748"/>
                  <a:pt x="5210244" y="75377"/>
                </a:cubicBezTo>
                <a:lnTo>
                  <a:pt x="5210244" y="565315"/>
                </a:lnTo>
                <a:cubicBezTo>
                  <a:pt x="5210244" y="606944"/>
                  <a:pt x="5176496" y="640692"/>
                  <a:pt x="5134867" y="640692"/>
                </a:cubicBez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583964" y="3428786"/>
            <a:ext cx="37501" cy="640692"/>
          </a:xfrm>
          <a:custGeom>
            <a:avLst/>
            <a:gdLst/>
            <a:ahLst/>
            <a:cxnLst/>
            <a:rect l="l" t="t" r="r" b="b"/>
            <a:pathLst>
              <a:path w="37501" h="640692">
                <a:moveTo>
                  <a:pt x="37501" y="0"/>
                </a:moveTo>
                <a:lnTo>
                  <a:pt x="37501" y="0"/>
                </a:lnTo>
                <a:lnTo>
                  <a:pt x="37501" y="640692"/>
                </a:ln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715728" y="3598270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50752" y="0"/>
                </a:moveTo>
                <a:lnTo>
                  <a:pt x="150752" y="0"/>
                </a:lnTo>
                <a:cubicBezTo>
                  <a:pt x="233953" y="0"/>
                  <a:pt x="301502" y="67549"/>
                  <a:pt x="301502" y="150752"/>
                </a:cubicBezTo>
                <a:lnTo>
                  <a:pt x="301502" y="150752"/>
                </a:lnTo>
                <a:cubicBezTo>
                  <a:pt x="301502" y="233953"/>
                  <a:pt x="233953" y="301502"/>
                  <a:pt x="150752" y="301502"/>
                </a:cubicBezTo>
                <a:lnTo>
                  <a:pt x="150752" y="301502"/>
                </a:lnTo>
                <a:cubicBezTo>
                  <a:pt x="67549" y="301502"/>
                  <a:pt x="0" y="233953"/>
                  <a:pt x="0" y="150752"/>
                </a:cubicBezTo>
                <a:lnTo>
                  <a:pt x="0" y="150752"/>
                </a:lnTo>
                <a:cubicBezTo>
                  <a:pt x="0" y="67549"/>
                  <a:pt x="67549" y="0"/>
                  <a:pt x="150752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78040" y="3598270"/>
            <a:ext cx="376878" cy="3015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130209" y="3541800"/>
            <a:ext cx="4626176" cy="2261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L1 Cache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130209" y="3767900"/>
            <a:ext cx="4616754" cy="188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L1 Cache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583964" y="4182307"/>
            <a:ext cx="5210244" cy="640692"/>
          </a:xfrm>
          <a:custGeom>
            <a:avLst/>
            <a:gdLst/>
            <a:ahLst/>
            <a:cxnLst/>
            <a:rect l="l" t="t" r="r" b="b"/>
            <a:pathLst>
              <a:path w="5210244" h="640692">
                <a:moveTo>
                  <a:pt x="37501" y="0"/>
                </a:moveTo>
                <a:lnTo>
                  <a:pt x="5134867" y="0"/>
                </a:lnTo>
                <a:cubicBezTo>
                  <a:pt x="5176496" y="0"/>
                  <a:pt x="5210244" y="33748"/>
                  <a:pt x="5210244" y="75377"/>
                </a:cubicBezTo>
                <a:lnTo>
                  <a:pt x="5210244" y="565315"/>
                </a:lnTo>
                <a:cubicBezTo>
                  <a:pt x="5210244" y="606944"/>
                  <a:pt x="5176496" y="640692"/>
                  <a:pt x="5134867" y="640692"/>
                </a:cubicBez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583964" y="4182307"/>
            <a:ext cx="37501" cy="640692"/>
          </a:xfrm>
          <a:custGeom>
            <a:avLst/>
            <a:gdLst/>
            <a:ahLst/>
            <a:cxnLst/>
            <a:rect l="l" t="t" r="r" b="b"/>
            <a:pathLst>
              <a:path w="37501" h="640692">
                <a:moveTo>
                  <a:pt x="37501" y="0"/>
                </a:moveTo>
                <a:lnTo>
                  <a:pt x="37501" y="0"/>
                </a:lnTo>
                <a:lnTo>
                  <a:pt x="37501" y="640692"/>
                </a:ln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715728" y="4351792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50752" y="0"/>
                </a:moveTo>
                <a:lnTo>
                  <a:pt x="150752" y="0"/>
                </a:lnTo>
                <a:cubicBezTo>
                  <a:pt x="233953" y="0"/>
                  <a:pt x="301502" y="67549"/>
                  <a:pt x="301502" y="150752"/>
                </a:cubicBezTo>
                <a:lnTo>
                  <a:pt x="301502" y="150752"/>
                </a:lnTo>
                <a:cubicBezTo>
                  <a:pt x="301502" y="233953"/>
                  <a:pt x="233953" y="301502"/>
                  <a:pt x="150752" y="301502"/>
                </a:cubicBezTo>
                <a:lnTo>
                  <a:pt x="150752" y="301502"/>
                </a:lnTo>
                <a:cubicBezTo>
                  <a:pt x="67549" y="301502"/>
                  <a:pt x="0" y="233953"/>
                  <a:pt x="0" y="150752"/>
                </a:cubicBezTo>
                <a:lnTo>
                  <a:pt x="0" y="150752"/>
                </a:lnTo>
                <a:cubicBezTo>
                  <a:pt x="0" y="67549"/>
                  <a:pt x="67549" y="0"/>
                  <a:pt x="150752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78040" y="4351792"/>
            <a:ext cx="376878" cy="3015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130209" y="4295321"/>
            <a:ext cx="4626176" cy="2261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L2 Cache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130209" y="4521421"/>
            <a:ext cx="4616754" cy="188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L2 Cache</a:t>
            </a:r>
            <a:endParaRPr lang="en-US" sz="1100"/>
          </a:p>
        </p:txBody>
      </p:sp>
      <p:sp>
        <p:nvSpPr>
          <p:cNvPr id="30" name="Freeform 30"/>
          <p:cNvSpPr/>
          <p:nvPr/>
        </p:nvSpPr>
        <p:spPr>
          <a:xfrm>
            <a:off x="583964" y="4935830"/>
            <a:ext cx="5210244" cy="640692"/>
          </a:xfrm>
          <a:custGeom>
            <a:avLst/>
            <a:gdLst/>
            <a:ahLst/>
            <a:cxnLst/>
            <a:rect l="l" t="t" r="r" b="b"/>
            <a:pathLst>
              <a:path w="5210244" h="640692">
                <a:moveTo>
                  <a:pt x="37501" y="0"/>
                </a:moveTo>
                <a:lnTo>
                  <a:pt x="5134867" y="0"/>
                </a:lnTo>
                <a:cubicBezTo>
                  <a:pt x="5176496" y="0"/>
                  <a:pt x="5210244" y="33748"/>
                  <a:pt x="5210244" y="75377"/>
                </a:cubicBezTo>
                <a:lnTo>
                  <a:pt x="5210244" y="565315"/>
                </a:lnTo>
                <a:cubicBezTo>
                  <a:pt x="5210244" y="606944"/>
                  <a:pt x="5176496" y="640692"/>
                  <a:pt x="5134867" y="640692"/>
                </a:cubicBez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583964" y="4935830"/>
            <a:ext cx="37501" cy="640692"/>
          </a:xfrm>
          <a:custGeom>
            <a:avLst/>
            <a:gdLst/>
            <a:ahLst/>
            <a:cxnLst/>
            <a:rect l="l" t="t" r="r" b="b"/>
            <a:pathLst>
              <a:path w="37501" h="640692">
                <a:moveTo>
                  <a:pt x="37501" y="0"/>
                </a:moveTo>
                <a:lnTo>
                  <a:pt x="37501" y="0"/>
                </a:lnTo>
                <a:lnTo>
                  <a:pt x="37501" y="640692"/>
                </a:lnTo>
                <a:lnTo>
                  <a:pt x="37501" y="640692"/>
                </a:lnTo>
                <a:cubicBezTo>
                  <a:pt x="16789" y="640692"/>
                  <a:pt x="0" y="623903"/>
                  <a:pt x="0" y="603192"/>
                </a:cubicBezTo>
                <a:lnTo>
                  <a:pt x="0" y="37501"/>
                </a:lnTo>
                <a:cubicBezTo>
                  <a:pt x="0" y="16789"/>
                  <a:pt x="16789" y="0"/>
                  <a:pt x="37501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715728" y="5105313"/>
            <a:ext cx="301502" cy="301502"/>
          </a:xfrm>
          <a:custGeom>
            <a:avLst/>
            <a:gdLst/>
            <a:ahLst/>
            <a:cxnLst/>
            <a:rect l="l" t="t" r="r" b="b"/>
            <a:pathLst>
              <a:path w="301502" h="301502">
                <a:moveTo>
                  <a:pt x="150752" y="0"/>
                </a:moveTo>
                <a:lnTo>
                  <a:pt x="150752" y="0"/>
                </a:lnTo>
                <a:cubicBezTo>
                  <a:pt x="233953" y="0"/>
                  <a:pt x="301502" y="67549"/>
                  <a:pt x="301502" y="150752"/>
                </a:cubicBezTo>
                <a:lnTo>
                  <a:pt x="301502" y="150752"/>
                </a:lnTo>
                <a:cubicBezTo>
                  <a:pt x="301502" y="233953"/>
                  <a:pt x="233953" y="301502"/>
                  <a:pt x="150752" y="301502"/>
                </a:cubicBezTo>
                <a:lnTo>
                  <a:pt x="150752" y="301502"/>
                </a:lnTo>
                <a:cubicBezTo>
                  <a:pt x="67549" y="301502"/>
                  <a:pt x="0" y="233953"/>
                  <a:pt x="0" y="150752"/>
                </a:cubicBezTo>
                <a:lnTo>
                  <a:pt x="0" y="150752"/>
                </a:lnTo>
                <a:cubicBezTo>
                  <a:pt x="0" y="67549"/>
                  <a:pt x="67549" y="0"/>
                  <a:pt x="150752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78040" y="5105313"/>
            <a:ext cx="376878" cy="30150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5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130209" y="5048842"/>
            <a:ext cx="4626176" cy="2261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Global Memory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1130209" y="5274943"/>
            <a:ext cx="4616754" cy="188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Slowest, largest capacity</a:t>
            </a:r>
            <a:endParaRPr lang="en-US" sz="1100"/>
          </a:p>
        </p:txBody>
      </p:sp>
      <p:sp>
        <p:nvSpPr>
          <p:cNvPr id="36" name="Freeform 36"/>
          <p:cNvSpPr/>
          <p:nvPr/>
        </p:nvSpPr>
        <p:spPr>
          <a:xfrm>
            <a:off x="6210033" y="1318809"/>
            <a:ext cx="5606059" cy="1846702"/>
          </a:xfrm>
          <a:custGeom>
            <a:avLst/>
            <a:gdLst/>
            <a:ahLst/>
            <a:cxnLst/>
            <a:rect l="l" t="t" r="r" b="b"/>
            <a:pathLst>
              <a:path w="5606059" h="1846702">
                <a:moveTo>
                  <a:pt x="75382" y="0"/>
                </a:moveTo>
                <a:lnTo>
                  <a:pt x="5530676" y="0"/>
                </a:lnTo>
                <a:cubicBezTo>
                  <a:pt x="5572309" y="0"/>
                  <a:pt x="5606059" y="33750"/>
                  <a:pt x="5606059" y="75382"/>
                </a:cubicBezTo>
                <a:lnTo>
                  <a:pt x="5606059" y="1771319"/>
                </a:lnTo>
                <a:cubicBezTo>
                  <a:pt x="5606059" y="1812952"/>
                  <a:pt x="5572309" y="1846702"/>
                  <a:pt x="5530676" y="1846702"/>
                </a:cubicBezTo>
                <a:lnTo>
                  <a:pt x="75382" y="1846702"/>
                </a:lnTo>
                <a:cubicBezTo>
                  <a:pt x="33750" y="1846702"/>
                  <a:pt x="0" y="1812952"/>
                  <a:pt x="0" y="1771319"/>
                </a:cubicBezTo>
                <a:lnTo>
                  <a:pt x="0" y="75382"/>
                </a:lnTo>
                <a:cubicBezTo>
                  <a:pt x="0" y="33778"/>
                  <a:pt x="33778" y="0"/>
                  <a:pt x="75382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6421968" y="1544837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0" y="94219"/>
                </a:moveTo>
                <a:cubicBezTo>
                  <a:pt x="0" y="42219"/>
                  <a:pt x="42219" y="0"/>
                  <a:pt x="94219" y="0"/>
                </a:cubicBezTo>
                <a:cubicBezTo>
                  <a:pt x="146221" y="0"/>
                  <a:pt x="188439" y="42219"/>
                  <a:pt x="188439" y="94219"/>
                </a:cubicBezTo>
                <a:cubicBezTo>
                  <a:pt x="188439" y="146221"/>
                  <a:pt x="146221" y="188439"/>
                  <a:pt x="94219" y="188439"/>
                </a:cubicBezTo>
                <a:cubicBezTo>
                  <a:pt x="42219" y="188439"/>
                  <a:pt x="0" y="146221"/>
                  <a:pt x="0" y="94219"/>
                </a:cubicBezTo>
                <a:close/>
                <a:moveTo>
                  <a:pt x="105997" y="35331"/>
                </a:moveTo>
                <a:cubicBezTo>
                  <a:pt x="105997" y="28832"/>
                  <a:pt x="100720" y="23555"/>
                  <a:pt x="94219" y="23555"/>
                </a:cubicBezTo>
                <a:cubicBezTo>
                  <a:pt x="87719" y="23555"/>
                  <a:pt x="82442" y="28832"/>
                  <a:pt x="82442" y="35331"/>
                </a:cubicBezTo>
                <a:cubicBezTo>
                  <a:pt x="82442" y="41833"/>
                  <a:pt x="87719" y="47109"/>
                  <a:pt x="94219" y="47109"/>
                </a:cubicBezTo>
                <a:cubicBezTo>
                  <a:pt x="100720" y="47109"/>
                  <a:pt x="105997" y="41833"/>
                  <a:pt x="105997" y="35331"/>
                </a:cubicBezTo>
                <a:close/>
                <a:moveTo>
                  <a:pt x="94219" y="153107"/>
                </a:moveTo>
                <a:cubicBezTo>
                  <a:pt x="107211" y="153107"/>
                  <a:pt x="117773" y="142544"/>
                  <a:pt x="117773" y="129551"/>
                </a:cubicBezTo>
                <a:cubicBezTo>
                  <a:pt x="117773" y="123589"/>
                  <a:pt x="115566" y="118106"/>
                  <a:pt x="111886" y="113983"/>
                </a:cubicBezTo>
                <a:lnTo>
                  <a:pt x="137465" y="62862"/>
                </a:lnTo>
                <a:cubicBezTo>
                  <a:pt x="139636" y="58482"/>
                  <a:pt x="137870" y="53183"/>
                  <a:pt x="133527" y="51011"/>
                </a:cubicBezTo>
                <a:cubicBezTo>
                  <a:pt x="129184" y="48840"/>
                  <a:pt x="123847" y="50606"/>
                  <a:pt x="121676" y="54949"/>
                </a:cubicBezTo>
                <a:lnTo>
                  <a:pt x="96097" y="106070"/>
                </a:lnTo>
                <a:cubicBezTo>
                  <a:pt x="95471" y="106034"/>
                  <a:pt x="94845" y="105997"/>
                  <a:pt x="94219" y="105997"/>
                </a:cubicBezTo>
                <a:cubicBezTo>
                  <a:pt x="81227" y="105997"/>
                  <a:pt x="70665" y="116561"/>
                  <a:pt x="70665" y="129551"/>
                </a:cubicBezTo>
                <a:cubicBezTo>
                  <a:pt x="70665" y="142544"/>
                  <a:pt x="81227" y="153107"/>
                  <a:pt x="94219" y="153107"/>
                </a:cubicBezTo>
                <a:close/>
                <a:moveTo>
                  <a:pt x="64776" y="52998"/>
                </a:moveTo>
                <a:cubicBezTo>
                  <a:pt x="64776" y="46499"/>
                  <a:pt x="59500" y="41220"/>
                  <a:pt x="52998" y="41220"/>
                </a:cubicBezTo>
                <a:cubicBezTo>
                  <a:pt x="46499" y="41220"/>
                  <a:pt x="41220" y="46499"/>
                  <a:pt x="41220" y="52998"/>
                </a:cubicBezTo>
                <a:cubicBezTo>
                  <a:pt x="41220" y="59500"/>
                  <a:pt x="46499" y="64776"/>
                  <a:pt x="52998" y="64776"/>
                </a:cubicBezTo>
                <a:cubicBezTo>
                  <a:pt x="59500" y="64776"/>
                  <a:pt x="64776" y="59500"/>
                  <a:pt x="64776" y="52998"/>
                </a:cubicBezTo>
                <a:close/>
                <a:moveTo>
                  <a:pt x="35331" y="105997"/>
                </a:moveTo>
                <a:cubicBezTo>
                  <a:pt x="41833" y="105997"/>
                  <a:pt x="47109" y="100720"/>
                  <a:pt x="47109" y="94219"/>
                </a:cubicBezTo>
                <a:cubicBezTo>
                  <a:pt x="47109" y="87719"/>
                  <a:pt x="41833" y="82442"/>
                  <a:pt x="35331" y="82442"/>
                </a:cubicBezTo>
                <a:cubicBezTo>
                  <a:pt x="28832" y="82442"/>
                  <a:pt x="23555" y="87719"/>
                  <a:pt x="23555" y="94219"/>
                </a:cubicBezTo>
                <a:cubicBezTo>
                  <a:pt x="23555" y="100720"/>
                  <a:pt x="28832" y="105997"/>
                  <a:pt x="35331" y="105997"/>
                </a:cubicBezTo>
                <a:close/>
                <a:moveTo>
                  <a:pt x="164884" y="94219"/>
                </a:moveTo>
                <a:cubicBezTo>
                  <a:pt x="164884" y="87719"/>
                  <a:pt x="159607" y="82442"/>
                  <a:pt x="153107" y="82442"/>
                </a:cubicBezTo>
                <a:cubicBezTo>
                  <a:pt x="146608" y="82442"/>
                  <a:pt x="141329" y="87719"/>
                  <a:pt x="141329" y="94219"/>
                </a:cubicBezTo>
                <a:cubicBezTo>
                  <a:pt x="141329" y="100720"/>
                  <a:pt x="146608" y="105997"/>
                  <a:pt x="153107" y="105997"/>
                </a:cubicBezTo>
                <a:cubicBezTo>
                  <a:pt x="159607" y="105997"/>
                  <a:pt x="164884" y="100720"/>
                  <a:pt x="164884" y="9421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633962" y="1507190"/>
            <a:ext cx="5087852" cy="2638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Speed Difference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398413" y="1884023"/>
            <a:ext cx="5455308" cy="4522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83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100×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398413" y="2411664"/>
            <a:ext cx="5313978" cy="2638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Register vs Global Memory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398413" y="2750851"/>
            <a:ext cx="5304556" cy="2261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Up to 100× performance gap</a:t>
            </a:r>
            <a:endParaRPr lang="en-US" sz="1100"/>
          </a:p>
        </p:txBody>
      </p:sp>
      <p:sp>
        <p:nvSpPr>
          <p:cNvPr id="42" name="Freeform 42"/>
          <p:cNvSpPr/>
          <p:nvPr/>
        </p:nvSpPr>
        <p:spPr>
          <a:xfrm>
            <a:off x="6210033" y="3316065"/>
            <a:ext cx="5606059" cy="3325947"/>
          </a:xfrm>
          <a:custGeom>
            <a:avLst/>
            <a:gdLst/>
            <a:ahLst/>
            <a:cxnLst/>
            <a:rect l="l" t="t" r="r" b="b"/>
            <a:pathLst>
              <a:path w="5606059" h="3325947">
                <a:moveTo>
                  <a:pt x="75366" y="0"/>
                </a:moveTo>
                <a:lnTo>
                  <a:pt x="5530693" y="0"/>
                </a:lnTo>
                <a:cubicBezTo>
                  <a:pt x="5572315" y="0"/>
                  <a:pt x="5606059" y="33743"/>
                  <a:pt x="5606059" y="75366"/>
                </a:cubicBezTo>
                <a:lnTo>
                  <a:pt x="5606059" y="3250582"/>
                </a:lnTo>
                <a:cubicBezTo>
                  <a:pt x="5606059" y="3292204"/>
                  <a:pt x="5572315" y="3325947"/>
                  <a:pt x="5530693" y="3325947"/>
                </a:cubicBezTo>
                <a:lnTo>
                  <a:pt x="75366" y="3325947"/>
                </a:lnTo>
                <a:cubicBezTo>
                  <a:pt x="33743" y="3325947"/>
                  <a:pt x="0" y="3292204"/>
                  <a:pt x="0" y="3250582"/>
                </a:cubicBezTo>
                <a:lnTo>
                  <a:pt x="0" y="75366"/>
                </a:lnTo>
                <a:cubicBezTo>
                  <a:pt x="0" y="33771"/>
                  <a:pt x="33771" y="0"/>
                  <a:pt x="75366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1"/>
          <a:srcRect l="87" r="87"/>
          <a:stretch>
            <a:fillRect/>
          </a:stretch>
        </p:blipFill>
        <p:spPr>
          <a:xfrm>
            <a:off x="6398487" y="3504446"/>
            <a:ext cx="5229181" cy="2949070"/>
          </a:xfrm>
          <a:prstGeom prst="roundRect">
            <a:avLst>
              <a:gd name="adj" fmla="val 1278"/>
            </a:avLst>
          </a:prstGeom>
          <a:ln w="12700">
            <a:noFill/>
            <a:prstDash val="solid"/>
          </a:ln>
        </p:spPr>
      </p:pic>
      <p:sp>
        <p:nvSpPr>
          <p:cNvPr id="44" name="AutoShape 44"/>
          <p:cNvSpPr/>
          <p:nvPr/>
        </p:nvSpPr>
        <p:spPr>
          <a:xfrm>
            <a:off x="310880" y="6669561"/>
            <a:ext cx="11504198" cy="18843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NVIDIA Developer Blog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3258" y="586217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Register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80956" y="1333234"/>
            <a:ext cx="6762750" cy="4228632"/>
            <a:chOff x="380956" y="1333234"/>
            <a:chExt cx="6762750" cy="4228632"/>
          </a:xfrm>
        </p:grpSpPr>
        <p:sp>
          <p:nvSpPr>
            <p:cNvPr id="4" name="Freeform 4"/>
            <p:cNvSpPr/>
            <p:nvPr/>
          </p:nvSpPr>
          <p:spPr>
            <a:xfrm>
              <a:off x="380956" y="1333234"/>
              <a:ext cx="6762750" cy="2590800"/>
            </a:xfrm>
            <a:custGeom>
              <a:avLst/>
              <a:gdLst/>
              <a:ahLst/>
              <a:cxnLst/>
              <a:rect l="l" t="t" r="r" b="b"/>
              <a:pathLst>
                <a:path w="6762750" h="2590800">
                  <a:moveTo>
                    <a:pt x="76195" y="0"/>
                  </a:moveTo>
                  <a:lnTo>
                    <a:pt x="6686555" y="0"/>
                  </a:lnTo>
                  <a:cubicBezTo>
                    <a:pt x="6728609" y="0"/>
                    <a:pt x="6762750" y="34141"/>
                    <a:pt x="6762750" y="76195"/>
                  </a:cubicBezTo>
                  <a:lnTo>
                    <a:pt x="6762750" y="2514605"/>
                  </a:lnTo>
                  <a:cubicBezTo>
                    <a:pt x="6762750" y="2556687"/>
                    <a:pt x="6728637" y="2590800"/>
                    <a:pt x="6686555" y="2590800"/>
                  </a:cubicBezTo>
                  <a:lnTo>
                    <a:pt x="76195" y="2590800"/>
                  </a:lnTo>
                  <a:cubicBezTo>
                    <a:pt x="34141" y="2590800"/>
                    <a:pt x="0" y="2556659"/>
                    <a:pt x="0" y="2514605"/>
                  </a:cubicBezTo>
                  <a:lnTo>
                    <a:pt x="0" y="76195"/>
                  </a:lnTo>
                  <a:cubicBezTo>
                    <a:pt x="0" y="34141"/>
                    <a:pt x="34141" y="0"/>
                    <a:pt x="76195" y="0"/>
                  </a:cubicBez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Freeform 5"/>
            <p:cNvSpPr/>
            <p:nvPr/>
          </p:nvSpPr>
          <p:spPr>
            <a:xfrm>
              <a:off x="606110" y="1554850"/>
              <a:ext cx="168697" cy="204267"/>
            </a:xfrm>
            <a:custGeom>
              <a:avLst/>
              <a:gdLst/>
              <a:ahLst/>
              <a:cxnLst/>
              <a:rect l="l" t="t" r="r" b="b"/>
              <a:pathLst>
                <a:path w="168697" h="204267">
                  <a:moveTo>
                    <a:pt x="127061" y="3200"/>
                  </a:moveTo>
                  <a:cubicBezTo>
                    <a:pt x="131490" y="6399"/>
                    <a:pt x="133127" y="12204"/>
                    <a:pt x="131118" y="17264"/>
                  </a:cubicBezTo>
                  <a:lnTo>
                    <a:pt x="101948" y="90227"/>
                  </a:lnTo>
                  <a:lnTo>
                    <a:pt x="155786" y="90227"/>
                  </a:lnTo>
                  <a:cubicBezTo>
                    <a:pt x="160809" y="90227"/>
                    <a:pt x="165274" y="93352"/>
                    <a:pt x="166986" y="98077"/>
                  </a:cubicBezTo>
                  <a:cubicBezTo>
                    <a:pt x="168697" y="102804"/>
                    <a:pt x="167245" y="108085"/>
                    <a:pt x="163414" y="111286"/>
                  </a:cubicBezTo>
                  <a:lnTo>
                    <a:pt x="56258" y="200583"/>
                  </a:lnTo>
                  <a:cubicBezTo>
                    <a:pt x="52053" y="204080"/>
                    <a:pt x="46063" y="204266"/>
                    <a:pt x="41635" y="201066"/>
                  </a:cubicBezTo>
                  <a:cubicBezTo>
                    <a:pt x="37208" y="197867"/>
                    <a:pt x="35571" y="192062"/>
                    <a:pt x="37580" y="187002"/>
                  </a:cubicBezTo>
                  <a:lnTo>
                    <a:pt x="66750" y="114039"/>
                  </a:lnTo>
                  <a:lnTo>
                    <a:pt x="12911" y="114039"/>
                  </a:lnTo>
                  <a:cubicBezTo>
                    <a:pt x="7888" y="114039"/>
                    <a:pt x="3423" y="110914"/>
                    <a:pt x="1712" y="106189"/>
                  </a:cubicBezTo>
                  <a:cubicBezTo>
                    <a:pt x="0" y="101462"/>
                    <a:pt x="1451" y="96181"/>
                    <a:pt x="5284" y="92980"/>
                  </a:cubicBezTo>
                  <a:lnTo>
                    <a:pt x="112440" y="3683"/>
                  </a:lnTo>
                  <a:cubicBezTo>
                    <a:pt x="116644" y="186"/>
                    <a:pt x="122635" y="0"/>
                    <a:pt x="127061" y="320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AutoShape 6"/>
            <p:cNvSpPr/>
            <p:nvPr/>
          </p:nvSpPr>
          <p:spPr>
            <a:xfrm>
              <a:off x="809521" y="1523674"/>
              <a:ext cx="623887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Register Characteristics</a:t>
              </a:r>
              <a:endParaRPr lang="en-US" sz="1100"/>
            </a:p>
          </p:txBody>
        </p:sp>
        <p:sp>
          <p:nvSpPr>
            <p:cNvPr id="7" name="Freeform 7"/>
            <p:cNvSpPr/>
            <p:nvPr/>
          </p:nvSpPr>
          <p:spPr>
            <a:xfrm>
              <a:off x="571396" y="201895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8" name="AutoShape 8"/>
            <p:cNvSpPr/>
            <p:nvPr/>
          </p:nvSpPr>
          <p:spPr>
            <a:xfrm>
              <a:off x="761837" y="1942763"/>
              <a:ext cx="237172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Fastest storage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761837" y="2209393"/>
              <a:ext cx="4890260" cy="30386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Located inside GPU cores, extremely fast access</a:t>
              </a:r>
              <a:endParaRPr lang="en-US" sz="110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71396" y="266654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761837" y="2590350"/>
              <a:ext cx="2209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Private to each thread</a:t>
              </a:r>
              <a:endParaRPr lang="en-US" sz="1100"/>
            </a:p>
          </p:txBody>
        </p:sp>
        <p:sp>
          <p:nvSpPr>
            <p:cNvPr id="12" name="AutoShape 12"/>
            <p:cNvSpPr/>
            <p:nvPr/>
          </p:nvSpPr>
          <p:spPr>
            <a:xfrm>
              <a:off x="761837" y="2856981"/>
              <a:ext cx="4405444" cy="303864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Not visible between threads, ensures data independence</a:t>
              </a:r>
              <a:endParaRPr lang="en-US" sz="1100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396" y="331412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761837" y="3237937"/>
              <a:ext cx="15049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Small capacity</a:t>
              </a:r>
              <a:endParaRPr lang="en-US" sz="1100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761836" y="3504570"/>
              <a:ext cx="237172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Example: 64 KB per SM</a:t>
              </a:r>
              <a:endParaRPr lang="en-US" sz="1100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380956" y="4075966"/>
              <a:ext cx="6762750" cy="1485900"/>
            </a:xfrm>
            <a:custGeom>
              <a:avLst/>
              <a:gdLst/>
              <a:ahLst/>
              <a:cxnLst/>
              <a:rect l="l" t="t" r="r" b="b"/>
              <a:pathLst>
                <a:path w="6762750" h="1485900">
                  <a:moveTo>
                    <a:pt x="76197" y="0"/>
                  </a:moveTo>
                  <a:lnTo>
                    <a:pt x="6686553" y="0"/>
                  </a:lnTo>
                  <a:cubicBezTo>
                    <a:pt x="6728635" y="0"/>
                    <a:pt x="6762750" y="34115"/>
                    <a:pt x="6762750" y="76197"/>
                  </a:cubicBezTo>
                  <a:lnTo>
                    <a:pt x="6762750" y="1409703"/>
                  </a:lnTo>
                  <a:cubicBezTo>
                    <a:pt x="6762750" y="1451785"/>
                    <a:pt x="6728635" y="1485900"/>
                    <a:pt x="6686553" y="1485900"/>
                  </a:cubicBezTo>
                  <a:lnTo>
                    <a:pt x="76197" y="1485900"/>
                  </a:lnTo>
                  <a:cubicBezTo>
                    <a:pt x="34115" y="1485900"/>
                    <a:pt x="0" y="1451785"/>
                    <a:pt x="0" y="1409703"/>
                  </a:cubicBezTo>
                  <a:lnTo>
                    <a:pt x="0" y="76197"/>
                  </a:lnTo>
                  <a:cubicBezTo>
                    <a:pt x="0" y="34143"/>
                    <a:pt x="34143" y="0"/>
                    <a:pt x="76197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82150" y="4303088"/>
              <a:ext cx="216656" cy="193253"/>
            </a:xfrm>
            <a:custGeom>
              <a:avLst/>
              <a:gdLst/>
              <a:ahLst/>
              <a:cxnLst/>
              <a:rect l="l" t="t" r="r" b="b"/>
              <a:pathLst>
                <a:path w="216656" h="193253">
                  <a:moveTo>
                    <a:pt x="135396" y="1823"/>
                  </a:moveTo>
                  <a:cubicBezTo>
                    <a:pt x="129071" y="0"/>
                    <a:pt x="122485" y="3685"/>
                    <a:pt x="120663" y="10009"/>
                  </a:cubicBezTo>
                  <a:lnTo>
                    <a:pt x="73038" y="176697"/>
                  </a:lnTo>
                  <a:cubicBezTo>
                    <a:pt x="71214" y="183023"/>
                    <a:pt x="74897" y="189608"/>
                    <a:pt x="81223" y="191431"/>
                  </a:cubicBezTo>
                  <a:cubicBezTo>
                    <a:pt x="87549" y="193254"/>
                    <a:pt x="94134" y="189569"/>
                    <a:pt x="95957" y="183245"/>
                  </a:cubicBezTo>
                  <a:lnTo>
                    <a:pt x="143582" y="16557"/>
                  </a:lnTo>
                  <a:cubicBezTo>
                    <a:pt x="145405" y="10231"/>
                    <a:pt x="141720" y="3646"/>
                    <a:pt x="135396" y="1823"/>
                  </a:cubicBezTo>
                  <a:close/>
                  <a:moveTo>
                    <a:pt x="159432" y="52461"/>
                  </a:moveTo>
                  <a:cubicBezTo>
                    <a:pt x="154781" y="57113"/>
                    <a:pt x="154781" y="64666"/>
                    <a:pt x="159432" y="69317"/>
                  </a:cubicBezTo>
                  <a:lnTo>
                    <a:pt x="186742" y="96627"/>
                  </a:lnTo>
                  <a:lnTo>
                    <a:pt x="159432" y="123937"/>
                  </a:lnTo>
                  <a:cubicBezTo>
                    <a:pt x="154781" y="128588"/>
                    <a:pt x="154781" y="136141"/>
                    <a:pt x="159432" y="140793"/>
                  </a:cubicBezTo>
                  <a:cubicBezTo>
                    <a:pt x="164083" y="145443"/>
                    <a:pt x="171637" y="145443"/>
                    <a:pt x="176286" y="140793"/>
                  </a:cubicBezTo>
                  <a:lnTo>
                    <a:pt x="212005" y="105072"/>
                  </a:lnTo>
                  <a:cubicBezTo>
                    <a:pt x="216655" y="100422"/>
                    <a:pt x="216655" y="92869"/>
                    <a:pt x="212005" y="88218"/>
                  </a:cubicBezTo>
                  <a:lnTo>
                    <a:pt x="176286" y="52500"/>
                  </a:lnTo>
                  <a:cubicBezTo>
                    <a:pt x="171637" y="47849"/>
                    <a:pt x="164083" y="47849"/>
                    <a:pt x="159432" y="52500"/>
                  </a:cubicBezTo>
                  <a:close/>
                  <a:moveTo>
                    <a:pt x="57224" y="52461"/>
                  </a:moveTo>
                  <a:cubicBezTo>
                    <a:pt x="52573" y="47811"/>
                    <a:pt x="45020" y="47811"/>
                    <a:pt x="40369" y="52461"/>
                  </a:cubicBezTo>
                  <a:lnTo>
                    <a:pt x="4651" y="88182"/>
                  </a:lnTo>
                  <a:cubicBezTo>
                    <a:pt x="0" y="92832"/>
                    <a:pt x="0" y="100385"/>
                    <a:pt x="4651" y="105036"/>
                  </a:cubicBezTo>
                  <a:lnTo>
                    <a:pt x="40369" y="140754"/>
                  </a:lnTo>
                  <a:cubicBezTo>
                    <a:pt x="45020" y="145405"/>
                    <a:pt x="52573" y="145405"/>
                    <a:pt x="57224" y="140754"/>
                  </a:cubicBezTo>
                  <a:cubicBezTo>
                    <a:pt x="61876" y="136104"/>
                    <a:pt x="61876" y="128551"/>
                    <a:pt x="57224" y="123900"/>
                  </a:cubicBezTo>
                  <a:lnTo>
                    <a:pt x="29913" y="96627"/>
                  </a:lnTo>
                  <a:lnTo>
                    <a:pt x="57187" y="69317"/>
                  </a:lnTo>
                  <a:cubicBezTo>
                    <a:pt x="61837" y="64666"/>
                    <a:pt x="61837" y="57113"/>
                    <a:pt x="57187" y="52461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809521" y="4266407"/>
              <a:ext cx="623887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Primary Uses</a:t>
              </a:r>
              <a:endParaRPr lang="en-US" sz="110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571396" y="4685494"/>
              <a:ext cx="3133725" cy="685800"/>
            </a:xfrm>
            <a:custGeom>
              <a:avLst/>
              <a:gdLst/>
              <a:ahLst/>
              <a:cxnLst/>
              <a:rect l="l" t="t" r="r" b="b"/>
              <a:pathLst>
                <a:path w="3133725" h="685800">
                  <a:moveTo>
                    <a:pt x="76199" y="0"/>
                  </a:moveTo>
                  <a:lnTo>
                    <a:pt x="3057526" y="0"/>
                  </a:lnTo>
                  <a:cubicBezTo>
                    <a:pt x="3099609" y="0"/>
                    <a:pt x="3133725" y="34116"/>
                    <a:pt x="3133725" y="76199"/>
                  </a:cubicBezTo>
                  <a:lnTo>
                    <a:pt x="3133725" y="609601"/>
                  </a:lnTo>
                  <a:cubicBezTo>
                    <a:pt x="3133725" y="651684"/>
                    <a:pt x="3099609" y="685800"/>
                    <a:pt x="3057526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0" name="AutoShape 20"/>
            <p:cNvSpPr/>
            <p:nvPr/>
          </p:nvSpPr>
          <p:spPr>
            <a:xfrm>
              <a:off x="685646" y="4799745"/>
              <a:ext cx="298132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Local variables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85646" y="5066376"/>
              <a:ext cx="2971800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100" b="0" i="0" u="none" strike="noStrike">
                  <a:solidFill>
                    <a:srgbClr val="FFFFFF">
                      <a:alpha val="90196"/>
                    </a:srgbClr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Store temporary computation results</a:t>
              </a:r>
              <a:endParaRPr lang="en-US" sz="1100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3821329" y="4685494"/>
              <a:ext cx="3133725" cy="685800"/>
            </a:xfrm>
            <a:custGeom>
              <a:avLst/>
              <a:gdLst/>
              <a:ahLst/>
              <a:cxnLst/>
              <a:rect l="l" t="t" r="r" b="b"/>
              <a:pathLst>
                <a:path w="3133725" h="685800">
                  <a:moveTo>
                    <a:pt x="76199" y="0"/>
                  </a:moveTo>
                  <a:lnTo>
                    <a:pt x="3057526" y="0"/>
                  </a:lnTo>
                  <a:cubicBezTo>
                    <a:pt x="3099609" y="0"/>
                    <a:pt x="3133725" y="34116"/>
                    <a:pt x="3133725" y="76199"/>
                  </a:cubicBezTo>
                  <a:lnTo>
                    <a:pt x="3133725" y="609601"/>
                  </a:lnTo>
                  <a:cubicBezTo>
                    <a:pt x="3133725" y="651684"/>
                    <a:pt x="3099609" y="685800"/>
                    <a:pt x="3057526" y="685800"/>
                  </a:cubicBezTo>
                  <a:lnTo>
                    <a:pt x="76199" y="685800"/>
                  </a:lnTo>
                  <a:cubicBezTo>
                    <a:pt x="34116" y="685800"/>
                    <a:pt x="0" y="651684"/>
                    <a:pt x="0" y="609601"/>
                  </a:cubicBezTo>
                  <a:lnTo>
                    <a:pt x="0" y="76199"/>
                  </a:lnTo>
                  <a:cubicBezTo>
                    <a:pt x="0" y="34144"/>
                    <a:pt x="34144" y="0"/>
                    <a:pt x="76199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3" name="AutoShape 23"/>
            <p:cNvSpPr/>
            <p:nvPr/>
          </p:nvSpPr>
          <p:spPr>
            <a:xfrm>
              <a:off x="3935578" y="4799745"/>
              <a:ext cx="298132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Temporary results</a:t>
              </a:r>
              <a:endParaRPr lang="en-US" sz="1100"/>
            </a:p>
          </p:txBody>
        </p:sp>
        <p:sp>
          <p:nvSpPr>
            <p:cNvPr id="24" name="AutoShape 24"/>
            <p:cNvSpPr/>
            <p:nvPr/>
          </p:nvSpPr>
          <p:spPr>
            <a:xfrm>
              <a:off x="3935578" y="5066376"/>
              <a:ext cx="2971800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100" b="0" i="0" u="none" strike="noStrike">
                  <a:solidFill>
                    <a:srgbClr val="FFFFFF">
                      <a:alpha val="90196"/>
                    </a:srgbClr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Cache intermediate computation data</a:t>
              </a:r>
              <a:endParaRPr lang="en-US" sz="1100"/>
            </a:p>
          </p:txBody>
        </p:sp>
      </p:grpSp>
      <p:sp>
        <p:nvSpPr>
          <p:cNvPr id="25" name="Freeform 25"/>
          <p:cNvSpPr/>
          <p:nvPr/>
        </p:nvSpPr>
        <p:spPr>
          <a:xfrm>
            <a:off x="7376099" y="1333234"/>
            <a:ext cx="4438650" cy="4876800"/>
          </a:xfrm>
          <a:custGeom>
            <a:avLst/>
            <a:gdLst/>
            <a:ahLst/>
            <a:cxnLst/>
            <a:rect l="l" t="t" r="r" b="b"/>
            <a:pathLst>
              <a:path w="4438650" h="4876800">
                <a:moveTo>
                  <a:pt x="76211" y="0"/>
                </a:moveTo>
                <a:lnTo>
                  <a:pt x="4362439" y="0"/>
                </a:lnTo>
                <a:cubicBezTo>
                  <a:pt x="4404529" y="0"/>
                  <a:pt x="4438650" y="34121"/>
                  <a:pt x="4438650" y="76211"/>
                </a:cubicBezTo>
                <a:lnTo>
                  <a:pt x="4438650" y="4800589"/>
                </a:lnTo>
                <a:cubicBezTo>
                  <a:pt x="4438650" y="4842679"/>
                  <a:pt x="4404529" y="4876800"/>
                  <a:pt x="4362439" y="4876800"/>
                </a:cubicBezTo>
                <a:lnTo>
                  <a:pt x="76211" y="4876800"/>
                </a:lnTo>
                <a:cubicBezTo>
                  <a:pt x="34121" y="4876800"/>
                  <a:pt x="0" y="4842679"/>
                  <a:pt x="0" y="4800589"/>
                </a:cubicBezTo>
                <a:lnTo>
                  <a:pt x="0" y="76211"/>
                </a:lnTo>
                <a:cubicBezTo>
                  <a:pt x="0" y="34121"/>
                  <a:pt x="34121" y="0"/>
                  <a:pt x="76211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768725" y="2476544"/>
            <a:ext cx="1647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Register per Thread</a:t>
            </a:r>
            <a:endParaRPr lang="en-US" sz="1100"/>
          </a:p>
        </p:txBody>
      </p:sp>
      <p:sp>
        <p:nvSpPr>
          <p:cNvPr id="27" name="Freeform 27"/>
          <p:cNvSpPr/>
          <p:nvPr/>
        </p:nvSpPr>
        <p:spPr>
          <a:xfrm>
            <a:off x="8412565" y="297182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379227" y="2971824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R0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9022094" y="297182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988757" y="2971824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R1</a:t>
            </a:r>
            <a:endParaRPr lang="en-US" sz="1100"/>
          </a:p>
        </p:txBody>
      </p:sp>
      <p:sp>
        <p:nvSpPr>
          <p:cNvPr id="31" name="Freeform 31"/>
          <p:cNvSpPr/>
          <p:nvPr/>
        </p:nvSpPr>
        <p:spPr>
          <a:xfrm>
            <a:off x="9631623" y="297182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598286" y="2971824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R2</a:t>
            </a:r>
            <a:endParaRPr lang="en-US" sz="1100"/>
          </a:p>
        </p:txBody>
      </p:sp>
      <p:sp>
        <p:nvSpPr>
          <p:cNvPr id="33" name="Freeform 33"/>
          <p:cNvSpPr/>
          <p:nvPr/>
        </p:nvSpPr>
        <p:spPr>
          <a:xfrm>
            <a:off x="10241152" y="297182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10207814" y="2971824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R3</a:t>
            </a:r>
            <a:endParaRPr lang="en-US" sz="1100"/>
          </a:p>
        </p:txBody>
      </p:sp>
      <p:sp>
        <p:nvSpPr>
          <p:cNvPr id="35" name="Freeform 35"/>
          <p:cNvSpPr/>
          <p:nvPr/>
        </p:nvSpPr>
        <p:spPr>
          <a:xfrm>
            <a:off x="8412565" y="35813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8379227" y="3581352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R4</a:t>
            </a:r>
            <a:endParaRPr lang="en-US" sz="1100"/>
          </a:p>
        </p:txBody>
      </p:sp>
      <p:sp>
        <p:nvSpPr>
          <p:cNvPr id="37" name="Freeform 37"/>
          <p:cNvSpPr/>
          <p:nvPr/>
        </p:nvSpPr>
        <p:spPr>
          <a:xfrm>
            <a:off x="9022094" y="35813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8988757" y="3581352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R5</a:t>
            </a:r>
            <a:endParaRPr lang="en-US" sz="1100"/>
          </a:p>
        </p:txBody>
      </p:sp>
      <p:sp>
        <p:nvSpPr>
          <p:cNvPr id="39" name="Freeform 39"/>
          <p:cNvSpPr/>
          <p:nvPr/>
        </p:nvSpPr>
        <p:spPr>
          <a:xfrm>
            <a:off x="9631623" y="35813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9598286" y="3581352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R6</a:t>
            </a:r>
            <a:endParaRPr lang="en-US" sz="1100"/>
          </a:p>
        </p:txBody>
      </p:sp>
      <p:sp>
        <p:nvSpPr>
          <p:cNvPr id="41" name="Freeform 41"/>
          <p:cNvSpPr/>
          <p:nvPr/>
        </p:nvSpPr>
        <p:spPr>
          <a:xfrm>
            <a:off x="10241152" y="358135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10207814" y="3581352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R7</a:t>
            </a:r>
            <a:endParaRPr lang="en-US" sz="1100"/>
          </a:p>
        </p:txBody>
      </p:sp>
      <p:sp>
        <p:nvSpPr>
          <p:cNvPr id="43" name="Freeform 43"/>
          <p:cNvSpPr/>
          <p:nvPr/>
        </p:nvSpPr>
        <p:spPr>
          <a:xfrm>
            <a:off x="8412565" y="41908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8379227" y="4190881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R8</a:t>
            </a:r>
            <a:endParaRPr lang="en-US" sz="1100"/>
          </a:p>
        </p:txBody>
      </p:sp>
      <p:sp>
        <p:nvSpPr>
          <p:cNvPr id="45" name="Freeform 45"/>
          <p:cNvSpPr/>
          <p:nvPr/>
        </p:nvSpPr>
        <p:spPr>
          <a:xfrm>
            <a:off x="9022094" y="41908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8988757" y="4190881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R9</a:t>
            </a:r>
            <a:endParaRPr lang="en-US" sz="1100"/>
          </a:p>
        </p:txBody>
      </p:sp>
      <p:sp>
        <p:nvSpPr>
          <p:cNvPr id="47" name="Freeform 47"/>
          <p:cNvSpPr/>
          <p:nvPr/>
        </p:nvSpPr>
        <p:spPr>
          <a:xfrm>
            <a:off x="9631623" y="41908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9598286" y="4190881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R10</a:t>
            </a:r>
            <a:endParaRPr lang="en-US" sz="1100"/>
          </a:p>
        </p:txBody>
      </p:sp>
      <p:sp>
        <p:nvSpPr>
          <p:cNvPr id="49" name="Freeform 49"/>
          <p:cNvSpPr/>
          <p:nvPr/>
        </p:nvSpPr>
        <p:spPr>
          <a:xfrm>
            <a:off x="10241152" y="41908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38101" y="0"/>
                </a:moveTo>
                <a:lnTo>
                  <a:pt x="495299" y="0"/>
                </a:lnTo>
                <a:cubicBezTo>
                  <a:pt x="516343" y="0"/>
                  <a:pt x="533400" y="17057"/>
                  <a:pt x="533400" y="38101"/>
                </a:cubicBezTo>
                <a:lnTo>
                  <a:pt x="533400" y="495299"/>
                </a:lnTo>
                <a:cubicBezTo>
                  <a:pt x="533400" y="516343"/>
                  <a:pt x="516343" y="533400"/>
                  <a:pt x="495299" y="533400"/>
                </a:cubicBezTo>
                <a:lnTo>
                  <a:pt x="38101" y="533400"/>
                </a:lnTo>
                <a:cubicBezTo>
                  <a:pt x="17057" y="533400"/>
                  <a:pt x="0" y="516343"/>
                  <a:pt x="0" y="495299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0" name="AutoShape 50"/>
          <p:cNvSpPr/>
          <p:nvPr/>
        </p:nvSpPr>
        <p:spPr>
          <a:xfrm>
            <a:off x="10207814" y="4190881"/>
            <a:ext cx="600075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R11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8626682" y="4876601"/>
            <a:ext cx="19335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Each thread has its own independent set of registers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314281" y="6286545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Register per thread diagram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596" y="60146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Global Memory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80956" y="1333233"/>
            <a:ext cx="5600700" cy="5180858"/>
            <a:chOff x="380956" y="1333233"/>
            <a:chExt cx="5600700" cy="5180858"/>
          </a:xfrm>
        </p:grpSpPr>
        <p:sp>
          <p:nvSpPr>
            <p:cNvPr id="4" name="Freeform 4"/>
            <p:cNvSpPr/>
            <p:nvPr/>
          </p:nvSpPr>
          <p:spPr>
            <a:xfrm>
              <a:off x="380956" y="1333233"/>
              <a:ext cx="5600700" cy="2514600"/>
            </a:xfrm>
            <a:custGeom>
              <a:avLst/>
              <a:gdLst/>
              <a:ahLst/>
              <a:cxnLst/>
              <a:rect l="l" t="t" r="r" b="b"/>
              <a:pathLst>
                <a:path w="5600700" h="2514600">
                  <a:moveTo>
                    <a:pt x="76192" y="0"/>
                  </a:moveTo>
                  <a:lnTo>
                    <a:pt x="5524508" y="0"/>
                  </a:lnTo>
                  <a:cubicBezTo>
                    <a:pt x="5566588" y="0"/>
                    <a:pt x="5600700" y="34112"/>
                    <a:pt x="5600700" y="76192"/>
                  </a:cubicBezTo>
                  <a:lnTo>
                    <a:pt x="5600700" y="2438408"/>
                  </a:lnTo>
                  <a:cubicBezTo>
                    <a:pt x="5600700" y="2480488"/>
                    <a:pt x="5566588" y="2514600"/>
                    <a:pt x="5524508" y="2514600"/>
                  </a:cubicBezTo>
                  <a:lnTo>
                    <a:pt x="76192" y="2514600"/>
                  </a:lnTo>
                  <a:cubicBezTo>
                    <a:pt x="34112" y="2514600"/>
                    <a:pt x="0" y="2480488"/>
                    <a:pt x="0" y="2438408"/>
                  </a:cubicBezTo>
                  <a:lnTo>
                    <a:pt x="0" y="76192"/>
                  </a:lnTo>
                  <a:cubicBezTo>
                    <a:pt x="0" y="34141"/>
                    <a:pt x="34141" y="0"/>
                    <a:pt x="76192" y="0"/>
                  </a:cubicBez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/>
          </p:nvSpPr>
          <p:spPr>
            <a:xfrm>
              <a:off x="809521" y="1523674"/>
              <a:ext cx="5076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Global Memory Characteristics</a:t>
              </a:r>
              <a:endParaRPr lang="en-US" sz="110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71396" y="201895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/>
          </p:nvSpPr>
          <p:spPr>
            <a:xfrm>
              <a:off x="761837" y="1942763"/>
              <a:ext cx="18097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Large capacity</a:t>
              </a: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61837" y="2209395"/>
              <a:ext cx="3509454" cy="30478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GB-scale, can store large amounts of data</a:t>
              </a:r>
              <a:endParaRPr lang="en-US" sz="1100"/>
            </a:p>
          </p:txBody>
        </p:sp>
        <p:sp>
          <p:nvSpPr>
            <p:cNvPr id="9" name="Freeform 9"/>
            <p:cNvSpPr/>
            <p:nvPr/>
          </p:nvSpPr>
          <p:spPr>
            <a:xfrm>
              <a:off x="571396" y="2628409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761837" y="2552216"/>
              <a:ext cx="119062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High latency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761837" y="2818849"/>
              <a:ext cx="119062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400-800 cycles</a:t>
              </a:r>
              <a:endParaRPr lang="en-US" sz="1100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571396" y="3237863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761837" y="3161672"/>
              <a:ext cx="2834394" cy="227981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Accessible by all threads</a:t>
              </a:r>
              <a:endParaRPr lang="en-US" sz="1100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761836" y="3428304"/>
              <a:ext cx="3257841" cy="26643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Globally visible, shared across threads</a:t>
              </a:r>
              <a:endParaRPr lang="en-US" sz="1100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380956" y="3999700"/>
              <a:ext cx="5600700" cy="1333500"/>
            </a:xfrm>
            <a:custGeom>
              <a:avLst/>
              <a:gdLst/>
              <a:ahLst/>
              <a:cxnLst/>
              <a:rect l="l" t="t" r="r" b="b"/>
              <a:pathLst>
                <a:path w="5600700" h="1333500">
                  <a:moveTo>
                    <a:pt x="76196" y="0"/>
                  </a:moveTo>
                  <a:lnTo>
                    <a:pt x="5524504" y="0"/>
                  </a:lnTo>
                  <a:cubicBezTo>
                    <a:pt x="5566587" y="0"/>
                    <a:pt x="5600700" y="34113"/>
                    <a:pt x="5600700" y="76196"/>
                  </a:cubicBezTo>
                  <a:lnTo>
                    <a:pt x="5600700" y="1257304"/>
                  </a:lnTo>
                  <a:cubicBezTo>
                    <a:pt x="5600700" y="1299387"/>
                    <a:pt x="5566587" y="1333500"/>
                    <a:pt x="5524504" y="1333500"/>
                  </a:cubicBezTo>
                  <a:lnTo>
                    <a:pt x="76196" y="1333500"/>
                  </a:lnTo>
                  <a:cubicBezTo>
                    <a:pt x="34113" y="1333500"/>
                    <a:pt x="0" y="1299387"/>
                    <a:pt x="0" y="1257304"/>
                  </a:cubicBezTo>
                  <a:lnTo>
                    <a:pt x="0" y="76196"/>
                  </a:lnTo>
                  <a:cubicBezTo>
                    <a:pt x="0" y="34141"/>
                    <a:pt x="34141" y="0"/>
                    <a:pt x="76196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6" name="AutoShape 16"/>
            <p:cNvSpPr/>
            <p:nvPr/>
          </p:nvSpPr>
          <p:spPr>
            <a:xfrm>
              <a:off x="809521" y="4190142"/>
              <a:ext cx="5076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Main Problem</a:t>
              </a: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571396" y="4571098"/>
              <a:ext cx="53054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0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Slow access speed</a:t>
              </a:r>
              <a:endParaRPr lang="en-US" sz="1100"/>
            </a:p>
          </p:txBody>
        </p:sp>
        <p:sp>
          <p:nvSpPr>
            <p:cNvPr id="18" name="AutoShape 18"/>
            <p:cNvSpPr/>
            <p:nvPr/>
          </p:nvSpPr>
          <p:spPr>
            <a:xfrm>
              <a:off x="571396" y="4913993"/>
              <a:ext cx="52959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FFFFFF">
                      <a:alpha val="90196"/>
                    </a:srgbClr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High latency becomes a performance bottleneck</a:t>
              </a:r>
              <a:endParaRPr lang="en-US" sz="110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380956" y="5485391"/>
              <a:ext cx="5600700" cy="1028700"/>
            </a:xfrm>
            <a:custGeom>
              <a:avLst/>
              <a:gdLst/>
              <a:ahLst/>
              <a:cxnLst/>
              <a:rect l="l" t="t" r="r" b="b"/>
              <a:pathLst>
                <a:path w="5600700" h="1028700">
                  <a:moveTo>
                    <a:pt x="76196" y="0"/>
                  </a:moveTo>
                  <a:lnTo>
                    <a:pt x="5524504" y="0"/>
                  </a:lnTo>
                  <a:cubicBezTo>
                    <a:pt x="5566587" y="0"/>
                    <a:pt x="5600700" y="34113"/>
                    <a:pt x="5600700" y="76196"/>
                  </a:cubicBezTo>
                  <a:lnTo>
                    <a:pt x="5600700" y="952504"/>
                  </a:lnTo>
                  <a:cubicBezTo>
                    <a:pt x="5600700" y="994587"/>
                    <a:pt x="5566587" y="1028700"/>
                    <a:pt x="5524504" y="1028700"/>
                  </a:cubicBezTo>
                  <a:lnTo>
                    <a:pt x="76196" y="1028700"/>
                  </a:lnTo>
                  <a:cubicBezTo>
                    <a:pt x="34113" y="1028700"/>
                    <a:pt x="0" y="994587"/>
                    <a:pt x="0" y="952504"/>
                  </a:cubicBezTo>
                  <a:lnTo>
                    <a:pt x="0" y="76196"/>
                  </a:lnTo>
                  <a:cubicBezTo>
                    <a:pt x="0" y="34141"/>
                    <a:pt x="34141" y="0"/>
                    <a:pt x="76196" y="0"/>
                  </a:cubicBezTo>
                  <a:close/>
                </a:path>
              </a:pathLst>
            </a:custGeom>
            <a:solidFill>
              <a:srgbClr val="B89A6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0" name="AutoShape 20"/>
            <p:cNvSpPr/>
            <p:nvPr/>
          </p:nvSpPr>
          <p:spPr>
            <a:xfrm>
              <a:off x="809521" y="5675830"/>
              <a:ext cx="5076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Optimization Goal</a:t>
              </a:r>
              <a:endParaRPr lang="en-US" sz="1100"/>
            </a:p>
          </p:txBody>
        </p:sp>
        <p:sp>
          <p:nvSpPr>
            <p:cNvPr id="21" name="AutoShape 21"/>
            <p:cNvSpPr/>
            <p:nvPr/>
          </p:nvSpPr>
          <p:spPr>
            <a:xfrm>
              <a:off x="571396" y="6056786"/>
              <a:ext cx="53054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0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Reduce Global Memory accesses</a:t>
              </a:r>
              <a:endParaRPr lang="en-US" sz="1100"/>
            </a:p>
          </p:txBody>
        </p:sp>
      </p:grpSp>
      <p:sp>
        <p:nvSpPr>
          <p:cNvPr id="22" name="Freeform 22"/>
          <p:cNvSpPr/>
          <p:nvPr/>
        </p:nvSpPr>
        <p:spPr>
          <a:xfrm>
            <a:off x="6210279" y="1333233"/>
            <a:ext cx="5600700" cy="4038600"/>
          </a:xfrm>
          <a:custGeom>
            <a:avLst/>
            <a:gdLst/>
            <a:ahLst/>
            <a:cxnLst/>
            <a:rect l="l" t="t" r="r" b="b"/>
            <a:pathLst>
              <a:path w="5600700" h="4038600">
                <a:moveTo>
                  <a:pt x="76208" y="0"/>
                </a:moveTo>
                <a:lnTo>
                  <a:pt x="5524492" y="0"/>
                </a:lnTo>
                <a:cubicBezTo>
                  <a:pt x="5566580" y="0"/>
                  <a:pt x="5600700" y="34120"/>
                  <a:pt x="5600700" y="76208"/>
                </a:cubicBezTo>
                <a:lnTo>
                  <a:pt x="5600700" y="3962392"/>
                </a:lnTo>
                <a:cubicBezTo>
                  <a:pt x="5600700" y="4004480"/>
                  <a:pt x="5566580" y="4038600"/>
                  <a:pt x="5524492" y="4038600"/>
                </a:cubicBezTo>
                <a:lnTo>
                  <a:pt x="76208" y="4038600"/>
                </a:lnTo>
                <a:cubicBezTo>
                  <a:pt x="34120" y="4038600"/>
                  <a:pt x="0" y="4004480"/>
                  <a:pt x="0" y="39623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"/>
          <a:srcRect l="60" r="60"/>
          <a:stretch>
            <a:fillRect/>
          </a:stretch>
        </p:blipFill>
        <p:spPr>
          <a:xfrm>
            <a:off x="6400720" y="2343785"/>
            <a:ext cx="5219700" cy="2019300"/>
          </a:xfrm>
          <a:prstGeom prst="roundRect">
            <a:avLst>
              <a:gd name="adj" fmla="val 1886"/>
            </a:avLst>
          </a:prstGeom>
          <a:ln w="12700">
            <a:noFill/>
            <a:prstDash val="solid"/>
          </a:ln>
        </p:spPr>
      </p:pic>
      <p:sp>
        <p:nvSpPr>
          <p:cNvPr id="24" name="Freeform 24"/>
          <p:cNvSpPr/>
          <p:nvPr/>
        </p:nvSpPr>
        <p:spPr>
          <a:xfrm>
            <a:off x="6219757" y="5533147"/>
            <a:ext cx="5581555" cy="971455"/>
          </a:xfrm>
          <a:custGeom>
            <a:avLst/>
            <a:gdLst/>
            <a:ahLst/>
            <a:cxnLst/>
            <a:rect l="l" t="t" r="r" b="b"/>
            <a:pathLst>
              <a:path w="5581555" h="971455">
                <a:moveTo>
                  <a:pt x="76201" y="0"/>
                </a:moveTo>
                <a:lnTo>
                  <a:pt x="5505353" y="0"/>
                </a:lnTo>
                <a:cubicBezTo>
                  <a:pt x="5547439" y="0"/>
                  <a:pt x="5581555" y="34116"/>
                  <a:pt x="5581555" y="76201"/>
                </a:cubicBezTo>
                <a:lnTo>
                  <a:pt x="5581555" y="895253"/>
                </a:lnTo>
                <a:cubicBezTo>
                  <a:pt x="5581555" y="937339"/>
                  <a:pt x="5547439" y="971455"/>
                  <a:pt x="5505353" y="971455"/>
                </a:cubicBezTo>
                <a:lnTo>
                  <a:pt x="76201" y="971455"/>
                </a:lnTo>
                <a:cubicBezTo>
                  <a:pt x="34116" y="971455"/>
                  <a:pt x="0" y="937339"/>
                  <a:pt x="0" y="895253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2635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95892" y="5695008"/>
            <a:ext cx="5429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400-800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43517" y="6114022"/>
            <a:ext cx="533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cycles latency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14281" y="6590123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POP CoE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596" y="58966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Shared Memory Concepts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80956" y="1333235"/>
            <a:ext cx="5600700" cy="1143000"/>
            <a:chOff x="380956" y="1333235"/>
            <a:chExt cx="5600700" cy="1143000"/>
          </a:xfrm>
        </p:grpSpPr>
        <p:sp>
          <p:nvSpPr>
            <p:cNvPr id="4" name="Freeform 4"/>
            <p:cNvSpPr/>
            <p:nvPr/>
          </p:nvSpPr>
          <p:spPr>
            <a:xfrm>
              <a:off x="380956" y="1333235"/>
              <a:ext cx="5600700" cy="1143000"/>
            </a:xfrm>
            <a:custGeom>
              <a:avLst/>
              <a:gdLst/>
              <a:ahLst/>
              <a:cxnLst/>
              <a:rect l="l" t="t" r="r" b="b"/>
              <a:pathLst>
                <a:path w="5600700" h="1143000">
                  <a:moveTo>
                    <a:pt x="76204" y="0"/>
                  </a:moveTo>
                  <a:lnTo>
                    <a:pt x="5524496" y="0"/>
                  </a:lnTo>
                  <a:cubicBezTo>
                    <a:pt x="5566581" y="0"/>
                    <a:pt x="5600700" y="34119"/>
                    <a:pt x="5600700" y="76204"/>
                  </a:cubicBezTo>
                  <a:lnTo>
                    <a:pt x="5600700" y="1066796"/>
                  </a:lnTo>
                  <a:cubicBezTo>
                    <a:pt x="5600700" y="1108881"/>
                    <a:pt x="5566581" y="1143000"/>
                    <a:pt x="5524496" y="1143000"/>
                  </a:cubicBezTo>
                  <a:lnTo>
                    <a:pt x="76204" y="1143000"/>
                  </a:lnTo>
                  <a:cubicBezTo>
                    <a:pt x="34119" y="1143000"/>
                    <a:pt x="0" y="1108881"/>
                    <a:pt x="0" y="1066796"/>
                  </a:cubicBezTo>
                  <a:lnTo>
                    <a:pt x="0" y="76204"/>
                  </a:lnTo>
                  <a:cubicBezTo>
                    <a:pt x="0" y="34146"/>
                    <a:pt x="34146" y="0"/>
                    <a:pt x="76204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/>
          </p:nvSpPr>
          <p:spPr>
            <a:xfrm>
              <a:off x="609529" y="1561807"/>
              <a:ext cx="52578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8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Shared Memory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609529" y="1980749"/>
              <a:ext cx="52292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400" b="0" i="0" u="none" strike="noStrike">
                  <a:solidFill>
                    <a:srgbClr val="FFFFFF">
                      <a:alpha val="90196"/>
                    </a:srgbClr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High-speed memory inside the SM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0956" y="2628409"/>
            <a:ext cx="5600700" cy="3714750"/>
            <a:chOff x="380956" y="2628409"/>
            <a:chExt cx="5600700" cy="3714750"/>
          </a:xfrm>
        </p:grpSpPr>
        <p:sp>
          <p:nvSpPr>
            <p:cNvPr id="8" name="Freeform 8"/>
            <p:cNvSpPr/>
            <p:nvPr/>
          </p:nvSpPr>
          <p:spPr>
            <a:xfrm>
              <a:off x="380956" y="2628409"/>
              <a:ext cx="5600700" cy="3714750"/>
            </a:xfrm>
            <a:custGeom>
              <a:avLst/>
              <a:gdLst/>
              <a:ahLst/>
              <a:cxnLst/>
              <a:rect l="l" t="t" r="r" b="b"/>
              <a:pathLst>
                <a:path w="5600700" h="3714750">
                  <a:moveTo>
                    <a:pt x="76190" y="0"/>
                  </a:moveTo>
                  <a:lnTo>
                    <a:pt x="5524510" y="0"/>
                  </a:lnTo>
                  <a:cubicBezTo>
                    <a:pt x="5566589" y="0"/>
                    <a:pt x="5600700" y="34111"/>
                    <a:pt x="5600700" y="76190"/>
                  </a:cubicBezTo>
                  <a:lnTo>
                    <a:pt x="5600700" y="3638560"/>
                  </a:lnTo>
                  <a:cubicBezTo>
                    <a:pt x="5600700" y="3680639"/>
                    <a:pt x="5566589" y="3714750"/>
                    <a:pt x="5524510" y="3714750"/>
                  </a:cubicBezTo>
                  <a:lnTo>
                    <a:pt x="76190" y="3714750"/>
                  </a:lnTo>
                  <a:cubicBezTo>
                    <a:pt x="34111" y="3714750"/>
                    <a:pt x="0" y="3680639"/>
                    <a:pt x="0" y="3638560"/>
                  </a:cubicBezTo>
                  <a:lnTo>
                    <a:pt x="0" y="76190"/>
                  </a:lnTo>
                  <a:cubicBezTo>
                    <a:pt x="0" y="34111"/>
                    <a:pt x="34111" y="0"/>
                    <a:pt x="76190" y="0"/>
                  </a:cubicBez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9" name="Freeform 9"/>
            <p:cNvSpPr/>
            <p:nvPr/>
          </p:nvSpPr>
          <p:spPr>
            <a:xfrm>
              <a:off x="587507" y="2845003"/>
              <a:ext cx="205904" cy="196118"/>
            </a:xfrm>
            <a:custGeom>
              <a:avLst/>
              <a:gdLst/>
              <a:ahLst/>
              <a:cxnLst/>
              <a:rect l="l" t="t" r="r" b="b"/>
              <a:pathLst>
                <a:path w="205904" h="196118">
                  <a:moveTo>
                    <a:pt x="110952" y="4874"/>
                  </a:moveTo>
                  <a:cubicBezTo>
                    <a:pt x="109425" y="1897"/>
                    <a:pt x="106338" y="0"/>
                    <a:pt x="102989" y="0"/>
                  </a:cubicBezTo>
                  <a:cubicBezTo>
                    <a:pt x="99641" y="0"/>
                    <a:pt x="96553" y="1897"/>
                    <a:pt x="95027" y="4874"/>
                  </a:cubicBezTo>
                  <a:lnTo>
                    <a:pt x="67642" y="58526"/>
                  </a:lnTo>
                  <a:lnTo>
                    <a:pt x="8149" y="67977"/>
                  </a:lnTo>
                  <a:cubicBezTo>
                    <a:pt x="4837" y="68498"/>
                    <a:pt x="2084" y="70842"/>
                    <a:pt x="1042" y="74042"/>
                  </a:cubicBezTo>
                  <a:cubicBezTo>
                    <a:pt x="0" y="77242"/>
                    <a:pt x="856" y="80739"/>
                    <a:pt x="3200" y="83120"/>
                  </a:cubicBezTo>
                  <a:lnTo>
                    <a:pt x="45765" y="125722"/>
                  </a:lnTo>
                  <a:lnTo>
                    <a:pt x="36389" y="185217"/>
                  </a:lnTo>
                  <a:cubicBezTo>
                    <a:pt x="35868" y="188527"/>
                    <a:pt x="37245" y="191876"/>
                    <a:pt x="39962" y="193847"/>
                  </a:cubicBezTo>
                  <a:cubicBezTo>
                    <a:pt x="42677" y="195820"/>
                    <a:pt x="46249" y="196118"/>
                    <a:pt x="49263" y="194593"/>
                  </a:cubicBezTo>
                  <a:lnTo>
                    <a:pt x="102989" y="167283"/>
                  </a:lnTo>
                  <a:lnTo>
                    <a:pt x="156680" y="194593"/>
                  </a:lnTo>
                  <a:cubicBezTo>
                    <a:pt x="159656" y="196118"/>
                    <a:pt x="163265" y="195820"/>
                    <a:pt x="165981" y="193847"/>
                  </a:cubicBezTo>
                  <a:cubicBezTo>
                    <a:pt x="168698" y="191876"/>
                    <a:pt x="170074" y="188566"/>
                    <a:pt x="169554" y="185217"/>
                  </a:cubicBezTo>
                  <a:lnTo>
                    <a:pt x="160139" y="125722"/>
                  </a:lnTo>
                  <a:lnTo>
                    <a:pt x="202704" y="83120"/>
                  </a:lnTo>
                  <a:cubicBezTo>
                    <a:pt x="205086" y="80739"/>
                    <a:pt x="205904" y="77242"/>
                    <a:pt x="204862" y="74042"/>
                  </a:cubicBezTo>
                  <a:cubicBezTo>
                    <a:pt x="203821" y="70842"/>
                    <a:pt x="201104" y="68498"/>
                    <a:pt x="197756" y="67977"/>
                  </a:cubicBezTo>
                  <a:lnTo>
                    <a:pt x="138299" y="58526"/>
                  </a:lnTo>
                  <a:lnTo>
                    <a:pt x="110952" y="4874"/>
                  </a:ln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809521" y="2818849"/>
              <a:ext cx="5076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Key Characteristics</a:t>
              </a:r>
              <a:endParaRPr lang="en-US" sz="1100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571396" y="33141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761837" y="3237937"/>
              <a:ext cx="3038475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Low latency</a:t>
              </a:r>
              <a:endParaRPr lang="en-US" sz="1100"/>
            </a:p>
          </p:txBody>
        </p:sp>
        <p:sp>
          <p:nvSpPr>
            <p:cNvPr id="13" name="AutoShape 13"/>
            <p:cNvSpPr/>
            <p:nvPr/>
          </p:nvSpPr>
          <p:spPr>
            <a:xfrm>
              <a:off x="761837" y="3504570"/>
              <a:ext cx="4546593" cy="30479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~20 cycles, 20–40× faster than Global Memory</a:t>
              </a:r>
              <a:endParaRPr lang="en-US" sz="1100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396" y="3923584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5" name="AutoShape 15"/>
            <p:cNvSpPr/>
            <p:nvPr/>
          </p:nvSpPr>
          <p:spPr>
            <a:xfrm>
              <a:off x="761837" y="3847393"/>
              <a:ext cx="2209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Shared within a block</a:t>
              </a:r>
              <a:endParaRPr lang="en-US" sz="1100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761837" y="4114026"/>
              <a:ext cx="3951312" cy="30479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Threads within the same block can share access</a:t>
              </a:r>
              <a:endParaRPr lang="en-US" sz="110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571396" y="453304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761837" y="4456849"/>
              <a:ext cx="15049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Limited capacity</a:t>
              </a:r>
              <a:endParaRPr lang="en-US" sz="1100"/>
            </a:p>
          </p:txBody>
        </p:sp>
        <p:sp>
          <p:nvSpPr>
            <p:cNvPr id="19" name="AutoShape 19"/>
            <p:cNvSpPr/>
            <p:nvPr/>
          </p:nvSpPr>
          <p:spPr>
            <a:xfrm>
              <a:off x="761836" y="4723479"/>
              <a:ext cx="2521411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Example: 48 KB per SM</a:t>
              </a:r>
              <a:endParaRPr lang="en-US" sz="110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10279" y="1333235"/>
            <a:ext cx="5600700" cy="4996311"/>
            <a:chOff x="6210279" y="1333235"/>
            <a:chExt cx="5600700" cy="4996311"/>
          </a:xfrm>
        </p:grpSpPr>
        <p:sp>
          <p:nvSpPr>
            <p:cNvPr id="21" name="Freeform 21"/>
            <p:cNvSpPr/>
            <p:nvPr/>
          </p:nvSpPr>
          <p:spPr>
            <a:xfrm>
              <a:off x="6210279" y="1333235"/>
              <a:ext cx="5600700" cy="4019550"/>
            </a:xfrm>
            <a:custGeom>
              <a:avLst/>
              <a:gdLst/>
              <a:ahLst/>
              <a:cxnLst/>
              <a:rect l="l" t="t" r="r" b="b"/>
              <a:pathLst>
                <a:path w="5600700" h="4019550">
                  <a:moveTo>
                    <a:pt x="76211" y="0"/>
                  </a:moveTo>
                  <a:lnTo>
                    <a:pt x="5524489" y="0"/>
                  </a:lnTo>
                  <a:cubicBezTo>
                    <a:pt x="5566579" y="0"/>
                    <a:pt x="5600700" y="34121"/>
                    <a:pt x="5600700" y="76211"/>
                  </a:cubicBezTo>
                  <a:lnTo>
                    <a:pt x="5600700" y="3943339"/>
                  </a:lnTo>
                  <a:cubicBezTo>
                    <a:pt x="5600700" y="3985429"/>
                    <a:pt x="5566579" y="4019550"/>
                    <a:pt x="5524489" y="4019550"/>
                  </a:cubicBezTo>
                  <a:lnTo>
                    <a:pt x="76211" y="4019550"/>
                  </a:lnTo>
                  <a:cubicBezTo>
                    <a:pt x="34121" y="4019550"/>
                    <a:pt x="0" y="3985429"/>
                    <a:pt x="0" y="3943339"/>
                  </a:cubicBezTo>
                  <a:lnTo>
                    <a:pt x="0" y="76211"/>
                  </a:lnTo>
                  <a:cubicBezTo>
                    <a:pt x="0" y="34149"/>
                    <a:pt x="34149" y="0"/>
                    <a:pt x="76211" y="0"/>
                  </a:cubicBez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1"/>
            <a:srcRect l="57" r="56"/>
            <a:stretch>
              <a:fillRect/>
            </a:stretch>
          </p:blipFill>
          <p:spPr>
            <a:xfrm>
              <a:off x="6400720" y="1523674"/>
              <a:ext cx="5219700" cy="3638550"/>
            </a:xfrm>
            <a:prstGeom prst="roundRect">
              <a:avLst>
                <a:gd name="adj" fmla="val 1047"/>
              </a:avLst>
            </a:prstGeom>
            <a:ln w="12700">
              <a:noFill/>
              <a:prstDash val="solid"/>
            </a:ln>
          </p:spPr>
        </p:pic>
        <p:sp>
          <p:nvSpPr>
            <p:cNvPr id="23" name="Freeform 23"/>
            <p:cNvSpPr/>
            <p:nvPr/>
          </p:nvSpPr>
          <p:spPr>
            <a:xfrm>
              <a:off x="6219757" y="5510491"/>
              <a:ext cx="2724055" cy="819055"/>
            </a:xfrm>
            <a:custGeom>
              <a:avLst/>
              <a:gdLst/>
              <a:ahLst/>
              <a:cxnLst/>
              <a:rect l="l" t="t" r="r" b="b"/>
              <a:pathLst>
                <a:path w="2724055" h="819055">
                  <a:moveTo>
                    <a:pt x="76197" y="0"/>
                  </a:moveTo>
                  <a:lnTo>
                    <a:pt x="2647859" y="0"/>
                  </a:lnTo>
                  <a:cubicBezTo>
                    <a:pt x="2689913" y="0"/>
                    <a:pt x="2724055" y="34143"/>
                    <a:pt x="2724055" y="76197"/>
                  </a:cubicBezTo>
                  <a:lnTo>
                    <a:pt x="2724055" y="742859"/>
                  </a:lnTo>
                  <a:cubicBezTo>
                    <a:pt x="2724055" y="784913"/>
                    <a:pt x="2689913" y="819055"/>
                    <a:pt x="2647859" y="819055"/>
                  </a:cubicBezTo>
                  <a:lnTo>
                    <a:pt x="76197" y="819055"/>
                  </a:lnTo>
                  <a:cubicBezTo>
                    <a:pt x="34143" y="819055"/>
                    <a:pt x="0" y="784913"/>
                    <a:pt x="0" y="742859"/>
                  </a:cubicBezTo>
                  <a:lnTo>
                    <a:pt x="0" y="76197"/>
                  </a:lnTo>
                  <a:cubicBezTo>
                    <a:pt x="0" y="34143"/>
                    <a:pt x="34143" y="0"/>
                    <a:pt x="76197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2635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4" name="AutoShape 24"/>
            <p:cNvSpPr/>
            <p:nvPr/>
          </p:nvSpPr>
          <p:spPr>
            <a:xfrm>
              <a:off x="6272047" y="5634219"/>
              <a:ext cx="2619375" cy="3429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2300" b="1" i="0" u="none" strike="noStrike">
                  <a:solidFill>
                    <a:srgbClr val="8B263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~20</a:t>
              </a:r>
              <a:endParaRPr lang="en-US" sz="1100"/>
            </a:p>
          </p:txBody>
        </p:sp>
        <p:sp>
          <p:nvSpPr>
            <p:cNvPr id="25" name="AutoShape 25"/>
            <p:cNvSpPr/>
            <p:nvPr/>
          </p:nvSpPr>
          <p:spPr>
            <a:xfrm>
              <a:off x="6310147" y="6015100"/>
              <a:ext cx="2543175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1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cycles</a:t>
              </a:r>
              <a:endParaRPr lang="en-US" sz="1100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9077257" y="5510491"/>
              <a:ext cx="2724055" cy="819055"/>
            </a:xfrm>
            <a:custGeom>
              <a:avLst/>
              <a:gdLst/>
              <a:ahLst/>
              <a:cxnLst/>
              <a:rect l="l" t="t" r="r" b="b"/>
              <a:pathLst>
                <a:path w="2724055" h="819055">
                  <a:moveTo>
                    <a:pt x="76197" y="0"/>
                  </a:moveTo>
                  <a:lnTo>
                    <a:pt x="2647859" y="0"/>
                  </a:lnTo>
                  <a:cubicBezTo>
                    <a:pt x="2689913" y="0"/>
                    <a:pt x="2724055" y="34143"/>
                    <a:pt x="2724055" y="76197"/>
                  </a:cubicBezTo>
                  <a:lnTo>
                    <a:pt x="2724055" y="742859"/>
                  </a:lnTo>
                  <a:cubicBezTo>
                    <a:pt x="2724055" y="784913"/>
                    <a:pt x="2689913" y="819055"/>
                    <a:pt x="2647859" y="819055"/>
                  </a:cubicBezTo>
                  <a:lnTo>
                    <a:pt x="76197" y="819055"/>
                  </a:lnTo>
                  <a:cubicBezTo>
                    <a:pt x="34143" y="819055"/>
                    <a:pt x="0" y="784913"/>
                    <a:pt x="0" y="742859"/>
                  </a:cubicBezTo>
                  <a:lnTo>
                    <a:pt x="0" y="76197"/>
                  </a:lnTo>
                  <a:cubicBezTo>
                    <a:pt x="0" y="34143"/>
                    <a:pt x="34143" y="0"/>
                    <a:pt x="76197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B89A6A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7" name="AutoShape 27"/>
            <p:cNvSpPr/>
            <p:nvPr/>
          </p:nvSpPr>
          <p:spPr>
            <a:xfrm>
              <a:off x="9129546" y="5634219"/>
              <a:ext cx="2619375" cy="3429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2300" b="1" i="0" u="none" strike="noStrike">
                  <a:solidFill>
                    <a:srgbClr val="B89A6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48KB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9167646" y="6015100"/>
              <a:ext cx="2543175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11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per SM</a:t>
              </a:r>
              <a:endParaRPr lang="en-US" sz="1100"/>
            </a:p>
          </p:txBody>
        </p:sp>
      </p:grpSp>
      <p:sp>
        <p:nvSpPr>
          <p:cNvPr id="29" name="AutoShape 29"/>
          <p:cNvSpPr/>
          <p:nvPr/>
        </p:nvSpPr>
        <p:spPr>
          <a:xfrm>
            <a:off x="314281" y="6414936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The Beard Sage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63235" y="633523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Why Shared Memory is Faster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17514" y="1589087"/>
            <a:ext cx="5683250" cy="3555537"/>
            <a:chOff x="317514" y="1589087"/>
            <a:chExt cx="5683250" cy="3555537"/>
          </a:xfrm>
        </p:grpSpPr>
        <p:sp>
          <p:nvSpPr>
            <p:cNvPr id="4" name="Freeform 4"/>
            <p:cNvSpPr/>
            <p:nvPr/>
          </p:nvSpPr>
          <p:spPr>
            <a:xfrm>
              <a:off x="333310" y="1589087"/>
              <a:ext cx="5667296" cy="1333500"/>
            </a:xfrm>
            <a:custGeom>
              <a:avLst/>
              <a:gdLst/>
              <a:ahLst/>
              <a:cxnLst/>
              <a:rect l="l" t="t" r="r" b="b"/>
              <a:pathLst>
                <a:path w="5667296" h="1333500">
                  <a:moveTo>
                    <a:pt x="31593" y="0"/>
                  </a:moveTo>
                  <a:lnTo>
                    <a:pt x="5603795" y="0"/>
                  </a:lnTo>
                  <a:cubicBezTo>
                    <a:pt x="5638866" y="0"/>
                    <a:pt x="5667296" y="28430"/>
                    <a:pt x="5667296" y="63501"/>
                  </a:cubicBezTo>
                  <a:lnTo>
                    <a:pt x="5667296" y="1269999"/>
                  </a:lnTo>
                  <a:cubicBezTo>
                    <a:pt x="5667296" y="1305070"/>
                    <a:pt x="5638866" y="1333500"/>
                    <a:pt x="5603795" y="1333500"/>
                  </a:cubicBezTo>
                  <a:lnTo>
                    <a:pt x="31593" y="1333500"/>
                  </a:lnTo>
                  <a:cubicBezTo>
                    <a:pt x="14144" y="1333500"/>
                    <a:pt x="0" y="1319356"/>
                    <a:pt x="0" y="1301907"/>
                  </a:cubicBezTo>
                  <a:lnTo>
                    <a:pt x="0" y="31593"/>
                  </a:lnTo>
                  <a:cubicBezTo>
                    <a:pt x="0" y="14155"/>
                    <a:pt x="14155" y="0"/>
                    <a:pt x="31593" y="0"/>
                  </a:cubicBez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Freeform 5"/>
            <p:cNvSpPr/>
            <p:nvPr/>
          </p:nvSpPr>
          <p:spPr>
            <a:xfrm>
              <a:off x="333310" y="1589087"/>
              <a:ext cx="31593" cy="1333500"/>
            </a:xfrm>
            <a:custGeom>
              <a:avLst/>
              <a:gdLst/>
              <a:ahLst/>
              <a:cxnLst/>
              <a:rect l="l" t="t" r="r" b="b"/>
              <a:pathLst>
                <a:path w="31593" h="1333500">
                  <a:moveTo>
                    <a:pt x="31593" y="0"/>
                  </a:moveTo>
                  <a:lnTo>
                    <a:pt x="31593" y="0"/>
                  </a:lnTo>
                  <a:lnTo>
                    <a:pt x="31593" y="1333500"/>
                  </a:lnTo>
                  <a:lnTo>
                    <a:pt x="31593" y="1333500"/>
                  </a:lnTo>
                  <a:cubicBezTo>
                    <a:pt x="14144" y="1333500"/>
                    <a:pt x="0" y="1319356"/>
                    <a:pt x="0" y="1301907"/>
                  </a:cubicBezTo>
                  <a:lnTo>
                    <a:pt x="0" y="31593"/>
                  </a:lnTo>
                  <a:cubicBezTo>
                    <a:pt x="0" y="14155"/>
                    <a:pt x="14155" y="0"/>
                    <a:pt x="31593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Freeform 6"/>
            <p:cNvSpPr/>
            <p:nvPr/>
          </p:nvSpPr>
          <p:spPr>
            <a:xfrm>
              <a:off x="528115" y="1779504"/>
              <a:ext cx="158068" cy="158750"/>
            </a:xfrm>
            <a:custGeom>
              <a:avLst/>
              <a:gdLst/>
              <a:ahLst/>
              <a:cxnLst/>
              <a:rect l="l" t="t" r="r" b="b"/>
              <a:pathLst>
                <a:path w="158068" h="158750">
                  <a:moveTo>
                    <a:pt x="108645" y="86816"/>
                  </a:moveTo>
                  <a:lnTo>
                    <a:pt x="49454" y="86816"/>
                  </a:lnTo>
                  <a:cubicBezTo>
                    <a:pt x="50354" y="106815"/>
                    <a:pt x="54788" y="125233"/>
                    <a:pt x="61082" y="138720"/>
                  </a:cubicBezTo>
                  <a:cubicBezTo>
                    <a:pt x="64616" y="146317"/>
                    <a:pt x="68430" y="151681"/>
                    <a:pt x="71964" y="154967"/>
                  </a:cubicBezTo>
                  <a:cubicBezTo>
                    <a:pt x="75437" y="158223"/>
                    <a:pt x="77825" y="158750"/>
                    <a:pt x="79065" y="158750"/>
                  </a:cubicBezTo>
                  <a:cubicBezTo>
                    <a:pt x="80304" y="158750"/>
                    <a:pt x="82693" y="158223"/>
                    <a:pt x="86166" y="154967"/>
                  </a:cubicBezTo>
                  <a:cubicBezTo>
                    <a:pt x="89700" y="151681"/>
                    <a:pt x="93514" y="146286"/>
                    <a:pt x="97048" y="138720"/>
                  </a:cubicBezTo>
                  <a:cubicBezTo>
                    <a:pt x="103344" y="125233"/>
                    <a:pt x="107776" y="106815"/>
                    <a:pt x="108676" y="86816"/>
                  </a:cubicBezTo>
                  <a:close/>
                  <a:moveTo>
                    <a:pt x="49423" y="71934"/>
                  </a:moveTo>
                  <a:lnTo>
                    <a:pt x="108614" y="71934"/>
                  </a:lnTo>
                  <a:cubicBezTo>
                    <a:pt x="107745" y="51935"/>
                    <a:pt x="103312" y="33517"/>
                    <a:pt x="97016" y="20030"/>
                  </a:cubicBezTo>
                  <a:cubicBezTo>
                    <a:pt x="93483" y="12464"/>
                    <a:pt x="89669" y="7069"/>
                    <a:pt x="86134" y="3783"/>
                  </a:cubicBezTo>
                  <a:cubicBezTo>
                    <a:pt x="82662" y="527"/>
                    <a:pt x="80274" y="0"/>
                    <a:pt x="79034" y="0"/>
                  </a:cubicBezTo>
                  <a:cubicBezTo>
                    <a:pt x="77794" y="0"/>
                    <a:pt x="75406" y="527"/>
                    <a:pt x="71934" y="3783"/>
                  </a:cubicBezTo>
                  <a:cubicBezTo>
                    <a:pt x="68399" y="7069"/>
                    <a:pt x="64584" y="12464"/>
                    <a:pt x="61051" y="20030"/>
                  </a:cubicBezTo>
                  <a:cubicBezTo>
                    <a:pt x="54756" y="33517"/>
                    <a:pt x="50324" y="51935"/>
                    <a:pt x="49423" y="71934"/>
                  </a:cubicBezTo>
                  <a:close/>
                  <a:moveTo>
                    <a:pt x="34541" y="71934"/>
                  </a:moveTo>
                  <a:cubicBezTo>
                    <a:pt x="35626" y="45394"/>
                    <a:pt x="42478" y="20743"/>
                    <a:pt x="52493" y="4558"/>
                  </a:cubicBezTo>
                  <a:cubicBezTo>
                    <a:pt x="23937" y="14666"/>
                    <a:pt x="2914" y="40679"/>
                    <a:pt x="0" y="71934"/>
                  </a:cubicBezTo>
                  <a:lnTo>
                    <a:pt x="34541" y="71934"/>
                  </a:lnTo>
                  <a:close/>
                  <a:moveTo>
                    <a:pt x="0" y="86816"/>
                  </a:moveTo>
                  <a:cubicBezTo>
                    <a:pt x="2914" y="118071"/>
                    <a:pt x="23937" y="144084"/>
                    <a:pt x="52493" y="154192"/>
                  </a:cubicBezTo>
                  <a:cubicBezTo>
                    <a:pt x="42478" y="138007"/>
                    <a:pt x="35626" y="113356"/>
                    <a:pt x="34541" y="86816"/>
                  </a:cubicBezTo>
                  <a:lnTo>
                    <a:pt x="0" y="86816"/>
                  </a:lnTo>
                  <a:close/>
                  <a:moveTo>
                    <a:pt x="123526" y="86816"/>
                  </a:moveTo>
                  <a:cubicBezTo>
                    <a:pt x="122442" y="113356"/>
                    <a:pt x="115590" y="138007"/>
                    <a:pt x="105575" y="154192"/>
                  </a:cubicBezTo>
                  <a:cubicBezTo>
                    <a:pt x="134131" y="144054"/>
                    <a:pt x="155153" y="118071"/>
                    <a:pt x="158068" y="86816"/>
                  </a:cubicBezTo>
                  <a:lnTo>
                    <a:pt x="123526" y="86816"/>
                  </a:lnTo>
                  <a:close/>
                  <a:moveTo>
                    <a:pt x="158068" y="71934"/>
                  </a:moveTo>
                  <a:cubicBezTo>
                    <a:pt x="155153" y="40679"/>
                    <a:pt x="134131" y="14666"/>
                    <a:pt x="105575" y="4558"/>
                  </a:cubicBezTo>
                  <a:cubicBezTo>
                    <a:pt x="115590" y="20743"/>
                    <a:pt x="122442" y="45394"/>
                    <a:pt x="123526" y="71934"/>
                  </a:cubicBezTo>
                  <a:lnTo>
                    <a:pt x="158068" y="71934"/>
                  </a:ln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/>
          </p:nvSpPr>
          <p:spPr>
            <a:xfrm>
              <a:off x="706244" y="1747789"/>
              <a:ext cx="5214938" cy="2222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3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Global Memory</a:t>
              </a:r>
              <a:endParaRPr lang="en-US" sz="1100"/>
            </a:p>
          </p:txBody>
        </p:sp>
        <p:sp>
          <p:nvSpPr>
            <p:cNvPr id="8" name="Freeform 8"/>
            <p:cNvSpPr/>
            <p:nvPr/>
          </p:nvSpPr>
          <p:spPr>
            <a:xfrm>
              <a:off x="507807" y="2128744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/>
          </p:nvSpPr>
          <p:spPr>
            <a:xfrm>
              <a:off x="634792" y="2065252"/>
              <a:ext cx="2562540" cy="19018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0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Far from compute units</a:t>
              </a:r>
              <a:endParaRPr lang="en-US" sz="110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07807" y="2382713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634792" y="2319221"/>
              <a:ext cx="2310926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0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High-latency access</a:t>
              </a:r>
              <a:endParaRPr lang="en-US" sz="1100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507807" y="2636684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634791" y="2573191"/>
              <a:ext cx="1832247" cy="22199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0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Large capacity but slow</a:t>
              </a:r>
              <a:endParaRPr lang="en-US" sz="1100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317514" y="3049357"/>
              <a:ext cx="5683250" cy="1333500"/>
            </a:xfrm>
            <a:custGeom>
              <a:avLst/>
              <a:gdLst/>
              <a:ahLst/>
              <a:cxnLst/>
              <a:rect l="l" t="t" r="r" b="b"/>
              <a:pathLst>
                <a:path w="5683250" h="1333500">
                  <a:moveTo>
                    <a:pt x="63501" y="0"/>
                  </a:moveTo>
                  <a:lnTo>
                    <a:pt x="5619749" y="0"/>
                  </a:lnTo>
                  <a:cubicBezTo>
                    <a:pt x="5654820" y="0"/>
                    <a:pt x="5683250" y="28430"/>
                    <a:pt x="5683250" y="63501"/>
                  </a:cubicBezTo>
                  <a:lnTo>
                    <a:pt x="5683250" y="1269999"/>
                  </a:lnTo>
                  <a:cubicBezTo>
                    <a:pt x="5683250" y="1305070"/>
                    <a:pt x="5654820" y="1333500"/>
                    <a:pt x="5619749" y="1333500"/>
                  </a:cubicBezTo>
                  <a:lnTo>
                    <a:pt x="63501" y="1333500"/>
                  </a:lnTo>
                  <a:cubicBezTo>
                    <a:pt x="28430" y="1333500"/>
                    <a:pt x="0" y="1305070"/>
                    <a:pt x="0" y="1269999"/>
                  </a:cubicBezTo>
                  <a:lnTo>
                    <a:pt x="0" y="63501"/>
                  </a:lnTo>
                  <a:cubicBezTo>
                    <a:pt x="0" y="28454"/>
                    <a:pt x="28454" y="0"/>
                    <a:pt x="63501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96058" y="3239771"/>
              <a:ext cx="158750" cy="158750"/>
            </a:xfrm>
            <a:custGeom>
              <a:avLst/>
              <a:gdLst/>
              <a:ahLst/>
              <a:cxnLst/>
              <a:rect l="l" t="t" r="r" b="b"/>
              <a:pathLst>
                <a:path w="158750" h="158750">
                  <a:moveTo>
                    <a:pt x="54571" y="7441"/>
                  </a:moveTo>
                  <a:cubicBezTo>
                    <a:pt x="54571" y="3319"/>
                    <a:pt x="51253" y="0"/>
                    <a:pt x="47128" y="0"/>
                  </a:cubicBezTo>
                  <a:cubicBezTo>
                    <a:pt x="43005" y="0"/>
                    <a:pt x="39688" y="3319"/>
                    <a:pt x="39688" y="7441"/>
                  </a:cubicBezTo>
                  <a:lnTo>
                    <a:pt x="39688" y="19844"/>
                  </a:lnTo>
                  <a:cubicBezTo>
                    <a:pt x="28741" y="19844"/>
                    <a:pt x="19844" y="28741"/>
                    <a:pt x="19844" y="39687"/>
                  </a:cubicBezTo>
                  <a:lnTo>
                    <a:pt x="7441" y="39687"/>
                  </a:lnTo>
                  <a:cubicBezTo>
                    <a:pt x="3319" y="39687"/>
                    <a:pt x="0" y="43005"/>
                    <a:pt x="0" y="47128"/>
                  </a:cubicBezTo>
                  <a:cubicBezTo>
                    <a:pt x="0" y="51253"/>
                    <a:pt x="3319" y="54571"/>
                    <a:pt x="7441" y="54571"/>
                  </a:cubicBezTo>
                  <a:lnTo>
                    <a:pt x="19844" y="54571"/>
                  </a:lnTo>
                  <a:lnTo>
                    <a:pt x="19844" y="71934"/>
                  </a:lnTo>
                  <a:lnTo>
                    <a:pt x="7441" y="71934"/>
                  </a:lnTo>
                  <a:cubicBezTo>
                    <a:pt x="3319" y="71934"/>
                    <a:pt x="0" y="75251"/>
                    <a:pt x="0" y="79375"/>
                  </a:cubicBezTo>
                  <a:cubicBezTo>
                    <a:pt x="0" y="83499"/>
                    <a:pt x="3319" y="86816"/>
                    <a:pt x="7441" y="86816"/>
                  </a:cubicBezTo>
                  <a:lnTo>
                    <a:pt x="19844" y="86816"/>
                  </a:lnTo>
                  <a:lnTo>
                    <a:pt x="19844" y="104179"/>
                  </a:lnTo>
                  <a:lnTo>
                    <a:pt x="7441" y="104179"/>
                  </a:lnTo>
                  <a:cubicBezTo>
                    <a:pt x="3319" y="104179"/>
                    <a:pt x="0" y="107497"/>
                    <a:pt x="0" y="111622"/>
                  </a:cubicBezTo>
                  <a:cubicBezTo>
                    <a:pt x="0" y="115745"/>
                    <a:pt x="3319" y="119063"/>
                    <a:pt x="7441" y="119063"/>
                  </a:cubicBezTo>
                  <a:lnTo>
                    <a:pt x="19844" y="119063"/>
                  </a:lnTo>
                  <a:cubicBezTo>
                    <a:pt x="19844" y="130009"/>
                    <a:pt x="28741" y="138906"/>
                    <a:pt x="39688" y="138906"/>
                  </a:cubicBezTo>
                  <a:lnTo>
                    <a:pt x="39688" y="151309"/>
                  </a:lnTo>
                  <a:cubicBezTo>
                    <a:pt x="39688" y="155431"/>
                    <a:pt x="43005" y="158750"/>
                    <a:pt x="47128" y="158750"/>
                  </a:cubicBezTo>
                  <a:cubicBezTo>
                    <a:pt x="51253" y="158750"/>
                    <a:pt x="54571" y="155431"/>
                    <a:pt x="54571" y="151309"/>
                  </a:cubicBezTo>
                  <a:lnTo>
                    <a:pt x="54571" y="138906"/>
                  </a:lnTo>
                  <a:lnTo>
                    <a:pt x="71934" y="138906"/>
                  </a:lnTo>
                  <a:lnTo>
                    <a:pt x="71934" y="151309"/>
                  </a:lnTo>
                  <a:cubicBezTo>
                    <a:pt x="71934" y="155431"/>
                    <a:pt x="75251" y="158750"/>
                    <a:pt x="79375" y="158750"/>
                  </a:cubicBezTo>
                  <a:cubicBezTo>
                    <a:pt x="83499" y="158750"/>
                    <a:pt x="86816" y="155431"/>
                    <a:pt x="86816" y="151309"/>
                  </a:cubicBezTo>
                  <a:lnTo>
                    <a:pt x="86816" y="138906"/>
                  </a:lnTo>
                  <a:lnTo>
                    <a:pt x="104179" y="138906"/>
                  </a:lnTo>
                  <a:lnTo>
                    <a:pt x="104179" y="151309"/>
                  </a:lnTo>
                  <a:cubicBezTo>
                    <a:pt x="104179" y="155431"/>
                    <a:pt x="107497" y="158750"/>
                    <a:pt x="111622" y="158750"/>
                  </a:cubicBezTo>
                  <a:cubicBezTo>
                    <a:pt x="115745" y="158750"/>
                    <a:pt x="119062" y="155431"/>
                    <a:pt x="119062" y="151309"/>
                  </a:cubicBezTo>
                  <a:lnTo>
                    <a:pt x="119062" y="138906"/>
                  </a:lnTo>
                  <a:cubicBezTo>
                    <a:pt x="130009" y="138906"/>
                    <a:pt x="138906" y="130009"/>
                    <a:pt x="138906" y="119063"/>
                  </a:cubicBezTo>
                  <a:lnTo>
                    <a:pt x="151309" y="119063"/>
                  </a:lnTo>
                  <a:cubicBezTo>
                    <a:pt x="155431" y="119063"/>
                    <a:pt x="158750" y="115745"/>
                    <a:pt x="158750" y="111622"/>
                  </a:cubicBezTo>
                  <a:cubicBezTo>
                    <a:pt x="158750" y="107497"/>
                    <a:pt x="155431" y="104179"/>
                    <a:pt x="151309" y="104179"/>
                  </a:cubicBezTo>
                  <a:lnTo>
                    <a:pt x="138906" y="104179"/>
                  </a:lnTo>
                  <a:lnTo>
                    <a:pt x="138906" y="86816"/>
                  </a:lnTo>
                  <a:lnTo>
                    <a:pt x="151309" y="86816"/>
                  </a:lnTo>
                  <a:cubicBezTo>
                    <a:pt x="155431" y="86816"/>
                    <a:pt x="158750" y="83499"/>
                    <a:pt x="158750" y="79375"/>
                  </a:cubicBezTo>
                  <a:cubicBezTo>
                    <a:pt x="158750" y="75251"/>
                    <a:pt x="155431" y="71934"/>
                    <a:pt x="151309" y="71934"/>
                  </a:cubicBezTo>
                  <a:lnTo>
                    <a:pt x="138906" y="71934"/>
                  </a:lnTo>
                  <a:lnTo>
                    <a:pt x="138906" y="54571"/>
                  </a:lnTo>
                  <a:lnTo>
                    <a:pt x="151309" y="54571"/>
                  </a:lnTo>
                  <a:cubicBezTo>
                    <a:pt x="155431" y="54571"/>
                    <a:pt x="158750" y="51253"/>
                    <a:pt x="158750" y="47128"/>
                  </a:cubicBezTo>
                  <a:cubicBezTo>
                    <a:pt x="158750" y="43005"/>
                    <a:pt x="155431" y="39687"/>
                    <a:pt x="151309" y="39687"/>
                  </a:cubicBezTo>
                  <a:lnTo>
                    <a:pt x="138906" y="39687"/>
                  </a:lnTo>
                  <a:cubicBezTo>
                    <a:pt x="138906" y="28741"/>
                    <a:pt x="130009" y="19844"/>
                    <a:pt x="119062" y="19844"/>
                  </a:cubicBezTo>
                  <a:lnTo>
                    <a:pt x="119062" y="7441"/>
                  </a:lnTo>
                  <a:cubicBezTo>
                    <a:pt x="119062" y="3319"/>
                    <a:pt x="115745" y="0"/>
                    <a:pt x="111622" y="0"/>
                  </a:cubicBezTo>
                  <a:cubicBezTo>
                    <a:pt x="107497" y="0"/>
                    <a:pt x="104179" y="3319"/>
                    <a:pt x="104179" y="7441"/>
                  </a:cubicBezTo>
                  <a:lnTo>
                    <a:pt x="104179" y="19844"/>
                  </a:lnTo>
                  <a:lnTo>
                    <a:pt x="86816" y="19844"/>
                  </a:lnTo>
                  <a:lnTo>
                    <a:pt x="86816" y="7441"/>
                  </a:lnTo>
                  <a:cubicBezTo>
                    <a:pt x="86816" y="3319"/>
                    <a:pt x="83499" y="0"/>
                    <a:pt x="79375" y="0"/>
                  </a:cubicBezTo>
                  <a:cubicBezTo>
                    <a:pt x="75251" y="0"/>
                    <a:pt x="71934" y="3319"/>
                    <a:pt x="71934" y="7441"/>
                  </a:cubicBezTo>
                  <a:lnTo>
                    <a:pt x="71934" y="19844"/>
                  </a:lnTo>
                  <a:lnTo>
                    <a:pt x="54571" y="19844"/>
                  </a:lnTo>
                  <a:lnTo>
                    <a:pt x="54571" y="7441"/>
                  </a:lnTo>
                  <a:close/>
                  <a:moveTo>
                    <a:pt x="49609" y="39687"/>
                  </a:moveTo>
                  <a:lnTo>
                    <a:pt x="109141" y="39687"/>
                  </a:lnTo>
                  <a:cubicBezTo>
                    <a:pt x="114629" y="39687"/>
                    <a:pt x="119062" y="44121"/>
                    <a:pt x="119062" y="49609"/>
                  </a:cubicBezTo>
                  <a:lnTo>
                    <a:pt x="119062" y="109141"/>
                  </a:lnTo>
                  <a:cubicBezTo>
                    <a:pt x="119062" y="114629"/>
                    <a:pt x="114629" y="119063"/>
                    <a:pt x="109141" y="119063"/>
                  </a:cubicBezTo>
                  <a:lnTo>
                    <a:pt x="49609" y="119063"/>
                  </a:lnTo>
                  <a:cubicBezTo>
                    <a:pt x="44121" y="119063"/>
                    <a:pt x="39688" y="114629"/>
                    <a:pt x="39688" y="109141"/>
                  </a:cubicBezTo>
                  <a:lnTo>
                    <a:pt x="39688" y="49609"/>
                  </a:lnTo>
                  <a:cubicBezTo>
                    <a:pt x="39688" y="44121"/>
                    <a:pt x="44121" y="39687"/>
                    <a:pt x="49609" y="39687"/>
                  </a:cubicBezTo>
                  <a:close/>
                  <a:moveTo>
                    <a:pt x="54571" y="54571"/>
                  </a:moveTo>
                  <a:lnTo>
                    <a:pt x="54571" y="104179"/>
                  </a:lnTo>
                  <a:lnTo>
                    <a:pt x="104179" y="104179"/>
                  </a:lnTo>
                  <a:lnTo>
                    <a:pt x="104179" y="54571"/>
                  </a:lnTo>
                  <a:lnTo>
                    <a:pt x="54571" y="545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6" name="AutoShape 16"/>
            <p:cNvSpPr/>
            <p:nvPr/>
          </p:nvSpPr>
          <p:spPr>
            <a:xfrm>
              <a:off x="674652" y="3208056"/>
              <a:ext cx="5246688" cy="2222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3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Shared Memory</a:t>
              </a:r>
              <a:endParaRPr lang="en-US" sz="1100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476215" y="3589010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8" name="AutoShape 18"/>
            <p:cNvSpPr/>
            <p:nvPr/>
          </p:nvSpPr>
          <p:spPr>
            <a:xfrm>
              <a:off x="603200" y="3525517"/>
              <a:ext cx="1250148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000" b="0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Inside the SM</a:t>
              </a:r>
              <a:endParaRPr lang="en-US" sz="1100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476215" y="3842983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0" name="AutoShape 20"/>
            <p:cNvSpPr/>
            <p:nvPr/>
          </p:nvSpPr>
          <p:spPr>
            <a:xfrm>
              <a:off x="603200" y="3779489"/>
              <a:ext cx="1863838" cy="22224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000" b="0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Physically close, faster access</a:t>
              </a:r>
              <a:endParaRPr lang="en-US" sz="1100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476215" y="4096952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31750" y="0"/>
                  </a:moveTo>
                  <a:lnTo>
                    <a:pt x="31750" y="0"/>
                  </a:lnTo>
                  <a:cubicBezTo>
                    <a:pt x="49273" y="0"/>
                    <a:pt x="63500" y="14227"/>
                    <a:pt x="63500" y="31750"/>
                  </a:cubicBezTo>
                  <a:lnTo>
                    <a:pt x="63500" y="31750"/>
                  </a:lnTo>
                  <a:cubicBezTo>
                    <a:pt x="63500" y="49273"/>
                    <a:pt x="49273" y="63500"/>
                    <a:pt x="31750" y="63500"/>
                  </a:cubicBezTo>
                  <a:lnTo>
                    <a:pt x="31750" y="63500"/>
                  </a:lnTo>
                  <a:cubicBezTo>
                    <a:pt x="14227" y="63500"/>
                    <a:pt x="0" y="49273"/>
                    <a:pt x="0" y="31750"/>
                  </a:cubicBezTo>
                  <a:lnTo>
                    <a:pt x="0" y="31750"/>
                  </a:lnTo>
                  <a:cubicBezTo>
                    <a:pt x="0" y="14227"/>
                    <a:pt x="14227" y="0"/>
                    <a:pt x="3175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603200" y="4033459"/>
              <a:ext cx="1800336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000" b="0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Similar to CPU cache</a:t>
              </a:r>
              <a:endParaRPr lang="en-US" sz="1100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317514" y="4509624"/>
              <a:ext cx="5683250" cy="635000"/>
            </a:xfrm>
            <a:custGeom>
              <a:avLst/>
              <a:gdLst/>
              <a:ahLst/>
              <a:cxnLst/>
              <a:rect l="l" t="t" r="r" b="b"/>
              <a:pathLst>
                <a:path w="5683250" h="635000">
                  <a:moveTo>
                    <a:pt x="63500" y="0"/>
                  </a:moveTo>
                  <a:lnTo>
                    <a:pt x="5619750" y="0"/>
                  </a:lnTo>
                  <a:cubicBezTo>
                    <a:pt x="5654797" y="0"/>
                    <a:pt x="5683250" y="28453"/>
                    <a:pt x="5683250" y="63500"/>
                  </a:cubicBezTo>
                  <a:lnTo>
                    <a:pt x="5683250" y="571500"/>
                  </a:lnTo>
                  <a:cubicBezTo>
                    <a:pt x="5683250" y="606547"/>
                    <a:pt x="5654797" y="635000"/>
                    <a:pt x="5619750" y="635000"/>
                  </a:cubicBezTo>
                  <a:lnTo>
                    <a:pt x="63500" y="635000"/>
                  </a:lnTo>
                  <a:cubicBezTo>
                    <a:pt x="28453" y="635000"/>
                    <a:pt x="0" y="606547"/>
                    <a:pt x="0" y="571500"/>
                  </a:cubicBezTo>
                  <a:lnTo>
                    <a:pt x="0" y="63500"/>
                  </a:lnTo>
                  <a:cubicBezTo>
                    <a:pt x="0" y="28453"/>
                    <a:pt x="28453" y="0"/>
                    <a:pt x="63500" y="0"/>
                  </a:cubicBezTo>
                  <a:close/>
                </a:path>
              </a:pathLst>
            </a:custGeom>
            <a:solidFill>
              <a:srgbClr val="B89A6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492124" y="4731816"/>
              <a:ext cx="142875" cy="196452"/>
            </a:xfrm>
            <a:custGeom>
              <a:avLst/>
              <a:gdLst/>
              <a:ahLst/>
              <a:cxnLst/>
              <a:rect l="l" t="t" r="r" b="b"/>
              <a:pathLst>
                <a:path w="142875" h="196452">
                  <a:moveTo>
                    <a:pt x="108979" y="142875"/>
                  </a:moveTo>
                  <a:cubicBezTo>
                    <a:pt x="111697" y="134578"/>
                    <a:pt x="117128" y="127062"/>
                    <a:pt x="123267" y="120588"/>
                  </a:cubicBezTo>
                  <a:cubicBezTo>
                    <a:pt x="135434" y="107789"/>
                    <a:pt x="142875" y="90488"/>
                    <a:pt x="142875" y="71438"/>
                  </a:cubicBezTo>
                  <a:cubicBezTo>
                    <a:pt x="142875" y="31998"/>
                    <a:pt x="110877" y="0"/>
                    <a:pt x="71438" y="0"/>
                  </a:cubicBezTo>
                  <a:cubicBezTo>
                    <a:pt x="31998" y="0"/>
                    <a:pt x="0" y="31998"/>
                    <a:pt x="0" y="71438"/>
                  </a:cubicBezTo>
                  <a:cubicBezTo>
                    <a:pt x="0" y="90488"/>
                    <a:pt x="7441" y="107789"/>
                    <a:pt x="19608" y="120588"/>
                  </a:cubicBezTo>
                  <a:cubicBezTo>
                    <a:pt x="25747" y="127062"/>
                    <a:pt x="31217" y="134578"/>
                    <a:pt x="33896" y="142875"/>
                  </a:cubicBezTo>
                  <a:lnTo>
                    <a:pt x="108942" y="142875"/>
                  </a:lnTo>
                  <a:close/>
                  <a:moveTo>
                    <a:pt x="107156" y="160734"/>
                  </a:moveTo>
                  <a:lnTo>
                    <a:pt x="35719" y="160734"/>
                  </a:lnTo>
                  <a:lnTo>
                    <a:pt x="35719" y="166688"/>
                  </a:lnTo>
                  <a:cubicBezTo>
                    <a:pt x="35719" y="183133"/>
                    <a:pt x="49039" y="196452"/>
                    <a:pt x="65484" y="196452"/>
                  </a:cubicBezTo>
                  <a:lnTo>
                    <a:pt x="77391" y="196452"/>
                  </a:lnTo>
                  <a:cubicBezTo>
                    <a:pt x="93836" y="196452"/>
                    <a:pt x="107156" y="183133"/>
                    <a:pt x="107156" y="166688"/>
                  </a:cubicBezTo>
                  <a:lnTo>
                    <a:pt x="107156" y="160734"/>
                  </a:lnTo>
                  <a:close/>
                  <a:moveTo>
                    <a:pt x="68461" y="41673"/>
                  </a:moveTo>
                  <a:cubicBezTo>
                    <a:pt x="53652" y="41673"/>
                    <a:pt x="41673" y="53652"/>
                    <a:pt x="41673" y="68461"/>
                  </a:cubicBezTo>
                  <a:cubicBezTo>
                    <a:pt x="41673" y="73409"/>
                    <a:pt x="37691" y="77391"/>
                    <a:pt x="32742" y="77391"/>
                  </a:cubicBezTo>
                  <a:cubicBezTo>
                    <a:pt x="27794" y="77391"/>
                    <a:pt x="23813" y="73409"/>
                    <a:pt x="23813" y="68461"/>
                  </a:cubicBezTo>
                  <a:cubicBezTo>
                    <a:pt x="23813" y="43793"/>
                    <a:pt x="43793" y="23812"/>
                    <a:pt x="68461" y="23812"/>
                  </a:cubicBezTo>
                  <a:cubicBezTo>
                    <a:pt x="73409" y="23812"/>
                    <a:pt x="77391" y="27794"/>
                    <a:pt x="77391" y="32742"/>
                  </a:cubicBezTo>
                  <a:cubicBezTo>
                    <a:pt x="77391" y="37691"/>
                    <a:pt x="73409" y="41673"/>
                    <a:pt x="68461" y="41673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777820" y="4636608"/>
              <a:ext cx="1174750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0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Key Insight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777820" y="4858799"/>
              <a:ext cx="2419512" cy="19049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900" b="0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Physical location determines access speed</a:t>
              </a:r>
              <a:endParaRPr lang="en-US" sz="1100"/>
            </a:p>
          </p:txBody>
        </p:sp>
      </p:grpSp>
      <p:sp>
        <p:nvSpPr>
          <p:cNvPr id="27" name="Freeform 27"/>
          <p:cNvSpPr/>
          <p:nvPr/>
        </p:nvSpPr>
        <p:spPr>
          <a:xfrm>
            <a:off x="6191237" y="1111027"/>
            <a:ext cx="5683250" cy="5498428"/>
          </a:xfrm>
          <a:custGeom>
            <a:avLst/>
            <a:gdLst/>
            <a:ahLst/>
            <a:cxnLst/>
            <a:rect l="l" t="t" r="r" b="b"/>
            <a:pathLst>
              <a:path w="5683250" h="5498428">
                <a:moveTo>
                  <a:pt x="63482" y="0"/>
                </a:moveTo>
                <a:lnTo>
                  <a:pt x="5619768" y="0"/>
                </a:lnTo>
                <a:cubicBezTo>
                  <a:pt x="5654827" y="0"/>
                  <a:pt x="5683250" y="23664"/>
                  <a:pt x="5683250" y="52855"/>
                </a:cubicBezTo>
                <a:lnTo>
                  <a:pt x="5683250" y="5445573"/>
                </a:lnTo>
                <a:cubicBezTo>
                  <a:pt x="5683250" y="5474764"/>
                  <a:pt x="5654827" y="5498428"/>
                  <a:pt x="5619768" y="5498428"/>
                </a:cubicBezTo>
                <a:lnTo>
                  <a:pt x="63482" y="5498428"/>
                </a:lnTo>
                <a:cubicBezTo>
                  <a:pt x="28423" y="5498428"/>
                  <a:pt x="0" y="5474764"/>
                  <a:pt x="0" y="5445573"/>
                </a:cubicBezTo>
                <a:lnTo>
                  <a:pt x="0" y="52855"/>
                </a:lnTo>
                <a:cubicBezTo>
                  <a:pt x="0" y="23683"/>
                  <a:pt x="28445" y="0"/>
                  <a:pt x="6348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"/>
          <a:srcRect t="2" b="1"/>
          <a:stretch>
            <a:fillRect/>
          </a:stretch>
        </p:blipFill>
        <p:spPr>
          <a:xfrm>
            <a:off x="7286627" y="1234509"/>
            <a:ext cx="3420027" cy="4006896"/>
          </a:xfrm>
          <a:prstGeom prst="roundRect">
            <a:avLst>
              <a:gd name="adj" fmla="val 591"/>
            </a:avLst>
          </a:prstGeom>
          <a:ln w="12700">
            <a:noFill/>
            <a:prstDash val="solid"/>
          </a:ln>
        </p:spPr>
      </p:pic>
      <p:grpSp>
        <p:nvGrpSpPr>
          <p:cNvPr id="29" name="Group 29"/>
          <p:cNvGrpSpPr/>
          <p:nvPr/>
        </p:nvGrpSpPr>
        <p:grpSpPr>
          <a:xfrm>
            <a:off x="6207167" y="5381741"/>
            <a:ext cx="5667296" cy="1158796"/>
            <a:chOff x="6207167" y="5381741"/>
            <a:chExt cx="5667296" cy="1158796"/>
          </a:xfrm>
        </p:grpSpPr>
        <p:sp>
          <p:nvSpPr>
            <p:cNvPr id="30" name="Freeform 30"/>
            <p:cNvSpPr/>
            <p:nvPr/>
          </p:nvSpPr>
          <p:spPr>
            <a:xfrm>
              <a:off x="6207167" y="5381741"/>
              <a:ext cx="5667296" cy="1158796"/>
            </a:xfrm>
            <a:custGeom>
              <a:avLst/>
              <a:gdLst/>
              <a:ahLst/>
              <a:cxnLst/>
              <a:rect l="l" t="t" r="r" b="b"/>
              <a:pathLst>
                <a:path w="5667296" h="1158796">
                  <a:moveTo>
                    <a:pt x="63503" y="0"/>
                  </a:moveTo>
                  <a:lnTo>
                    <a:pt x="5603794" y="0"/>
                  </a:lnTo>
                  <a:cubicBezTo>
                    <a:pt x="5638865" y="0"/>
                    <a:pt x="5667296" y="28431"/>
                    <a:pt x="5667296" y="63503"/>
                  </a:cubicBezTo>
                  <a:lnTo>
                    <a:pt x="5667296" y="1095294"/>
                  </a:lnTo>
                  <a:cubicBezTo>
                    <a:pt x="5667296" y="1130365"/>
                    <a:pt x="5638865" y="1158796"/>
                    <a:pt x="5603794" y="1158796"/>
                  </a:cubicBezTo>
                  <a:lnTo>
                    <a:pt x="63503" y="1158796"/>
                  </a:lnTo>
                  <a:cubicBezTo>
                    <a:pt x="28431" y="1158796"/>
                    <a:pt x="0" y="1130365"/>
                    <a:pt x="0" y="1095294"/>
                  </a:cubicBezTo>
                  <a:lnTo>
                    <a:pt x="0" y="63503"/>
                  </a:lnTo>
                  <a:cubicBezTo>
                    <a:pt x="0" y="28454"/>
                    <a:pt x="28454" y="0"/>
                    <a:pt x="63503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2635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1" name="AutoShape 31"/>
            <p:cNvSpPr/>
            <p:nvPr/>
          </p:nvSpPr>
          <p:spPr>
            <a:xfrm>
              <a:off x="6310301" y="5516621"/>
              <a:ext cx="5461000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0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Speed Comparison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8173474" y="5770594"/>
              <a:ext cx="889000" cy="254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500" b="1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400-800</a:t>
              </a:r>
              <a:endParaRPr lang="en-US" sz="1100"/>
            </a:p>
          </p:txBody>
        </p:sp>
        <p:sp>
          <p:nvSpPr>
            <p:cNvPr id="33" name="AutoShape 33"/>
            <p:cNvSpPr/>
            <p:nvPr/>
          </p:nvSpPr>
          <p:spPr>
            <a:xfrm>
              <a:off x="8193317" y="6024501"/>
              <a:ext cx="849313" cy="158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9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Global</a:t>
              </a:r>
              <a:endParaRPr lang="en-US" sz="110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9082179" y="5834024"/>
              <a:ext cx="349250" cy="285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900" b="0" i="0" u="none" strike="noStrike">
                  <a:solidFill>
                    <a:srgbClr val="8B263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vs</a:t>
              </a: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9452581" y="5770594"/>
              <a:ext cx="452438" cy="254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500" b="1" i="0" u="none" strike="noStrike">
                  <a:solidFill>
                    <a:srgbClr val="8B263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~20</a:t>
              </a:r>
              <a:endParaRPr lang="en-US" sz="1100"/>
            </a:p>
          </p:txBody>
        </p:sp>
        <p:sp>
          <p:nvSpPr>
            <p:cNvPr id="36" name="AutoShape 36"/>
            <p:cNvSpPr/>
            <p:nvPr/>
          </p:nvSpPr>
          <p:spPr>
            <a:xfrm>
              <a:off x="9472424" y="6024501"/>
              <a:ext cx="412750" cy="158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9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Shared</a:t>
              </a:r>
              <a:endParaRPr lang="en-US" sz="110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6314270" y="6246696"/>
              <a:ext cx="5453063" cy="158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9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cycles</a:t>
              </a:r>
              <a:endParaRPr lang="en-US" sz="1100"/>
            </a:p>
          </p:txBody>
        </p:sp>
      </p:grpSp>
      <p:sp>
        <p:nvSpPr>
          <p:cNvPr id="38" name="AutoShape 38"/>
          <p:cNvSpPr/>
          <p:nvPr/>
        </p:nvSpPr>
        <p:spPr>
          <a:xfrm>
            <a:off x="261900" y="6673532"/>
            <a:ext cx="116125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SLING Documentation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5904" y="608970"/>
            <a:ext cx="11652454" cy="34809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Shared Memory Usage Example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48054" y="1218088"/>
            <a:ext cx="6813944" cy="5395460"/>
          </a:xfrm>
          <a:custGeom>
            <a:avLst/>
            <a:gdLst/>
            <a:ahLst/>
            <a:cxnLst/>
            <a:rect l="l" t="t" r="r" b="b"/>
            <a:pathLst>
              <a:path w="6813944" h="5395460">
                <a:moveTo>
                  <a:pt x="69601" y="0"/>
                </a:moveTo>
                <a:lnTo>
                  <a:pt x="6744343" y="0"/>
                </a:lnTo>
                <a:cubicBezTo>
                  <a:pt x="6782783" y="0"/>
                  <a:pt x="6813944" y="31162"/>
                  <a:pt x="6813944" y="69601"/>
                </a:cubicBezTo>
                <a:lnTo>
                  <a:pt x="6813944" y="5325859"/>
                </a:lnTo>
                <a:cubicBezTo>
                  <a:pt x="6813944" y="5364298"/>
                  <a:pt x="6782783" y="5395460"/>
                  <a:pt x="6744343" y="5395460"/>
                </a:cubicBezTo>
                <a:lnTo>
                  <a:pt x="69601" y="5395460"/>
                </a:lnTo>
                <a:cubicBezTo>
                  <a:pt x="31162" y="5395460"/>
                  <a:pt x="0" y="5364298"/>
                  <a:pt x="0" y="5325859"/>
                </a:cubicBezTo>
                <a:lnTo>
                  <a:pt x="0" y="69601"/>
                </a:lnTo>
                <a:cubicBezTo>
                  <a:pt x="0" y="31187"/>
                  <a:pt x="31187" y="0"/>
                  <a:pt x="69601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531871" y="1425592"/>
            <a:ext cx="197945" cy="176563"/>
          </a:xfrm>
          <a:custGeom>
            <a:avLst/>
            <a:gdLst/>
            <a:ahLst/>
            <a:cxnLst/>
            <a:rect l="l" t="t" r="r" b="b"/>
            <a:pathLst>
              <a:path w="197945" h="176563">
                <a:moveTo>
                  <a:pt x="123703" y="1667"/>
                </a:moveTo>
                <a:cubicBezTo>
                  <a:pt x="117924" y="0"/>
                  <a:pt x="111907" y="3367"/>
                  <a:pt x="110241" y="9146"/>
                </a:cubicBezTo>
                <a:lnTo>
                  <a:pt x="66730" y="161436"/>
                </a:lnTo>
                <a:cubicBezTo>
                  <a:pt x="65065" y="167216"/>
                  <a:pt x="68429" y="173234"/>
                  <a:pt x="74209" y="174898"/>
                </a:cubicBezTo>
                <a:cubicBezTo>
                  <a:pt x="79987" y="176563"/>
                  <a:pt x="86004" y="173199"/>
                  <a:pt x="87671" y="167419"/>
                </a:cubicBezTo>
                <a:lnTo>
                  <a:pt x="131181" y="15127"/>
                </a:lnTo>
                <a:cubicBezTo>
                  <a:pt x="132847" y="9349"/>
                  <a:pt x="129481" y="3333"/>
                  <a:pt x="123703" y="1667"/>
                </a:cubicBezTo>
                <a:close/>
                <a:moveTo>
                  <a:pt x="145663" y="47932"/>
                </a:moveTo>
                <a:cubicBezTo>
                  <a:pt x="141413" y="52181"/>
                  <a:pt x="141413" y="59082"/>
                  <a:pt x="145663" y="63332"/>
                </a:cubicBezTo>
                <a:lnTo>
                  <a:pt x="170614" y="88283"/>
                </a:lnTo>
                <a:lnTo>
                  <a:pt x="145663" y="113234"/>
                </a:lnTo>
                <a:cubicBezTo>
                  <a:pt x="141413" y="117483"/>
                  <a:pt x="141413" y="124384"/>
                  <a:pt x="145663" y="128632"/>
                </a:cubicBezTo>
                <a:cubicBezTo>
                  <a:pt x="149912" y="132882"/>
                  <a:pt x="156813" y="132882"/>
                  <a:pt x="161063" y="128632"/>
                </a:cubicBezTo>
                <a:lnTo>
                  <a:pt x="193696" y="95998"/>
                </a:lnTo>
                <a:cubicBezTo>
                  <a:pt x="197945" y="91750"/>
                  <a:pt x="197945" y="84849"/>
                  <a:pt x="193696" y="80600"/>
                </a:cubicBezTo>
                <a:lnTo>
                  <a:pt x="161063" y="47966"/>
                </a:lnTo>
                <a:cubicBezTo>
                  <a:pt x="156813" y="43716"/>
                  <a:pt x="149912" y="43716"/>
                  <a:pt x="145663" y="47966"/>
                </a:cubicBezTo>
                <a:close/>
                <a:moveTo>
                  <a:pt x="52282" y="47932"/>
                </a:moveTo>
                <a:cubicBezTo>
                  <a:pt x="48033" y="43683"/>
                  <a:pt x="41131" y="43683"/>
                  <a:pt x="36883" y="47932"/>
                </a:cubicBezTo>
                <a:lnTo>
                  <a:pt x="4249" y="80565"/>
                </a:lnTo>
                <a:cubicBezTo>
                  <a:pt x="0" y="84815"/>
                  <a:pt x="0" y="91716"/>
                  <a:pt x="4249" y="95965"/>
                </a:cubicBezTo>
                <a:lnTo>
                  <a:pt x="36883" y="128599"/>
                </a:lnTo>
                <a:cubicBezTo>
                  <a:pt x="41131" y="132848"/>
                  <a:pt x="48033" y="132848"/>
                  <a:pt x="52282" y="128599"/>
                </a:cubicBezTo>
                <a:cubicBezTo>
                  <a:pt x="56531" y="124350"/>
                  <a:pt x="56531" y="117449"/>
                  <a:pt x="52282" y="113201"/>
                </a:cubicBezTo>
                <a:lnTo>
                  <a:pt x="27332" y="88283"/>
                </a:lnTo>
                <a:lnTo>
                  <a:pt x="52248" y="63332"/>
                </a:lnTo>
                <a:cubicBezTo>
                  <a:pt x="56498" y="59082"/>
                  <a:pt x="56498" y="52181"/>
                  <a:pt x="52248" y="47932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39606" y="1392079"/>
            <a:ext cx="6335315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CUDA Example Code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539365" y="1774970"/>
            <a:ext cx="6448359" cy="4664464"/>
          </a:xfrm>
          <a:custGeom>
            <a:avLst/>
            <a:gdLst/>
            <a:ahLst/>
            <a:cxnLst/>
            <a:rect l="l" t="t" r="r" b="b"/>
            <a:pathLst>
              <a:path w="6448359" h="4664464">
                <a:moveTo>
                  <a:pt x="34635" y="0"/>
                </a:moveTo>
                <a:lnTo>
                  <a:pt x="6378719" y="0"/>
                </a:lnTo>
                <a:cubicBezTo>
                  <a:pt x="6417180" y="0"/>
                  <a:pt x="6448359" y="31178"/>
                  <a:pt x="6448359" y="69640"/>
                </a:cubicBezTo>
                <a:lnTo>
                  <a:pt x="6448359" y="4594822"/>
                </a:lnTo>
                <a:cubicBezTo>
                  <a:pt x="6448359" y="4633283"/>
                  <a:pt x="6417180" y="4664464"/>
                  <a:pt x="6378719" y="4664464"/>
                </a:cubicBezTo>
                <a:lnTo>
                  <a:pt x="34635" y="4664464"/>
                </a:lnTo>
                <a:cubicBezTo>
                  <a:pt x="15507" y="4664464"/>
                  <a:pt x="0" y="4648954"/>
                  <a:pt x="0" y="4629826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539365" y="1774970"/>
            <a:ext cx="34635" cy="4664464"/>
          </a:xfrm>
          <a:custGeom>
            <a:avLst/>
            <a:gdLst/>
            <a:ahLst/>
            <a:cxnLst/>
            <a:rect l="l" t="t" r="r" b="b"/>
            <a:pathLst>
              <a:path w="34635" h="4664464">
                <a:moveTo>
                  <a:pt x="34635" y="0"/>
                </a:moveTo>
                <a:lnTo>
                  <a:pt x="34635" y="0"/>
                </a:lnTo>
                <a:lnTo>
                  <a:pt x="34635" y="4664464"/>
                </a:lnTo>
                <a:lnTo>
                  <a:pt x="34635" y="4664464"/>
                </a:lnTo>
                <a:cubicBezTo>
                  <a:pt x="15507" y="4664464"/>
                  <a:pt x="0" y="4648954"/>
                  <a:pt x="0" y="4629826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17850" y="1548109"/>
            <a:ext cx="6222184" cy="43859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// Declare Shared Memory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__shared__ float tile[32][32];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// Use inside the kernel function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__global__ void kernel(float* input, float* output) {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// Get thread indices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int tx = threadIdx.x;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int ty = threadIdx.y;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// Load data from Global Memory to Shared Memory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tile[ty][tx] = input[...];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// Sync threads to ensure data is loaded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__syncthreads();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// Compute using data in Shared Memory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float result = tile[ty][tx] * 2.0f;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// Write back to Global Memory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   output[...] = result;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1A1A1A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}</a:t>
            </a:r>
            <a:endParaRPr lang="en-US" sz="1100" b="0" i="0" u="none" strike="noStrike">
              <a:solidFill>
                <a:srgbClr val="1A1A1A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7370281" y="1218088"/>
            <a:ext cx="4473011" cy="2088565"/>
          </a:xfrm>
          <a:custGeom>
            <a:avLst/>
            <a:gdLst/>
            <a:ahLst/>
            <a:cxnLst/>
            <a:rect l="l" t="t" r="r" b="b"/>
            <a:pathLst>
              <a:path w="4473011" h="2088565">
                <a:moveTo>
                  <a:pt x="69613" y="0"/>
                </a:moveTo>
                <a:lnTo>
                  <a:pt x="4403399" y="0"/>
                </a:lnTo>
                <a:cubicBezTo>
                  <a:pt x="4441844" y="0"/>
                  <a:pt x="4473011" y="31166"/>
                  <a:pt x="4473011" y="69613"/>
                </a:cubicBezTo>
                <a:lnTo>
                  <a:pt x="4473011" y="2018953"/>
                </a:lnTo>
                <a:cubicBezTo>
                  <a:pt x="4473011" y="2057399"/>
                  <a:pt x="4441844" y="2088565"/>
                  <a:pt x="4403399" y="2088565"/>
                </a:cubicBezTo>
                <a:lnTo>
                  <a:pt x="69613" y="2088565"/>
                </a:lnTo>
                <a:cubicBezTo>
                  <a:pt x="31166" y="2088565"/>
                  <a:pt x="0" y="2057399"/>
                  <a:pt x="0" y="2018953"/>
                </a:cubicBezTo>
                <a:lnTo>
                  <a:pt x="0" y="69613"/>
                </a:lnTo>
                <a:cubicBezTo>
                  <a:pt x="0" y="31192"/>
                  <a:pt x="31192" y="0"/>
                  <a:pt x="6961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7566029" y="1426851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152291" y="87024"/>
                </a:moveTo>
                <a:cubicBezTo>
                  <a:pt x="152291" y="51001"/>
                  <a:pt x="123046" y="21756"/>
                  <a:pt x="87024" y="21756"/>
                </a:cubicBezTo>
                <a:cubicBezTo>
                  <a:pt x="51001" y="21756"/>
                  <a:pt x="21756" y="51001"/>
                  <a:pt x="21756" y="87024"/>
                </a:cubicBezTo>
                <a:cubicBezTo>
                  <a:pt x="21756" y="123046"/>
                  <a:pt x="51001" y="152291"/>
                  <a:pt x="87024" y="152291"/>
                </a:cubicBezTo>
                <a:cubicBezTo>
                  <a:pt x="123046" y="152291"/>
                  <a:pt x="152291" y="123046"/>
                  <a:pt x="152291" y="87024"/>
                </a:cubicBezTo>
                <a:close/>
                <a:moveTo>
                  <a:pt x="0" y="87024"/>
                </a:moveTo>
                <a:cubicBezTo>
                  <a:pt x="0" y="38994"/>
                  <a:pt x="38994" y="0"/>
                  <a:pt x="87024" y="0"/>
                </a:cubicBezTo>
                <a:cubicBezTo>
                  <a:pt x="135053" y="0"/>
                  <a:pt x="174047" y="38994"/>
                  <a:pt x="174047" y="87024"/>
                </a:cubicBezTo>
                <a:cubicBezTo>
                  <a:pt x="174047" y="135053"/>
                  <a:pt x="135053" y="174047"/>
                  <a:pt x="87024" y="174047"/>
                </a:cubicBezTo>
                <a:cubicBezTo>
                  <a:pt x="38994" y="174047"/>
                  <a:pt x="0" y="135053"/>
                  <a:pt x="0" y="87024"/>
                </a:cubicBezTo>
                <a:close/>
                <a:moveTo>
                  <a:pt x="87024" y="114217"/>
                </a:moveTo>
                <a:cubicBezTo>
                  <a:pt x="102033" y="114217"/>
                  <a:pt x="114217" y="102033"/>
                  <a:pt x="114217" y="87024"/>
                </a:cubicBezTo>
                <a:cubicBezTo>
                  <a:pt x="114217" y="72014"/>
                  <a:pt x="102033" y="59828"/>
                  <a:pt x="87024" y="59828"/>
                </a:cubicBezTo>
                <a:cubicBezTo>
                  <a:pt x="72014" y="59828"/>
                  <a:pt x="59828" y="72014"/>
                  <a:pt x="59828" y="87024"/>
                </a:cubicBezTo>
                <a:cubicBezTo>
                  <a:pt x="59828" y="102033"/>
                  <a:pt x="72014" y="114217"/>
                  <a:pt x="87024" y="114217"/>
                </a:cubicBezTo>
                <a:close/>
                <a:moveTo>
                  <a:pt x="87024" y="38073"/>
                </a:moveTo>
                <a:cubicBezTo>
                  <a:pt x="114040" y="38073"/>
                  <a:pt x="135974" y="60007"/>
                  <a:pt x="135974" y="87024"/>
                </a:cubicBezTo>
                <a:cubicBezTo>
                  <a:pt x="135974" y="114040"/>
                  <a:pt x="114040" y="135974"/>
                  <a:pt x="87024" y="135974"/>
                </a:cubicBezTo>
                <a:cubicBezTo>
                  <a:pt x="60007" y="135974"/>
                  <a:pt x="38073" y="114040"/>
                  <a:pt x="38073" y="87024"/>
                </a:cubicBezTo>
                <a:cubicBezTo>
                  <a:pt x="38073" y="60007"/>
                  <a:pt x="60007" y="38073"/>
                  <a:pt x="87024" y="38073"/>
                </a:cubicBezTo>
                <a:close/>
                <a:moveTo>
                  <a:pt x="76145" y="87024"/>
                </a:moveTo>
                <a:cubicBezTo>
                  <a:pt x="76145" y="81020"/>
                  <a:pt x="81020" y="76145"/>
                  <a:pt x="87024" y="76145"/>
                </a:cubicBezTo>
                <a:cubicBezTo>
                  <a:pt x="93027" y="76145"/>
                  <a:pt x="97900" y="81020"/>
                  <a:pt x="97900" y="87024"/>
                </a:cubicBezTo>
                <a:cubicBezTo>
                  <a:pt x="97900" y="93027"/>
                  <a:pt x="93027" y="97900"/>
                  <a:pt x="87024" y="97900"/>
                </a:cubicBezTo>
                <a:cubicBezTo>
                  <a:pt x="81020" y="97900"/>
                  <a:pt x="76145" y="93027"/>
                  <a:pt x="76145" y="87024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761832" y="1392079"/>
            <a:ext cx="3994381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Primary Uses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7544273" y="1774970"/>
            <a:ext cx="4124916" cy="626570"/>
          </a:xfrm>
          <a:custGeom>
            <a:avLst/>
            <a:gdLst/>
            <a:ahLst/>
            <a:cxnLst/>
            <a:rect l="l" t="t" r="r" b="b"/>
            <a:pathLst>
              <a:path w="4124916" h="626570">
                <a:moveTo>
                  <a:pt x="69618" y="0"/>
                </a:moveTo>
                <a:lnTo>
                  <a:pt x="4055298" y="0"/>
                </a:lnTo>
                <a:cubicBezTo>
                  <a:pt x="4093747" y="0"/>
                  <a:pt x="4124916" y="31170"/>
                  <a:pt x="4124916" y="69618"/>
                </a:cubicBezTo>
                <a:lnTo>
                  <a:pt x="4124916" y="556951"/>
                </a:lnTo>
                <a:cubicBezTo>
                  <a:pt x="4124916" y="595400"/>
                  <a:pt x="4093747" y="626570"/>
                  <a:pt x="4055298" y="626570"/>
                </a:cubicBezTo>
                <a:lnTo>
                  <a:pt x="69618" y="626570"/>
                </a:lnTo>
                <a:cubicBezTo>
                  <a:pt x="31170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70"/>
                  <a:pt x="31170" y="0"/>
                  <a:pt x="6961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48656" y="1879356"/>
            <a:ext cx="3985679" cy="208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Cache data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48656" y="2122958"/>
            <a:ext cx="3976976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Temporarily store frequently accessed data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7544273" y="2505717"/>
            <a:ext cx="4124916" cy="626570"/>
          </a:xfrm>
          <a:custGeom>
            <a:avLst/>
            <a:gdLst/>
            <a:ahLst/>
            <a:cxnLst/>
            <a:rect l="l" t="t" r="r" b="b"/>
            <a:pathLst>
              <a:path w="4124916" h="626570">
                <a:moveTo>
                  <a:pt x="69618" y="0"/>
                </a:moveTo>
                <a:lnTo>
                  <a:pt x="4055298" y="0"/>
                </a:lnTo>
                <a:cubicBezTo>
                  <a:pt x="4093747" y="0"/>
                  <a:pt x="4124916" y="31170"/>
                  <a:pt x="4124916" y="69618"/>
                </a:cubicBezTo>
                <a:lnTo>
                  <a:pt x="4124916" y="556951"/>
                </a:lnTo>
                <a:cubicBezTo>
                  <a:pt x="4124916" y="595400"/>
                  <a:pt x="4093747" y="626570"/>
                  <a:pt x="4055298" y="626570"/>
                </a:cubicBezTo>
                <a:lnTo>
                  <a:pt x="69618" y="626570"/>
                </a:lnTo>
                <a:cubicBezTo>
                  <a:pt x="31170" y="626570"/>
                  <a:pt x="0" y="595400"/>
                  <a:pt x="0" y="556951"/>
                </a:cubicBezTo>
                <a:lnTo>
                  <a:pt x="0" y="69618"/>
                </a:lnTo>
                <a:cubicBezTo>
                  <a:pt x="0" y="31170"/>
                  <a:pt x="31170" y="0"/>
                  <a:pt x="6961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48656" y="2610099"/>
            <a:ext cx="3985679" cy="208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Reduce global memory accesses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48656" y="2853701"/>
            <a:ext cx="3976976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Reduce memory bandwidth pressure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7370281" y="3445291"/>
            <a:ext cx="4473011" cy="3167657"/>
          </a:xfrm>
          <a:custGeom>
            <a:avLst/>
            <a:gdLst/>
            <a:ahLst/>
            <a:cxnLst/>
            <a:rect l="l" t="t" r="r" b="b"/>
            <a:pathLst>
              <a:path w="4473011" h="3167657">
                <a:moveTo>
                  <a:pt x="69625" y="0"/>
                </a:moveTo>
                <a:lnTo>
                  <a:pt x="4403386" y="0"/>
                </a:lnTo>
                <a:cubicBezTo>
                  <a:pt x="4441838" y="0"/>
                  <a:pt x="4473011" y="31172"/>
                  <a:pt x="4473011" y="69625"/>
                </a:cubicBezTo>
                <a:lnTo>
                  <a:pt x="4473011" y="3098032"/>
                </a:lnTo>
                <a:cubicBezTo>
                  <a:pt x="4473011" y="3136485"/>
                  <a:pt x="4441838" y="3167657"/>
                  <a:pt x="4403386" y="3167657"/>
                </a:cubicBezTo>
                <a:lnTo>
                  <a:pt x="69625" y="3167657"/>
                </a:lnTo>
                <a:cubicBezTo>
                  <a:pt x="31172" y="3167657"/>
                  <a:pt x="0" y="3136485"/>
                  <a:pt x="0" y="3098032"/>
                </a:cubicBezTo>
                <a:lnTo>
                  <a:pt x="0" y="69625"/>
                </a:lnTo>
                <a:cubicBezTo>
                  <a:pt x="0" y="31198"/>
                  <a:pt x="31198" y="0"/>
                  <a:pt x="69625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Freeform 19"/>
          <p:cNvSpPr/>
          <p:nvPr/>
        </p:nvSpPr>
        <p:spPr>
          <a:xfrm>
            <a:off x="7561678" y="3662782"/>
            <a:ext cx="156642" cy="156642"/>
          </a:xfrm>
          <a:custGeom>
            <a:avLst/>
            <a:gdLst/>
            <a:ahLst/>
            <a:cxnLst/>
            <a:rect l="l" t="t" r="r" b="b"/>
            <a:pathLst>
              <a:path w="156642" h="156642">
                <a:moveTo>
                  <a:pt x="102798" y="107692"/>
                </a:moveTo>
                <a:cubicBezTo>
                  <a:pt x="132533" y="107692"/>
                  <a:pt x="156642" y="83583"/>
                  <a:pt x="156642" y="53845"/>
                </a:cubicBezTo>
                <a:cubicBezTo>
                  <a:pt x="156642" y="24108"/>
                  <a:pt x="132533" y="0"/>
                  <a:pt x="102798" y="0"/>
                </a:cubicBezTo>
                <a:cubicBezTo>
                  <a:pt x="73059" y="0"/>
                  <a:pt x="48951" y="24108"/>
                  <a:pt x="48951" y="53845"/>
                </a:cubicBezTo>
                <a:cubicBezTo>
                  <a:pt x="48951" y="59567"/>
                  <a:pt x="49839" y="65104"/>
                  <a:pt x="51490" y="70275"/>
                </a:cubicBezTo>
                <a:lnTo>
                  <a:pt x="2142" y="119623"/>
                </a:lnTo>
                <a:cubicBezTo>
                  <a:pt x="765" y="121001"/>
                  <a:pt x="0" y="122866"/>
                  <a:pt x="0" y="124824"/>
                </a:cubicBezTo>
                <a:lnTo>
                  <a:pt x="0" y="149300"/>
                </a:lnTo>
                <a:cubicBezTo>
                  <a:pt x="0" y="153369"/>
                  <a:pt x="3274" y="156642"/>
                  <a:pt x="7343" y="156642"/>
                </a:cubicBezTo>
                <a:lnTo>
                  <a:pt x="31819" y="156642"/>
                </a:lnTo>
                <a:cubicBezTo>
                  <a:pt x="35886" y="156642"/>
                  <a:pt x="39160" y="153369"/>
                  <a:pt x="39160" y="149300"/>
                </a:cubicBezTo>
                <a:lnTo>
                  <a:pt x="39160" y="137062"/>
                </a:lnTo>
                <a:lnTo>
                  <a:pt x="51398" y="137062"/>
                </a:lnTo>
                <a:cubicBezTo>
                  <a:pt x="55467" y="137062"/>
                  <a:pt x="58741" y="133789"/>
                  <a:pt x="58741" y="129719"/>
                </a:cubicBezTo>
                <a:lnTo>
                  <a:pt x="58741" y="117483"/>
                </a:lnTo>
                <a:lnTo>
                  <a:pt x="70979" y="117483"/>
                </a:lnTo>
                <a:cubicBezTo>
                  <a:pt x="72937" y="117483"/>
                  <a:pt x="74803" y="116717"/>
                  <a:pt x="76180" y="115340"/>
                </a:cubicBezTo>
                <a:lnTo>
                  <a:pt x="86368" y="105152"/>
                </a:lnTo>
                <a:cubicBezTo>
                  <a:pt x="91538" y="106804"/>
                  <a:pt x="97075" y="107692"/>
                  <a:pt x="102798" y="107692"/>
                </a:cubicBezTo>
                <a:close/>
                <a:moveTo>
                  <a:pt x="115034" y="29370"/>
                </a:moveTo>
                <a:cubicBezTo>
                  <a:pt x="121788" y="29370"/>
                  <a:pt x="127272" y="34854"/>
                  <a:pt x="127272" y="41608"/>
                </a:cubicBezTo>
                <a:cubicBezTo>
                  <a:pt x="127272" y="48362"/>
                  <a:pt x="121788" y="53845"/>
                  <a:pt x="115034" y="53845"/>
                </a:cubicBezTo>
                <a:cubicBezTo>
                  <a:pt x="108280" y="53845"/>
                  <a:pt x="102798" y="48362"/>
                  <a:pt x="102798" y="41608"/>
                </a:cubicBezTo>
                <a:cubicBezTo>
                  <a:pt x="102798" y="34854"/>
                  <a:pt x="108280" y="29370"/>
                  <a:pt x="115034" y="2937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735725" y="3619283"/>
            <a:ext cx="4011786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Keywords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7561592" y="3967339"/>
            <a:ext cx="4107425" cy="626570"/>
          </a:xfrm>
          <a:custGeom>
            <a:avLst/>
            <a:gdLst/>
            <a:ahLst/>
            <a:cxnLst/>
            <a:rect l="l" t="t" r="r" b="b"/>
            <a:pathLst>
              <a:path w="4107425" h="626570">
                <a:moveTo>
                  <a:pt x="34635" y="0"/>
                </a:moveTo>
                <a:lnTo>
                  <a:pt x="4037808" y="0"/>
                </a:lnTo>
                <a:cubicBezTo>
                  <a:pt x="4076256" y="0"/>
                  <a:pt x="4107425" y="31170"/>
                  <a:pt x="4107425" y="69618"/>
                </a:cubicBezTo>
                <a:lnTo>
                  <a:pt x="4107425" y="556951"/>
                </a:lnTo>
                <a:cubicBezTo>
                  <a:pt x="4107425" y="595400"/>
                  <a:pt x="4076256" y="626570"/>
                  <a:pt x="4037808" y="626570"/>
                </a:cubicBez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07"/>
                  <a:pt x="15507" y="0"/>
                  <a:pt x="346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7561592" y="3967339"/>
            <a:ext cx="34635" cy="626570"/>
          </a:xfrm>
          <a:custGeom>
            <a:avLst/>
            <a:gdLst/>
            <a:ahLst/>
            <a:cxnLst/>
            <a:rect l="l" t="t" r="r" b="b"/>
            <a:pathLst>
              <a:path w="34635" h="626570">
                <a:moveTo>
                  <a:pt x="34635" y="0"/>
                </a:moveTo>
                <a:lnTo>
                  <a:pt x="34635" y="0"/>
                </a:lnTo>
                <a:lnTo>
                  <a:pt x="34635" y="626570"/>
                </a:ln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83292" y="4071721"/>
            <a:ext cx="3950869" cy="208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__shared__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83292" y="4315323"/>
            <a:ext cx="3942167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Declare shared memory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7561592" y="4663311"/>
            <a:ext cx="4107425" cy="626570"/>
          </a:xfrm>
          <a:custGeom>
            <a:avLst/>
            <a:gdLst/>
            <a:ahLst/>
            <a:cxnLst/>
            <a:rect l="l" t="t" r="r" b="b"/>
            <a:pathLst>
              <a:path w="4107425" h="626570">
                <a:moveTo>
                  <a:pt x="34635" y="0"/>
                </a:moveTo>
                <a:lnTo>
                  <a:pt x="4037808" y="0"/>
                </a:lnTo>
                <a:cubicBezTo>
                  <a:pt x="4076256" y="0"/>
                  <a:pt x="4107425" y="31170"/>
                  <a:pt x="4107425" y="69618"/>
                </a:cubicBezTo>
                <a:lnTo>
                  <a:pt x="4107425" y="556951"/>
                </a:lnTo>
                <a:cubicBezTo>
                  <a:pt x="4107425" y="595400"/>
                  <a:pt x="4076256" y="626570"/>
                  <a:pt x="4037808" y="626570"/>
                </a:cubicBez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07"/>
                  <a:pt x="15507" y="0"/>
                  <a:pt x="346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7561592" y="4663311"/>
            <a:ext cx="34635" cy="626570"/>
          </a:xfrm>
          <a:custGeom>
            <a:avLst/>
            <a:gdLst/>
            <a:ahLst/>
            <a:cxnLst/>
            <a:rect l="l" t="t" r="r" b="b"/>
            <a:pathLst>
              <a:path w="34635" h="626570">
                <a:moveTo>
                  <a:pt x="34635" y="0"/>
                </a:moveTo>
                <a:lnTo>
                  <a:pt x="34635" y="0"/>
                </a:lnTo>
                <a:lnTo>
                  <a:pt x="34635" y="626570"/>
                </a:ln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683292" y="4767693"/>
            <a:ext cx="3950869" cy="208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1" i="0" u="none" strike="noStrike">
                <a:solidFill>
                  <a:srgbClr val="B89A6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__syncthreads()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83292" y="5011295"/>
            <a:ext cx="3942167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 synchronization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287137" y="6682495"/>
            <a:ext cx="11556728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507" y="60912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Shared Memory Optimization Principle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99911" y="1333235"/>
            <a:ext cx="5581555" cy="1714500"/>
            <a:chOff x="399911" y="1333235"/>
            <a:chExt cx="5581555" cy="1714500"/>
          </a:xfrm>
        </p:grpSpPr>
        <p:sp>
          <p:nvSpPr>
            <p:cNvPr id="4" name="Freeform 4"/>
            <p:cNvSpPr/>
            <p:nvPr/>
          </p:nvSpPr>
          <p:spPr>
            <a:xfrm>
              <a:off x="399911" y="1333235"/>
              <a:ext cx="5581555" cy="1714500"/>
            </a:xfrm>
            <a:custGeom>
              <a:avLst/>
              <a:gdLst/>
              <a:ahLst/>
              <a:cxnLst/>
              <a:rect l="l" t="t" r="r" b="b"/>
              <a:pathLst>
                <a:path w="5581555" h="1714500">
                  <a:moveTo>
                    <a:pt x="37909" y="0"/>
                  </a:moveTo>
                  <a:lnTo>
                    <a:pt x="5505362" y="0"/>
                  </a:lnTo>
                  <a:cubicBezTo>
                    <a:pt x="5547443" y="0"/>
                    <a:pt x="5581555" y="34112"/>
                    <a:pt x="5581555" y="76192"/>
                  </a:cubicBezTo>
                  <a:lnTo>
                    <a:pt x="5581555" y="1638308"/>
                  </a:lnTo>
                  <a:cubicBezTo>
                    <a:pt x="5581555" y="1680388"/>
                    <a:pt x="5547443" y="1714500"/>
                    <a:pt x="5505362" y="1714500"/>
                  </a:cubicBezTo>
                  <a:lnTo>
                    <a:pt x="37909" y="1714500"/>
                  </a:lnTo>
                  <a:cubicBezTo>
                    <a:pt x="16974" y="1714500"/>
                    <a:pt x="0" y="1697526"/>
                    <a:pt x="0" y="1676591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Freeform 5"/>
            <p:cNvSpPr/>
            <p:nvPr/>
          </p:nvSpPr>
          <p:spPr>
            <a:xfrm>
              <a:off x="399911" y="1333235"/>
              <a:ext cx="37909" cy="1714500"/>
            </a:xfrm>
            <a:custGeom>
              <a:avLst/>
              <a:gdLst/>
              <a:ahLst/>
              <a:cxnLst/>
              <a:rect l="l" t="t" r="r" b="b"/>
              <a:pathLst>
                <a:path w="37909" h="1714500">
                  <a:moveTo>
                    <a:pt x="37909" y="0"/>
                  </a:moveTo>
                  <a:lnTo>
                    <a:pt x="37909" y="0"/>
                  </a:lnTo>
                  <a:lnTo>
                    <a:pt x="37909" y="1714500"/>
                  </a:lnTo>
                  <a:lnTo>
                    <a:pt x="37909" y="1714500"/>
                  </a:lnTo>
                  <a:cubicBezTo>
                    <a:pt x="16974" y="1714500"/>
                    <a:pt x="0" y="1697526"/>
                    <a:pt x="0" y="1676591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6" name="Freeform 6"/>
            <p:cNvSpPr/>
            <p:nvPr/>
          </p:nvSpPr>
          <p:spPr>
            <a:xfrm>
              <a:off x="633119" y="156173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62136" y="62136"/>
                  </a:moveTo>
                  <a:cubicBezTo>
                    <a:pt x="65634" y="58638"/>
                    <a:pt x="71289" y="58638"/>
                    <a:pt x="74748" y="62136"/>
                  </a:cubicBezTo>
                  <a:lnTo>
                    <a:pt x="95213" y="82600"/>
                  </a:lnTo>
                  <a:lnTo>
                    <a:pt x="115677" y="62136"/>
                  </a:lnTo>
                  <a:cubicBezTo>
                    <a:pt x="119174" y="58638"/>
                    <a:pt x="124830" y="58638"/>
                    <a:pt x="128290" y="62136"/>
                  </a:cubicBezTo>
                  <a:cubicBezTo>
                    <a:pt x="131750" y="65634"/>
                    <a:pt x="131787" y="71289"/>
                    <a:pt x="128290" y="74748"/>
                  </a:cubicBezTo>
                  <a:lnTo>
                    <a:pt x="107826" y="95213"/>
                  </a:lnTo>
                  <a:lnTo>
                    <a:pt x="128290" y="115677"/>
                  </a:lnTo>
                  <a:cubicBezTo>
                    <a:pt x="131787" y="119174"/>
                    <a:pt x="131787" y="124830"/>
                    <a:pt x="128290" y="128290"/>
                  </a:cubicBezTo>
                  <a:cubicBezTo>
                    <a:pt x="124791" y="131750"/>
                    <a:pt x="119137" y="131787"/>
                    <a:pt x="115677" y="128290"/>
                  </a:cubicBezTo>
                  <a:lnTo>
                    <a:pt x="95213" y="107826"/>
                  </a:lnTo>
                  <a:lnTo>
                    <a:pt x="74748" y="128290"/>
                  </a:lnTo>
                  <a:cubicBezTo>
                    <a:pt x="71251" y="131787"/>
                    <a:pt x="65595" y="131787"/>
                    <a:pt x="62136" y="128290"/>
                  </a:cubicBezTo>
                  <a:cubicBezTo>
                    <a:pt x="58675" y="124791"/>
                    <a:pt x="58638" y="119137"/>
                    <a:pt x="62136" y="115677"/>
                  </a:cubicBezTo>
                  <a:lnTo>
                    <a:pt x="82600" y="95213"/>
                  </a:lnTo>
                  <a:lnTo>
                    <a:pt x="62136" y="74748"/>
                  </a:lnTo>
                  <a:cubicBezTo>
                    <a:pt x="58638" y="71251"/>
                    <a:pt x="58638" y="65595"/>
                    <a:pt x="62136" y="62136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7" name="AutoShape 7"/>
            <p:cNvSpPr/>
            <p:nvPr/>
          </p:nvSpPr>
          <p:spPr>
            <a:xfrm>
              <a:off x="847432" y="1523674"/>
              <a:ext cx="50387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Naive Approach</a:t>
              </a:r>
              <a:endParaRPr lang="en-US" sz="110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09307" y="201895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9" name="AutoShape 9"/>
            <p:cNvSpPr/>
            <p:nvPr/>
          </p:nvSpPr>
          <p:spPr>
            <a:xfrm>
              <a:off x="761689" y="1942765"/>
              <a:ext cx="3331632" cy="26641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Read from global memory every time</a:t>
              </a:r>
              <a:endParaRPr lang="en-US" sz="1100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307" y="23617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761689" y="2285586"/>
              <a:ext cx="2994102" cy="26641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High latency, poor performance</a:t>
              </a:r>
              <a:endParaRPr lang="en-US" sz="1100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609307" y="270460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761689" y="2628412"/>
              <a:ext cx="2994102" cy="26641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Frequent global memory accesses</a:t>
              </a:r>
              <a:endParaRPr lang="en-US" sz="110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10279" y="1333235"/>
            <a:ext cx="5600700" cy="1714500"/>
            <a:chOff x="6210279" y="1333235"/>
            <a:chExt cx="5600700" cy="1714500"/>
          </a:xfrm>
        </p:grpSpPr>
        <p:sp>
          <p:nvSpPr>
            <p:cNvPr id="15" name="Freeform 15"/>
            <p:cNvSpPr/>
            <p:nvPr/>
          </p:nvSpPr>
          <p:spPr>
            <a:xfrm>
              <a:off x="6210279" y="1333235"/>
              <a:ext cx="5600700" cy="1714500"/>
            </a:xfrm>
            <a:custGeom>
              <a:avLst/>
              <a:gdLst/>
              <a:ahLst/>
              <a:cxnLst/>
              <a:rect l="l" t="t" r="r" b="b"/>
              <a:pathLst>
                <a:path w="5600700" h="1714500">
                  <a:moveTo>
                    <a:pt x="76192" y="0"/>
                  </a:moveTo>
                  <a:lnTo>
                    <a:pt x="5524508" y="0"/>
                  </a:lnTo>
                  <a:cubicBezTo>
                    <a:pt x="5566588" y="0"/>
                    <a:pt x="5600700" y="34112"/>
                    <a:pt x="5600700" y="76192"/>
                  </a:cubicBezTo>
                  <a:lnTo>
                    <a:pt x="5600700" y="1638308"/>
                  </a:lnTo>
                  <a:cubicBezTo>
                    <a:pt x="5600700" y="1680388"/>
                    <a:pt x="5566588" y="1714500"/>
                    <a:pt x="5524508" y="1714500"/>
                  </a:cubicBezTo>
                  <a:lnTo>
                    <a:pt x="76192" y="1714500"/>
                  </a:lnTo>
                  <a:cubicBezTo>
                    <a:pt x="34112" y="1714500"/>
                    <a:pt x="0" y="1680388"/>
                    <a:pt x="0" y="1638308"/>
                  </a:cubicBezTo>
                  <a:lnTo>
                    <a:pt x="0" y="76192"/>
                  </a:lnTo>
                  <a:cubicBezTo>
                    <a:pt x="0" y="34141"/>
                    <a:pt x="34141" y="0"/>
                    <a:pt x="76192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424532" y="156173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cubicBezTo>
                    <a:pt x="147820" y="190500"/>
                    <a:pt x="190500" y="147820"/>
                    <a:pt x="190500" y="95250"/>
                  </a:cubicBezTo>
                  <a:cubicBezTo>
                    <a:pt x="190500" y="42680"/>
                    <a:pt x="147820" y="0"/>
                    <a:pt x="95250" y="0"/>
                  </a:cubicBezTo>
                  <a:cubicBezTo>
                    <a:pt x="42680" y="0"/>
                    <a:pt x="0" y="42680"/>
                    <a:pt x="0" y="95250"/>
                  </a:cubicBezTo>
                  <a:cubicBezTo>
                    <a:pt x="0" y="147820"/>
                    <a:pt x="42680" y="190500"/>
                    <a:pt x="95250" y="190500"/>
                  </a:cubicBezTo>
                  <a:close/>
                  <a:moveTo>
                    <a:pt x="126653" y="79139"/>
                  </a:moveTo>
                  <a:lnTo>
                    <a:pt x="96887" y="126764"/>
                  </a:lnTo>
                  <a:cubicBezTo>
                    <a:pt x="95324" y="129257"/>
                    <a:pt x="92646" y="130820"/>
                    <a:pt x="89706" y="130969"/>
                  </a:cubicBezTo>
                  <a:cubicBezTo>
                    <a:pt x="86766" y="131119"/>
                    <a:pt x="83939" y="129777"/>
                    <a:pt x="82191" y="127398"/>
                  </a:cubicBezTo>
                  <a:lnTo>
                    <a:pt x="64331" y="103584"/>
                  </a:lnTo>
                  <a:cubicBezTo>
                    <a:pt x="61354" y="99640"/>
                    <a:pt x="62173" y="94059"/>
                    <a:pt x="66117" y="91083"/>
                  </a:cubicBezTo>
                  <a:cubicBezTo>
                    <a:pt x="70061" y="88106"/>
                    <a:pt x="75642" y="88925"/>
                    <a:pt x="78618" y="92869"/>
                  </a:cubicBezTo>
                  <a:lnTo>
                    <a:pt x="88664" y="106263"/>
                  </a:lnTo>
                  <a:lnTo>
                    <a:pt x="111509" y="69689"/>
                  </a:lnTo>
                  <a:cubicBezTo>
                    <a:pt x="114115" y="65522"/>
                    <a:pt x="119621" y="64219"/>
                    <a:pt x="123825" y="66860"/>
                  </a:cubicBezTo>
                  <a:cubicBezTo>
                    <a:pt x="128029" y="69503"/>
                    <a:pt x="129294" y="74972"/>
                    <a:pt x="126653" y="79177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7" name="AutoShape 17"/>
            <p:cNvSpPr/>
            <p:nvPr/>
          </p:nvSpPr>
          <p:spPr>
            <a:xfrm>
              <a:off x="6638845" y="1523674"/>
              <a:ext cx="5076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Optimized Approach</a:t>
              </a:r>
              <a:endParaRPr lang="en-US" sz="1100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6400720" y="201895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19" name="AutoShape 19"/>
            <p:cNvSpPr/>
            <p:nvPr/>
          </p:nvSpPr>
          <p:spPr>
            <a:xfrm>
              <a:off x="6553102" y="1942765"/>
              <a:ext cx="2149040" cy="2284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global → shared memory</a:t>
              </a:r>
              <a:endParaRPr lang="en-US" sz="1100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6400720" y="23617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6553101" y="2285586"/>
              <a:ext cx="3339601" cy="22846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shared memory → register</a:t>
              </a:r>
              <a:endParaRPr lang="en-US" sz="1100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6400720" y="270460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38100" y="0"/>
                  </a:lnTo>
                  <a:cubicBezTo>
                    <a:pt x="59127" y="0"/>
                    <a:pt x="76200" y="17073"/>
                    <a:pt x="76200" y="38100"/>
                  </a:cubicBezTo>
                  <a:lnTo>
                    <a:pt x="76200" y="38100"/>
                  </a:lnTo>
                  <a:cubicBezTo>
                    <a:pt x="76200" y="59127"/>
                    <a:pt x="59127" y="76200"/>
                    <a:pt x="38100" y="76200"/>
                  </a:cubicBezTo>
                  <a:lnTo>
                    <a:pt x="38100" y="76200"/>
                  </a:lnTo>
                  <a:cubicBezTo>
                    <a:pt x="17073" y="76200"/>
                    <a:pt x="0" y="59127"/>
                    <a:pt x="0" y="38100"/>
                  </a:cubicBezTo>
                  <a:lnTo>
                    <a:pt x="0" y="38100"/>
                  </a:lnTo>
                  <a:cubicBezTo>
                    <a:pt x="0" y="17073"/>
                    <a:pt x="17073" y="0"/>
                    <a:pt x="3810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3" name="AutoShape 23"/>
            <p:cNvSpPr/>
            <p:nvPr/>
          </p:nvSpPr>
          <p:spPr>
            <a:xfrm>
              <a:off x="6553102" y="2628412"/>
              <a:ext cx="3517572" cy="26641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200" b="0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Reduce global memory accesses</a:t>
              </a:r>
              <a:endParaRPr lang="en-US" sz="110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80956" y="3199805"/>
            <a:ext cx="11430000" cy="3390900"/>
            <a:chOff x="380956" y="3199805"/>
            <a:chExt cx="11430000" cy="3390900"/>
          </a:xfrm>
        </p:grpSpPr>
        <p:sp>
          <p:nvSpPr>
            <p:cNvPr id="25" name="Freeform 25"/>
            <p:cNvSpPr/>
            <p:nvPr/>
          </p:nvSpPr>
          <p:spPr>
            <a:xfrm>
              <a:off x="380956" y="3199805"/>
              <a:ext cx="11430000" cy="3390900"/>
            </a:xfrm>
            <a:custGeom>
              <a:avLst/>
              <a:gdLst/>
              <a:ahLst/>
              <a:cxnLst/>
              <a:rect l="l" t="t" r="r" b="b"/>
              <a:pathLst>
                <a:path w="11430000" h="3390900">
                  <a:moveTo>
                    <a:pt x="76194" y="0"/>
                  </a:moveTo>
                  <a:lnTo>
                    <a:pt x="11353806" y="0"/>
                  </a:lnTo>
                  <a:cubicBezTo>
                    <a:pt x="11395887" y="0"/>
                    <a:pt x="11430000" y="34113"/>
                    <a:pt x="11430000" y="76194"/>
                  </a:cubicBezTo>
                  <a:lnTo>
                    <a:pt x="11430000" y="3314706"/>
                  </a:lnTo>
                  <a:cubicBezTo>
                    <a:pt x="11430000" y="3356787"/>
                    <a:pt x="11395887" y="3390900"/>
                    <a:pt x="11353806" y="3390900"/>
                  </a:cubicBezTo>
                  <a:lnTo>
                    <a:pt x="76194" y="3390900"/>
                  </a:lnTo>
                  <a:cubicBezTo>
                    <a:pt x="34113" y="3390900"/>
                    <a:pt x="0" y="3356787"/>
                    <a:pt x="0" y="3314706"/>
                  </a:cubicBezTo>
                  <a:lnTo>
                    <a:pt x="0" y="76194"/>
                  </a:lnTo>
                  <a:cubicBezTo>
                    <a:pt x="0" y="34113"/>
                    <a:pt x="34113" y="0"/>
                    <a:pt x="76194" y="0"/>
                  </a:cubicBez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595209" y="3428307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190500" y="35719"/>
                  </a:moveTo>
                  <a:cubicBezTo>
                    <a:pt x="190500" y="54397"/>
                    <a:pt x="168511" y="82266"/>
                    <a:pt x="159023" y="93389"/>
                  </a:cubicBezTo>
                  <a:cubicBezTo>
                    <a:pt x="157610" y="95026"/>
                    <a:pt x="155525" y="95659"/>
                    <a:pt x="153628" y="95250"/>
                  </a:cubicBezTo>
                  <a:lnTo>
                    <a:pt x="119063" y="95250"/>
                  </a:lnTo>
                  <a:cubicBezTo>
                    <a:pt x="112478" y="95250"/>
                    <a:pt x="107156" y="100571"/>
                    <a:pt x="107156" y="107156"/>
                  </a:cubicBezTo>
                  <a:cubicBezTo>
                    <a:pt x="107156" y="113742"/>
                    <a:pt x="112478" y="119063"/>
                    <a:pt x="119063" y="119063"/>
                  </a:cubicBezTo>
                  <a:lnTo>
                    <a:pt x="154781" y="119063"/>
                  </a:lnTo>
                  <a:cubicBezTo>
                    <a:pt x="174501" y="119063"/>
                    <a:pt x="190500" y="135062"/>
                    <a:pt x="190500" y="154781"/>
                  </a:cubicBezTo>
                  <a:cubicBezTo>
                    <a:pt x="190500" y="174501"/>
                    <a:pt x="174501" y="190500"/>
                    <a:pt x="154781" y="190500"/>
                  </a:cubicBezTo>
                  <a:lnTo>
                    <a:pt x="51940" y="190500"/>
                  </a:lnTo>
                  <a:cubicBezTo>
                    <a:pt x="55178" y="186817"/>
                    <a:pt x="59122" y="182091"/>
                    <a:pt x="63102" y="176808"/>
                  </a:cubicBezTo>
                  <a:cubicBezTo>
                    <a:pt x="65447" y="173681"/>
                    <a:pt x="67866" y="170259"/>
                    <a:pt x="70173" y="166687"/>
                  </a:cubicBezTo>
                  <a:lnTo>
                    <a:pt x="154781" y="166687"/>
                  </a:lnTo>
                  <a:cubicBezTo>
                    <a:pt x="161367" y="166687"/>
                    <a:pt x="166687" y="161367"/>
                    <a:pt x="166687" y="154781"/>
                  </a:cubicBezTo>
                  <a:cubicBezTo>
                    <a:pt x="166687" y="148196"/>
                    <a:pt x="161367" y="142875"/>
                    <a:pt x="154781" y="142875"/>
                  </a:cubicBezTo>
                  <a:lnTo>
                    <a:pt x="119063" y="142875"/>
                  </a:lnTo>
                  <a:cubicBezTo>
                    <a:pt x="99343" y="142875"/>
                    <a:pt x="83344" y="126876"/>
                    <a:pt x="83344" y="107156"/>
                  </a:cubicBezTo>
                  <a:cubicBezTo>
                    <a:pt x="83344" y="87437"/>
                    <a:pt x="99343" y="71437"/>
                    <a:pt x="119063" y="71437"/>
                  </a:cubicBezTo>
                  <a:lnTo>
                    <a:pt x="133871" y="71437"/>
                  </a:lnTo>
                  <a:cubicBezTo>
                    <a:pt x="126056" y="59717"/>
                    <a:pt x="119063" y="46248"/>
                    <a:pt x="119063" y="35719"/>
                  </a:cubicBezTo>
                  <a:cubicBezTo>
                    <a:pt x="119063" y="15999"/>
                    <a:pt x="135062" y="0"/>
                    <a:pt x="154781" y="0"/>
                  </a:cubicBezTo>
                  <a:cubicBezTo>
                    <a:pt x="174501" y="0"/>
                    <a:pt x="190500" y="15999"/>
                    <a:pt x="190500" y="35719"/>
                  </a:cubicBezTo>
                  <a:close/>
                  <a:moveTo>
                    <a:pt x="43569" y="181980"/>
                  </a:moveTo>
                  <a:cubicBezTo>
                    <a:pt x="42156" y="183579"/>
                    <a:pt x="40891" y="184993"/>
                    <a:pt x="39812" y="186185"/>
                  </a:cubicBezTo>
                  <a:lnTo>
                    <a:pt x="39141" y="186927"/>
                  </a:lnTo>
                  <a:lnTo>
                    <a:pt x="39066" y="186854"/>
                  </a:lnTo>
                  <a:cubicBezTo>
                    <a:pt x="36835" y="188565"/>
                    <a:pt x="33635" y="188342"/>
                    <a:pt x="31626" y="186185"/>
                  </a:cubicBezTo>
                  <a:cubicBezTo>
                    <a:pt x="22250" y="175989"/>
                    <a:pt x="0" y="149758"/>
                    <a:pt x="0" y="130969"/>
                  </a:cubicBezTo>
                  <a:cubicBezTo>
                    <a:pt x="0" y="111249"/>
                    <a:pt x="15999" y="95250"/>
                    <a:pt x="35719" y="95250"/>
                  </a:cubicBezTo>
                  <a:cubicBezTo>
                    <a:pt x="55438" y="95250"/>
                    <a:pt x="71437" y="111249"/>
                    <a:pt x="71437" y="130969"/>
                  </a:cubicBezTo>
                  <a:cubicBezTo>
                    <a:pt x="71437" y="142131"/>
                    <a:pt x="63588" y="155898"/>
                    <a:pt x="55253" y="167394"/>
                  </a:cubicBezTo>
                  <a:cubicBezTo>
                    <a:pt x="51271" y="172864"/>
                    <a:pt x="47179" y="177811"/>
                    <a:pt x="43793" y="181719"/>
                  </a:cubicBezTo>
                  <a:lnTo>
                    <a:pt x="43569" y="181980"/>
                  </a:lnTo>
                  <a:close/>
                  <a:moveTo>
                    <a:pt x="47625" y="130969"/>
                  </a:moveTo>
                  <a:cubicBezTo>
                    <a:pt x="47625" y="124398"/>
                    <a:pt x="42290" y="119063"/>
                    <a:pt x="35719" y="119063"/>
                  </a:cubicBezTo>
                  <a:cubicBezTo>
                    <a:pt x="29148" y="119063"/>
                    <a:pt x="23813" y="124398"/>
                    <a:pt x="23813" y="130969"/>
                  </a:cubicBezTo>
                  <a:cubicBezTo>
                    <a:pt x="23813" y="137540"/>
                    <a:pt x="29148" y="142875"/>
                    <a:pt x="35719" y="142875"/>
                  </a:cubicBezTo>
                  <a:cubicBezTo>
                    <a:pt x="42290" y="142875"/>
                    <a:pt x="47625" y="137540"/>
                    <a:pt x="47625" y="130969"/>
                  </a:cubicBezTo>
                  <a:close/>
                  <a:moveTo>
                    <a:pt x="154781" y="47625"/>
                  </a:moveTo>
                  <a:cubicBezTo>
                    <a:pt x="161352" y="47625"/>
                    <a:pt x="166687" y="42290"/>
                    <a:pt x="166687" y="35719"/>
                  </a:cubicBezTo>
                  <a:cubicBezTo>
                    <a:pt x="166687" y="29148"/>
                    <a:pt x="161352" y="23813"/>
                    <a:pt x="154781" y="23813"/>
                  </a:cubicBezTo>
                  <a:cubicBezTo>
                    <a:pt x="148210" y="23813"/>
                    <a:pt x="142875" y="29148"/>
                    <a:pt x="142875" y="35719"/>
                  </a:cubicBezTo>
                  <a:cubicBezTo>
                    <a:pt x="142875" y="42290"/>
                    <a:pt x="148210" y="47625"/>
                    <a:pt x="154781" y="47625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7" name="AutoShape 27"/>
            <p:cNvSpPr/>
            <p:nvPr/>
          </p:nvSpPr>
          <p:spPr>
            <a:xfrm>
              <a:off x="809521" y="3390249"/>
              <a:ext cx="109061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5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Memory Access Flow Comparison</a:t>
              </a:r>
              <a:endParaRPr lang="en-US" sz="1100"/>
            </a:p>
          </p:txBody>
        </p:sp>
        <p:sp>
          <p:nvSpPr>
            <p:cNvPr id="28" name="AutoShape 28"/>
            <p:cNvSpPr/>
            <p:nvPr/>
          </p:nvSpPr>
          <p:spPr>
            <a:xfrm>
              <a:off x="533296" y="3809335"/>
              <a:ext cx="54864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Naive</a:t>
              </a:r>
              <a:endParaRPr lang="en-US" sz="1100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571396" y="4114098"/>
              <a:ext cx="5410200" cy="457200"/>
            </a:xfrm>
            <a:custGeom>
              <a:avLst/>
              <a:gdLst/>
              <a:ahLst/>
              <a:cxnLst/>
              <a:rect l="l" t="t" r="r" b="b"/>
              <a:pathLst>
                <a:path w="5410200" h="457200">
                  <a:moveTo>
                    <a:pt x="76203" y="0"/>
                  </a:moveTo>
                  <a:lnTo>
                    <a:pt x="5333997" y="0"/>
                  </a:lnTo>
                  <a:cubicBezTo>
                    <a:pt x="5376083" y="0"/>
                    <a:pt x="5410200" y="34117"/>
                    <a:pt x="5410200" y="76203"/>
                  </a:cubicBezTo>
                  <a:lnTo>
                    <a:pt x="5410200" y="380997"/>
                  </a:lnTo>
                  <a:cubicBezTo>
                    <a:pt x="5410200" y="423083"/>
                    <a:pt x="5376083" y="457200"/>
                    <a:pt x="5333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0" name="AutoShape 30"/>
            <p:cNvSpPr/>
            <p:nvPr/>
          </p:nvSpPr>
          <p:spPr>
            <a:xfrm>
              <a:off x="647546" y="4228351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Global Memory</a:t>
              </a:r>
              <a:endParaRPr lang="en-US" sz="1100"/>
            </a:p>
          </p:txBody>
        </p:sp>
        <p:sp>
          <p:nvSpPr>
            <p:cNvPr id="31" name="AutoShape 31"/>
            <p:cNvSpPr/>
            <p:nvPr/>
          </p:nvSpPr>
          <p:spPr>
            <a:xfrm>
              <a:off x="3162190" y="4647363"/>
              <a:ext cx="3429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8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↓</a:t>
              </a:r>
              <a:endParaRPr lang="en-US" sz="1100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71396" y="5028247"/>
              <a:ext cx="5410200" cy="457200"/>
            </a:xfrm>
            <a:custGeom>
              <a:avLst/>
              <a:gdLst/>
              <a:ahLst/>
              <a:cxnLst/>
              <a:rect l="l" t="t" r="r" b="b"/>
              <a:pathLst>
                <a:path w="5410200" h="457200">
                  <a:moveTo>
                    <a:pt x="76203" y="0"/>
                  </a:moveTo>
                  <a:lnTo>
                    <a:pt x="5333997" y="0"/>
                  </a:lnTo>
                  <a:cubicBezTo>
                    <a:pt x="5376083" y="0"/>
                    <a:pt x="5410200" y="34117"/>
                    <a:pt x="5410200" y="76203"/>
                  </a:cubicBezTo>
                  <a:lnTo>
                    <a:pt x="5410200" y="380997"/>
                  </a:lnTo>
                  <a:cubicBezTo>
                    <a:pt x="5410200" y="423083"/>
                    <a:pt x="5376083" y="457200"/>
                    <a:pt x="5333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3" name="AutoShape 33"/>
            <p:cNvSpPr/>
            <p:nvPr/>
          </p:nvSpPr>
          <p:spPr>
            <a:xfrm>
              <a:off x="647546" y="5142495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Register</a:t>
              </a:r>
              <a:endParaRPr lang="en-US" sz="1100"/>
            </a:p>
          </p:txBody>
        </p:sp>
        <p:sp>
          <p:nvSpPr>
            <p:cNvPr id="34" name="AutoShape 34"/>
            <p:cNvSpPr/>
            <p:nvPr/>
          </p:nvSpPr>
          <p:spPr>
            <a:xfrm>
              <a:off x="3162190" y="5561507"/>
              <a:ext cx="3429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8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↓</a:t>
              </a:r>
              <a:endParaRPr lang="en-US" sz="1100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571396" y="5942391"/>
              <a:ext cx="5410200" cy="457200"/>
            </a:xfrm>
            <a:custGeom>
              <a:avLst/>
              <a:gdLst/>
              <a:ahLst/>
              <a:cxnLst/>
              <a:rect l="l" t="t" r="r" b="b"/>
              <a:pathLst>
                <a:path w="5410200" h="457200">
                  <a:moveTo>
                    <a:pt x="76203" y="0"/>
                  </a:moveTo>
                  <a:lnTo>
                    <a:pt x="5333997" y="0"/>
                  </a:lnTo>
                  <a:cubicBezTo>
                    <a:pt x="5376083" y="0"/>
                    <a:pt x="5410200" y="34117"/>
                    <a:pt x="5410200" y="76203"/>
                  </a:cubicBezTo>
                  <a:lnTo>
                    <a:pt x="5410200" y="380997"/>
                  </a:lnTo>
                  <a:cubicBezTo>
                    <a:pt x="5410200" y="423083"/>
                    <a:pt x="5376083" y="457200"/>
                    <a:pt x="5333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6" name="AutoShape 36"/>
            <p:cNvSpPr/>
            <p:nvPr/>
          </p:nvSpPr>
          <p:spPr>
            <a:xfrm>
              <a:off x="647546" y="6056640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Global Memory</a:t>
              </a:r>
              <a:endParaRPr lang="en-US" sz="1100"/>
            </a:p>
          </p:txBody>
        </p:sp>
        <p:sp>
          <p:nvSpPr>
            <p:cNvPr id="37" name="AutoShape 37"/>
            <p:cNvSpPr/>
            <p:nvPr/>
          </p:nvSpPr>
          <p:spPr>
            <a:xfrm>
              <a:off x="6172179" y="3809335"/>
              <a:ext cx="54864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8B263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Optimized</a:t>
              </a:r>
              <a:endParaRPr lang="en-US" sz="1100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6210279" y="4114098"/>
              <a:ext cx="5410200" cy="457200"/>
            </a:xfrm>
            <a:custGeom>
              <a:avLst/>
              <a:gdLst/>
              <a:ahLst/>
              <a:cxnLst/>
              <a:rect l="l" t="t" r="r" b="b"/>
              <a:pathLst>
                <a:path w="5410200" h="457200">
                  <a:moveTo>
                    <a:pt x="76203" y="0"/>
                  </a:moveTo>
                  <a:lnTo>
                    <a:pt x="5333997" y="0"/>
                  </a:lnTo>
                  <a:cubicBezTo>
                    <a:pt x="5376083" y="0"/>
                    <a:pt x="5410200" y="34117"/>
                    <a:pt x="5410200" y="76203"/>
                  </a:cubicBezTo>
                  <a:lnTo>
                    <a:pt x="5410200" y="380997"/>
                  </a:lnTo>
                  <a:cubicBezTo>
                    <a:pt x="5410200" y="423083"/>
                    <a:pt x="5376083" y="457200"/>
                    <a:pt x="5333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4A4A4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9" name="AutoShape 39"/>
            <p:cNvSpPr/>
            <p:nvPr/>
          </p:nvSpPr>
          <p:spPr>
            <a:xfrm>
              <a:off x="6286429" y="4228351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Global Memory</a:t>
              </a:r>
              <a:endParaRPr lang="en-US" sz="1100"/>
            </a:p>
          </p:txBody>
        </p:sp>
        <p:sp>
          <p:nvSpPr>
            <p:cNvPr id="40" name="AutoShape 40"/>
            <p:cNvSpPr/>
            <p:nvPr/>
          </p:nvSpPr>
          <p:spPr>
            <a:xfrm>
              <a:off x="8801073" y="4647363"/>
              <a:ext cx="3429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800" b="0" i="0" u="none" strike="noStrike">
                  <a:solidFill>
                    <a:srgbClr val="8B263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↓</a:t>
              </a:r>
              <a:endParaRPr lang="en-US" sz="1100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6210279" y="5028247"/>
              <a:ext cx="5410200" cy="457200"/>
            </a:xfrm>
            <a:custGeom>
              <a:avLst/>
              <a:gdLst/>
              <a:ahLst/>
              <a:cxnLst/>
              <a:rect l="l" t="t" r="r" b="b"/>
              <a:pathLst>
                <a:path w="5410200" h="457200">
                  <a:moveTo>
                    <a:pt x="76203" y="0"/>
                  </a:moveTo>
                  <a:lnTo>
                    <a:pt x="5333997" y="0"/>
                  </a:lnTo>
                  <a:cubicBezTo>
                    <a:pt x="5376083" y="0"/>
                    <a:pt x="5410200" y="34117"/>
                    <a:pt x="5410200" y="76203"/>
                  </a:cubicBezTo>
                  <a:lnTo>
                    <a:pt x="5410200" y="380997"/>
                  </a:lnTo>
                  <a:cubicBezTo>
                    <a:pt x="5410200" y="423083"/>
                    <a:pt x="5376083" y="457200"/>
                    <a:pt x="5333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B89A6A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42" name="AutoShape 42"/>
            <p:cNvSpPr/>
            <p:nvPr/>
          </p:nvSpPr>
          <p:spPr>
            <a:xfrm>
              <a:off x="6286429" y="5142495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Shared Memory</a:t>
              </a:r>
              <a:endParaRPr lang="en-US" sz="1100"/>
            </a:p>
          </p:txBody>
        </p:sp>
        <p:sp>
          <p:nvSpPr>
            <p:cNvPr id="43" name="AutoShape 43"/>
            <p:cNvSpPr/>
            <p:nvPr/>
          </p:nvSpPr>
          <p:spPr>
            <a:xfrm>
              <a:off x="8801073" y="5561507"/>
              <a:ext cx="342900" cy="304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800" b="0" i="0" u="none" strike="noStrike">
                  <a:solidFill>
                    <a:srgbClr val="8B263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↓</a:t>
              </a:r>
              <a:endParaRPr lang="en-US" sz="1100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6210279" y="5942391"/>
              <a:ext cx="5410200" cy="457200"/>
            </a:xfrm>
            <a:custGeom>
              <a:avLst/>
              <a:gdLst/>
              <a:ahLst/>
              <a:cxnLst/>
              <a:rect l="l" t="t" r="r" b="b"/>
              <a:pathLst>
                <a:path w="5410200" h="457200">
                  <a:moveTo>
                    <a:pt x="76203" y="0"/>
                  </a:moveTo>
                  <a:lnTo>
                    <a:pt x="5333997" y="0"/>
                  </a:lnTo>
                  <a:cubicBezTo>
                    <a:pt x="5376083" y="0"/>
                    <a:pt x="5410200" y="34117"/>
                    <a:pt x="5410200" y="76203"/>
                  </a:cubicBezTo>
                  <a:lnTo>
                    <a:pt x="5410200" y="380997"/>
                  </a:lnTo>
                  <a:cubicBezTo>
                    <a:pt x="5410200" y="423083"/>
                    <a:pt x="5376083" y="457200"/>
                    <a:pt x="5333997" y="457200"/>
                  </a:cubicBezTo>
                  <a:lnTo>
                    <a:pt x="76203" y="457200"/>
                  </a:lnTo>
                  <a:cubicBezTo>
                    <a:pt x="34145" y="457200"/>
                    <a:pt x="0" y="423055"/>
                    <a:pt x="0" y="380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45" name="AutoShape 45"/>
            <p:cNvSpPr/>
            <p:nvPr/>
          </p:nvSpPr>
          <p:spPr>
            <a:xfrm>
              <a:off x="6286429" y="6056640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2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Register</a:t>
              </a:r>
              <a:endParaRPr lang="en-US" sz="1100"/>
            </a:p>
          </p:txBody>
        </p:sp>
      </p:grpSp>
      <p:sp>
        <p:nvSpPr>
          <p:cNvPr id="46" name="AutoShape 46"/>
          <p:cNvSpPr/>
          <p:nvPr/>
        </p:nvSpPr>
        <p:spPr>
          <a:xfrm>
            <a:off x="314281" y="6666095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4601" y="634733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Bank Structure Introduction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353160" y="1341841"/>
            <a:ext cx="5683250" cy="952500"/>
            <a:chOff x="353160" y="1341841"/>
            <a:chExt cx="5683250" cy="952500"/>
          </a:xfrm>
        </p:grpSpPr>
        <p:sp>
          <p:nvSpPr>
            <p:cNvPr id="4" name="Freeform 4"/>
            <p:cNvSpPr/>
            <p:nvPr/>
          </p:nvSpPr>
          <p:spPr>
            <a:xfrm>
              <a:off x="353160" y="1341841"/>
              <a:ext cx="5683250" cy="952500"/>
            </a:xfrm>
            <a:custGeom>
              <a:avLst/>
              <a:gdLst/>
              <a:ahLst/>
              <a:cxnLst/>
              <a:rect l="l" t="t" r="r" b="b"/>
              <a:pathLst>
                <a:path w="5683250" h="952500">
                  <a:moveTo>
                    <a:pt x="63503" y="0"/>
                  </a:moveTo>
                  <a:lnTo>
                    <a:pt x="5619747" y="0"/>
                  </a:lnTo>
                  <a:cubicBezTo>
                    <a:pt x="5654819" y="0"/>
                    <a:pt x="5683250" y="28431"/>
                    <a:pt x="5683250" y="63503"/>
                  </a:cubicBezTo>
                  <a:lnTo>
                    <a:pt x="5683250" y="888997"/>
                  </a:lnTo>
                  <a:cubicBezTo>
                    <a:pt x="5683250" y="924069"/>
                    <a:pt x="5654819" y="952500"/>
                    <a:pt x="5619747" y="952500"/>
                  </a:cubicBezTo>
                  <a:lnTo>
                    <a:pt x="63503" y="952500"/>
                  </a:lnTo>
                  <a:cubicBezTo>
                    <a:pt x="28431" y="952500"/>
                    <a:pt x="0" y="924069"/>
                    <a:pt x="0" y="888997"/>
                  </a:cubicBezTo>
                  <a:lnTo>
                    <a:pt x="0" y="63503"/>
                  </a:lnTo>
                  <a:cubicBezTo>
                    <a:pt x="0" y="28431"/>
                    <a:pt x="28431" y="0"/>
                    <a:pt x="63503" y="0"/>
                  </a:cubicBezTo>
                  <a:close/>
                </a:path>
              </a:pathLst>
            </a:custGeom>
            <a:solidFill>
              <a:srgbClr val="8B2635">
                <a:alpha val="100000"/>
              </a:srgbClr>
            </a:solidFill>
            <a:ln w="12700">
              <a:noFill/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/>
          </p:nvSpPr>
          <p:spPr>
            <a:xfrm>
              <a:off x="543638" y="1532318"/>
              <a:ext cx="5397500" cy="254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08000"/>
                </a:lnSpc>
                <a:defRPr/>
              </a:pPr>
              <a:r>
                <a:rPr lang="en-US" sz="1500" b="1" i="0" u="none" strike="noStrike">
                  <a:solidFill>
                    <a:srgbClr val="FFFFFF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Shared Memory is divided into multiple Banks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43638" y="1881436"/>
              <a:ext cx="5373688" cy="2222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33000"/>
                </a:lnSpc>
                <a:defRPr/>
              </a:pPr>
              <a:r>
                <a:rPr lang="en-US" sz="1100" b="0" i="0" u="none" strike="noStrike">
                  <a:solidFill>
                    <a:srgbClr val="FFFFFF">
                      <a:alpha val="90196"/>
                    </a:srgbClr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Key structure enabling parallel access</a:t>
              </a:r>
              <a:endParaRPr lang="en-US" sz="1100"/>
            </a:p>
          </p:txBody>
        </p:sp>
      </p:grpSp>
      <p:sp>
        <p:nvSpPr>
          <p:cNvPr id="7" name="Freeform 7"/>
          <p:cNvSpPr/>
          <p:nvPr/>
        </p:nvSpPr>
        <p:spPr>
          <a:xfrm>
            <a:off x="353060" y="2543175"/>
            <a:ext cx="5564505" cy="4314825"/>
          </a:xfrm>
          <a:custGeom>
            <a:avLst/>
            <a:gdLst/>
            <a:ahLst/>
            <a:cxnLst/>
            <a:rect l="l" t="t" r="r" b="b"/>
            <a:pathLst>
              <a:path w="5683250" h="4444985">
                <a:moveTo>
                  <a:pt x="63482" y="0"/>
                </a:moveTo>
                <a:lnTo>
                  <a:pt x="5619768" y="0"/>
                </a:lnTo>
                <a:cubicBezTo>
                  <a:pt x="5654827" y="0"/>
                  <a:pt x="5683250" y="21279"/>
                  <a:pt x="5683250" y="47526"/>
                </a:cubicBezTo>
                <a:lnTo>
                  <a:pt x="5683250" y="4397459"/>
                </a:lnTo>
                <a:cubicBezTo>
                  <a:pt x="5683250" y="4423707"/>
                  <a:pt x="5654827" y="4444985"/>
                  <a:pt x="5619768" y="4444985"/>
                </a:cubicBezTo>
                <a:lnTo>
                  <a:pt x="63482" y="4444985"/>
                </a:lnTo>
                <a:cubicBezTo>
                  <a:pt x="28423" y="4444985"/>
                  <a:pt x="0" y="4423707"/>
                  <a:pt x="0" y="4397459"/>
                </a:cubicBezTo>
                <a:lnTo>
                  <a:pt x="0" y="47526"/>
                </a:lnTo>
                <a:cubicBezTo>
                  <a:pt x="0" y="21295"/>
                  <a:pt x="28445" y="0"/>
                  <a:pt x="6348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grpSp>
        <p:nvGrpSpPr>
          <p:cNvPr id="8" name="Group 8"/>
          <p:cNvGrpSpPr/>
          <p:nvPr/>
        </p:nvGrpSpPr>
        <p:grpSpPr>
          <a:xfrm>
            <a:off x="545324" y="2793822"/>
            <a:ext cx="5445125" cy="1835626"/>
            <a:chOff x="545324" y="2793822"/>
            <a:chExt cx="5445125" cy="1835626"/>
          </a:xfrm>
        </p:grpSpPr>
        <p:sp>
          <p:nvSpPr>
            <p:cNvPr id="9" name="AutoShape 9"/>
            <p:cNvSpPr/>
            <p:nvPr/>
          </p:nvSpPr>
          <p:spPr>
            <a:xfrm>
              <a:off x="743761" y="2793822"/>
              <a:ext cx="5246688" cy="2222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l">
                <a:lnSpc>
                  <a:spcPct val="117000"/>
                </a:lnSpc>
                <a:defRPr/>
              </a:pPr>
              <a:r>
                <a:rPr lang="en-US" sz="1300" b="1" i="0" u="none" strike="noStrike">
                  <a:solidFill>
                    <a:srgbClr val="1A1A1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Bank Characteristics</a:t>
              </a:r>
              <a:endParaRPr lang="en-US" sz="1100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545324" y="2825537"/>
              <a:ext cx="4020538" cy="1803911"/>
              <a:chOff x="545324" y="2825537"/>
              <a:chExt cx="4020538" cy="180391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65167" y="2825537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79375" y="158750"/>
                    </a:moveTo>
                    <a:cubicBezTo>
                      <a:pt x="123182" y="158750"/>
                      <a:pt x="158750" y="123182"/>
                      <a:pt x="158750" y="79375"/>
                    </a:cubicBezTo>
                    <a:cubicBezTo>
                      <a:pt x="158750" y="35568"/>
                      <a:pt x="123182" y="0"/>
                      <a:pt x="79375" y="0"/>
                    </a:cubicBezTo>
                    <a:cubicBezTo>
                      <a:pt x="35568" y="0"/>
                      <a:pt x="0" y="35568"/>
                      <a:pt x="0" y="79375"/>
                    </a:cubicBezTo>
                    <a:cubicBezTo>
                      <a:pt x="0" y="123182"/>
                      <a:pt x="35568" y="158750"/>
                      <a:pt x="79375" y="158750"/>
                    </a:cubicBezTo>
                    <a:close/>
                    <a:moveTo>
                      <a:pt x="69452" y="49609"/>
                    </a:moveTo>
                    <a:cubicBezTo>
                      <a:pt x="69452" y="44133"/>
                      <a:pt x="73899" y="39687"/>
                      <a:pt x="79375" y="39687"/>
                    </a:cubicBezTo>
                    <a:cubicBezTo>
                      <a:pt x="84851" y="39687"/>
                      <a:pt x="89298" y="44133"/>
                      <a:pt x="89298" y="49609"/>
                    </a:cubicBezTo>
                    <a:cubicBezTo>
                      <a:pt x="89298" y="55085"/>
                      <a:pt x="84851" y="59531"/>
                      <a:pt x="79375" y="59531"/>
                    </a:cubicBezTo>
                    <a:cubicBezTo>
                      <a:pt x="73899" y="59531"/>
                      <a:pt x="69452" y="55085"/>
                      <a:pt x="69452" y="49609"/>
                    </a:cubicBezTo>
                    <a:close/>
                    <a:moveTo>
                      <a:pt x="66973" y="69452"/>
                    </a:moveTo>
                    <a:lnTo>
                      <a:pt x="81855" y="69452"/>
                    </a:lnTo>
                    <a:cubicBezTo>
                      <a:pt x="85979" y="69452"/>
                      <a:pt x="89298" y="72771"/>
                      <a:pt x="89298" y="76895"/>
                    </a:cubicBezTo>
                    <a:lnTo>
                      <a:pt x="89298" y="104179"/>
                    </a:lnTo>
                    <a:lnTo>
                      <a:pt x="91777" y="104179"/>
                    </a:lnTo>
                    <a:cubicBezTo>
                      <a:pt x="95902" y="104179"/>
                      <a:pt x="99219" y="107497"/>
                      <a:pt x="99219" y="111622"/>
                    </a:cubicBezTo>
                    <a:cubicBezTo>
                      <a:pt x="99219" y="115745"/>
                      <a:pt x="95902" y="119063"/>
                      <a:pt x="91777" y="119063"/>
                    </a:cubicBezTo>
                    <a:lnTo>
                      <a:pt x="66973" y="119063"/>
                    </a:lnTo>
                    <a:cubicBezTo>
                      <a:pt x="62848" y="119063"/>
                      <a:pt x="59531" y="115745"/>
                      <a:pt x="59531" y="111622"/>
                    </a:cubicBezTo>
                    <a:cubicBezTo>
                      <a:pt x="59531" y="107497"/>
                      <a:pt x="62848" y="104179"/>
                      <a:pt x="66973" y="104179"/>
                    </a:cubicBezTo>
                    <a:lnTo>
                      <a:pt x="74414" y="104179"/>
                    </a:lnTo>
                    <a:lnTo>
                      <a:pt x="74414" y="84336"/>
                    </a:lnTo>
                    <a:lnTo>
                      <a:pt x="66973" y="84336"/>
                    </a:lnTo>
                    <a:cubicBezTo>
                      <a:pt x="62848" y="84336"/>
                      <a:pt x="59531" y="81018"/>
                      <a:pt x="59531" y="76895"/>
                    </a:cubicBezTo>
                    <a:cubicBezTo>
                      <a:pt x="59531" y="72771"/>
                      <a:pt x="62848" y="69452"/>
                      <a:pt x="66973" y="69452"/>
                    </a:cubicBezTo>
                    <a:close/>
                  </a:path>
                </a:pathLst>
              </a:custGeom>
              <a:solidFill>
                <a:srgbClr val="8B2635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545324" y="3206552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0"/>
                    </a:moveTo>
                    <a:lnTo>
                      <a:pt x="31750" y="0"/>
                    </a:lnTo>
                    <a:cubicBezTo>
                      <a:pt x="49273" y="0"/>
                      <a:pt x="63500" y="14227"/>
                      <a:pt x="63500" y="31750"/>
                    </a:cubicBezTo>
                    <a:lnTo>
                      <a:pt x="63500" y="31750"/>
                    </a:lnTo>
                    <a:cubicBezTo>
                      <a:pt x="63500" y="49273"/>
                      <a:pt x="49273" y="63500"/>
                      <a:pt x="31750" y="63500"/>
                    </a:cubicBezTo>
                    <a:lnTo>
                      <a:pt x="31750" y="63500"/>
                    </a:lnTo>
                    <a:cubicBezTo>
                      <a:pt x="14227" y="63500"/>
                      <a:pt x="0" y="49273"/>
                      <a:pt x="0" y="31750"/>
                    </a:cubicBezTo>
                    <a:lnTo>
                      <a:pt x="0" y="31750"/>
                    </a:lnTo>
                    <a:cubicBezTo>
                      <a:pt x="0" y="14227"/>
                      <a:pt x="14227" y="0"/>
                      <a:pt x="31750" y="0"/>
                    </a:cubicBezTo>
                    <a:close/>
                  </a:path>
                </a:pathLst>
              </a:custGeom>
              <a:solidFill>
                <a:srgbClr val="8B2635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3" name="AutoShape 13"/>
              <p:cNvSpPr/>
              <p:nvPr/>
            </p:nvSpPr>
            <p:spPr>
              <a:xfrm>
                <a:off x="704024" y="3143060"/>
                <a:ext cx="968375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indent="0" algn="l">
                  <a:lnSpc>
                    <a:spcPct val="133000"/>
                  </a:lnSpc>
                  <a:defRPr/>
                </a:pPr>
                <a:r>
                  <a:rPr lang="en-US" sz="1000" b="1" i="0" u="none" strike="noStrike">
                    <a:solidFill>
                      <a:srgbClr val="1A1A1A"/>
                    </a:solidFill>
                    <a:latin typeface="MiSans" panose="00000500000000000000" charset="-122"/>
                    <a:ea typeface="MiSans" panose="00000500000000000000" charset="-122"/>
                    <a:cs typeface="MiSans" panose="00000500000000000000" charset="-122"/>
                    <a:sym typeface="MiSans" panose="00000500000000000000" charset="-122"/>
                  </a:rPr>
                  <a:t>Multiple Banks</a:t>
                </a:r>
                <a:endParaRPr lang="en-US" sz="1100"/>
              </a:p>
            </p:txBody>
          </p:sp>
          <p:sp>
            <p:nvSpPr>
              <p:cNvPr id="14" name="AutoShape 14"/>
              <p:cNvSpPr/>
              <p:nvPr/>
            </p:nvSpPr>
            <p:spPr>
              <a:xfrm>
                <a:off x="704024" y="3365251"/>
                <a:ext cx="1996218" cy="216837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indent="0" algn="l">
                  <a:lnSpc>
                    <a:spcPct val="133000"/>
                  </a:lnSpc>
                  <a:defRPr/>
                </a:pPr>
                <a:r>
                  <a:rPr lang="en-US" sz="1000" b="0" i="0" u="none" strike="noStrike">
                    <a:solidFill>
                      <a:srgbClr val="4A4A4A"/>
                    </a:solidFill>
                    <a:latin typeface="MiSans" panose="00000500000000000000" charset="-122"/>
                    <a:ea typeface="MiSans" panose="00000500000000000000" charset="-122"/>
                    <a:cs typeface="MiSans" panose="00000500000000000000" charset="-122"/>
                    <a:sym typeface="MiSans" panose="00000500000000000000" charset="-122"/>
                  </a:rPr>
                  <a:t>Example: 32 banks</a:t>
                </a:r>
                <a:endParaRPr lang="en-US" sz="1100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545324" y="3714432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0"/>
                    </a:moveTo>
                    <a:lnTo>
                      <a:pt x="31750" y="0"/>
                    </a:lnTo>
                    <a:cubicBezTo>
                      <a:pt x="49273" y="0"/>
                      <a:pt x="63500" y="14227"/>
                      <a:pt x="63500" y="31750"/>
                    </a:cubicBezTo>
                    <a:lnTo>
                      <a:pt x="63500" y="31750"/>
                    </a:lnTo>
                    <a:cubicBezTo>
                      <a:pt x="63500" y="49273"/>
                      <a:pt x="49273" y="63500"/>
                      <a:pt x="31750" y="63500"/>
                    </a:cubicBezTo>
                    <a:lnTo>
                      <a:pt x="31750" y="63500"/>
                    </a:lnTo>
                    <a:cubicBezTo>
                      <a:pt x="14227" y="63500"/>
                      <a:pt x="0" y="49273"/>
                      <a:pt x="0" y="31750"/>
                    </a:cubicBezTo>
                    <a:lnTo>
                      <a:pt x="0" y="31750"/>
                    </a:lnTo>
                    <a:cubicBezTo>
                      <a:pt x="0" y="14227"/>
                      <a:pt x="14227" y="0"/>
                      <a:pt x="31750" y="0"/>
                    </a:cubicBezTo>
                    <a:close/>
                  </a:path>
                </a:pathLst>
              </a:custGeom>
              <a:solidFill>
                <a:srgbClr val="8B2635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704024" y="3650940"/>
                <a:ext cx="2929028" cy="190407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indent="0" algn="l">
                  <a:lnSpc>
                    <a:spcPct val="133000"/>
                  </a:lnSpc>
                  <a:defRPr/>
                </a:pPr>
                <a:r>
                  <a:rPr lang="en-US" sz="1000" b="1" i="0" u="none" strike="noStrike">
                    <a:solidFill>
                      <a:srgbClr val="1A1A1A"/>
                    </a:solidFill>
                    <a:latin typeface="MiSans" panose="00000500000000000000" charset="-122"/>
                    <a:ea typeface="MiSans" panose="00000500000000000000" charset="-122"/>
                    <a:cs typeface="MiSans" panose="00000500000000000000" charset="-122"/>
                    <a:sym typeface="MiSans" panose="00000500000000000000" charset="-122"/>
                  </a:rPr>
                  <a:t>Each bank can be accessed independently</a:t>
                </a:r>
                <a:endParaRPr lang="en-US" sz="1100"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704023" y="3873132"/>
                <a:ext cx="3861839" cy="216744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indent="0" algn="l">
                  <a:lnSpc>
                    <a:spcPct val="133000"/>
                  </a:lnSpc>
                  <a:defRPr/>
                </a:pPr>
                <a:r>
                  <a:rPr lang="en-US" sz="1000" b="0" i="0" u="none" strike="noStrike">
                    <a:solidFill>
                      <a:srgbClr val="4A4A4A"/>
                    </a:solidFill>
                    <a:latin typeface="MiSans" panose="00000500000000000000" charset="-122"/>
                    <a:ea typeface="MiSans" panose="00000500000000000000" charset="-122"/>
                    <a:cs typeface="MiSans" panose="00000500000000000000" charset="-122"/>
                    <a:sym typeface="MiSans" panose="00000500000000000000" charset="-122"/>
                  </a:rPr>
                  <a:t>Different banks can be accessed simultaneously</a:t>
                </a:r>
                <a:endParaRPr lang="en-US" sz="1100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545324" y="4222312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0"/>
                    </a:moveTo>
                    <a:lnTo>
                      <a:pt x="31750" y="0"/>
                    </a:lnTo>
                    <a:cubicBezTo>
                      <a:pt x="49273" y="0"/>
                      <a:pt x="63500" y="14227"/>
                      <a:pt x="63500" y="31750"/>
                    </a:cubicBezTo>
                    <a:lnTo>
                      <a:pt x="63500" y="31750"/>
                    </a:lnTo>
                    <a:cubicBezTo>
                      <a:pt x="63500" y="49273"/>
                      <a:pt x="49273" y="63500"/>
                      <a:pt x="31750" y="63500"/>
                    </a:cubicBezTo>
                    <a:lnTo>
                      <a:pt x="31750" y="63500"/>
                    </a:lnTo>
                    <a:cubicBezTo>
                      <a:pt x="14227" y="63500"/>
                      <a:pt x="0" y="49273"/>
                      <a:pt x="0" y="31750"/>
                    </a:cubicBezTo>
                    <a:lnTo>
                      <a:pt x="0" y="31750"/>
                    </a:lnTo>
                    <a:cubicBezTo>
                      <a:pt x="0" y="14227"/>
                      <a:pt x="14227" y="0"/>
                      <a:pt x="31750" y="0"/>
                    </a:cubicBezTo>
                    <a:close/>
                  </a:path>
                </a:pathLst>
              </a:custGeom>
              <a:solidFill>
                <a:srgbClr val="8B2635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</a:p>
            </p:txBody>
          </p:sp>
          <p:sp>
            <p:nvSpPr>
              <p:cNvPr id="19" name="AutoShape 19"/>
              <p:cNvSpPr/>
              <p:nvPr/>
            </p:nvSpPr>
            <p:spPr>
              <a:xfrm>
                <a:off x="704024" y="4158820"/>
                <a:ext cx="1817688" cy="190500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indent="0" algn="l">
                  <a:lnSpc>
                    <a:spcPct val="133000"/>
                  </a:lnSpc>
                  <a:defRPr/>
                </a:pPr>
                <a:r>
                  <a:rPr lang="en-US" sz="1000" b="1" i="0" u="none" strike="noStrike">
                    <a:solidFill>
                      <a:srgbClr val="1A1A1A"/>
                    </a:solidFill>
                    <a:latin typeface="MiSans" panose="00000500000000000000" charset="-122"/>
                    <a:ea typeface="MiSans" panose="00000500000000000000" charset="-122"/>
                    <a:cs typeface="MiSans" panose="00000500000000000000" charset="-122"/>
                    <a:sym typeface="MiSans" panose="00000500000000000000" charset="-122"/>
                  </a:rPr>
                  <a:t>Bank Conflict</a:t>
                </a:r>
                <a:endParaRPr lang="en-US" sz="1100"/>
              </a:p>
            </p:txBody>
          </p:sp>
          <p:sp>
            <p:nvSpPr>
              <p:cNvPr id="20" name="AutoShape 20"/>
              <p:cNvSpPr/>
              <p:nvPr/>
            </p:nvSpPr>
            <p:spPr>
              <a:xfrm>
                <a:off x="704023" y="4381012"/>
                <a:ext cx="3714085" cy="248436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indent="0" algn="l">
                  <a:lnSpc>
                    <a:spcPct val="133000"/>
                  </a:lnSpc>
                  <a:defRPr/>
                </a:pPr>
                <a:r>
                  <a:rPr lang="en-US" sz="1000" b="0" i="0" u="none" strike="noStrike">
                    <a:solidFill>
                      <a:srgbClr val="4A4A4A"/>
                    </a:solidFill>
                    <a:latin typeface="MiSans" panose="00000500000000000000" charset="-122"/>
                    <a:ea typeface="MiSans" panose="00000500000000000000" charset="-122"/>
                    <a:cs typeface="MiSans" panose="00000500000000000000" charset="-122"/>
                    <a:sym typeface="MiSans" panose="00000500000000000000" charset="-122"/>
                  </a:rPr>
                  <a:t>Simultaneous access to the same bank causes a conflict</a:t>
                </a:r>
                <a:endParaRPr lang="en-US" sz="1100"/>
              </a:p>
            </p:txBody>
          </p:sp>
        </p:grpSp>
      </p:grpSp>
      <p:sp>
        <p:nvSpPr>
          <p:cNvPr id="21" name="Freeform 21"/>
          <p:cNvSpPr/>
          <p:nvPr/>
        </p:nvSpPr>
        <p:spPr>
          <a:xfrm>
            <a:off x="6191250" y="1111250"/>
            <a:ext cx="5385435" cy="5746750"/>
          </a:xfrm>
          <a:custGeom>
            <a:avLst/>
            <a:gdLst/>
            <a:ahLst/>
            <a:cxnLst/>
            <a:rect l="l" t="t" r="r" b="b"/>
            <a:pathLst>
              <a:path w="5683250" h="6064250">
                <a:moveTo>
                  <a:pt x="63482" y="0"/>
                </a:moveTo>
                <a:lnTo>
                  <a:pt x="5619768" y="0"/>
                </a:lnTo>
                <a:cubicBezTo>
                  <a:pt x="5654827" y="0"/>
                  <a:pt x="5683250" y="28423"/>
                  <a:pt x="5683250" y="63482"/>
                </a:cubicBezTo>
                <a:lnTo>
                  <a:pt x="5683250" y="6000768"/>
                </a:lnTo>
                <a:cubicBezTo>
                  <a:pt x="5683250" y="6035827"/>
                  <a:pt x="5654827" y="6064250"/>
                  <a:pt x="5619768" y="6064250"/>
                </a:cubicBezTo>
                <a:lnTo>
                  <a:pt x="63482" y="6064250"/>
                </a:lnTo>
                <a:cubicBezTo>
                  <a:pt x="28423" y="6064250"/>
                  <a:pt x="0" y="6035827"/>
                  <a:pt x="0" y="6000768"/>
                </a:cubicBezTo>
                <a:lnTo>
                  <a:pt x="0" y="63482"/>
                </a:lnTo>
                <a:cubicBezTo>
                  <a:pt x="0" y="28445"/>
                  <a:pt x="28445" y="0"/>
                  <a:pt x="6348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100127" y="1269791"/>
            <a:ext cx="3001232" cy="4461790"/>
          </a:xfrm>
          <a:prstGeom prst="roundRect">
            <a:avLst>
              <a:gd name="adj" fmla="val 820"/>
            </a:avLst>
          </a:prstGeom>
          <a:ln w="12700">
            <a:noFill/>
            <a:prstDash val="solid"/>
          </a:ln>
        </p:spPr>
      </p:pic>
      <p:grpSp>
        <p:nvGrpSpPr>
          <p:cNvPr id="23" name="Group 23"/>
          <p:cNvGrpSpPr/>
          <p:nvPr/>
        </p:nvGrpSpPr>
        <p:grpSpPr>
          <a:xfrm>
            <a:off x="6207191" y="5894035"/>
            <a:ext cx="5667296" cy="809546"/>
            <a:chOff x="6207191" y="5894035"/>
            <a:chExt cx="5667296" cy="809546"/>
          </a:xfrm>
        </p:grpSpPr>
        <p:sp>
          <p:nvSpPr>
            <p:cNvPr id="24" name="Freeform 24"/>
            <p:cNvSpPr/>
            <p:nvPr/>
          </p:nvSpPr>
          <p:spPr>
            <a:xfrm>
              <a:off x="6207191" y="5894035"/>
              <a:ext cx="5667296" cy="809546"/>
            </a:xfrm>
            <a:custGeom>
              <a:avLst/>
              <a:gdLst/>
              <a:ahLst/>
              <a:cxnLst/>
              <a:rect l="l" t="t" r="r" b="b"/>
              <a:pathLst>
                <a:path w="5667296" h="809546">
                  <a:moveTo>
                    <a:pt x="63501" y="0"/>
                  </a:moveTo>
                  <a:lnTo>
                    <a:pt x="5603795" y="0"/>
                  </a:lnTo>
                  <a:cubicBezTo>
                    <a:pt x="5638866" y="0"/>
                    <a:pt x="5667296" y="28430"/>
                    <a:pt x="5667296" y="63501"/>
                  </a:cubicBezTo>
                  <a:lnTo>
                    <a:pt x="5667296" y="746045"/>
                  </a:lnTo>
                  <a:cubicBezTo>
                    <a:pt x="5667296" y="781116"/>
                    <a:pt x="5638866" y="809546"/>
                    <a:pt x="5603795" y="809546"/>
                  </a:cubicBezTo>
                  <a:lnTo>
                    <a:pt x="63501" y="809546"/>
                  </a:lnTo>
                  <a:cubicBezTo>
                    <a:pt x="28430" y="809546"/>
                    <a:pt x="0" y="781116"/>
                    <a:pt x="0" y="746045"/>
                  </a:cubicBezTo>
                  <a:lnTo>
                    <a:pt x="0" y="63501"/>
                  </a:lnTo>
                  <a:cubicBezTo>
                    <a:pt x="0" y="28454"/>
                    <a:pt x="28454" y="0"/>
                    <a:pt x="63501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2635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6270637" y="6028919"/>
              <a:ext cx="5540375" cy="317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92000"/>
                </a:lnSpc>
                <a:defRPr/>
              </a:pPr>
              <a:r>
                <a:rPr lang="en-US" sz="2300" b="1" i="0" u="none" strike="noStrike">
                  <a:solidFill>
                    <a:srgbClr val="8B263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32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6310325" y="6378096"/>
              <a:ext cx="5461000" cy="190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33000"/>
                </a:lnSpc>
                <a:defRPr/>
              </a:pPr>
              <a:r>
                <a:rPr lang="en-US" sz="10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banks (typical configuration)</a:t>
              </a:r>
              <a:endParaRPr lang="en-US" sz="1100"/>
            </a:p>
          </p:txBody>
        </p:sp>
      </p:grpSp>
      <p:sp>
        <p:nvSpPr>
          <p:cNvPr id="27" name="AutoShape 27"/>
          <p:cNvSpPr/>
          <p:nvPr/>
        </p:nvSpPr>
        <p:spPr>
          <a:xfrm>
            <a:off x="83820" y="6721475"/>
            <a:ext cx="11376025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Lei Mao's Log Book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4963" y="633814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Bank Conflict Definition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17463" y="1111029"/>
            <a:ext cx="4508500" cy="952500"/>
          </a:xfrm>
          <a:custGeom>
            <a:avLst/>
            <a:gdLst/>
            <a:ahLst/>
            <a:cxnLst/>
            <a:rect l="l" t="t" r="r" b="b"/>
            <a:pathLst>
              <a:path w="4508500" h="952500">
                <a:moveTo>
                  <a:pt x="63503" y="0"/>
                </a:moveTo>
                <a:lnTo>
                  <a:pt x="4444997" y="0"/>
                </a:lnTo>
                <a:cubicBezTo>
                  <a:pt x="4480069" y="0"/>
                  <a:pt x="4508500" y="28431"/>
                  <a:pt x="4508500" y="63503"/>
                </a:cubicBezTo>
                <a:lnTo>
                  <a:pt x="4508500" y="888997"/>
                </a:lnTo>
                <a:cubicBezTo>
                  <a:pt x="4508500" y="924069"/>
                  <a:pt x="4480069" y="952500"/>
                  <a:pt x="444499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7941" y="1301506"/>
            <a:ext cx="422275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Bank Conflict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7941" y="1650624"/>
            <a:ext cx="419893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Shared Memory Performance Killer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317463" y="2190339"/>
            <a:ext cx="4508500" cy="2984356"/>
          </a:xfrm>
          <a:custGeom>
            <a:avLst/>
            <a:gdLst/>
            <a:ahLst/>
            <a:cxnLst/>
            <a:rect l="l" t="t" r="r" b="b"/>
            <a:pathLst>
              <a:path w="4508500" h="2984356">
                <a:moveTo>
                  <a:pt x="63480" y="0"/>
                </a:moveTo>
                <a:lnTo>
                  <a:pt x="4445020" y="0"/>
                </a:lnTo>
                <a:cubicBezTo>
                  <a:pt x="4480079" y="0"/>
                  <a:pt x="4508500" y="16802"/>
                  <a:pt x="4508500" y="37527"/>
                </a:cubicBezTo>
                <a:lnTo>
                  <a:pt x="4508500" y="2946829"/>
                </a:lnTo>
                <a:cubicBezTo>
                  <a:pt x="4508500" y="2967554"/>
                  <a:pt x="4480079" y="2984356"/>
                  <a:pt x="4445020" y="2984356"/>
                </a:cubicBezTo>
                <a:lnTo>
                  <a:pt x="63480" y="2984356"/>
                </a:lnTo>
                <a:cubicBezTo>
                  <a:pt x="28421" y="2984356"/>
                  <a:pt x="0" y="2967554"/>
                  <a:pt x="0" y="2946829"/>
                </a:cubicBezTo>
                <a:lnTo>
                  <a:pt x="0" y="37527"/>
                </a:lnTo>
                <a:cubicBezTo>
                  <a:pt x="0" y="16815"/>
                  <a:pt x="28444" y="0"/>
                  <a:pt x="63480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495418" y="2380758"/>
            <a:ext cx="159929" cy="148827"/>
          </a:xfrm>
          <a:custGeom>
            <a:avLst/>
            <a:gdLst/>
            <a:ahLst/>
            <a:cxnLst/>
            <a:rect l="l" t="t" r="r" b="b"/>
            <a:pathLst>
              <a:path w="159929" h="148827">
                <a:moveTo>
                  <a:pt x="79964" y="0"/>
                </a:moveTo>
                <a:cubicBezTo>
                  <a:pt x="84522" y="0"/>
                  <a:pt x="88708" y="2511"/>
                  <a:pt x="90878" y="6511"/>
                </a:cubicBezTo>
                <a:lnTo>
                  <a:pt x="157851" y="130534"/>
                </a:lnTo>
                <a:cubicBezTo>
                  <a:pt x="159928" y="134379"/>
                  <a:pt x="159836" y="139029"/>
                  <a:pt x="157603" y="142782"/>
                </a:cubicBezTo>
                <a:cubicBezTo>
                  <a:pt x="155370" y="146534"/>
                  <a:pt x="151308" y="148827"/>
                  <a:pt x="146937" y="148827"/>
                </a:cubicBezTo>
                <a:lnTo>
                  <a:pt x="12991" y="148827"/>
                </a:lnTo>
                <a:cubicBezTo>
                  <a:pt x="8620" y="148827"/>
                  <a:pt x="4589" y="146534"/>
                  <a:pt x="2325" y="142782"/>
                </a:cubicBezTo>
                <a:cubicBezTo>
                  <a:pt x="62" y="139029"/>
                  <a:pt x="0" y="134379"/>
                  <a:pt x="2077" y="130534"/>
                </a:cubicBezTo>
                <a:lnTo>
                  <a:pt x="69050" y="6511"/>
                </a:lnTo>
                <a:cubicBezTo>
                  <a:pt x="71220" y="2511"/>
                  <a:pt x="75406" y="0"/>
                  <a:pt x="79964" y="0"/>
                </a:cubicBezTo>
                <a:close/>
                <a:moveTo>
                  <a:pt x="79964" y="52090"/>
                </a:moveTo>
                <a:cubicBezTo>
                  <a:pt x="75840" y="52090"/>
                  <a:pt x="72523" y="55408"/>
                  <a:pt x="72523" y="59531"/>
                </a:cubicBezTo>
                <a:lnTo>
                  <a:pt x="72523" y="94258"/>
                </a:lnTo>
                <a:cubicBezTo>
                  <a:pt x="72523" y="98382"/>
                  <a:pt x="75840" y="101699"/>
                  <a:pt x="79964" y="101699"/>
                </a:cubicBezTo>
                <a:cubicBezTo>
                  <a:pt x="84088" y="101699"/>
                  <a:pt x="87405" y="98382"/>
                  <a:pt x="87405" y="94258"/>
                </a:cubicBezTo>
                <a:lnTo>
                  <a:pt x="87405" y="59531"/>
                </a:lnTo>
                <a:cubicBezTo>
                  <a:pt x="87405" y="55408"/>
                  <a:pt x="84088" y="52090"/>
                  <a:pt x="79964" y="52090"/>
                </a:cubicBezTo>
                <a:close/>
                <a:moveTo>
                  <a:pt x="88243" y="119062"/>
                </a:moveTo>
                <a:cubicBezTo>
                  <a:pt x="88431" y="115990"/>
                  <a:pt x="86898" y="113066"/>
                  <a:pt x="84264" y="111473"/>
                </a:cubicBezTo>
                <a:cubicBezTo>
                  <a:pt x="81630" y="109879"/>
                  <a:pt x="78330" y="109879"/>
                  <a:pt x="75696" y="111473"/>
                </a:cubicBezTo>
                <a:cubicBezTo>
                  <a:pt x="73062" y="113066"/>
                  <a:pt x="71527" y="115990"/>
                  <a:pt x="71717" y="119062"/>
                </a:cubicBezTo>
                <a:cubicBezTo>
                  <a:pt x="71527" y="122135"/>
                  <a:pt x="73062" y="125059"/>
                  <a:pt x="75696" y="126652"/>
                </a:cubicBezTo>
                <a:cubicBezTo>
                  <a:pt x="78330" y="128246"/>
                  <a:pt x="81630" y="128246"/>
                  <a:pt x="84264" y="126652"/>
                </a:cubicBezTo>
                <a:cubicBezTo>
                  <a:pt x="86898" y="125059"/>
                  <a:pt x="88431" y="122135"/>
                  <a:pt x="88243" y="119062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74601" y="2349043"/>
            <a:ext cx="407193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Problem Definition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491960" y="2698281"/>
            <a:ext cx="4175046" cy="603250"/>
          </a:xfrm>
          <a:custGeom>
            <a:avLst/>
            <a:gdLst/>
            <a:ahLst/>
            <a:cxnLst/>
            <a:rect l="l" t="t" r="r" b="b"/>
            <a:pathLst>
              <a:path w="4175046" h="603250">
                <a:moveTo>
                  <a:pt x="31593" y="0"/>
                </a:moveTo>
                <a:lnTo>
                  <a:pt x="4111548" y="0"/>
                </a:lnTo>
                <a:cubicBezTo>
                  <a:pt x="4146617" y="0"/>
                  <a:pt x="4175046" y="28429"/>
                  <a:pt x="4175046" y="63497"/>
                </a:cubicBezTo>
                <a:lnTo>
                  <a:pt x="4175046" y="539753"/>
                </a:lnTo>
                <a:cubicBezTo>
                  <a:pt x="4175046" y="574821"/>
                  <a:pt x="4146617" y="603250"/>
                  <a:pt x="4111548" y="603250"/>
                </a:cubicBezTo>
                <a:lnTo>
                  <a:pt x="31593" y="603250"/>
                </a:lnTo>
                <a:cubicBezTo>
                  <a:pt x="14144" y="603250"/>
                  <a:pt x="0" y="589106"/>
                  <a:pt x="0" y="57165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491960" y="2698281"/>
            <a:ext cx="31593" cy="603250"/>
          </a:xfrm>
          <a:custGeom>
            <a:avLst/>
            <a:gdLst/>
            <a:ahLst/>
            <a:cxnLst/>
            <a:rect l="l" t="t" r="r" b="b"/>
            <a:pathLst>
              <a:path w="31593" h="603250">
                <a:moveTo>
                  <a:pt x="31593" y="0"/>
                </a:moveTo>
                <a:lnTo>
                  <a:pt x="31593" y="0"/>
                </a:lnTo>
                <a:lnTo>
                  <a:pt x="31593" y="603250"/>
                </a:lnTo>
                <a:lnTo>
                  <a:pt x="31593" y="603250"/>
                </a:lnTo>
                <a:cubicBezTo>
                  <a:pt x="14144" y="603250"/>
                  <a:pt x="0" y="589106"/>
                  <a:pt x="0" y="57165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02964" y="2793488"/>
            <a:ext cx="4032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Multiple threads simultaneously access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02964" y="3015684"/>
            <a:ext cx="4032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the same bank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491960" y="3396576"/>
            <a:ext cx="4175046" cy="603250"/>
          </a:xfrm>
          <a:custGeom>
            <a:avLst/>
            <a:gdLst/>
            <a:ahLst/>
            <a:cxnLst/>
            <a:rect l="l" t="t" r="r" b="b"/>
            <a:pathLst>
              <a:path w="4175046" h="603250">
                <a:moveTo>
                  <a:pt x="31593" y="0"/>
                </a:moveTo>
                <a:lnTo>
                  <a:pt x="4111548" y="0"/>
                </a:lnTo>
                <a:cubicBezTo>
                  <a:pt x="4146617" y="0"/>
                  <a:pt x="4175046" y="28429"/>
                  <a:pt x="4175046" y="63497"/>
                </a:cubicBezTo>
                <a:lnTo>
                  <a:pt x="4175046" y="539753"/>
                </a:lnTo>
                <a:cubicBezTo>
                  <a:pt x="4175046" y="574821"/>
                  <a:pt x="4146617" y="603250"/>
                  <a:pt x="4111548" y="603250"/>
                </a:cubicBezTo>
                <a:lnTo>
                  <a:pt x="31593" y="603250"/>
                </a:lnTo>
                <a:cubicBezTo>
                  <a:pt x="14144" y="603250"/>
                  <a:pt x="0" y="589106"/>
                  <a:pt x="0" y="57165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491960" y="3396576"/>
            <a:ext cx="31593" cy="603250"/>
          </a:xfrm>
          <a:custGeom>
            <a:avLst/>
            <a:gdLst/>
            <a:ahLst/>
            <a:cxnLst/>
            <a:rect l="l" t="t" r="r" b="b"/>
            <a:pathLst>
              <a:path w="31593" h="603250">
                <a:moveTo>
                  <a:pt x="31593" y="0"/>
                </a:moveTo>
                <a:lnTo>
                  <a:pt x="31593" y="0"/>
                </a:lnTo>
                <a:lnTo>
                  <a:pt x="31593" y="603250"/>
                </a:lnTo>
                <a:lnTo>
                  <a:pt x="31593" y="603250"/>
                </a:lnTo>
                <a:cubicBezTo>
                  <a:pt x="14144" y="603250"/>
                  <a:pt x="0" y="589106"/>
                  <a:pt x="0" y="57165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02964" y="3491783"/>
            <a:ext cx="4032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Causes access to be serialized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02964" y="3713979"/>
            <a:ext cx="4032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Cannot execute in parallel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491960" y="4094870"/>
            <a:ext cx="4175046" cy="603250"/>
          </a:xfrm>
          <a:custGeom>
            <a:avLst/>
            <a:gdLst/>
            <a:ahLst/>
            <a:cxnLst/>
            <a:rect l="l" t="t" r="r" b="b"/>
            <a:pathLst>
              <a:path w="4175046" h="603250">
                <a:moveTo>
                  <a:pt x="31593" y="0"/>
                </a:moveTo>
                <a:lnTo>
                  <a:pt x="4111548" y="0"/>
                </a:lnTo>
                <a:cubicBezTo>
                  <a:pt x="4146617" y="0"/>
                  <a:pt x="4175046" y="28429"/>
                  <a:pt x="4175046" y="63497"/>
                </a:cubicBezTo>
                <a:lnTo>
                  <a:pt x="4175046" y="539753"/>
                </a:lnTo>
                <a:cubicBezTo>
                  <a:pt x="4175046" y="574821"/>
                  <a:pt x="4146617" y="603250"/>
                  <a:pt x="4111548" y="603250"/>
                </a:cubicBezTo>
                <a:lnTo>
                  <a:pt x="31593" y="603250"/>
                </a:lnTo>
                <a:cubicBezTo>
                  <a:pt x="14144" y="603250"/>
                  <a:pt x="0" y="589106"/>
                  <a:pt x="0" y="57165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491960" y="4094870"/>
            <a:ext cx="31593" cy="603250"/>
          </a:xfrm>
          <a:custGeom>
            <a:avLst/>
            <a:gdLst/>
            <a:ahLst/>
            <a:cxnLst/>
            <a:rect l="l" t="t" r="r" b="b"/>
            <a:pathLst>
              <a:path w="31593" h="603250">
                <a:moveTo>
                  <a:pt x="31593" y="0"/>
                </a:moveTo>
                <a:lnTo>
                  <a:pt x="31593" y="0"/>
                </a:lnTo>
                <a:lnTo>
                  <a:pt x="31593" y="603250"/>
                </a:lnTo>
                <a:lnTo>
                  <a:pt x="31593" y="603250"/>
                </a:lnTo>
                <a:cubicBezTo>
                  <a:pt x="14144" y="603250"/>
                  <a:pt x="0" y="589106"/>
                  <a:pt x="0" y="571657"/>
                </a:cubicBezTo>
                <a:lnTo>
                  <a:pt x="0" y="31593"/>
                </a:lnTo>
                <a:cubicBezTo>
                  <a:pt x="0" y="14155"/>
                  <a:pt x="14155" y="0"/>
                  <a:pt x="31593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02964" y="4190081"/>
            <a:ext cx="4032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Severe performance degradation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02964" y="4412273"/>
            <a:ext cx="40322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Loses the parallel advantage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5016470" y="1111029"/>
            <a:ext cx="6858000" cy="5334000"/>
          </a:xfrm>
          <a:custGeom>
            <a:avLst/>
            <a:gdLst/>
            <a:ahLst/>
            <a:cxnLst/>
            <a:rect l="l" t="t" r="r" b="b"/>
            <a:pathLst>
              <a:path w="6858000" h="5334000">
                <a:moveTo>
                  <a:pt x="63475" y="0"/>
                </a:moveTo>
                <a:lnTo>
                  <a:pt x="6794525" y="0"/>
                </a:lnTo>
                <a:cubicBezTo>
                  <a:pt x="6829581" y="0"/>
                  <a:pt x="6858000" y="28419"/>
                  <a:pt x="6858000" y="63475"/>
                </a:cubicBezTo>
                <a:lnTo>
                  <a:pt x="6858000" y="5270525"/>
                </a:lnTo>
                <a:cubicBezTo>
                  <a:pt x="6858000" y="5305581"/>
                  <a:pt x="6829581" y="5334000"/>
                  <a:pt x="6794525" y="5334000"/>
                </a:cubicBezTo>
                <a:lnTo>
                  <a:pt x="63475" y="5334000"/>
                </a:lnTo>
                <a:cubicBezTo>
                  <a:pt x="28419" y="5334000"/>
                  <a:pt x="0" y="5305581"/>
                  <a:pt x="0" y="5270525"/>
                </a:cubicBezTo>
                <a:lnTo>
                  <a:pt x="0" y="63475"/>
                </a:lnTo>
                <a:cubicBezTo>
                  <a:pt x="0" y="28442"/>
                  <a:pt x="28442" y="0"/>
                  <a:pt x="63475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691342" y="1269791"/>
            <a:ext cx="3213635" cy="4595062"/>
          </a:xfrm>
          <a:prstGeom prst="roundRect">
            <a:avLst>
              <a:gd name="adj" fmla="val 904"/>
            </a:avLst>
          </a:prstGeom>
          <a:ln w="12700">
            <a:noFill/>
            <a:prstDash val="solid"/>
          </a:ln>
        </p:spPr>
      </p:pic>
      <p:grpSp>
        <p:nvGrpSpPr>
          <p:cNvPr id="23" name="Group 23"/>
          <p:cNvGrpSpPr/>
          <p:nvPr/>
        </p:nvGrpSpPr>
        <p:grpSpPr>
          <a:xfrm>
            <a:off x="5024368" y="6039674"/>
            <a:ext cx="6842061" cy="650796"/>
            <a:chOff x="5024368" y="6039674"/>
            <a:chExt cx="6842061" cy="650796"/>
          </a:xfrm>
        </p:grpSpPr>
        <p:sp>
          <p:nvSpPr>
            <p:cNvPr id="24" name="Freeform 24"/>
            <p:cNvSpPr/>
            <p:nvPr/>
          </p:nvSpPr>
          <p:spPr>
            <a:xfrm>
              <a:off x="5024368" y="6039674"/>
              <a:ext cx="2206546" cy="650796"/>
            </a:xfrm>
            <a:custGeom>
              <a:avLst/>
              <a:gdLst/>
              <a:ahLst/>
              <a:cxnLst/>
              <a:rect l="l" t="t" r="r" b="b"/>
              <a:pathLst>
                <a:path w="2206546" h="650796">
                  <a:moveTo>
                    <a:pt x="63497" y="0"/>
                  </a:moveTo>
                  <a:lnTo>
                    <a:pt x="2143048" y="0"/>
                  </a:lnTo>
                  <a:cubicBezTo>
                    <a:pt x="2178117" y="0"/>
                    <a:pt x="2206546" y="28429"/>
                    <a:pt x="2206546" y="63497"/>
                  </a:cubicBezTo>
                  <a:lnTo>
                    <a:pt x="2206546" y="587298"/>
                  </a:lnTo>
                  <a:cubicBezTo>
                    <a:pt x="2206546" y="622367"/>
                    <a:pt x="2178117" y="650796"/>
                    <a:pt x="2143048" y="650796"/>
                  </a:cubicBezTo>
                  <a:lnTo>
                    <a:pt x="63497" y="650796"/>
                  </a:lnTo>
                  <a:cubicBezTo>
                    <a:pt x="28429" y="650796"/>
                    <a:pt x="0" y="622367"/>
                    <a:pt x="0" y="587298"/>
                  </a:cubicBezTo>
                  <a:lnTo>
                    <a:pt x="0" y="63497"/>
                  </a:lnTo>
                  <a:cubicBezTo>
                    <a:pt x="0" y="28453"/>
                    <a:pt x="28453" y="0"/>
                    <a:pt x="63497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2635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5079849" y="6142781"/>
              <a:ext cx="2095500" cy="254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500" b="1" i="0" u="none" strike="noStrike">
                  <a:solidFill>
                    <a:srgbClr val="8B263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N</a:t>
              </a: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5099693" y="6428403"/>
              <a:ext cx="2055813" cy="158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9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threads</a:t>
              </a:r>
              <a:endParaRPr lang="en-US" sz="1100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7342126" y="6039674"/>
              <a:ext cx="2206546" cy="650796"/>
            </a:xfrm>
            <a:custGeom>
              <a:avLst/>
              <a:gdLst/>
              <a:ahLst/>
              <a:cxnLst/>
              <a:rect l="l" t="t" r="r" b="b"/>
              <a:pathLst>
                <a:path w="2206546" h="650796">
                  <a:moveTo>
                    <a:pt x="63497" y="0"/>
                  </a:moveTo>
                  <a:lnTo>
                    <a:pt x="2143048" y="0"/>
                  </a:lnTo>
                  <a:cubicBezTo>
                    <a:pt x="2178117" y="0"/>
                    <a:pt x="2206546" y="28429"/>
                    <a:pt x="2206546" y="63497"/>
                  </a:cubicBezTo>
                  <a:lnTo>
                    <a:pt x="2206546" y="587298"/>
                  </a:lnTo>
                  <a:cubicBezTo>
                    <a:pt x="2206546" y="622367"/>
                    <a:pt x="2178117" y="650796"/>
                    <a:pt x="2143048" y="650796"/>
                  </a:cubicBezTo>
                  <a:lnTo>
                    <a:pt x="63497" y="650796"/>
                  </a:lnTo>
                  <a:cubicBezTo>
                    <a:pt x="28429" y="650796"/>
                    <a:pt x="0" y="622367"/>
                    <a:pt x="0" y="587298"/>
                  </a:cubicBezTo>
                  <a:lnTo>
                    <a:pt x="0" y="63497"/>
                  </a:lnTo>
                  <a:cubicBezTo>
                    <a:pt x="0" y="28453"/>
                    <a:pt x="28453" y="0"/>
                    <a:pt x="63497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2635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7397607" y="6142781"/>
              <a:ext cx="2095500" cy="254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500" b="1" i="0" u="none" strike="noStrike">
                  <a:solidFill>
                    <a:srgbClr val="8B263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1</a:t>
              </a: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7417450" y="6428403"/>
              <a:ext cx="2055813" cy="158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9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bank</a:t>
              </a:r>
              <a:endParaRPr lang="en-US" sz="1100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9659883" y="6039674"/>
              <a:ext cx="2206546" cy="650796"/>
            </a:xfrm>
            <a:custGeom>
              <a:avLst/>
              <a:gdLst/>
              <a:ahLst/>
              <a:cxnLst/>
              <a:rect l="l" t="t" r="r" b="b"/>
              <a:pathLst>
                <a:path w="2206546" h="650796">
                  <a:moveTo>
                    <a:pt x="63497" y="0"/>
                  </a:moveTo>
                  <a:lnTo>
                    <a:pt x="2143048" y="0"/>
                  </a:lnTo>
                  <a:cubicBezTo>
                    <a:pt x="2178117" y="0"/>
                    <a:pt x="2206546" y="28429"/>
                    <a:pt x="2206546" y="63497"/>
                  </a:cubicBezTo>
                  <a:lnTo>
                    <a:pt x="2206546" y="587298"/>
                  </a:lnTo>
                  <a:cubicBezTo>
                    <a:pt x="2206546" y="622367"/>
                    <a:pt x="2178117" y="650796"/>
                    <a:pt x="2143048" y="650796"/>
                  </a:cubicBezTo>
                  <a:lnTo>
                    <a:pt x="63497" y="650796"/>
                  </a:lnTo>
                  <a:cubicBezTo>
                    <a:pt x="28429" y="650796"/>
                    <a:pt x="0" y="622367"/>
                    <a:pt x="0" y="587298"/>
                  </a:cubicBezTo>
                  <a:lnTo>
                    <a:pt x="0" y="63497"/>
                  </a:lnTo>
                  <a:cubicBezTo>
                    <a:pt x="0" y="28453"/>
                    <a:pt x="28453" y="0"/>
                    <a:pt x="63497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solidFill>
                <a:srgbClr val="8B2635">
                  <a:alpha val="100000"/>
                </a:srgbClr>
              </a:solidFill>
              <a:prstDash val="solid"/>
            </a:ln>
          </p:spPr>
          <p:txBody>
            <a:bodyPr wrap="square" lIns="91440" tIns="45720" rIns="91440" bIns="45720" rtlCol="0" anchor="t">
              <a:noAutofit/>
            </a:bodyPr>
            <a:lstStyle/>
            <a:p>
              <a:pPr algn="ctr">
                <a:defRPr/>
              </a:pPr>
            </a:p>
          </p:txBody>
        </p:sp>
        <p:sp>
          <p:nvSpPr>
            <p:cNvPr id="31" name="AutoShape 31"/>
            <p:cNvSpPr/>
            <p:nvPr/>
          </p:nvSpPr>
          <p:spPr>
            <a:xfrm>
              <a:off x="9715364" y="6142781"/>
              <a:ext cx="2095500" cy="254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08000"/>
                </a:lnSpc>
                <a:defRPr/>
              </a:pPr>
              <a:r>
                <a:rPr lang="en-US" sz="1500" b="1" i="0" u="none" strike="noStrike">
                  <a:solidFill>
                    <a:srgbClr val="8B2635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N×</a:t>
              </a:r>
              <a:endParaRPr lang="en-US" sz="1100"/>
            </a:p>
          </p:txBody>
        </p:sp>
        <p:sp>
          <p:nvSpPr>
            <p:cNvPr id="32" name="AutoShape 32"/>
            <p:cNvSpPr/>
            <p:nvPr/>
          </p:nvSpPr>
          <p:spPr>
            <a:xfrm>
              <a:off x="9735208" y="6428403"/>
              <a:ext cx="2055813" cy="15875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indent="0" algn="ctr">
                <a:lnSpc>
                  <a:spcPct val="117000"/>
                </a:lnSpc>
                <a:defRPr/>
              </a:pPr>
              <a:r>
                <a:rPr lang="en-US" sz="900" b="0" i="0" u="none" strike="noStrike">
                  <a:solidFill>
                    <a:srgbClr val="4A4A4A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MiSans" panose="00000500000000000000" charset="-122"/>
                </a:rPr>
                <a:t>slower</a:t>
              </a:r>
              <a:endParaRPr lang="en-US" sz="1100"/>
            </a:p>
          </p:txBody>
        </p:sp>
      </p:grpSp>
      <p:sp>
        <p:nvSpPr>
          <p:cNvPr id="33" name="AutoShape 33"/>
          <p:cNvSpPr/>
          <p:nvPr/>
        </p:nvSpPr>
        <p:spPr>
          <a:xfrm>
            <a:off x="261900" y="6707922"/>
            <a:ext cx="116125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UIC Mathematics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498" y="59879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No Bank Conflict Case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333235"/>
            <a:ext cx="5600700" cy="1143000"/>
          </a:xfrm>
          <a:custGeom>
            <a:avLst/>
            <a:gdLst/>
            <a:ahLst/>
            <a:cxnLst/>
            <a:rect l="l" t="t" r="r" b="b"/>
            <a:pathLst>
              <a:path w="5600700" h="1143000">
                <a:moveTo>
                  <a:pt x="76204" y="0"/>
                </a:moveTo>
                <a:lnTo>
                  <a:pt x="5524496" y="0"/>
                </a:lnTo>
                <a:cubicBezTo>
                  <a:pt x="5566581" y="0"/>
                  <a:pt x="5600700" y="34119"/>
                  <a:pt x="5600700" y="76204"/>
                </a:cubicBezTo>
                <a:lnTo>
                  <a:pt x="5600700" y="1066796"/>
                </a:lnTo>
                <a:cubicBezTo>
                  <a:pt x="5600700" y="1108881"/>
                  <a:pt x="5566581" y="1143000"/>
                  <a:pt x="5524496" y="1143000"/>
                </a:cubicBezTo>
                <a:lnTo>
                  <a:pt x="76204" y="1143000"/>
                </a:lnTo>
                <a:cubicBezTo>
                  <a:pt x="34119" y="1143000"/>
                  <a:pt x="0" y="1108881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561807"/>
            <a:ext cx="5257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Ideal Case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529" y="1980749"/>
            <a:ext cx="522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Each thread accesses a different bank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380956" y="2628412"/>
            <a:ext cx="5600700" cy="3581400"/>
          </a:xfrm>
          <a:custGeom>
            <a:avLst/>
            <a:gdLst/>
            <a:ahLst/>
            <a:cxnLst/>
            <a:rect l="l" t="t" r="r" b="b"/>
            <a:pathLst>
              <a:path w="5600700" h="3581400">
                <a:moveTo>
                  <a:pt x="76211" y="0"/>
                </a:moveTo>
                <a:lnTo>
                  <a:pt x="5524489" y="0"/>
                </a:lnTo>
                <a:cubicBezTo>
                  <a:pt x="5566579" y="0"/>
                  <a:pt x="5600700" y="34121"/>
                  <a:pt x="5600700" y="76211"/>
                </a:cubicBezTo>
                <a:lnTo>
                  <a:pt x="5600700" y="3505189"/>
                </a:lnTo>
                <a:cubicBezTo>
                  <a:pt x="5600700" y="3547279"/>
                  <a:pt x="5566579" y="3581400"/>
                  <a:pt x="5524489" y="3581400"/>
                </a:cubicBezTo>
                <a:lnTo>
                  <a:pt x="76211" y="3581400"/>
                </a:lnTo>
                <a:cubicBezTo>
                  <a:pt x="34121" y="3581400"/>
                  <a:pt x="0" y="3547279"/>
                  <a:pt x="0" y="3505189"/>
                </a:cubicBezTo>
                <a:lnTo>
                  <a:pt x="0" y="76211"/>
                </a:lnTo>
                <a:cubicBezTo>
                  <a:pt x="0" y="34150"/>
                  <a:pt x="34150" y="0"/>
                  <a:pt x="76211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595209" y="285690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7" y="130820"/>
                  <a:pt x="89706" y="130969"/>
                </a:cubicBezTo>
                <a:cubicBezTo>
                  <a:pt x="86766" y="131119"/>
                  <a:pt x="83939" y="129777"/>
                  <a:pt x="82191" y="127398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5" y="65522"/>
                  <a:pt x="119621" y="64219"/>
                  <a:pt x="123825" y="66860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09521" y="2818847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Access Pattern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590352" y="3237937"/>
            <a:ext cx="5200555" cy="457200"/>
          </a:xfrm>
          <a:custGeom>
            <a:avLst/>
            <a:gdLst/>
            <a:ahLst/>
            <a:cxnLst/>
            <a:rect l="l" t="t" r="r" b="b"/>
            <a:pathLst>
              <a:path w="5200555" h="457200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380997"/>
                </a:lnTo>
                <a:cubicBezTo>
                  <a:pt x="5200555" y="423083"/>
                  <a:pt x="5166439" y="457200"/>
                  <a:pt x="5124353" y="457200"/>
                </a:cubicBez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590352" y="3237937"/>
            <a:ext cx="37909" cy="457200"/>
          </a:xfrm>
          <a:custGeom>
            <a:avLst/>
            <a:gdLst/>
            <a:ahLst/>
            <a:cxnLst/>
            <a:rect l="l" t="t" r="r" b="b"/>
            <a:pathLst>
              <a:path w="37909" h="457200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85498" y="3352191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 0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14115" y="3314128"/>
            <a:ext cx="34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→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057012" y="3352191"/>
            <a:ext cx="5810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89A6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bank 0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590352" y="3771198"/>
            <a:ext cx="5200555" cy="457200"/>
          </a:xfrm>
          <a:custGeom>
            <a:avLst/>
            <a:gdLst/>
            <a:ahLst/>
            <a:cxnLst/>
            <a:rect l="l" t="t" r="r" b="b"/>
            <a:pathLst>
              <a:path w="5200555" h="457200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380997"/>
                </a:lnTo>
                <a:cubicBezTo>
                  <a:pt x="5200555" y="423083"/>
                  <a:pt x="5166439" y="457200"/>
                  <a:pt x="5124353" y="457200"/>
                </a:cubicBezTo>
                <a:lnTo>
                  <a:pt x="37910" y="457200"/>
                </a:lnTo>
                <a:cubicBezTo>
                  <a:pt x="16974" y="457200"/>
                  <a:pt x="0" y="440226"/>
                  <a:pt x="0" y="4192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590352" y="3771198"/>
            <a:ext cx="37909" cy="457200"/>
          </a:xfrm>
          <a:custGeom>
            <a:avLst/>
            <a:gdLst/>
            <a:ahLst/>
            <a:cxnLst/>
            <a:rect l="l" t="t" r="r" b="b"/>
            <a:pathLst>
              <a:path w="37909" h="457200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4" y="457200"/>
                  <a:pt x="0" y="440226"/>
                  <a:pt x="0" y="4192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85498" y="3885451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 1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714115" y="3847398"/>
            <a:ext cx="34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→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057012" y="3885451"/>
            <a:ext cx="5810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89A6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bank 1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590352" y="4304467"/>
            <a:ext cx="5200555" cy="457200"/>
          </a:xfrm>
          <a:custGeom>
            <a:avLst/>
            <a:gdLst/>
            <a:ahLst/>
            <a:cxnLst/>
            <a:rect l="l" t="t" r="r" b="b"/>
            <a:pathLst>
              <a:path w="5200555" h="457200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380997"/>
                </a:lnTo>
                <a:cubicBezTo>
                  <a:pt x="5200555" y="423083"/>
                  <a:pt x="5166439" y="457200"/>
                  <a:pt x="5124353" y="457200"/>
                </a:cubicBez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590352" y="4304467"/>
            <a:ext cx="37909" cy="457200"/>
          </a:xfrm>
          <a:custGeom>
            <a:avLst/>
            <a:gdLst/>
            <a:ahLst/>
            <a:cxnLst/>
            <a:rect l="l" t="t" r="r" b="b"/>
            <a:pathLst>
              <a:path w="37909" h="457200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85498" y="4418712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 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714115" y="4380658"/>
            <a:ext cx="34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057012" y="4418712"/>
            <a:ext cx="5810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89A6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bank 2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590352" y="4837728"/>
            <a:ext cx="5200555" cy="457200"/>
          </a:xfrm>
          <a:custGeom>
            <a:avLst/>
            <a:gdLst/>
            <a:ahLst/>
            <a:cxnLst/>
            <a:rect l="l" t="t" r="r" b="b"/>
            <a:pathLst>
              <a:path w="5200555" h="457200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380997"/>
                </a:lnTo>
                <a:cubicBezTo>
                  <a:pt x="5200555" y="423083"/>
                  <a:pt x="5166439" y="457200"/>
                  <a:pt x="5124353" y="457200"/>
                </a:cubicBezTo>
                <a:lnTo>
                  <a:pt x="37910" y="457200"/>
                </a:lnTo>
                <a:cubicBezTo>
                  <a:pt x="16974" y="457200"/>
                  <a:pt x="0" y="440226"/>
                  <a:pt x="0" y="4192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590352" y="4837728"/>
            <a:ext cx="37909" cy="457200"/>
          </a:xfrm>
          <a:custGeom>
            <a:avLst/>
            <a:gdLst/>
            <a:ahLst/>
            <a:cxnLst/>
            <a:rect l="l" t="t" r="r" b="b"/>
            <a:pathLst>
              <a:path w="37909" h="457200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4" y="457200"/>
                  <a:pt x="0" y="440226"/>
                  <a:pt x="0" y="4192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85498" y="4951981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 3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714115" y="4913919"/>
            <a:ext cx="34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→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057012" y="4951981"/>
            <a:ext cx="5810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B89A6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bank 3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6210279" y="1333235"/>
            <a:ext cx="5600700" cy="3657600"/>
          </a:xfrm>
          <a:custGeom>
            <a:avLst/>
            <a:gdLst/>
            <a:ahLst/>
            <a:cxnLst/>
            <a:rect l="l" t="t" r="r" b="b"/>
            <a:pathLst>
              <a:path w="5600700" h="3657600">
                <a:moveTo>
                  <a:pt x="76189" y="0"/>
                </a:moveTo>
                <a:lnTo>
                  <a:pt x="5524511" y="0"/>
                </a:lnTo>
                <a:cubicBezTo>
                  <a:pt x="5566590" y="0"/>
                  <a:pt x="5600700" y="34110"/>
                  <a:pt x="5600700" y="76189"/>
                </a:cubicBezTo>
                <a:lnTo>
                  <a:pt x="5600700" y="3581411"/>
                </a:lnTo>
                <a:cubicBezTo>
                  <a:pt x="5600700" y="3623490"/>
                  <a:pt x="5566590" y="3657600"/>
                  <a:pt x="5524511" y="3657600"/>
                </a:cubicBezTo>
                <a:lnTo>
                  <a:pt x="76189" y="3657600"/>
                </a:lnTo>
                <a:cubicBezTo>
                  <a:pt x="34110" y="3657600"/>
                  <a:pt x="0" y="3623490"/>
                  <a:pt x="0" y="3581411"/>
                </a:cubicBezTo>
                <a:lnTo>
                  <a:pt x="0" y="76189"/>
                </a:lnTo>
                <a:cubicBezTo>
                  <a:pt x="0" y="34110"/>
                  <a:pt x="34110" y="0"/>
                  <a:pt x="76189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6210279" y="5143756"/>
            <a:ext cx="5600700" cy="1066800"/>
          </a:xfrm>
          <a:custGeom>
            <a:avLst/>
            <a:gdLst/>
            <a:ahLst/>
            <a:cxnLst/>
            <a:rect l="l" t="t" r="r" b="b"/>
            <a:pathLst>
              <a:path w="5600700" h="1066800">
                <a:moveTo>
                  <a:pt x="76203" y="0"/>
                </a:moveTo>
                <a:lnTo>
                  <a:pt x="5524497" y="0"/>
                </a:lnTo>
                <a:cubicBezTo>
                  <a:pt x="5566583" y="0"/>
                  <a:pt x="5600700" y="34117"/>
                  <a:pt x="5600700" y="76203"/>
                </a:cubicBezTo>
                <a:lnTo>
                  <a:pt x="5600700" y="990597"/>
                </a:lnTo>
                <a:cubicBezTo>
                  <a:pt x="5600700" y="1032683"/>
                  <a:pt x="5566583" y="1066800"/>
                  <a:pt x="5524497" y="1066800"/>
                </a:cubicBezTo>
                <a:lnTo>
                  <a:pt x="76203" y="1066800"/>
                </a:lnTo>
                <a:cubicBezTo>
                  <a:pt x="34117" y="1066800"/>
                  <a:pt x="0" y="1032683"/>
                  <a:pt x="0" y="9905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329282" y="5334191"/>
            <a:ext cx="53625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Parallel access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357857" y="5753207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Maximum performance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314281" y="6286542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54757" y="618924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Bank Conflict 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17463" y="1111033"/>
            <a:ext cx="5683250" cy="952500"/>
          </a:xfrm>
          <a:custGeom>
            <a:avLst/>
            <a:gdLst/>
            <a:ahLst/>
            <a:cxnLst/>
            <a:rect l="l" t="t" r="r" b="b"/>
            <a:pathLst>
              <a:path w="5683250" h="952500">
                <a:moveTo>
                  <a:pt x="63503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888997"/>
                </a:lnTo>
                <a:cubicBezTo>
                  <a:pt x="5683250" y="924069"/>
                  <a:pt x="5654819" y="952500"/>
                  <a:pt x="56197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1301750"/>
            <a:ext cx="3890010" cy="1828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Conflict Case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650365"/>
            <a:ext cx="3873500" cy="1600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Multiple threads access the same bank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317500" y="2190115"/>
            <a:ext cx="4096385" cy="4324985"/>
          </a:xfrm>
          <a:custGeom>
            <a:avLst/>
            <a:gdLst/>
            <a:ahLst/>
            <a:cxnLst/>
            <a:rect l="l" t="t" r="r" b="b"/>
            <a:pathLst>
              <a:path w="4096385" h="4324985">
                <a:moveTo>
                  <a:pt x="45757" y="0"/>
                </a:moveTo>
                <a:lnTo>
                  <a:pt x="4050628" y="0"/>
                </a:lnTo>
                <a:cubicBezTo>
                  <a:pt x="4075899" y="0"/>
                  <a:pt x="4096385" y="20485"/>
                  <a:pt x="4096385" y="45754"/>
                </a:cubicBezTo>
                <a:lnTo>
                  <a:pt x="4096385" y="4279231"/>
                </a:lnTo>
                <a:cubicBezTo>
                  <a:pt x="4096385" y="4304500"/>
                  <a:pt x="4075899" y="4324985"/>
                  <a:pt x="4050628" y="4324985"/>
                </a:cubicBezTo>
                <a:lnTo>
                  <a:pt x="45757" y="4324985"/>
                </a:lnTo>
                <a:cubicBezTo>
                  <a:pt x="20486" y="4324985"/>
                  <a:pt x="0" y="4304500"/>
                  <a:pt x="0" y="4279231"/>
                </a:cubicBezTo>
                <a:lnTo>
                  <a:pt x="0" y="45754"/>
                </a:lnTo>
                <a:cubicBezTo>
                  <a:pt x="0" y="20502"/>
                  <a:pt x="20503" y="0"/>
                  <a:pt x="45757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495935" y="2380615"/>
            <a:ext cx="114935" cy="114935"/>
          </a:xfrm>
          <a:custGeom>
            <a:avLst/>
            <a:gdLst/>
            <a:ahLst/>
            <a:cxnLst/>
            <a:rect l="l" t="t" r="r" b="b"/>
            <a:pathLst>
              <a:path w="114935" h="114935">
                <a:moveTo>
                  <a:pt x="57467" y="114935"/>
                </a:moveTo>
                <a:cubicBezTo>
                  <a:pt x="89184" y="114935"/>
                  <a:pt x="114935" y="89184"/>
                  <a:pt x="114935" y="57467"/>
                </a:cubicBezTo>
                <a:cubicBezTo>
                  <a:pt x="114935" y="25751"/>
                  <a:pt x="89184" y="0"/>
                  <a:pt x="57467" y="0"/>
                </a:cubicBezTo>
                <a:cubicBezTo>
                  <a:pt x="25751" y="0"/>
                  <a:pt x="0" y="25751"/>
                  <a:pt x="0" y="57467"/>
                </a:cubicBezTo>
                <a:cubicBezTo>
                  <a:pt x="0" y="89184"/>
                  <a:pt x="25751" y="114935"/>
                  <a:pt x="57467" y="114935"/>
                </a:cubicBezTo>
                <a:close/>
                <a:moveTo>
                  <a:pt x="37489" y="37489"/>
                </a:moveTo>
                <a:cubicBezTo>
                  <a:pt x="39599" y="35378"/>
                  <a:pt x="43011" y="35378"/>
                  <a:pt x="45099" y="37489"/>
                </a:cubicBezTo>
                <a:lnTo>
                  <a:pt x="57445" y="49835"/>
                </a:lnTo>
                <a:lnTo>
                  <a:pt x="69792" y="37489"/>
                </a:lnTo>
                <a:cubicBezTo>
                  <a:pt x="71902" y="35378"/>
                  <a:pt x="75314" y="35378"/>
                  <a:pt x="77401" y="37489"/>
                </a:cubicBezTo>
                <a:cubicBezTo>
                  <a:pt x="79489" y="39599"/>
                  <a:pt x="79512" y="43011"/>
                  <a:pt x="77401" y="45099"/>
                </a:cubicBezTo>
                <a:lnTo>
                  <a:pt x="65054" y="57445"/>
                </a:lnTo>
                <a:lnTo>
                  <a:pt x="77401" y="69792"/>
                </a:lnTo>
                <a:cubicBezTo>
                  <a:pt x="79512" y="71902"/>
                  <a:pt x="79512" y="75314"/>
                  <a:pt x="77401" y="77401"/>
                </a:cubicBezTo>
                <a:cubicBezTo>
                  <a:pt x="75292" y="79489"/>
                  <a:pt x="71879" y="79512"/>
                  <a:pt x="69792" y="77401"/>
                </a:cubicBezTo>
                <a:lnTo>
                  <a:pt x="57445" y="65054"/>
                </a:lnTo>
                <a:lnTo>
                  <a:pt x="45099" y="77401"/>
                </a:lnTo>
                <a:cubicBezTo>
                  <a:pt x="42988" y="79512"/>
                  <a:pt x="39576" y="79512"/>
                  <a:pt x="37489" y="77401"/>
                </a:cubicBezTo>
                <a:cubicBezTo>
                  <a:pt x="35401" y="75292"/>
                  <a:pt x="35378" y="71879"/>
                  <a:pt x="37489" y="69792"/>
                </a:cubicBezTo>
                <a:lnTo>
                  <a:pt x="49835" y="57445"/>
                </a:lnTo>
                <a:lnTo>
                  <a:pt x="37489" y="45099"/>
                </a:lnTo>
                <a:cubicBezTo>
                  <a:pt x="35378" y="42988"/>
                  <a:pt x="35378" y="39576"/>
                  <a:pt x="37489" y="37489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74370" y="2348865"/>
            <a:ext cx="3781425" cy="1600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Access Pattern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492125" y="2698115"/>
            <a:ext cx="3855720" cy="274320"/>
          </a:xfrm>
          <a:custGeom>
            <a:avLst/>
            <a:gdLst/>
            <a:ahLst/>
            <a:cxnLst/>
            <a:rect l="l" t="t" r="r" b="b"/>
            <a:pathLst>
              <a:path w="3855720" h="274320">
                <a:moveTo>
                  <a:pt x="22769" y="0"/>
                </a:moveTo>
                <a:lnTo>
                  <a:pt x="3809953" y="0"/>
                </a:lnTo>
                <a:cubicBezTo>
                  <a:pt x="3835230" y="0"/>
                  <a:pt x="3855720" y="20470"/>
                  <a:pt x="3855720" y="45721"/>
                </a:cubicBezTo>
                <a:lnTo>
                  <a:pt x="3855720" y="228599"/>
                </a:lnTo>
                <a:cubicBezTo>
                  <a:pt x="3855720" y="253850"/>
                  <a:pt x="3835230" y="274320"/>
                  <a:pt x="3809953" y="274320"/>
                </a:cubicBezTo>
                <a:lnTo>
                  <a:pt x="22769" y="274320"/>
                </a:lnTo>
                <a:cubicBezTo>
                  <a:pt x="10194" y="274320"/>
                  <a:pt x="0" y="264136"/>
                  <a:pt x="0" y="251574"/>
                </a:cubicBezTo>
                <a:lnTo>
                  <a:pt x="0" y="22746"/>
                </a:lnTo>
                <a:cubicBezTo>
                  <a:pt x="0" y="10192"/>
                  <a:pt x="10203" y="0"/>
                  <a:pt x="2276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492125" y="2698115"/>
            <a:ext cx="76200" cy="281940"/>
          </a:xfrm>
          <a:custGeom>
            <a:avLst/>
            <a:gdLst/>
            <a:ahLst/>
            <a:cxnLst/>
            <a:rect l="l" t="t" r="r" b="b"/>
            <a:pathLst>
              <a:path w="76200" h="281940">
                <a:moveTo>
                  <a:pt x="76200" y="0"/>
                </a:moveTo>
                <a:lnTo>
                  <a:pt x="76200" y="0"/>
                </a:lnTo>
                <a:lnTo>
                  <a:pt x="76200" y="281940"/>
                </a:lnTo>
                <a:lnTo>
                  <a:pt x="76200" y="281940"/>
                </a:lnTo>
                <a:cubicBezTo>
                  <a:pt x="34115" y="281940"/>
                  <a:pt x="0" y="271474"/>
                  <a:pt x="0" y="258562"/>
                </a:cubicBezTo>
                <a:lnTo>
                  <a:pt x="0" y="23378"/>
                </a:lnTo>
                <a:cubicBezTo>
                  <a:pt x="0" y="10475"/>
                  <a:pt x="34144" y="0"/>
                  <a:pt x="7620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71500" y="2793365"/>
            <a:ext cx="594995" cy="137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 0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28115" y="2761615"/>
            <a:ext cx="206375" cy="1835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→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713865" y="2793365"/>
            <a:ext cx="349250" cy="1377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bank 0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492125" y="3142615"/>
            <a:ext cx="3855720" cy="274320"/>
          </a:xfrm>
          <a:custGeom>
            <a:avLst/>
            <a:gdLst/>
            <a:ahLst/>
            <a:cxnLst/>
            <a:rect l="l" t="t" r="r" b="b"/>
            <a:pathLst>
              <a:path w="3855720" h="274320">
                <a:moveTo>
                  <a:pt x="22769" y="0"/>
                </a:moveTo>
                <a:lnTo>
                  <a:pt x="3809953" y="0"/>
                </a:lnTo>
                <a:cubicBezTo>
                  <a:pt x="3835230" y="0"/>
                  <a:pt x="3855720" y="20470"/>
                  <a:pt x="3855720" y="45721"/>
                </a:cubicBezTo>
                <a:lnTo>
                  <a:pt x="3855720" y="228599"/>
                </a:lnTo>
                <a:cubicBezTo>
                  <a:pt x="3855720" y="253850"/>
                  <a:pt x="3835230" y="274320"/>
                  <a:pt x="3809953" y="274320"/>
                </a:cubicBezTo>
                <a:lnTo>
                  <a:pt x="22769" y="274320"/>
                </a:lnTo>
                <a:cubicBezTo>
                  <a:pt x="10194" y="274320"/>
                  <a:pt x="0" y="264136"/>
                  <a:pt x="0" y="251574"/>
                </a:cubicBezTo>
                <a:lnTo>
                  <a:pt x="0" y="22746"/>
                </a:lnTo>
                <a:cubicBezTo>
                  <a:pt x="0" y="10192"/>
                  <a:pt x="10203" y="0"/>
                  <a:pt x="2276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492125" y="3142615"/>
            <a:ext cx="76200" cy="281940"/>
          </a:xfrm>
          <a:custGeom>
            <a:avLst/>
            <a:gdLst/>
            <a:ahLst/>
            <a:cxnLst/>
            <a:rect l="l" t="t" r="r" b="b"/>
            <a:pathLst>
              <a:path w="76200" h="281940">
                <a:moveTo>
                  <a:pt x="76200" y="0"/>
                </a:moveTo>
                <a:lnTo>
                  <a:pt x="76200" y="0"/>
                </a:lnTo>
                <a:lnTo>
                  <a:pt x="76200" y="281940"/>
                </a:lnTo>
                <a:lnTo>
                  <a:pt x="76200" y="281940"/>
                </a:lnTo>
                <a:cubicBezTo>
                  <a:pt x="34115" y="281940"/>
                  <a:pt x="0" y="271474"/>
                  <a:pt x="0" y="258562"/>
                </a:cubicBezTo>
                <a:lnTo>
                  <a:pt x="0" y="23378"/>
                </a:lnTo>
                <a:cubicBezTo>
                  <a:pt x="0" y="10475"/>
                  <a:pt x="34144" y="0"/>
                  <a:pt x="7620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71500" y="3237865"/>
            <a:ext cx="594995" cy="137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 1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428115" y="3206115"/>
            <a:ext cx="206375" cy="1835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→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713865" y="3237865"/>
            <a:ext cx="349250" cy="1377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bank 0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492125" y="3587115"/>
            <a:ext cx="3855720" cy="274320"/>
          </a:xfrm>
          <a:custGeom>
            <a:avLst/>
            <a:gdLst/>
            <a:ahLst/>
            <a:cxnLst/>
            <a:rect l="l" t="t" r="r" b="b"/>
            <a:pathLst>
              <a:path w="3855720" h="274320">
                <a:moveTo>
                  <a:pt x="22769" y="0"/>
                </a:moveTo>
                <a:lnTo>
                  <a:pt x="3809953" y="0"/>
                </a:lnTo>
                <a:cubicBezTo>
                  <a:pt x="3835230" y="0"/>
                  <a:pt x="3855720" y="20470"/>
                  <a:pt x="3855720" y="45721"/>
                </a:cubicBezTo>
                <a:lnTo>
                  <a:pt x="3855720" y="228599"/>
                </a:lnTo>
                <a:cubicBezTo>
                  <a:pt x="3855720" y="253850"/>
                  <a:pt x="3835230" y="274320"/>
                  <a:pt x="3809953" y="274320"/>
                </a:cubicBezTo>
                <a:lnTo>
                  <a:pt x="22769" y="274320"/>
                </a:lnTo>
                <a:cubicBezTo>
                  <a:pt x="10194" y="274320"/>
                  <a:pt x="0" y="264136"/>
                  <a:pt x="0" y="251574"/>
                </a:cubicBezTo>
                <a:lnTo>
                  <a:pt x="0" y="22746"/>
                </a:lnTo>
                <a:cubicBezTo>
                  <a:pt x="0" y="10192"/>
                  <a:pt x="10203" y="0"/>
                  <a:pt x="2276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492125" y="3587115"/>
            <a:ext cx="76200" cy="281940"/>
          </a:xfrm>
          <a:custGeom>
            <a:avLst/>
            <a:gdLst/>
            <a:ahLst/>
            <a:cxnLst/>
            <a:rect l="l" t="t" r="r" b="b"/>
            <a:pathLst>
              <a:path w="76200" h="281940">
                <a:moveTo>
                  <a:pt x="76200" y="0"/>
                </a:moveTo>
                <a:lnTo>
                  <a:pt x="76200" y="0"/>
                </a:lnTo>
                <a:lnTo>
                  <a:pt x="76200" y="281940"/>
                </a:lnTo>
                <a:lnTo>
                  <a:pt x="76200" y="281940"/>
                </a:lnTo>
                <a:cubicBezTo>
                  <a:pt x="34115" y="281940"/>
                  <a:pt x="0" y="271474"/>
                  <a:pt x="0" y="258562"/>
                </a:cubicBezTo>
                <a:lnTo>
                  <a:pt x="0" y="23378"/>
                </a:lnTo>
                <a:cubicBezTo>
                  <a:pt x="0" y="10475"/>
                  <a:pt x="34144" y="0"/>
                  <a:pt x="7620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71500" y="3682365"/>
            <a:ext cx="594995" cy="137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 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428115" y="3650615"/>
            <a:ext cx="206375" cy="1835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713865" y="3682365"/>
            <a:ext cx="349250" cy="1377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bank 0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492125" y="4031615"/>
            <a:ext cx="3855720" cy="274320"/>
          </a:xfrm>
          <a:custGeom>
            <a:avLst/>
            <a:gdLst/>
            <a:ahLst/>
            <a:cxnLst/>
            <a:rect l="l" t="t" r="r" b="b"/>
            <a:pathLst>
              <a:path w="3855720" h="274320">
                <a:moveTo>
                  <a:pt x="22769" y="0"/>
                </a:moveTo>
                <a:lnTo>
                  <a:pt x="3809953" y="0"/>
                </a:lnTo>
                <a:cubicBezTo>
                  <a:pt x="3835230" y="0"/>
                  <a:pt x="3855720" y="20470"/>
                  <a:pt x="3855720" y="45721"/>
                </a:cubicBezTo>
                <a:lnTo>
                  <a:pt x="3855720" y="228599"/>
                </a:lnTo>
                <a:cubicBezTo>
                  <a:pt x="3855720" y="253850"/>
                  <a:pt x="3835230" y="274320"/>
                  <a:pt x="3809953" y="274320"/>
                </a:cubicBezTo>
                <a:lnTo>
                  <a:pt x="22769" y="274320"/>
                </a:lnTo>
                <a:cubicBezTo>
                  <a:pt x="10194" y="274320"/>
                  <a:pt x="0" y="264136"/>
                  <a:pt x="0" y="251574"/>
                </a:cubicBezTo>
                <a:lnTo>
                  <a:pt x="0" y="22746"/>
                </a:lnTo>
                <a:cubicBezTo>
                  <a:pt x="0" y="10192"/>
                  <a:pt x="10203" y="0"/>
                  <a:pt x="2276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Freeform 25"/>
          <p:cNvSpPr/>
          <p:nvPr/>
        </p:nvSpPr>
        <p:spPr>
          <a:xfrm>
            <a:off x="492125" y="4031615"/>
            <a:ext cx="76200" cy="281940"/>
          </a:xfrm>
          <a:custGeom>
            <a:avLst/>
            <a:gdLst/>
            <a:ahLst/>
            <a:cxnLst/>
            <a:rect l="l" t="t" r="r" b="b"/>
            <a:pathLst>
              <a:path w="76200" h="281940">
                <a:moveTo>
                  <a:pt x="76200" y="0"/>
                </a:moveTo>
                <a:lnTo>
                  <a:pt x="76200" y="0"/>
                </a:lnTo>
                <a:lnTo>
                  <a:pt x="76200" y="281940"/>
                </a:lnTo>
                <a:lnTo>
                  <a:pt x="76200" y="281940"/>
                </a:lnTo>
                <a:cubicBezTo>
                  <a:pt x="34115" y="281940"/>
                  <a:pt x="0" y="271474"/>
                  <a:pt x="0" y="258562"/>
                </a:cubicBezTo>
                <a:lnTo>
                  <a:pt x="0" y="23378"/>
                </a:lnTo>
                <a:cubicBezTo>
                  <a:pt x="0" y="10475"/>
                  <a:pt x="34144" y="0"/>
                  <a:pt x="7620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571500" y="4126865"/>
            <a:ext cx="594995" cy="137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 3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428115" y="4095115"/>
            <a:ext cx="206375" cy="1835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→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713865" y="4126865"/>
            <a:ext cx="349250" cy="1377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bank 0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6191250" y="1111250"/>
            <a:ext cx="4818380" cy="5141595"/>
          </a:xfrm>
          <a:custGeom>
            <a:avLst/>
            <a:gdLst/>
            <a:ahLst/>
            <a:cxnLst/>
            <a:rect l="l" t="t" r="r" b="b"/>
            <a:pathLst>
              <a:path w="4818380" h="5141595">
                <a:moveTo>
                  <a:pt x="53821" y="0"/>
                </a:moveTo>
                <a:lnTo>
                  <a:pt x="4764559" y="0"/>
                </a:lnTo>
                <a:cubicBezTo>
                  <a:pt x="4794283" y="0"/>
                  <a:pt x="4818380" y="24098"/>
                  <a:pt x="4818380" y="53824"/>
                </a:cubicBezTo>
                <a:lnTo>
                  <a:pt x="4818380" y="5087771"/>
                </a:lnTo>
                <a:cubicBezTo>
                  <a:pt x="4818380" y="5117497"/>
                  <a:pt x="4794283" y="5141595"/>
                  <a:pt x="4764559" y="5141595"/>
                </a:cubicBezTo>
                <a:lnTo>
                  <a:pt x="53821" y="5141595"/>
                </a:lnTo>
                <a:cubicBezTo>
                  <a:pt x="24097" y="5141595"/>
                  <a:pt x="0" y="5117497"/>
                  <a:pt x="0" y="5087771"/>
                </a:cubicBezTo>
                <a:lnTo>
                  <a:pt x="0" y="53824"/>
                </a:lnTo>
                <a:cubicBezTo>
                  <a:pt x="0" y="24117"/>
                  <a:pt x="24116" y="0"/>
                  <a:pt x="53821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01765" y="1301750"/>
            <a:ext cx="3008630" cy="4473575"/>
          </a:xfrm>
          <a:prstGeom prst="roundRect">
            <a:avLst>
              <a:gd name="adj" fmla="val 821"/>
            </a:avLst>
          </a:prstGeom>
          <a:ln w="12700">
            <a:noFill/>
            <a:prstDash val="solid"/>
          </a:ln>
        </p:spPr>
      </p:pic>
      <p:sp>
        <p:nvSpPr>
          <p:cNvPr id="31" name="Freeform 31"/>
          <p:cNvSpPr/>
          <p:nvPr/>
        </p:nvSpPr>
        <p:spPr>
          <a:xfrm>
            <a:off x="6402692" y="5935561"/>
            <a:ext cx="5683250" cy="889000"/>
          </a:xfrm>
          <a:custGeom>
            <a:avLst/>
            <a:gdLst/>
            <a:ahLst/>
            <a:cxnLst/>
            <a:rect l="l" t="t" r="r" b="b"/>
            <a:pathLst>
              <a:path w="5683250" h="889000">
                <a:moveTo>
                  <a:pt x="63501" y="0"/>
                </a:moveTo>
                <a:lnTo>
                  <a:pt x="5619749" y="0"/>
                </a:lnTo>
                <a:cubicBezTo>
                  <a:pt x="5654820" y="0"/>
                  <a:pt x="5683250" y="28430"/>
                  <a:pt x="5683250" y="63501"/>
                </a:cubicBezTo>
                <a:lnTo>
                  <a:pt x="5683250" y="825499"/>
                </a:lnTo>
                <a:cubicBezTo>
                  <a:pt x="5683250" y="860570"/>
                  <a:pt x="5654820" y="889000"/>
                  <a:pt x="5619749" y="889000"/>
                </a:cubicBezTo>
                <a:lnTo>
                  <a:pt x="63501" y="889000"/>
                </a:lnTo>
                <a:cubicBezTo>
                  <a:pt x="28430" y="889000"/>
                  <a:pt x="0" y="860570"/>
                  <a:pt x="0" y="825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501862" y="6094265"/>
            <a:ext cx="5484813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Serialized execution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525674" y="6443445"/>
            <a:ext cx="543718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Performance degraded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261620" y="6641465"/>
            <a:ext cx="5929630" cy="15049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Lei Mao's Log Book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0459" y="618734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How to Avoid Bank Conflicts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333230"/>
            <a:ext cx="6762750" cy="1143000"/>
          </a:xfrm>
          <a:custGeom>
            <a:avLst/>
            <a:gdLst/>
            <a:ahLst/>
            <a:cxnLst/>
            <a:rect l="l" t="t" r="r" b="b"/>
            <a:pathLst>
              <a:path w="6762750" h="1143000">
                <a:moveTo>
                  <a:pt x="76204" y="0"/>
                </a:moveTo>
                <a:lnTo>
                  <a:pt x="6686546" y="0"/>
                </a:lnTo>
                <a:cubicBezTo>
                  <a:pt x="6728631" y="0"/>
                  <a:pt x="6762750" y="34119"/>
                  <a:pt x="6762750" y="76204"/>
                </a:cubicBezTo>
                <a:lnTo>
                  <a:pt x="6762750" y="1066796"/>
                </a:lnTo>
                <a:cubicBezTo>
                  <a:pt x="6762750" y="1108881"/>
                  <a:pt x="6728631" y="1143000"/>
                  <a:pt x="6686546" y="1143000"/>
                </a:cubicBezTo>
                <a:lnTo>
                  <a:pt x="76204" y="1143000"/>
                </a:lnTo>
                <a:cubicBezTo>
                  <a:pt x="34119" y="1143000"/>
                  <a:pt x="0" y="1108881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561812"/>
            <a:ext cx="641985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Padding Method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529" y="1980744"/>
            <a:ext cx="63912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Avoid conflicts by adding padding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380956" y="2628407"/>
            <a:ext cx="6762750" cy="3848100"/>
          </a:xfrm>
          <a:custGeom>
            <a:avLst/>
            <a:gdLst/>
            <a:ahLst/>
            <a:cxnLst/>
            <a:rect l="l" t="t" r="r" b="b"/>
            <a:pathLst>
              <a:path w="6762750" h="3848100">
                <a:moveTo>
                  <a:pt x="76192" y="0"/>
                </a:moveTo>
                <a:lnTo>
                  <a:pt x="6686558" y="0"/>
                </a:lnTo>
                <a:cubicBezTo>
                  <a:pt x="6728638" y="0"/>
                  <a:pt x="6762750" y="34112"/>
                  <a:pt x="6762750" y="76192"/>
                </a:cubicBezTo>
                <a:lnTo>
                  <a:pt x="6762750" y="3771908"/>
                </a:lnTo>
                <a:cubicBezTo>
                  <a:pt x="6762750" y="3813988"/>
                  <a:pt x="6728638" y="3848100"/>
                  <a:pt x="6686558" y="3848100"/>
                </a:cubicBezTo>
                <a:lnTo>
                  <a:pt x="76192" y="3848100"/>
                </a:lnTo>
                <a:cubicBezTo>
                  <a:pt x="34112" y="3848100"/>
                  <a:pt x="0" y="3813988"/>
                  <a:pt x="0" y="37719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582150" y="2855528"/>
            <a:ext cx="216656" cy="193253"/>
          </a:xfrm>
          <a:custGeom>
            <a:avLst/>
            <a:gdLst/>
            <a:ahLst/>
            <a:cxnLst/>
            <a:rect l="l" t="t" r="r" b="b"/>
            <a:pathLst>
              <a:path w="216656" h="193253">
                <a:moveTo>
                  <a:pt x="135396" y="1823"/>
                </a:moveTo>
                <a:cubicBezTo>
                  <a:pt x="129071" y="0"/>
                  <a:pt x="122485" y="3685"/>
                  <a:pt x="120663" y="10009"/>
                </a:cubicBezTo>
                <a:lnTo>
                  <a:pt x="73038" y="176697"/>
                </a:lnTo>
                <a:cubicBezTo>
                  <a:pt x="71214" y="183023"/>
                  <a:pt x="74897" y="189608"/>
                  <a:pt x="81223" y="191431"/>
                </a:cubicBezTo>
                <a:cubicBezTo>
                  <a:pt x="87549" y="193254"/>
                  <a:pt x="94134" y="189569"/>
                  <a:pt x="95957" y="183245"/>
                </a:cubicBezTo>
                <a:lnTo>
                  <a:pt x="143582" y="16557"/>
                </a:lnTo>
                <a:cubicBezTo>
                  <a:pt x="145405" y="10231"/>
                  <a:pt x="141720" y="3646"/>
                  <a:pt x="135396" y="1823"/>
                </a:cubicBezTo>
                <a:close/>
                <a:moveTo>
                  <a:pt x="159432" y="52461"/>
                </a:moveTo>
                <a:cubicBezTo>
                  <a:pt x="154781" y="57113"/>
                  <a:pt x="154781" y="64666"/>
                  <a:pt x="159432" y="69317"/>
                </a:cubicBezTo>
                <a:lnTo>
                  <a:pt x="186742" y="96627"/>
                </a:lnTo>
                <a:lnTo>
                  <a:pt x="159432" y="123937"/>
                </a:lnTo>
                <a:cubicBezTo>
                  <a:pt x="154781" y="128588"/>
                  <a:pt x="154781" y="136141"/>
                  <a:pt x="159432" y="140793"/>
                </a:cubicBezTo>
                <a:cubicBezTo>
                  <a:pt x="164083" y="145443"/>
                  <a:pt x="171637" y="145443"/>
                  <a:pt x="176286" y="140793"/>
                </a:cubicBezTo>
                <a:lnTo>
                  <a:pt x="212005" y="105072"/>
                </a:lnTo>
                <a:cubicBezTo>
                  <a:pt x="216655" y="100422"/>
                  <a:pt x="216655" y="92869"/>
                  <a:pt x="212005" y="88218"/>
                </a:cubicBezTo>
                <a:lnTo>
                  <a:pt x="176286" y="52500"/>
                </a:lnTo>
                <a:cubicBezTo>
                  <a:pt x="171637" y="47849"/>
                  <a:pt x="164083" y="47849"/>
                  <a:pt x="159432" y="52500"/>
                </a:cubicBezTo>
                <a:close/>
                <a:moveTo>
                  <a:pt x="57224" y="52461"/>
                </a:moveTo>
                <a:cubicBezTo>
                  <a:pt x="52573" y="47811"/>
                  <a:pt x="45020" y="47811"/>
                  <a:pt x="40369" y="52461"/>
                </a:cubicBezTo>
                <a:lnTo>
                  <a:pt x="4651" y="88182"/>
                </a:lnTo>
                <a:cubicBezTo>
                  <a:pt x="0" y="92832"/>
                  <a:pt x="0" y="100385"/>
                  <a:pt x="4651" y="105036"/>
                </a:cubicBezTo>
                <a:lnTo>
                  <a:pt x="40369" y="140754"/>
                </a:lnTo>
                <a:cubicBezTo>
                  <a:pt x="45020" y="145405"/>
                  <a:pt x="52573" y="145405"/>
                  <a:pt x="57224" y="140754"/>
                </a:cubicBezTo>
                <a:cubicBezTo>
                  <a:pt x="61876" y="136104"/>
                  <a:pt x="61876" y="128551"/>
                  <a:pt x="57224" y="123900"/>
                </a:cubicBezTo>
                <a:lnTo>
                  <a:pt x="29913" y="96627"/>
                </a:lnTo>
                <a:lnTo>
                  <a:pt x="57187" y="69317"/>
                </a:lnTo>
                <a:cubicBezTo>
                  <a:pt x="61837" y="64666"/>
                  <a:pt x="61837" y="57113"/>
                  <a:pt x="57187" y="52461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09521" y="2818851"/>
            <a:ext cx="62388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Code Example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590352" y="3237942"/>
            <a:ext cx="6362605" cy="3048000"/>
          </a:xfrm>
          <a:custGeom>
            <a:avLst/>
            <a:gdLst/>
            <a:ahLst/>
            <a:cxnLst/>
            <a:rect l="l" t="t" r="r" b="b"/>
            <a:pathLst>
              <a:path w="6362605" h="3048000">
                <a:moveTo>
                  <a:pt x="37910" y="0"/>
                </a:moveTo>
                <a:lnTo>
                  <a:pt x="6286405" y="0"/>
                </a:lnTo>
                <a:cubicBezTo>
                  <a:pt x="6328461" y="0"/>
                  <a:pt x="6362605" y="34144"/>
                  <a:pt x="6362605" y="76200"/>
                </a:cubicBezTo>
                <a:lnTo>
                  <a:pt x="6362605" y="2971800"/>
                </a:lnTo>
                <a:cubicBezTo>
                  <a:pt x="6362605" y="3013856"/>
                  <a:pt x="6328461" y="3048000"/>
                  <a:pt x="6286405" y="3048000"/>
                </a:cubicBezTo>
                <a:lnTo>
                  <a:pt x="37910" y="3048000"/>
                </a:lnTo>
                <a:cubicBezTo>
                  <a:pt x="16974" y="3048000"/>
                  <a:pt x="0" y="3031026"/>
                  <a:pt x="0" y="30100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590352" y="3237942"/>
            <a:ext cx="37909" cy="3048000"/>
          </a:xfrm>
          <a:custGeom>
            <a:avLst/>
            <a:gdLst/>
            <a:ahLst/>
            <a:cxnLst/>
            <a:rect l="l" t="t" r="r" b="b"/>
            <a:pathLst>
              <a:path w="37909" h="3048000">
                <a:moveTo>
                  <a:pt x="37910" y="0"/>
                </a:moveTo>
                <a:lnTo>
                  <a:pt x="37910" y="0"/>
                </a:lnTo>
                <a:lnTo>
                  <a:pt x="37910" y="3048000"/>
                </a:lnTo>
                <a:lnTo>
                  <a:pt x="37910" y="3048000"/>
                </a:lnTo>
                <a:cubicBezTo>
                  <a:pt x="16974" y="3048000"/>
                  <a:pt x="0" y="3031026"/>
                  <a:pt x="0" y="30100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1689" y="3390323"/>
            <a:ext cx="6115050" cy="274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// Original declaration (may cause bank conflict)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__shared__ float tile[32][32];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// After padding (avoids bank conflict)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__shared__ float tile[32][33];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// Explanation: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// Original: 32 floats per row, exactly occupying 32 banks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// Result: elements in the same column share the same bank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// 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// Padding: 33 floats per row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// Result: elements in the same column are spread across different banks</a:t>
            </a:r>
            <a:endParaRPr lang="en-US" sz="12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7376099" y="1333230"/>
            <a:ext cx="4438650" cy="4229100"/>
          </a:xfrm>
          <a:custGeom>
            <a:avLst/>
            <a:gdLst/>
            <a:ahLst/>
            <a:cxnLst/>
            <a:rect l="l" t="t" r="r" b="b"/>
            <a:pathLst>
              <a:path w="4438650" h="4229100">
                <a:moveTo>
                  <a:pt x="76208" y="0"/>
                </a:moveTo>
                <a:lnTo>
                  <a:pt x="4362442" y="0"/>
                </a:lnTo>
                <a:cubicBezTo>
                  <a:pt x="4404530" y="0"/>
                  <a:pt x="4438650" y="34120"/>
                  <a:pt x="4438650" y="76208"/>
                </a:cubicBezTo>
                <a:lnTo>
                  <a:pt x="4438650" y="4152892"/>
                </a:lnTo>
                <a:cubicBezTo>
                  <a:pt x="4438650" y="4194980"/>
                  <a:pt x="4404530" y="4229100"/>
                  <a:pt x="4362442" y="4229100"/>
                </a:cubicBezTo>
                <a:lnTo>
                  <a:pt x="76208" y="4229100"/>
                </a:lnTo>
                <a:cubicBezTo>
                  <a:pt x="34120" y="4229100"/>
                  <a:pt x="0" y="4194980"/>
                  <a:pt x="0" y="4152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Freeform 13"/>
          <p:cNvSpPr/>
          <p:nvPr/>
        </p:nvSpPr>
        <p:spPr>
          <a:xfrm>
            <a:off x="7607022" y="1571281"/>
            <a:ext cx="128588" cy="176808"/>
          </a:xfrm>
          <a:custGeom>
            <a:avLst/>
            <a:gdLst/>
            <a:ahLst/>
            <a:cxnLst/>
            <a:rect l="l" t="t" r="r" b="b"/>
            <a:pathLst>
              <a:path w="128588" h="176808">
                <a:moveTo>
                  <a:pt x="98081" y="128587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8" y="81439"/>
                  <a:pt x="128588" y="64294"/>
                </a:cubicBezTo>
                <a:cubicBezTo>
                  <a:pt x="128588" y="28799"/>
                  <a:pt x="99789" y="0"/>
                  <a:pt x="64294" y="0"/>
                </a:cubicBezTo>
                <a:cubicBezTo>
                  <a:pt x="28799" y="0"/>
                  <a:pt x="0" y="28799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2" y="114356"/>
                  <a:pt x="28095" y="121120"/>
                  <a:pt x="30505" y="128587"/>
                </a:cubicBezTo>
                <a:lnTo>
                  <a:pt x="98048" y="128587"/>
                </a:lnTo>
                <a:close/>
                <a:moveTo>
                  <a:pt x="96441" y="144661"/>
                </a:moveTo>
                <a:lnTo>
                  <a:pt x="32148" y="144661"/>
                </a:lnTo>
                <a:lnTo>
                  <a:pt x="32148" y="150019"/>
                </a:lnTo>
                <a:cubicBezTo>
                  <a:pt x="32148" y="164821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2" y="176808"/>
                  <a:pt x="96441" y="164821"/>
                  <a:pt x="96441" y="150019"/>
                </a:cubicBezTo>
                <a:lnTo>
                  <a:pt x="96441" y="144661"/>
                </a:lnTo>
                <a:close/>
                <a:moveTo>
                  <a:pt x="61615" y="37504"/>
                </a:moveTo>
                <a:cubicBezTo>
                  <a:pt x="48287" y="37504"/>
                  <a:pt x="37504" y="48287"/>
                  <a:pt x="37504" y="61615"/>
                </a:cubicBezTo>
                <a:cubicBezTo>
                  <a:pt x="37504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4"/>
                  <a:pt x="61615" y="37504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776090" y="1523674"/>
            <a:ext cx="3933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How It Works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7585496" y="1904628"/>
            <a:ext cx="4038505" cy="914400"/>
          </a:xfrm>
          <a:custGeom>
            <a:avLst/>
            <a:gdLst/>
            <a:ahLst/>
            <a:cxnLst/>
            <a:rect l="l" t="t" r="r" b="b"/>
            <a:pathLst>
              <a:path w="4038505" h="914400">
                <a:moveTo>
                  <a:pt x="37909" y="0"/>
                </a:moveTo>
                <a:lnTo>
                  <a:pt x="3962309" y="0"/>
                </a:lnTo>
                <a:cubicBezTo>
                  <a:pt x="4004391" y="0"/>
                  <a:pt x="4038505" y="34115"/>
                  <a:pt x="4038505" y="76197"/>
                </a:cubicBezTo>
                <a:lnTo>
                  <a:pt x="4038505" y="838203"/>
                </a:lnTo>
                <a:cubicBezTo>
                  <a:pt x="4038505" y="880285"/>
                  <a:pt x="4004391" y="914400"/>
                  <a:pt x="3962309" y="914400"/>
                </a:cubicBezTo>
                <a:lnTo>
                  <a:pt x="37909" y="914400"/>
                </a:lnTo>
                <a:cubicBezTo>
                  <a:pt x="16974" y="914400"/>
                  <a:pt x="0" y="897426"/>
                  <a:pt x="0" y="8764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7585496" y="1904628"/>
            <a:ext cx="37910" cy="914400"/>
          </a:xfrm>
          <a:custGeom>
            <a:avLst/>
            <a:gdLst/>
            <a:ahLst/>
            <a:cxnLst/>
            <a:rect l="l" t="t" r="r" b="b"/>
            <a:pathLst>
              <a:path w="37910" h="914400">
                <a:moveTo>
                  <a:pt x="37909" y="0"/>
                </a:moveTo>
                <a:lnTo>
                  <a:pt x="37909" y="0"/>
                </a:lnTo>
                <a:lnTo>
                  <a:pt x="37909" y="914400"/>
                </a:lnTo>
                <a:lnTo>
                  <a:pt x="37909" y="914400"/>
                </a:lnTo>
                <a:cubicBezTo>
                  <a:pt x="16974" y="914400"/>
                  <a:pt x="0" y="897426"/>
                  <a:pt x="0" y="8764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718700" y="2018881"/>
            <a:ext cx="38671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Original array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718700" y="2285516"/>
            <a:ext cx="3857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tile[32][32]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718700" y="2514014"/>
            <a:ext cx="3857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32 elements per row, aligned to 32 banks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7585496" y="2932947"/>
            <a:ext cx="4038505" cy="914400"/>
          </a:xfrm>
          <a:custGeom>
            <a:avLst/>
            <a:gdLst/>
            <a:ahLst/>
            <a:cxnLst/>
            <a:rect l="l" t="t" r="r" b="b"/>
            <a:pathLst>
              <a:path w="4038505" h="914400">
                <a:moveTo>
                  <a:pt x="37909" y="0"/>
                </a:moveTo>
                <a:lnTo>
                  <a:pt x="3962309" y="0"/>
                </a:lnTo>
                <a:cubicBezTo>
                  <a:pt x="4004391" y="0"/>
                  <a:pt x="4038505" y="34115"/>
                  <a:pt x="4038505" y="76197"/>
                </a:cubicBezTo>
                <a:lnTo>
                  <a:pt x="4038505" y="838203"/>
                </a:lnTo>
                <a:cubicBezTo>
                  <a:pt x="4038505" y="880285"/>
                  <a:pt x="4004391" y="914400"/>
                  <a:pt x="3962309" y="914400"/>
                </a:cubicBezTo>
                <a:lnTo>
                  <a:pt x="37909" y="914400"/>
                </a:lnTo>
                <a:cubicBezTo>
                  <a:pt x="16974" y="914400"/>
                  <a:pt x="0" y="897426"/>
                  <a:pt x="0" y="8764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7585496" y="2932947"/>
            <a:ext cx="37910" cy="914400"/>
          </a:xfrm>
          <a:custGeom>
            <a:avLst/>
            <a:gdLst/>
            <a:ahLst/>
            <a:cxnLst/>
            <a:rect l="l" t="t" r="r" b="b"/>
            <a:pathLst>
              <a:path w="37910" h="914400">
                <a:moveTo>
                  <a:pt x="37909" y="0"/>
                </a:moveTo>
                <a:lnTo>
                  <a:pt x="37909" y="0"/>
                </a:lnTo>
                <a:lnTo>
                  <a:pt x="37909" y="914400"/>
                </a:lnTo>
                <a:lnTo>
                  <a:pt x="37909" y="914400"/>
                </a:lnTo>
                <a:cubicBezTo>
                  <a:pt x="16974" y="914400"/>
                  <a:pt x="0" y="897426"/>
                  <a:pt x="0" y="8764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718700" y="3047200"/>
            <a:ext cx="38671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After padding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718700" y="3313835"/>
            <a:ext cx="3857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tile[32][33]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718700" y="3542333"/>
            <a:ext cx="3857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33 elements per row, staggering the bank distribution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7585496" y="3961274"/>
            <a:ext cx="4038505" cy="685800"/>
          </a:xfrm>
          <a:custGeom>
            <a:avLst/>
            <a:gdLst/>
            <a:ahLst/>
            <a:cxnLst/>
            <a:rect l="l" t="t" r="r" b="b"/>
            <a:pathLst>
              <a:path w="4038505" h="685800">
                <a:moveTo>
                  <a:pt x="37909" y="0"/>
                </a:moveTo>
                <a:lnTo>
                  <a:pt x="3962306" y="0"/>
                </a:lnTo>
                <a:cubicBezTo>
                  <a:pt x="4004390" y="0"/>
                  <a:pt x="4038505" y="34116"/>
                  <a:pt x="4038505" y="76199"/>
                </a:cubicBezTo>
                <a:lnTo>
                  <a:pt x="4038505" y="609601"/>
                </a:lnTo>
                <a:cubicBezTo>
                  <a:pt x="4038505" y="651684"/>
                  <a:pt x="4004390" y="685800"/>
                  <a:pt x="3962306" y="685800"/>
                </a:cubicBezTo>
                <a:lnTo>
                  <a:pt x="37909" y="685800"/>
                </a:lnTo>
                <a:cubicBezTo>
                  <a:pt x="16974" y="685800"/>
                  <a:pt x="0" y="668826"/>
                  <a:pt x="0" y="6478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Freeform 26"/>
          <p:cNvSpPr/>
          <p:nvPr/>
        </p:nvSpPr>
        <p:spPr>
          <a:xfrm>
            <a:off x="7585496" y="3961274"/>
            <a:ext cx="37910" cy="685800"/>
          </a:xfrm>
          <a:custGeom>
            <a:avLst/>
            <a:gdLst/>
            <a:ahLst/>
            <a:cxnLst/>
            <a:rect l="l" t="t" r="r" b="b"/>
            <a:pathLst>
              <a:path w="37910" h="685800">
                <a:moveTo>
                  <a:pt x="37909" y="0"/>
                </a:moveTo>
                <a:lnTo>
                  <a:pt x="37909" y="0"/>
                </a:lnTo>
                <a:lnTo>
                  <a:pt x="37909" y="685800"/>
                </a:lnTo>
                <a:lnTo>
                  <a:pt x="37909" y="685800"/>
                </a:lnTo>
                <a:cubicBezTo>
                  <a:pt x="16974" y="685800"/>
                  <a:pt x="0" y="668826"/>
                  <a:pt x="0" y="6478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718700" y="4075519"/>
            <a:ext cx="38671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Effect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718700" y="4342154"/>
            <a:ext cx="385762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Elements in the same column are distributed across different banks</a:t>
            </a:r>
            <a:endParaRPr lang="en-US" sz="1100"/>
          </a:p>
        </p:txBody>
      </p:sp>
      <p:sp>
        <p:nvSpPr>
          <p:cNvPr id="29" name="Freeform 29"/>
          <p:cNvSpPr/>
          <p:nvPr/>
        </p:nvSpPr>
        <p:spPr>
          <a:xfrm>
            <a:off x="7376099" y="5714181"/>
            <a:ext cx="4438650" cy="762000"/>
          </a:xfrm>
          <a:custGeom>
            <a:avLst/>
            <a:gdLst/>
            <a:ahLst/>
            <a:cxnLst/>
            <a:rect l="l" t="t" r="r" b="b"/>
            <a:pathLst>
              <a:path w="4438650" h="762000">
                <a:moveTo>
                  <a:pt x="76200" y="0"/>
                </a:moveTo>
                <a:lnTo>
                  <a:pt x="4362450" y="0"/>
                </a:lnTo>
                <a:cubicBezTo>
                  <a:pt x="4404506" y="0"/>
                  <a:pt x="4438650" y="34144"/>
                  <a:pt x="4438650" y="76200"/>
                </a:cubicBezTo>
                <a:lnTo>
                  <a:pt x="4438650" y="685800"/>
                </a:lnTo>
                <a:cubicBezTo>
                  <a:pt x="4438650" y="727856"/>
                  <a:pt x="4404506" y="762000"/>
                  <a:pt x="43624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7557057" y="598081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3" y="228600"/>
                  <a:pt x="228600" y="177383"/>
                  <a:pt x="228600" y="114300"/>
                </a:cubicBezTo>
                <a:cubicBezTo>
                  <a:pt x="228600" y="51217"/>
                  <a:pt x="177383" y="0"/>
                  <a:pt x="114300" y="0"/>
                </a:cubicBezTo>
                <a:cubicBezTo>
                  <a:pt x="51217" y="0"/>
                  <a:pt x="0" y="51217"/>
                  <a:pt x="0" y="114300"/>
                </a:cubicBezTo>
                <a:cubicBezTo>
                  <a:pt x="0" y="177383"/>
                  <a:pt x="51217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3"/>
                  <a:pt x="107646" y="157162"/>
                </a:cubicBezTo>
                <a:cubicBezTo>
                  <a:pt x="104120" y="157342"/>
                  <a:pt x="100728" y="155734"/>
                  <a:pt x="98628" y="152876"/>
                </a:cubicBezTo>
                <a:lnTo>
                  <a:pt x="77197" y="124301"/>
                </a:lnTo>
                <a:cubicBezTo>
                  <a:pt x="73624" y="119569"/>
                  <a:pt x="74607" y="112871"/>
                  <a:pt x="79339" y="109299"/>
                </a:cubicBezTo>
                <a:cubicBezTo>
                  <a:pt x="84073" y="105728"/>
                  <a:pt x="90769" y="106710"/>
                  <a:pt x="94342" y="111442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6" y="78626"/>
                  <a:pt x="143546" y="77064"/>
                  <a:pt x="148590" y="80234"/>
                </a:cubicBezTo>
                <a:cubicBezTo>
                  <a:pt x="153634" y="83403"/>
                  <a:pt x="155153" y="89967"/>
                  <a:pt x="151983" y="9501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7928610" y="5866765"/>
            <a:ext cx="309181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Key Technique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928610" y="6175375"/>
            <a:ext cx="36004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Adding one column of padding is enough to avoid conflicts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314281" y="6552214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7596" y="610201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Memory Coalescing Concept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333230"/>
            <a:ext cx="5600700" cy="1143000"/>
          </a:xfrm>
          <a:custGeom>
            <a:avLst/>
            <a:gdLst/>
            <a:ahLst/>
            <a:cxnLst/>
            <a:rect l="l" t="t" r="r" b="b"/>
            <a:pathLst>
              <a:path w="5600700" h="1143000">
                <a:moveTo>
                  <a:pt x="76204" y="0"/>
                </a:moveTo>
                <a:lnTo>
                  <a:pt x="5524496" y="0"/>
                </a:lnTo>
                <a:cubicBezTo>
                  <a:pt x="5566581" y="0"/>
                  <a:pt x="5600700" y="34119"/>
                  <a:pt x="5600700" y="76204"/>
                </a:cubicBezTo>
                <a:lnTo>
                  <a:pt x="5600700" y="1066796"/>
                </a:lnTo>
                <a:cubicBezTo>
                  <a:pt x="5600700" y="1108881"/>
                  <a:pt x="5566581" y="1143000"/>
                  <a:pt x="5524496" y="1143000"/>
                </a:cubicBezTo>
                <a:lnTo>
                  <a:pt x="76204" y="1143000"/>
                </a:lnTo>
                <a:cubicBezTo>
                  <a:pt x="34119" y="1143000"/>
                  <a:pt x="0" y="1108881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561802"/>
            <a:ext cx="5257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Coalesced Access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529" y="1980744"/>
            <a:ext cx="522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Key to Global Memory Optimization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380956" y="2628407"/>
            <a:ext cx="5600700" cy="3581400"/>
          </a:xfrm>
          <a:custGeom>
            <a:avLst/>
            <a:gdLst/>
            <a:ahLst/>
            <a:cxnLst/>
            <a:rect l="l" t="t" r="r" b="b"/>
            <a:pathLst>
              <a:path w="5600700" h="3581400">
                <a:moveTo>
                  <a:pt x="76211" y="0"/>
                </a:moveTo>
                <a:lnTo>
                  <a:pt x="5524489" y="0"/>
                </a:lnTo>
                <a:cubicBezTo>
                  <a:pt x="5566579" y="0"/>
                  <a:pt x="5600700" y="34121"/>
                  <a:pt x="5600700" y="76211"/>
                </a:cubicBezTo>
                <a:lnTo>
                  <a:pt x="5600700" y="3505189"/>
                </a:lnTo>
                <a:cubicBezTo>
                  <a:pt x="5600700" y="3547279"/>
                  <a:pt x="5566579" y="3581400"/>
                  <a:pt x="5524489" y="3581400"/>
                </a:cubicBezTo>
                <a:lnTo>
                  <a:pt x="76211" y="3581400"/>
                </a:lnTo>
                <a:cubicBezTo>
                  <a:pt x="34121" y="3581400"/>
                  <a:pt x="0" y="3547279"/>
                  <a:pt x="0" y="3505189"/>
                </a:cubicBezTo>
                <a:lnTo>
                  <a:pt x="0" y="76211"/>
                </a:lnTo>
                <a:cubicBezTo>
                  <a:pt x="0" y="34150"/>
                  <a:pt x="34150" y="0"/>
                  <a:pt x="76211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595209" y="28569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7"/>
                  <a:pt x="95250" y="71437"/>
                </a:cubicBezTo>
                <a:cubicBezTo>
                  <a:pt x="88679" y="71437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6"/>
                  <a:pt x="119063" y="133946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7" y="138894"/>
                  <a:pt x="71437" y="133946"/>
                </a:cubicBezTo>
                <a:cubicBezTo>
                  <a:pt x="71437" y="128996"/>
                  <a:pt x="75419" y="125016"/>
                  <a:pt x="80367" y="125016"/>
                </a:cubicBezTo>
                <a:lnTo>
                  <a:pt x="89298" y="125016"/>
                </a:lnTo>
                <a:lnTo>
                  <a:pt x="89298" y="101202"/>
                </a:lnTo>
                <a:lnTo>
                  <a:pt x="80367" y="101202"/>
                </a:lnTo>
                <a:cubicBezTo>
                  <a:pt x="75419" y="101202"/>
                  <a:pt x="71437" y="97222"/>
                  <a:pt x="71437" y="92273"/>
                </a:cubicBezTo>
                <a:cubicBezTo>
                  <a:pt x="71437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09521" y="2818851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Definition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571396" y="331412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7" y="0"/>
                  <a:pt x="76200" y="17073"/>
                  <a:pt x="76200" y="38100"/>
                </a:cubicBezTo>
                <a:lnTo>
                  <a:pt x="76200" y="38100"/>
                </a:lnTo>
                <a:cubicBezTo>
                  <a:pt x="76200" y="59127"/>
                  <a:pt x="59127" y="76200"/>
                  <a:pt x="38100" y="76200"/>
                </a:cubicBezTo>
                <a:lnTo>
                  <a:pt x="38100" y="76200"/>
                </a:lnTo>
                <a:cubicBezTo>
                  <a:pt x="17073" y="76200"/>
                  <a:pt x="0" y="59127"/>
                  <a:pt x="0" y="381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1837" y="3237933"/>
            <a:ext cx="2177744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Consecutive threads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1836" y="3504567"/>
            <a:ext cx="2803709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Adjacent threads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571396" y="392358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7" y="0"/>
                  <a:pt x="76200" y="17073"/>
                  <a:pt x="76200" y="38100"/>
                </a:cubicBezTo>
                <a:lnTo>
                  <a:pt x="76200" y="38100"/>
                </a:lnTo>
                <a:cubicBezTo>
                  <a:pt x="76200" y="59127"/>
                  <a:pt x="59127" y="76200"/>
                  <a:pt x="38100" y="76200"/>
                </a:cubicBezTo>
                <a:lnTo>
                  <a:pt x="38100" y="76200"/>
                </a:lnTo>
                <a:cubicBezTo>
                  <a:pt x="17073" y="76200"/>
                  <a:pt x="0" y="59127"/>
                  <a:pt x="0" y="381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1836" y="3847393"/>
            <a:ext cx="3405127" cy="3047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access contiguous addresses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1836" y="4114019"/>
            <a:ext cx="3135103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Contiguous memory addresses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571396" y="453303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7" y="0"/>
                  <a:pt x="76200" y="17073"/>
                  <a:pt x="76200" y="38100"/>
                </a:cubicBezTo>
                <a:lnTo>
                  <a:pt x="76200" y="38100"/>
                </a:lnTo>
                <a:cubicBezTo>
                  <a:pt x="76200" y="59127"/>
                  <a:pt x="59127" y="76200"/>
                  <a:pt x="38100" y="76200"/>
                </a:cubicBezTo>
                <a:lnTo>
                  <a:pt x="38100" y="76200"/>
                </a:lnTo>
                <a:cubicBezTo>
                  <a:pt x="17073" y="76200"/>
                  <a:pt x="0" y="59127"/>
                  <a:pt x="0" y="381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1836" y="4456843"/>
            <a:ext cx="2466179" cy="2666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Maximum efficiency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1837" y="4723479"/>
            <a:ext cx="3509454" cy="19054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Merged into a single memory transaction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6210279" y="1333230"/>
            <a:ext cx="5600700" cy="3543300"/>
          </a:xfrm>
          <a:custGeom>
            <a:avLst/>
            <a:gdLst/>
            <a:ahLst/>
            <a:cxnLst/>
            <a:rect l="l" t="t" r="r" b="b"/>
            <a:pathLst>
              <a:path w="5600700" h="3543300">
                <a:moveTo>
                  <a:pt x="76217" y="0"/>
                </a:moveTo>
                <a:lnTo>
                  <a:pt x="5524483" y="0"/>
                </a:lnTo>
                <a:cubicBezTo>
                  <a:pt x="5566576" y="0"/>
                  <a:pt x="5600700" y="34124"/>
                  <a:pt x="5600700" y="76217"/>
                </a:cubicBezTo>
                <a:lnTo>
                  <a:pt x="5600700" y="3467083"/>
                </a:lnTo>
                <a:cubicBezTo>
                  <a:pt x="5600700" y="3509176"/>
                  <a:pt x="5566576" y="3543300"/>
                  <a:pt x="5524483" y="3543300"/>
                </a:cubicBezTo>
                <a:lnTo>
                  <a:pt x="76217" y="3543300"/>
                </a:lnTo>
                <a:cubicBezTo>
                  <a:pt x="34124" y="3543300"/>
                  <a:pt x="0" y="3509176"/>
                  <a:pt x="0" y="3467083"/>
                </a:cubicBezTo>
                <a:lnTo>
                  <a:pt x="0" y="76217"/>
                </a:lnTo>
                <a:cubicBezTo>
                  <a:pt x="0" y="34152"/>
                  <a:pt x="34152" y="0"/>
                  <a:pt x="76217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"/>
          <a:srcRect t="58" b="57"/>
          <a:stretch>
            <a:fillRect/>
          </a:stretch>
        </p:blipFill>
        <p:spPr>
          <a:xfrm>
            <a:off x="6400720" y="1679535"/>
            <a:ext cx="5219700" cy="2847975"/>
          </a:xfrm>
          <a:prstGeom prst="roundRect">
            <a:avLst>
              <a:gd name="adj" fmla="val 1337"/>
            </a:avLst>
          </a:prstGeom>
          <a:ln w="12700">
            <a:noFill/>
            <a:prstDash val="solid"/>
          </a:ln>
        </p:spPr>
      </p:pic>
      <p:sp>
        <p:nvSpPr>
          <p:cNvPr id="20" name="Freeform 20"/>
          <p:cNvSpPr/>
          <p:nvPr/>
        </p:nvSpPr>
        <p:spPr>
          <a:xfrm>
            <a:off x="6219757" y="5039050"/>
            <a:ext cx="5581555" cy="1161955"/>
          </a:xfrm>
          <a:custGeom>
            <a:avLst/>
            <a:gdLst/>
            <a:ahLst/>
            <a:cxnLst/>
            <a:rect l="l" t="t" r="r" b="b"/>
            <a:pathLst>
              <a:path w="5581555" h="1161955">
                <a:moveTo>
                  <a:pt x="76201" y="0"/>
                </a:moveTo>
                <a:lnTo>
                  <a:pt x="5505353" y="0"/>
                </a:lnTo>
                <a:cubicBezTo>
                  <a:pt x="5547439" y="0"/>
                  <a:pt x="5581555" y="34116"/>
                  <a:pt x="5581555" y="76201"/>
                </a:cubicBezTo>
                <a:lnTo>
                  <a:pt x="5581555" y="1085753"/>
                </a:lnTo>
                <a:cubicBezTo>
                  <a:pt x="5581555" y="1127839"/>
                  <a:pt x="5547439" y="1161955"/>
                  <a:pt x="5505353" y="1161955"/>
                </a:cubicBezTo>
                <a:lnTo>
                  <a:pt x="76201" y="1161955"/>
                </a:lnTo>
                <a:cubicBezTo>
                  <a:pt x="34116" y="1161955"/>
                  <a:pt x="0" y="1127839"/>
                  <a:pt x="0" y="1085753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2635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43517" y="5200910"/>
            <a:ext cx="533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Example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98316" y="5524705"/>
            <a:ext cx="7429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 i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082958" y="5505673"/>
            <a:ext cx="285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→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387722" y="5524705"/>
            <a:ext cx="4095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A[i]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48279" y="5848573"/>
            <a:ext cx="5324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Consecutive threads accessing contiguous addresses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14281" y="6286547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LinkedIn - Mayur Jain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498" y="59908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Non-coalesced Access Problem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333230"/>
            <a:ext cx="5600700" cy="1143000"/>
          </a:xfrm>
          <a:custGeom>
            <a:avLst/>
            <a:gdLst/>
            <a:ahLst/>
            <a:cxnLst/>
            <a:rect l="l" t="t" r="r" b="b"/>
            <a:pathLst>
              <a:path w="5600700" h="1143000">
                <a:moveTo>
                  <a:pt x="76204" y="0"/>
                </a:moveTo>
                <a:lnTo>
                  <a:pt x="5524496" y="0"/>
                </a:lnTo>
                <a:cubicBezTo>
                  <a:pt x="5566581" y="0"/>
                  <a:pt x="5600700" y="34119"/>
                  <a:pt x="5600700" y="76204"/>
                </a:cubicBezTo>
                <a:lnTo>
                  <a:pt x="5600700" y="1066796"/>
                </a:lnTo>
                <a:cubicBezTo>
                  <a:pt x="5600700" y="1108881"/>
                  <a:pt x="5566581" y="1143000"/>
                  <a:pt x="5524496" y="1143000"/>
                </a:cubicBezTo>
                <a:lnTo>
                  <a:pt x="76204" y="1143000"/>
                </a:lnTo>
                <a:cubicBezTo>
                  <a:pt x="34119" y="1143000"/>
                  <a:pt x="0" y="1108881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561802"/>
            <a:ext cx="5257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Incorrect access pattern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529" y="1980744"/>
            <a:ext cx="522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Causes severe performance degradation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380956" y="2628407"/>
            <a:ext cx="5600700" cy="3581400"/>
          </a:xfrm>
          <a:custGeom>
            <a:avLst/>
            <a:gdLst/>
            <a:ahLst/>
            <a:cxnLst/>
            <a:rect l="l" t="t" r="r" b="b"/>
            <a:pathLst>
              <a:path w="5600700" h="3581400">
                <a:moveTo>
                  <a:pt x="76211" y="0"/>
                </a:moveTo>
                <a:lnTo>
                  <a:pt x="5524489" y="0"/>
                </a:lnTo>
                <a:cubicBezTo>
                  <a:pt x="5566579" y="0"/>
                  <a:pt x="5600700" y="34121"/>
                  <a:pt x="5600700" y="76211"/>
                </a:cubicBezTo>
                <a:lnTo>
                  <a:pt x="5600700" y="3505189"/>
                </a:lnTo>
                <a:cubicBezTo>
                  <a:pt x="5600700" y="3547279"/>
                  <a:pt x="5566579" y="3581400"/>
                  <a:pt x="5524489" y="3581400"/>
                </a:cubicBezTo>
                <a:lnTo>
                  <a:pt x="76211" y="3581400"/>
                </a:lnTo>
                <a:cubicBezTo>
                  <a:pt x="34121" y="3581400"/>
                  <a:pt x="0" y="3547279"/>
                  <a:pt x="0" y="3505189"/>
                </a:cubicBezTo>
                <a:lnTo>
                  <a:pt x="0" y="76211"/>
                </a:lnTo>
                <a:cubicBezTo>
                  <a:pt x="0" y="34150"/>
                  <a:pt x="34150" y="0"/>
                  <a:pt x="76211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595209" y="28569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4" y="58638"/>
                  <a:pt x="71289" y="58638"/>
                  <a:pt x="74748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4"/>
                  <a:pt x="131787" y="71289"/>
                  <a:pt x="128290" y="74748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1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8" y="128290"/>
                </a:lnTo>
                <a:cubicBezTo>
                  <a:pt x="71251" y="131787"/>
                  <a:pt x="65595" y="131787"/>
                  <a:pt x="62136" y="128290"/>
                </a:cubicBezTo>
                <a:cubicBezTo>
                  <a:pt x="58675" y="124791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8"/>
                </a:lnTo>
                <a:cubicBezTo>
                  <a:pt x="58638" y="71251"/>
                  <a:pt x="58638" y="65595"/>
                  <a:pt x="62136" y="62136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09521" y="2818851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Problem Example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590352" y="3237933"/>
            <a:ext cx="5200555" cy="457200"/>
          </a:xfrm>
          <a:custGeom>
            <a:avLst/>
            <a:gdLst/>
            <a:ahLst/>
            <a:cxnLst/>
            <a:rect l="l" t="t" r="r" b="b"/>
            <a:pathLst>
              <a:path w="5200555" h="457200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380997"/>
                </a:lnTo>
                <a:cubicBezTo>
                  <a:pt x="5200555" y="423083"/>
                  <a:pt x="5166439" y="457200"/>
                  <a:pt x="5124353" y="457200"/>
                </a:cubicBez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590352" y="3237933"/>
            <a:ext cx="37909" cy="457200"/>
          </a:xfrm>
          <a:custGeom>
            <a:avLst/>
            <a:gdLst/>
            <a:ahLst/>
            <a:cxnLst/>
            <a:rect l="l" t="t" r="r" b="b"/>
            <a:pathLst>
              <a:path w="37909" h="457200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85498" y="3352186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 0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14115" y="3314123"/>
            <a:ext cx="34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→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057012" y="3352186"/>
            <a:ext cx="4095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A[0]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590352" y="3809256"/>
            <a:ext cx="5200555" cy="457200"/>
          </a:xfrm>
          <a:custGeom>
            <a:avLst/>
            <a:gdLst/>
            <a:ahLst/>
            <a:cxnLst/>
            <a:rect l="l" t="t" r="r" b="b"/>
            <a:pathLst>
              <a:path w="5200555" h="457200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380997"/>
                </a:lnTo>
                <a:cubicBezTo>
                  <a:pt x="5200555" y="423083"/>
                  <a:pt x="5166439" y="457200"/>
                  <a:pt x="5124353" y="457200"/>
                </a:cubicBezTo>
                <a:lnTo>
                  <a:pt x="37910" y="457200"/>
                </a:lnTo>
                <a:cubicBezTo>
                  <a:pt x="16974" y="457200"/>
                  <a:pt x="0" y="440226"/>
                  <a:pt x="0" y="4192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590352" y="3809256"/>
            <a:ext cx="37909" cy="457200"/>
          </a:xfrm>
          <a:custGeom>
            <a:avLst/>
            <a:gdLst/>
            <a:ahLst/>
            <a:cxnLst/>
            <a:rect l="l" t="t" r="r" b="b"/>
            <a:pathLst>
              <a:path w="37909" h="457200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4" y="457200"/>
                  <a:pt x="0" y="440226"/>
                  <a:pt x="0" y="4192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85498" y="3923509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 1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714115" y="3885447"/>
            <a:ext cx="34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→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057012" y="3923509"/>
            <a:ext cx="666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A[1000]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590352" y="4380579"/>
            <a:ext cx="5200555" cy="457200"/>
          </a:xfrm>
          <a:custGeom>
            <a:avLst/>
            <a:gdLst/>
            <a:ahLst/>
            <a:cxnLst/>
            <a:rect l="l" t="t" r="r" b="b"/>
            <a:pathLst>
              <a:path w="5200555" h="457200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380997"/>
                </a:lnTo>
                <a:cubicBezTo>
                  <a:pt x="5200555" y="423083"/>
                  <a:pt x="5166439" y="457200"/>
                  <a:pt x="5124353" y="457200"/>
                </a:cubicBez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590352" y="4380579"/>
            <a:ext cx="37909" cy="457200"/>
          </a:xfrm>
          <a:custGeom>
            <a:avLst/>
            <a:gdLst/>
            <a:ahLst/>
            <a:cxnLst/>
            <a:rect l="l" t="t" r="r" b="b"/>
            <a:pathLst>
              <a:path w="37909" h="457200">
                <a:moveTo>
                  <a:pt x="37910" y="0"/>
                </a:moveTo>
                <a:lnTo>
                  <a:pt x="37910" y="0"/>
                </a:lnTo>
                <a:lnTo>
                  <a:pt x="37910" y="457200"/>
                </a:lnTo>
                <a:lnTo>
                  <a:pt x="37910" y="457200"/>
                </a:lnTo>
                <a:cubicBezTo>
                  <a:pt x="16974" y="457200"/>
                  <a:pt x="0" y="440226"/>
                  <a:pt x="0" y="4192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85498" y="4494833"/>
            <a:ext cx="990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 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714115" y="4456770"/>
            <a:ext cx="342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057012" y="4494833"/>
            <a:ext cx="666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A[2000]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580874" y="4999508"/>
            <a:ext cx="5200555" cy="857155"/>
          </a:xfrm>
          <a:custGeom>
            <a:avLst/>
            <a:gdLst/>
            <a:ahLst/>
            <a:cxnLst/>
            <a:rect l="l" t="t" r="r" b="b"/>
            <a:pathLst>
              <a:path w="5200555" h="857155">
                <a:moveTo>
                  <a:pt x="76201" y="0"/>
                </a:moveTo>
                <a:lnTo>
                  <a:pt x="5124353" y="0"/>
                </a:lnTo>
                <a:cubicBezTo>
                  <a:pt x="5166439" y="0"/>
                  <a:pt x="5200555" y="34116"/>
                  <a:pt x="5200555" y="76201"/>
                </a:cubicBezTo>
                <a:lnTo>
                  <a:pt x="5200555" y="780953"/>
                </a:lnTo>
                <a:cubicBezTo>
                  <a:pt x="5200555" y="823039"/>
                  <a:pt x="5166439" y="857155"/>
                  <a:pt x="5124353" y="857155"/>
                </a:cubicBezTo>
                <a:lnTo>
                  <a:pt x="76201" y="857155"/>
                </a:lnTo>
                <a:cubicBezTo>
                  <a:pt x="34116" y="857155"/>
                  <a:pt x="0" y="823039"/>
                  <a:pt x="0" y="780953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2635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6501" y="5123241"/>
            <a:ext cx="5029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Stride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3164" y="5389876"/>
            <a:ext cx="50958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23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1000</a:t>
            </a:r>
            <a:endParaRPr lang="en-US" sz="1100"/>
          </a:p>
        </p:txBody>
      </p:sp>
      <p:sp>
        <p:nvSpPr>
          <p:cNvPr id="27" name="Freeform 27"/>
          <p:cNvSpPr/>
          <p:nvPr/>
        </p:nvSpPr>
        <p:spPr>
          <a:xfrm>
            <a:off x="6210279" y="1333230"/>
            <a:ext cx="5600700" cy="3429000"/>
          </a:xfrm>
          <a:custGeom>
            <a:avLst/>
            <a:gdLst/>
            <a:ahLst/>
            <a:cxnLst/>
            <a:rect l="l" t="t" r="r" b="b"/>
            <a:pathLst>
              <a:path w="5600700" h="3429000">
                <a:moveTo>
                  <a:pt x="76192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3352808"/>
                </a:lnTo>
                <a:cubicBezTo>
                  <a:pt x="5600700" y="3394888"/>
                  <a:pt x="5566588" y="3429000"/>
                  <a:pt x="5524508" y="3429000"/>
                </a:cubicBezTo>
                <a:lnTo>
                  <a:pt x="76192" y="3429000"/>
                </a:lnTo>
                <a:cubicBezTo>
                  <a:pt x="34112" y="3429000"/>
                  <a:pt x="0" y="3394888"/>
                  <a:pt x="0" y="33528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"/>
          <a:srcRect l="60" r="60"/>
          <a:stretch>
            <a:fillRect/>
          </a:stretch>
        </p:blipFill>
        <p:spPr>
          <a:xfrm>
            <a:off x="6400720" y="2039531"/>
            <a:ext cx="5219700" cy="2019300"/>
          </a:xfrm>
          <a:prstGeom prst="roundRect">
            <a:avLst>
              <a:gd name="adj" fmla="val 1886"/>
            </a:avLst>
          </a:prstGeom>
          <a:ln w="12700">
            <a:noFill/>
            <a:prstDash val="solid"/>
          </a:ln>
        </p:spPr>
      </p:pic>
      <p:sp>
        <p:nvSpPr>
          <p:cNvPr id="29" name="Freeform 29"/>
          <p:cNvSpPr/>
          <p:nvPr/>
        </p:nvSpPr>
        <p:spPr>
          <a:xfrm>
            <a:off x="6210279" y="4915179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76195" y="0"/>
                </a:moveTo>
                <a:lnTo>
                  <a:pt x="5524505" y="0"/>
                </a:lnTo>
                <a:cubicBezTo>
                  <a:pt x="5566559" y="0"/>
                  <a:pt x="5600700" y="34141"/>
                  <a:pt x="5600700" y="76195"/>
                </a:cubicBezTo>
                <a:lnTo>
                  <a:pt x="5600700" y="1219205"/>
                </a:lnTo>
                <a:cubicBezTo>
                  <a:pt x="5600700" y="1261287"/>
                  <a:pt x="5566587" y="1295400"/>
                  <a:pt x="5524505" y="1295400"/>
                </a:cubicBezTo>
                <a:lnTo>
                  <a:pt x="76195" y="1295400"/>
                </a:lnTo>
                <a:cubicBezTo>
                  <a:pt x="34141" y="1295400"/>
                  <a:pt x="0" y="1261259"/>
                  <a:pt x="0" y="1219205"/>
                </a:cubicBezTo>
                <a:lnTo>
                  <a:pt x="0" y="76195"/>
                </a:lnTo>
                <a:cubicBezTo>
                  <a:pt x="0" y="34141"/>
                  <a:pt x="34141" y="0"/>
                  <a:pt x="76195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6423825" y="5143677"/>
            <a:ext cx="191915" cy="178594"/>
          </a:xfrm>
          <a:custGeom>
            <a:avLst/>
            <a:gdLst/>
            <a:ahLst/>
            <a:cxnLst/>
            <a:rect l="l" t="t" r="r" b="b"/>
            <a:pathLst>
              <a:path w="191915" h="178594">
                <a:moveTo>
                  <a:pt x="95957" y="0"/>
                </a:moveTo>
                <a:cubicBezTo>
                  <a:pt x="101426" y="0"/>
                  <a:pt x="106448" y="3014"/>
                  <a:pt x="109055" y="7813"/>
                </a:cubicBezTo>
                <a:lnTo>
                  <a:pt x="189421" y="156642"/>
                </a:lnTo>
                <a:cubicBezTo>
                  <a:pt x="191914" y="161254"/>
                  <a:pt x="191803" y="166836"/>
                  <a:pt x="189123" y="171338"/>
                </a:cubicBezTo>
                <a:cubicBezTo>
                  <a:pt x="186444" y="175840"/>
                  <a:pt x="181570" y="178594"/>
                  <a:pt x="176324" y="178594"/>
                </a:cubicBezTo>
                <a:lnTo>
                  <a:pt x="15590" y="178594"/>
                </a:lnTo>
                <a:cubicBezTo>
                  <a:pt x="10344" y="178594"/>
                  <a:pt x="5508" y="175840"/>
                  <a:pt x="2791" y="171338"/>
                </a:cubicBezTo>
                <a:cubicBezTo>
                  <a:pt x="75" y="166836"/>
                  <a:pt x="0" y="161254"/>
                  <a:pt x="2493" y="156642"/>
                </a:cubicBezTo>
                <a:lnTo>
                  <a:pt x="82859" y="7813"/>
                </a:lnTo>
                <a:cubicBezTo>
                  <a:pt x="85466" y="3014"/>
                  <a:pt x="90488" y="0"/>
                  <a:pt x="95957" y="0"/>
                </a:cubicBezTo>
                <a:close/>
                <a:moveTo>
                  <a:pt x="95957" y="62508"/>
                </a:moveTo>
                <a:cubicBezTo>
                  <a:pt x="91008" y="62508"/>
                  <a:pt x="87028" y="66490"/>
                  <a:pt x="87028" y="71437"/>
                </a:cubicBezTo>
                <a:lnTo>
                  <a:pt x="87028" y="113109"/>
                </a:lnTo>
                <a:cubicBezTo>
                  <a:pt x="87028" y="118058"/>
                  <a:pt x="91008" y="122039"/>
                  <a:pt x="95957" y="122039"/>
                </a:cubicBezTo>
                <a:cubicBezTo>
                  <a:pt x="100906" y="122039"/>
                  <a:pt x="104886" y="118058"/>
                  <a:pt x="104886" y="113109"/>
                </a:cubicBezTo>
                <a:lnTo>
                  <a:pt x="104886" y="71437"/>
                </a:lnTo>
                <a:cubicBezTo>
                  <a:pt x="104886" y="66490"/>
                  <a:pt x="100906" y="62508"/>
                  <a:pt x="95957" y="62508"/>
                </a:cubicBezTo>
                <a:close/>
                <a:moveTo>
                  <a:pt x="105891" y="142875"/>
                </a:moveTo>
                <a:cubicBezTo>
                  <a:pt x="106117" y="139188"/>
                  <a:pt x="104278" y="135679"/>
                  <a:pt x="101117" y="133767"/>
                </a:cubicBezTo>
                <a:cubicBezTo>
                  <a:pt x="97956" y="131855"/>
                  <a:pt x="93995" y="131855"/>
                  <a:pt x="90834" y="133767"/>
                </a:cubicBezTo>
                <a:cubicBezTo>
                  <a:pt x="87673" y="135679"/>
                  <a:pt x="85834" y="139188"/>
                  <a:pt x="86060" y="142875"/>
                </a:cubicBezTo>
                <a:cubicBezTo>
                  <a:pt x="85834" y="146562"/>
                  <a:pt x="87673" y="150071"/>
                  <a:pt x="90834" y="151983"/>
                </a:cubicBezTo>
                <a:cubicBezTo>
                  <a:pt x="93995" y="153895"/>
                  <a:pt x="97956" y="153895"/>
                  <a:pt x="101117" y="151983"/>
                </a:cubicBezTo>
                <a:cubicBezTo>
                  <a:pt x="104278" y="150071"/>
                  <a:pt x="106117" y="146562"/>
                  <a:pt x="105891" y="142875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638845" y="5105614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Causes</a:t>
            </a:r>
            <a:endParaRPr lang="en-US" sz="1100"/>
          </a:p>
        </p:txBody>
      </p:sp>
      <p:sp>
        <p:nvSpPr>
          <p:cNvPr id="32" name="Freeform 32"/>
          <p:cNvSpPr/>
          <p:nvPr/>
        </p:nvSpPr>
        <p:spPr>
          <a:xfrm>
            <a:off x="6400720" y="556276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7" y="0"/>
                  <a:pt x="76200" y="17073"/>
                  <a:pt x="76200" y="38100"/>
                </a:cubicBezTo>
                <a:lnTo>
                  <a:pt x="76200" y="38100"/>
                </a:lnTo>
                <a:cubicBezTo>
                  <a:pt x="76200" y="59127"/>
                  <a:pt x="59127" y="76200"/>
                  <a:pt x="38100" y="76200"/>
                </a:cubicBezTo>
                <a:lnTo>
                  <a:pt x="38100" y="76200"/>
                </a:lnTo>
                <a:cubicBezTo>
                  <a:pt x="17073" y="76200"/>
                  <a:pt x="0" y="59127"/>
                  <a:pt x="0" y="381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553102" y="5486577"/>
            <a:ext cx="3511435" cy="26662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Multiple memory transactions</a:t>
            </a:r>
            <a:endParaRPr lang="en-US" sz="1100"/>
          </a:p>
        </p:txBody>
      </p:sp>
      <p:sp>
        <p:nvSpPr>
          <p:cNvPr id="34" name="Freeform 34"/>
          <p:cNvSpPr/>
          <p:nvPr/>
        </p:nvSpPr>
        <p:spPr>
          <a:xfrm>
            <a:off x="6400720" y="586753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7" y="0"/>
                  <a:pt x="76200" y="17073"/>
                  <a:pt x="76200" y="38100"/>
                </a:cubicBezTo>
                <a:lnTo>
                  <a:pt x="76200" y="38100"/>
                </a:lnTo>
                <a:cubicBezTo>
                  <a:pt x="76200" y="59127"/>
                  <a:pt x="59127" y="76200"/>
                  <a:pt x="38100" y="76200"/>
                </a:cubicBezTo>
                <a:lnTo>
                  <a:pt x="38100" y="76200"/>
                </a:lnTo>
                <a:cubicBezTo>
                  <a:pt x="17073" y="76200"/>
                  <a:pt x="0" y="59127"/>
                  <a:pt x="0" y="381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553102" y="5791340"/>
            <a:ext cx="3130946" cy="26662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Severe performance degradation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314281" y="6286547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POP CoE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7490" y="664612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Cache Locality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17463" y="1111025"/>
            <a:ext cx="5683250" cy="952500"/>
          </a:xfrm>
          <a:custGeom>
            <a:avLst/>
            <a:gdLst/>
            <a:ahLst/>
            <a:cxnLst/>
            <a:rect l="l" t="t" r="r" b="b"/>
            <a:pathLst>
              <a:path w="5683250" h="952500">
                <a:moveTo>
                  <a:pt x="63503" y="0"/>
                </a:moveTo>
                <a:lnTo>
                  <a:pt x="5619747" y="0"/>
                </a:lnTo>
                <a:cubicBezTo>
                  <a:pt x="5654819" y="0"/>
                  <a:pt x="5683250" y="28431"/>
                  <a:pt x="5683250" y="63503"/>
                </a:cubicBezTo>
                <a:lnTo>
                  <a:pt x="5683250" y="888997"/>
                </a:lnTo>
                <a:cubicBezTo>
                  <a:pt x="5683250" y="924069"/>
                  <a:pt x="5654819" y="952500"/>
                  <a:pt x="5619747" y="952500"/>
                </a:cubicBezTo>
                <a:lnTo>
                  <a:pt x="63503" y="952500"/>
                </a:lnTo>
                <a:cubicBezTo>
                  <a:pt x="28431" y="952500"/>
                  <a:pt x="0" y="924069"/>
                  <a:pt x="0" y="888997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7941" y="1301502"/>
            <a:ext cx="53975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Two Types of Locality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7941" y="1650620"/>
            <a:ext cx="537368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Key to improving cache hit rate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333259" y="2190339"/>
            <a:ext cx="2762171" cy="4330675"/>
          </a:xfrm>
          <a:custGeom>
            <a:avLst/>
            <a:gdLst/>
            <a:ahLst/>
            <a:cxnLst/>
            <a:rect l="l" t="t" r="r" b="b"/>
            <a:pathLst>
              <a:path w="2762171" h="4330675">
                <a:moveTo>
                  <a:pt x="31593" y="0"/>
                </a:moveTo>
                <a:lnTo>
                  <a:pt x="2698669" y="0"/>
                </a:lnTo>
                <a:cubicBezTo>
                  <a:pt x="2733740" y="0"/>
                  <a:pt x="2762171" y="18292"/>
                  <a:pt x="2762171" y="40857"/>
                </a:cubicBezTo>
                <a:lnTo>
                  <a:pt x="2762171" y="4289819"/>
                </a:lnTo>
                <a:cubicBezTo>
                  <a:pt x="2762171" y="4312383"/>
                  <a:pt x="2733740" y="4330675"/>
                  <a:pt x="2698669" y="4330675"/>
                </a:cubicBezTo>
                <a:lnTo>
                  <a:pt x="31593" y="4330675"/>
                </a:lnTo>
                <a:cubicBezTo>
                  <a:pt x="14144" y="4330675"/>
                  <a:pt x="0" y="4321575"/>
                  <a:pt x="0" y="4310350"/>
                </a:cubicBezTo>
                <a:lnTo>
                  <a:pt x="0" y="20326"/>
                </a:lnTo>
                <a:cubicBezTo>
                  <a:pt x="0" y="9108"/>
                  <a:pt x="14155" y="0"/>
                  <a:pt x="31593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333258" y="2190339"/>
            <a:ext cx="45719" cy="4350200"/>
          </a:xfrm>
          <a:custGeom>
            <a:avLst/>
            <a:gdLst/>
            <a:ahLst/>
            <a:cxnLst/>
            <a:rect l="l" t="t" r="r" b="b"/>
            <a:pathLst>
              <a:path w="45719" h="4350200">
                <a:moveTo>
                  <a:pt x="45719" y="0"/>
                </a:moveTo>
                <a:lnTo>
                  <a:pt x="45719" y="0"/>
                </a:lnTo>
                <a:lnTo>
                  <a:pt x="45719" y="4350200"/>
                </a:lnTo>
                <a:lnTo>
                  <a:pt x="45719" y="4350200"/>
                </a:lnTo>
                <a:cubicBezTo>
                  <a:pt x="20469" y="4350200"/>
                  <a:pt x="0" y="4341059"/>
                  <a:pt x="0" y="4329782"/>
                </a:cubicBezTo>
                <a:lnTo>
                  <a:pt x="0" y="20418"/>
                </a:lnTo>
                <a:cubicBezTo>
                  <a:pt x="0" y="9149"/>
                  <a:pt x="20486" y="0"/>
                  <a:pt x="45719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Freeform 8"/>
          <p:cNvSpPr/>
          <p:nvPr/>
        </p:nvSpPr>
        <p:spPr>
          <a:xfrm>
            <a:off x="519848" y="2373003"/>
            <a:ext cx="166501" cy="174252"/>
          </a:xfrm>
          <a:custGeom>
            <a:avLst/>
            <a:gdLst/>
            <a:ahLst/>
            <a:cxnLst/>
            <a:rect l="l" t="t" r="r" b="b"/>
            <a:pathLst>
              <a:path w="166501" h="174252">
                <a:moveTo>
                  <a:pt x="143155" y="30912"/>
                </a:moveTo>
                <a:lnTo>
                  <a:pt x="146657" y="34231"/>
                </a:lnTo>
                <a:lnTo>
                  <a:pt x="146657" y="17674"/>
                </a:lnTo>
                <a:cubicBezTo>
                  <a:pt x="146657" y="12185"/>
                  <a:pt x="151091" y="7751"/>
                  <a:pt x="156578" y="7751"/>
                </a:cubicBezTo>
                <a:cubicBezTo>
                  <a:pt x="162067" y="7751"/>
                  <a:pt x="166501" y="12185"/>
                  <a:pt x="166501" y="17674"/>
                </a:cubicBezTo>
                <a:lnTo>
                  <a:pt x="166501" y="57360"/>
                </a:lnTo>
                <a:cubicBezTo>
                  <a:pt x="166501" y="62847"/>
                  <a:pt x="162067" y="67282"/>
                  <a:pt x="156578" y="67282"/>
                </a:cubicBezTo>
                <a:lnTo>
                  <a:pt x="116892" y="67282"/>
                </a:lnTo>
                <a:cubicBezTo>
                  <a:pt x="111405" y="67282"/>
                  <a:pt x="106970" y="62847"/>
                  <a:pt x="106970" y="57360"/>
                </a:cubicBezTo>
                <a:cubicBezTo>
                  <a:pt x="106970" y="51872"/>
                  <a:pt x="111405" y="47439"/>
                  <a:pt x="116892" y="47439"/>
                </a:cubicBezTo>
                <a:lnTo>
                  <a:pt x="131742" y="47439"/>
                </a:lnTo>
                <a:lnTo>
                  <a:pt x="129387" y="45206"/>
                </a:lnTo>
                <a:cubicBezTo>
                  <a:pt x="129326" y="45144"/>
                  <a:pt x="129263" y="45081"/>
                  <a:pt x="129201" y="45020"/>
                </a:cubicBezTo>
                <a:cubicBezTo>
                  <a:pt x="105947" y="21765"/>
                  <a:pt x="68274" y="21765"/>
                  <a:pt x="45020" y="45020"/>
                </a:cubicBezTo>
                <a:cubicBezTo>
                  <a:pt x="21765" y="68274"/>
                  <a:pt x="21765" y="105947"/>
                  <a:pt x="45020" y="129201"/>
                </a:cubicBezTo>
                <a:cubicBezTo>
                  <a:pt x="68274" y="152455"/>
                  <a:pt x="105947" y="152455"/>
                  <a:pt x="129201" y="129201"/>
                </a:cubicBezTo>
                <a:cubicBezTo>
                  <a:pt x="131742" y="126659"/>
                  <a:pt x="134007" y="123961"/>
                  <a:pt x="135991" y="121107"/>
                </a:cubicBezTo>
                <a:cubicBezTo>
                  <a:pt x="139124" y="116613"/>
                  <a:pt x="145324" y="115527"/>
                  <a:pt x="149820" y="118659"/>
                </a:cubicBezTo>
                <a:cubicBezTo>
                  <a:pt x="154317" y="121791"/>
                  <a:pt x="155401" y="127992"/>
                  <a:pt x="152269" y="132488"/>
                </a:cubicBezTo>
                <a:cubicBezTo>
                  <a:pt x="149634" y="136270"/>
                  <a:pt x="146626" y="139867"/>
                  <a:pt x="143247" y="143247"/>
                </a:cubicBezTo>
                <a:cubicBezTo>
                  <a:pt x="112242" y="174252"/>
                  <a:pt x="61980" y="174252"/>
                  <a:pt x="31005" y="143247"/>
                </a:cubicBezTo>
                <a:cubicBezTo>
                  <a:pt x="31" y="112242"/>
                  <a:pt x="0" y="62010"/>
                  <a:pt x="31005" y="31005"/>
                </a:cubicBezTo>
                <a:cubicBezTo>
                  <a:pt x="61980" y="31"/>
                  <a:pt x="112148" y="0"/>
                  <a:pt x="143155" y="30912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06193" y="2349035"/>
            <a:ext cx="2309813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Temporal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507756" y="2761769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4740" y="2698277"/>
            <a:ext cx="238126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Repeatedly accessing the same data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507756" y="3047457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4740" y="2983964"/>
            <a:ext cx="1329071" cy="2661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Temporal Locality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507756" y="3269653"/>
            <a:ext cx="2428875" cy="349250"/>
          </a:xfrm>
          <a:custGeom>
            <a:avLst/>
            <a:gdLst/>
            <a:ahLst/>
            <a:cxnLst/>
            <a:rect l="l" t="t" r="r" b="b"/>
            <a:pathLst>
              <a:path w="2428875" h="349250">
                <a:moveTo>
                  <a:pt x="63501" y="0"/>
                </a:moveTo>
                <a:lnTo>
                  <a:pt x="2365374" y="0"/>
                </a:lnTo>
                <a:cubicBezTo>
                  <a:pt x="2400445" y="0"/>
                  <a:pt x="2428875" y="28430"/>
                  <a:pt x="2428875" y="63501"/>
                </a:cubicBezTo>
                <a:lnTo>
                  <a:pt x="2428875" y="285749"/>
                </a:lnTo>
                <a:cubicBezTo>
                  <a:pt x="2428875" y="320820"/>
                  <a:pt x="2400445" y="349250"/>
                  <a:pt x="236537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02964" y="3364857"/>
            <a:ext cx="2293938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Example: variables reused in a loop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3238369" y="2190339"/>
            <a:ext cx="2762171" cy="4350200"/>
          </a:xfrm>
          <a:custGeom>
            <a:avLst/>
            <a:gdLst/>
            <a:ahLst/>
            <a:cxnLst/>
            <a:rect l="l" t="t" r="r" b="b"/>
            <a:pathLst>
              <a:path w="2762171" h="4350200">
                <a:moveTo>
                  <a:pt x="31593" y="0"/>
                </a:moveTo>
                <a:lnTo>
                  <a:pt x="2698669" y="0"/>
                </a:lnTo>
                <a:cubicBezTo>
                  <a:pt x="2733740" y="0"/>
                  <a:pt x="2762171" y="18374"/>
                  <a:pt x="2762171" y="41041"/>
                </a:cubicBezTo>
                <a:lnTo>
                  <a:pt x="2762171" y="4309160"/>
                </a:lnTo>
                <a:cubicBezTo>
                  <a:pt x="2762171" y="4331825"/>
                  <a:pt x="2733740" y="4350200"/>
                  <a:pt x="2698669" y="4350200"/>
                </a:cubicBezTo>
                <a:lnTo>
                  <a:pt x="31593" y="4350200"/>
                </a:lnTo>
                <a:cubicBezTo>
                  <a:pt x="14144" y="4350200"/>
                  <a:pt x="0" y="4341059"/>
                  <a:pt x="0" y="4329782"/>
                </a:cubicBezTo>
                <a:lnTo>
                  <a:pt x="0" y="20418"/>
                </a:lnTo>
                <a:cubicBezTo>
                  <a:pt x="0" y="9149"/>
                  <a:pt x="14155" y="0"/>
                  <a:pt x="31593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3238369" y="2190339"/>
            <a:ext cx="51402" cy="4350200"/>
          </a:xfrm>
          <a:custGeom>
            <a:avLst/>
            <a:gdLst/>
            <a:ahLst/>
            <a:cxnLst/>
            <a:rect l="l" t="t" r="r" b="b"/>
            <a:pathLst>
              <a:path w="51402" h="4350200">
                <a:moveTo>
                  <a:pt x="51402" y="0"/>
                </a:moveTo>
                <a:lnTo>
                  <a:pt x="51402" y="0"/>
                </a:lnTo>
                <a:lnTo>
                  <a:pt x="51402" y="4350200"/>
                </a:lnTo>
                <a:lnTo>
                  <a:pt x="51402" y="4350200"/>
                </a:lnTo>
                <a:cubicBezTo>
                  <a:pt x="23014" y="4350200"/>
                  <a:pt x="0" y="4341059"/>
                  <a:pt x="0" y="4329782"/>
                </a:cubicBezTo>
                <a:lnTo>
                  <a:pt x="0" y="20418"/>
                </a:lnTo>
                <a:cubicBezTo>
                  <a:pt x="0" y="9149"/>
                  <a:pt x="23033" y="0"/>
                  <a:pt x="51402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Freeform 18"/>
          <p:cNvSpPr/>
          <p:nvPr/>
        </p:nvSpPr>
        <p:spPr>
          <a:xfrm>
            <a:off x="3431749" y="2379948"/>
            <a:ext cx="160703" cy="160331"/>
          </a:xfrm>
          <a:custGeom>
            <a:avLst/>
            <a:gdLst/>
            <a:ahLst/>
            <a:cxnLst/>
            <a:rect l="l" t="t" r="r" b="b"/>
            <a:pathLst>
              <a:path w="160703" h="160331">
                <a:moveTo>
                  <a:pt x="156796" y="126876"/>
                </a:moveTo>
                <a:lnTo>
                  <a:pt x="127031" y="156641"/>
                </a:lnTo>
                <a:cubicBezTo>
                  <a:pt x="124178" y="159494"/>
                  <a:pt x="119930" y="160331"/>
                  <a:pt x="116210" y="158781"/>
                </a:cubicBezTo>
                <a:cubicBezTo>
                  <a:pt x="112489" y="157231"/>
                  <a:pt x="110102" y="153634"/>
                  <a:pt x="110102" y="149633"/>
                </a:cubicBezTo>
                <a:lnTo>
                  <a:pt x="110102" y="129790"/>
                </a:lnTo>
                <a:lnTo>
                  <a:pt x="10884" y="129790"/>
                </a:lnTo>
                <a:cubicBezTo>
                  <a:pt x="5395" y="129790"/>
                  <a:pt x="961" y="125357"/>
                  <a:pt x="961" y="119868"/>
                </a:cubicBezTo>
                <a:cubicBezTo>
                  <a:pt x="961" y="114380"/>
                  <a:pt x="5395" y="109947"/>
                  <a:pt x="10884" y="109947"/>
                </a:cubicBezTo>
                <a:lnTo>
                  <a:pt x="110102" y="109947"/>
                </a:lnTo>
                <a:lnTo>
                  <a:pt x="110102" y="90104"/>
                </a:lnTo>
                <a:cubicBezTo>
                  <a:pt x="110102" y="86103"/>
                  <a:pt x="112520" y="82475"/>
                  <a:pt x="116241" y="80925"/>
                </a:cubicBezTo>
                <a:cubicBezTo>
                  <a:pt x="119961" y="79375"/>
                  <a:pt x="124209" y="80243"/>
                  <a:pt x="127062" y="83065"/>
                </a:cubicBezTo>
                <a:lnTo>
                  <a:pt x="156827" y="112830"/>
                </a:lnTo>
                <a:cubicBezTo>
                  <a:pt x="160703" y="116706"/>
                  <a:pt x="160703" y="123000"/>
                  <a:pt x="156827" y="126876"/>
                </a:cubicBezTo>
                <a:close/>
                <a:moveTo>
                  <a:pt x="3876" y="47501"/>
                </a:moveTo>
                <a:cubicBezTo>
                  <a:pt x="0" y="43625"/>
                  <a:pt x="0" y="37331"/>
                  <a:pt x="3876" y="33455"/>
                </a:cubicBezTo>
                <a:lnTo>
                  <a:pt x="33641" y="3690"/>
                </a:lnTo>
                <a:cubicBezTo>
                  <a:pt x="36494" y="836"/>
                  <a:pt x="40742" y="0"/>
                  <a:pt x="44462" y="1550"/>
                </a:cubicBezTo>
                <a:cubicBezTo>
                  <a:pt x="48183" y="3100"/>
                  <a:pt x="50570" y="6728"/>
                  <a:pt x="50570" y="10729"/>
                </a:cubicBezTo>
                <a:lnTo>
                  <a:pt x="50570" y="30572"/>
                </a:lnTo>
                <a:lnTo>
                  <a:pt x="149788" y="30572"/>
                </a:lnTo>
                <a:cubicBezTo>
                  <a:pt x="155277" y="30572"/>
                  <a:pt x="159711" y="35005"/>
                  <a:pt x="159711" y="40494"/>
                </a:cubicBezTo>
                <a:cubicBezTo>
                  <a:pt x="159711" y="45982"/>
                  <a:pt x="155277" y="50415"/>
                  <a:pt x="149788" y="50415"/>
                </a:cubicBezTo>
                <a:lnTo>
                  <a:pt x="50570" y="50415"/>
                </a:lnTo>
                <a:lnTo>
                  <a:pt x="50570" y="70258"/>
                </a:lnTo>
                <a:cubicBezTo>
                  <a:pt x="50570" y="74259"/>
                  <a:pt x="48152" y="77887"/>
                  <a:pt x="44431" y="79437"/>
                </a:cubicBezTo>
                <a:cubicBezTo>
                  <a:pt x="40711" y="80987"/>
                  <a:pt x="36463" y="80119"/>
                  <a:pt x="33610" y="77297"/>
                </a:cubicBezTo>
                <a:lnTo>
                  <a:pt x="3845" y="47532"/>
                </a:ln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611303" y="2349035"/>
            <a:ext cx="2309813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Spatial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3412866" y="2761769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539851" y="2698277"/>
            <a:ext cx="1694936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Accessing nearby data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3412866" y="3047457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31750" y="0"/>
                </a:lnTo>
                <a:cubicBezTo>
                  <a:pt x="49273" y="0"/>
                  <a:pt x="63500" y="14227"/>
                  <a:pt x="63500" y="31750"/>
                </a:cubicBezTo>
                <a:lnTo>
                  <a:pt x="63500" y="31750"/>
                </a:lnTo>
                <a:cubicBezTo>
                  <a:pt x="63500" y="49273"/>
                  <a:pt x="49273" y="63500"/>
                  <a:pt x="31750" y="63500"/>
                </a:cubicBezTo>
                <a:lnTo>
                  <a:pt x="31750" y="63500"/>
                </a:lnTo>
                <a:cubicBezTo>
                  <a:pt x="14227" y="63500"/>
                  <a:pt x="0" y="49273"/>
                  <a:pt x="0" y="31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3539851" y="2983964"/>
            <a:ext cx="1460024" cy="22224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Spatial Locality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3412866" y="3269653"/>
            <a:ext cx="2428875" cy="349250"/>
          </a:xfrm>
          <a:custGeom>
            <a:avLst/>
            <a:gdLst/>
            <a:ahLst/>
            <a:cxnLst/>
            <a:rect l="l" t="t" r="r" b="b"/>
            <a:pathLst>
              <a:path w="2428875" h="349250">
                <a:moveTo>
                  <a:pt x="63501" y="0"/>
                </a:moveTo>
                <a:lnTo>
                  <a:pt x="2365374" y="0"/>
                </a:lnTo>
                <a:cubicBezTo>
                  <a:pt x="2400445" y="0"/>
                  <a:pt x="2428875" y="28430"/>
                  <a:pt x="2428875" y="63501"/>
                </a:cubicBezTo>
                <a:lnTo>
                  <a:pt x="2428875" y="285749"/>
                </a:lnTo>
                <a:cubicBezTo>
                  <a:pt x="2428875" y="320820"/>
                  <a:pt x="2400445" y="349250"/>
                  <a:pt x="2365374" y="349250"/>
                </a:cubicBezTo>
                <a:lnTo>
                  <a:pt x="63501" y="349250"/>
                </a:lnTo>
                <a:cubicBezTo>
                  <a:pt x="28430" y="349250"/>
                  <a:pt x="0" y="320820"/>
                  <a:pt x="0" y="28574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3508074" y="3364857"/>
            <a:ext cx="2293938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Example: sequentially accessing array elements</a:t>
            </a:r>
            <a:endParaRPr lang="en-US" sz="1100"/>
          </a:p>
        </p:txBody>
      </p:sp>
      <p:sp>
        <p:nvSpPr>
          <p:cNvPr id="26" name="Freeform 26"/>
          <p:cNvSpPr/>
          <p:nvPr/>
        </p:nvSpPr>
        <p:spPr>
          <a:xfrm>
            <a:off x="6131494" y="470318"/>
            <a:ext cx="5683250" cy="6131935"/>
          </a:xfrm>
          <a:custGeom>
            <a:avLst/>
            <a:gdLst/>
            <a:ahLst/>
            <a:cxnLst/>
            <a:rect l="l" t="t" r="r" b="b"/>
            <a:pathLst>
              <a:path w="5683250" h="6131935">
                <a:moveTo>
                  <a:pt x="63482" y="0"/>
                </a:moveTo>
                <a:lnTo>
                  <a:pt x="5619768" y="0"/>
                </a:lnTo>
                <a:cubicBezTo>
                  <a:pt x="5654827" y="0"/>
                  <a:pt x="5683250" y="24950"/>
                  <a:pt x="5683250" y="55729"/>
                </a:cubicBezTo>
                <a:lnTo>
                  <a:pt x="5683250" y="6076206"/>
                </a:lnTo>
                <a:cubicBezTo>
                  <a:pt x="5683250" y="6106984"/>
                  <a:pt x="5654827" y="6131935"/>
                  <a:pt x="5619768" y="6131935"/>
                </a:cubicBezTo>
                <a:lnTo>
                  <a:pt x="63482" y="6131935"/>
                </a:lnTo>
                <a:cubicBezTo>
                  <a:pt x="28423" y="6131935"/>
                  <a:pt x="0" y="6106984"/>
                  <a:pt x="0" y="6076206"/>
                </a:cubicBezTo>
                <a:lnTo>
                  <a:pt x="0" y="55729"/>
                </a:lnTo>
                <a:cubicBezTo>
                  <a:pt x="0" y="24971"/>
                  <a:pt x="28445" y="0"/>
                  <a:pt x="6348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185760" y="524288"/>
            <a:ext cx="3918952" cy="5216988"/>
          </a:xfrm>
          <a:prstGeom prst="roundRect">
            <a:avLst>
              <a:gd name="adj" fmla="val 634"/>
            </a:avLst>
          </a:prstGeom>
          <a:ln w="12700">
            <a:noFill/>
            <a:prstDash val="solid"/>
          </a:ln>
        </p:spPr>
      </p:pic>
      <p:sp>
        <p:nvSpPr>
          <p:cNvPr id="28" name="Freeform 28"/>
          <p:cNvSpPr/>
          <p:nvPr/>
        </p:nvSpPr>
        <p:spPr>
          <a:xfrm>
            <a:off x="6191237" y="5822514"/>
            <a:ext cx="5683250" cy="698500"/>
          </a:xfrm>
          <a:custGeom>
            <a:avLst/>
            <a:gdLst/>
            <a:ahLst/>
            <a:cxnLst/>
            <a:rect l="l" t="t" r="r" b="b"/>
            <a:pathLst>
              <a:path w="5683250" h="698500">
                <a:moveTo>
                  <a:pt x="63501" y="0"/>
                </a:moveTo>
                <a:lnTo>
                  <a:pt x="5619749" y="0"/>
                </a:lnTo>
                <a:cubicBezTo>
                  <a:pt x="5654820" y="0"/>
                  <a:pt x="5683250" y="28430"/>
                  <a:pt x="5683250" y="63501"/>
                </a:cubicBezTo>
                <a:lnTo>
                  <a:pt x="5683250" y="634999"/>
                </a:lnTo>
                <a:cubicBezTo>
                  <a:pt x="5683250" y="670070"/>
                  <a:pt x="5654820" y="698500"/>
                  <a:pt x="5619749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9" name="Freeform 29"/>
          <p:cNvSpPr/>
          <p:nvPr/>
        </p:nvSpPr>
        <p:spPr>
          <a:xfrm>
            <a:off x="6336928" y="611401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3"/>
                  <a:pt x="95250" y="23813"/>
                </a:cubicBezTo>
                <a:cubicBezTo>
                  <a:pt x="55823" y="23813"/>
                  <a:pt x="23812" y="55823"/>
                  <a:pt x="23812" y="95250"/>
                </a:cubicBezTo>
                <a:cubicBezTo>
                  <a:pt x="23812" y="134677"/>
                  <a:pt x="55823" y="166687"/>
                  <a:pt x="95250" y="166687"/>
                </a:cubicBezTo>
                <a:cubicBezTo>
                  <a:pt x="134677" y="166687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7" y="125016"/>
                  <a:pt x="125016" y="111677"/>
                  <a:pt x="125016" y="95250"/>
                </a:cubicBezTo>
                <a:cubicBezTo>
                  <a:pt x="125016" y="78823"/>
                  <a:pt x="111677" y="65484"/>
                  <a:pt x="95250" y="65484"/>
                </a:cubicBezTo>
                <a:cubicBezTo>
                  <a:pt x="78823" y="65484"/>
                  <a:pt x="65484" y="78823"/>
                  <a:pt x="65484" y="95250"/>
                </a:cubicBezTo>
                <a:cubicBezTo>
                  <a:pt x="65484" y="111677"/>
                  <a:pt x="78823" y="125016"/>
                  <a:pt x="95250" y="125016"/>
                </a:cubicBezTo>
                <a:close/>
                <a:moveTo>
                  <a:pt x="95250" y="41673"/>
                </a:moveTo>
                <a:cubicBezTo>
                  <a:pt x="124821" y="41673"/>
                  <a:pt x="148827" y="65679"/>
                  <a:pt x="148827" y="95250"/>
                </a:cubicBezTo>
                <a:cubicBezTo>
                  <a:pt x="148827" y="124821"/>
                  <a:pt x="124821" y="148827"/>
                  <a:pt x="95250" y="148827"/>
                </a:cubicBezTo>
                <a:cubicBezTo>
                  <a:pt x="65679" y="148827"/>
                  <a:pt x="41673" y="124821"/>
                  <a:pt x="41673" y="95250"/>
                </a:cubicBezTo>
                <a:cubicBezTo>
                  <a:pt x="41673" y="65679"/>
                  <a:pt x="65679" y="41673"/>
                  <a:pt x="95250" y="41673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646436" y="5975841"/>
            <a:ext cx="1595437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Optimization Goal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646437" y="6216447"/>
            <a:ext cx="1902997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Improve cache hit rate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202210" y="6666849"/>
            <a:ext cx="116125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Medium - InterviewNoodle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0458" y="59042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Reduction Kernel Problem Definition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333230"/>
            <a:ext cx="5600700" cy="1143000"/>
          </a:xfrm>
          <a:custGeom>
            <a:avLst/>
            <a:gdLst/>
            <a:ahLst/>
            <a:cxnLst/>
            <a:rect l="l" t="t" r="r" b="b"/>
            <a:pathLst>
              <a:path w="5600700" h="1143000">
                <a:moveTo>
                  <a:pt x="76204" y="0"/>
                </a:moveTo>
                <a:lnTo>
                  <a:pt x="5524496" y="0"/>
                </a:lnTo>
                <a:cubicBezTo>
                  <a:pt x="5566581" y="0"/>
                  <a:pt x="5600700" y="34119"/>
                  <a:pt x="5600700" y="76204"/>
                </a:cubicBezTo>
                <a:lnTo>
                  <a:pt x="5600700" y="1066796"/>
                </a:lnTo>
                <a:cubicBezTo>
                  <a:pt x="5600700" y="1108881"/>
                  <a:pt x="5566581" y="1143000"/>
                  <a:pt x="5524496" y="1143000"/>
                </a:cubicBezTo>
                <a:lnTo>
                  <a:pt x="76204" y="1143000"/>
                </a:lnTo>
                <a:cubicBezTo>
                  <a:pt x="34119" y="1143000"/>
                  <a:pt x="0" y="1108881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09529" y="1561812"/>
            <a:ext cx="5257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Reduction Example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529" y="1980744"/>
            <a:ext cx="5229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Compute the sum of array elements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380956" y="2628407"/>
            <a:ext cx="5600700" cy="1866900"/>
          </a:xfrm>
          <a:custGeom>
            <a:avLst/>
            <a:gdLst/>
            <a:ahLst/>
            <a:cxnLst/>
            <a:rect l="l" t="t" r="r" b="b"/>
            <a:pathLst>
              <a:path w="5600700" h="1866900">
                <a:moveTo>
                  <a:pt x="76208" y="0"/>
                </a:moveTo>
                <a:lnTo>
                  <a:pt x="5524492" y="0"/>
                </a:lnTo>
                <a:cubicBezTo>
                  <a:pt x="5566581" y="0"/>
                  <a:pt x="5600700" y="34119"/>
                  <a:pt x="5600700" y="76208"/>
                </a:cubicBezTo>
                <a:lnTo>
                  <a:pt x="5600700" y="1790692"/>
                </a:lnTo>
                <a:cubicBezTo>
                  <a:pt x="5600700" y="1832781"/>
                  <a:pt x="5566581" y="1866900"/>
                  <a:pt x="5524492" y="1866900"/>
                </a:cubicBezTo>
                <a:lnTo>
                  <a:pt x="76208" y="1866900"/>
                </a:lnTo>
                <a:cubicBezTo>
                  <a:pt x="34119" y="1866900"/>
                  <a:pt x="0" y="1832781"/>
                  <a:pt x="0" y="1790692"/>
                </a:cubicBezTo>
                <a:lnTo>
                  <a:pt x="0" y="76208"/>
                </a:lnTo>
                <a:cubicBezTo>
                  <a:pt x="0" y="34146"/>
                  <a:pt x="34146" y="0"/>
                  <a:pt x="76208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09521" y="2818851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Problem Definition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590352" y="3237942"/>
            <a:ext cx="5200555" cy="1066800"/>
          </a:xfrm>
          <a:custGeom>
            <a:avLst/>
            <a:gdLst/>
            <a:ahLst/>
            <a:cxnLst/>
            <a:rect l="l" t="t" r="r" b="b"/>
            <a:pathLst>
              <a:path w="5200555" h="1066800">
                <a:moveTo>
                  <a:pt x="37910" y="0"/>
                </a:moveTo>
                <a:lnTo>
                  <a:pt x="5124353" y="0"/>
                </a:lnTo>
                <a:cubicBezTo>
                  <a:pt x="5166439" y="0"/>
                  <a:pt x="5200555" y="34117"/>
                  <a:pt x="5200555" y="76203"/>
                </a:cubicBezTo>
                <a:lnTo>
                  <a:pt x="5200555" y="990597"/>
                </a:lnTo>
                <a:cubicBezTo>
                  <a:pt x="5200555" y="1032683"/>
                  <a:pt x="5166439" y="1066800"/>
                  <a:pt x="5124353" y="1066800"/>
                </a:cubicBezTo>
                <a:lnTo>
                  <a:pt x="37910" y="1066800"/>
                </a:lnTo>
                <a:cubicBezTo>
                  <a:pt x="16974" y="1066800"/>
                  <a:pt x="0" y="1049826"/>
                  <a:pt x="0" y="10288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590352" y="3237942"/>
            <a:ext cx="37909" cy="1066800"/>
          </a:xfrm>
          <a:custGeom>
            <a:avLst/>
            <a:gdLst/>
            <a:ahLst/>
            <a:cxnLst/>
            <a:rect l="l" t="t" r="r" b="b"/>
            <a:pathLst>
              <a:path w="37909" h="1066800">
                <a:moveTo>
                  <a:pt x="37910" y="0"/>
                </a:moveTo>
                <a:lnTo>
                  <a:pt x="37910" y="0"/>
                </a:lnTo>
                <a:lnTo>
                  <a:pt x="37910" y="1066800"/>
                </a:lnTo>
                <a:lnTo>
                  <a:pt x="37910" y="1066800"/>
                </a:lnTo>
                <a:cubicBezTo>
                  <a:pt x="16974" y="1066800"/>
                  <a:pt x="0" y="1049826"/>
                  <a:pt x="0" y="10288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1689" y="3390323"/>
            <a:ext cx="495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Compute: sum(A)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1689" y="3695086"/>
            <a:ext cx="495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Input: array A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1689" y="3923658"/>
            <a:ext cx="495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Output: A[0] + A[1] + ... + A[n-1]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380956" y="4647437"/>
            <a:ext cx="5600700" cy="1905000"/>
          </a:xfrm>
          <a:custGeom>
            <a:avLst/>
            <a:gdLst/>
            <a:ahLst/>
            <a:cxnLst/>
            <a:rect l="l" t="t" r="r" b="b"/>
            <a:pathLst>
              <a:path w="5600700" h="19050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1828800"/>
                </a:lnTo>
                <a:cubicBezTo>
                  <a:pt x="5600700" y="1870856"/>
                  <a:pt x="5566556" y="1905000"/>
                  <a:pt x="55245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09521" y="4837881"/>
            <a:ext cx="50768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Problems with the Naive Approach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571396" y="533315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7" y="0"/>
                  <a:pt x="76200" y="17073"/>
                  <a:pt x="76200" y="38100"/>
                </a:cubicBezTo>
                <a:lnTo>
                  <a:pt x="76200" y="38100"/>
                </a:lnTo>
                <a:cubicBezTo>
                  <a:pt x="76200" y="59127"/>
                  <a:pt x="59127" y="76200"/>
                  <a:pt x="38100" y="76200"/>
                </a:cubicBezTo>
                <a:lnTo>
                  <a:pt x="38100" y="76200"/>
                </a:lnTo>
                <a:cubicBezTo>
                  <a:pt x="17073" y="76200"/>
                  <a:pt x="0" y="59127"/>
                  <a:pt x="0" y="381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1837" y="5256962"/>
            <a:ext cx="3779478" cy="3041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Each thread writes to global memory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1837" y="5523598"/>
            <a:ext cx="2791435" cy="2664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Frequent global memory accesses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571396" y="594261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7" y="0"/>
                  <a:pt x="76200" y="17073"/>
                  <a:pt x="76200" y="38100"/>
                </a:cubicBezTo>
                <a:lnTo>
                  <a:pt x="76200" y="38100"/>
                </a:lnTo>
                <a:cubicBezTo>
                  <a:pt x="76200" y="59127"/>
                  <a:pt x="59127" y="76200"/>
                  <a:pt x="38100" y="76200"/>
                </a:cubicBezTo>
                <a:lnTo>
                  <a:pt x="38100" y="76200"/>
                </a:lnTo>
                <a:cubicBezTo>
                  <a:pt x="17073" y="76200"/>
                  <a:pt x="0" y="59127"/>
                  <a:pt x="0" y="381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1837" y="5866422"/>
            <a:ext cx="2239113" cy="24766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Excessive memory accesses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1837" y="6133048"/>
            <a:ext cx="3159650" cy="2664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Becomes a performance bottleneck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6210279" y="1333230"/>
            <a:ext cx="5600700" cy="3886200"/>
          </a:xfrm>
          <a:custGeom>
            <a:avLst/>
            <a:gdLst/>
            <a:ahLst/>
            <a:cxnLst/>
            <a:rect l="l" t="t" r="r" b="b"/>
            <a:pathLst>
              <a:path w="5600700" h="3886200">
                <a:moveTo>
                  <a:pt x="76208" y="0"/>
                </a:moveTo>
                <a:lnTo>
                  <a:pt x="5524492" y="0"/>
                </a:lnTo>
                <a:cubicBezTo>
                  <a:pt x="5566580" y="0"/>
                  <a:pt x="5600700" y="34120"/>
                  <a:pt x="5600700" y="76208"/>
                </a:cubicBezTo>
                <a:lnTo>
                  <a:pt x="5600700" y="3809992"/>
                </a:lnTo>
                <a:cubicBezTo>
                  <a:pt x="5600700" y="3852080"/>
                  <a:pt x="5566580" y="3886200"/>
                  <a:pt x="5524492" y="3886200"/>
                </a:cubicBezTo>
                <a:lnTo>
                  <a:pt x="76208" y="3886200"/>
                </a:lnTo>
                <a:cubicBezTo>
                  <a:pt x="34120" y="3886200"/>
                  <a:pt x="0" y="3852080"/>
                  <a:pt x="0" y="38099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"/>
          <a:srcRect l="80" r="80"/>
          <a:stretch>
            <a:fillRect/>
          </a:stretch>
        </p:blipFill>
        <p:spPr>
          <a:xfrm>
            <a:off x="6400720" y="1806820"/>
            <a:ext cx="5219700" cy="2943225"/>
          </a:xfrm>
          <a:prstGeom prst="roundRect">
            <a:avLst>
              <a:gd name="adj" fmla="val 1294"/>
            </a:avLst>
          </a:prstGeom>
          <a:ln w="12700">
            <a:noFill/>
            <a:prstDash val="solid"/>
          </a:ln>
        </p:spPr>
      </p:pic>
      <p:sp>
        <p:nvSpPr>
          <p:cNvPr id="23" name="Freeform 23"/>
          <p:cNvSpPr/>
          <p:nvPr/>
        </p:nvSpPr>
        <p:spPr>
          <a:xfrm>
            <a:off x="6219757" y="5380768"/>
            <a:ext cx="5581555" cy="1161955"/>
          </a:xfrm>
          <a:custGeom>
            <a:avLst/>
            <a:gdLst/>
            <a:ahLst/>
            <a:cxnLst/>
            <a:rect l="l" t="t" r="r" b="b"/>
            <a:pathLst>
              <a:path w="5581555" h="1161955">
                <a:moveTo>
                  <a:pt x="76201" y="0"/>
                </a:moveTo>
                <a:lnTo>
                  <a:pt x="5505353" y="0"/>
                </a:lnTo>
                <a:cubicBezTo>
                  <a:pt x="5547439" y="0"/>
                  <a:pt x="5581555" y="34116"/>
                  <a:pt x="5581555" y="76201"/>
                </a:cubicBezTo>
                <a:lnTo>
                  <a:pt x="5581555" y="1085753"/>
                </a:lnTo>
                <a:cubicBezTo>
                  <a:pt x="5581555" y="1127839"/>
                  <a:pt x="5547439" y="1161955"/>
                  <a:pt x="5505353" y="1161955"/>
                </a:cubicBezTo>
                <a:lnTo>
                  <a:pt x="76201" y="1161955"/>
                </a:lnTo>
                <a:cubicBezTo>
                  <a:pt x="34116" y="1161955"/>
                  <a:pt x="0" y="1127839"/>
                  <a:pt x="0" y="1085753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2635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343517" y="5542629"/>
            <a:ext cx="5334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Reduction Operation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38754" y="5847392"/>
            <a:ext cx="5343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A[0] ⊕ A[1] ⊕ A[2] ⊕ ... ⊕ A[n-1]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48279" y="6190292"/>
            <a:ext cx="5324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⊕ can be +, ×, max, min, etc.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14281" y="6628256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ENCCS CUDA Training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0459" y="58530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1" i="0" u="none" strike="noStrike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Optimizing Reduction with Shared Memory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80956" y="1142795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380956" y="1333230"/>
            <a:ext cx="3705225" cy="1104900"/>
          </a:xfrm>
          <a:custGeom>
            <a:avLst/>
            <a:gdLst/>
            <a:ahLst/>
            <a:cxnLst/>
            <a:rect l="l" t="t" r="r" b="b"/>
            <a:pathLst>
              <a:path w="3705225" h="1104900">
                <a:moveTo>
                  <a:pt x="76205" y="0"/>
                </a:moveTo>
                <a:lnTo>
                  <a:pt x="3629020" y="0"/>
                </a:lnTo>
                <a:cubicBezTo>
                  <a:pt x="3671106" y="0"/>
                  <a:pt x="3705225" y="34119"/>
                  <a:pt x="3705225" y="76205"/>
                </a:cubicBezTo>
                <a:lnTo>
                  <a:pt x="3705225" y="1028695"/>
                </a:lnTo>
                <a:cubicBezTo>
                  <a:pt x="3705225" y="1070781"/>
                  <a:pt x="3671106" y="1104900"/>
                  <a:pt x="3629020" y="1104900"/>
                </a:cubicBezTo>
                <a:lnTo>
                  <a:pt x="76205" y="1104900"/>
                </a:lnTo>
                <a:cubicBezTo>
                  <a:pt x="34119" y="1104900"/>
                  <a:pt x="0" y="1070781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Freeform 5"/>
          <p:cNvSpPr/>
          <p:nvPr/>
        </p:nvSpPr>
        <p:spPr>
          <a:xfrm>
            <a:off x="571396" y="152367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23771" y="1523674"/>
            <a:ext cx="476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602" y="1580759"/>
            <a:ext cx="857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Load data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71396" y="2018881"/>
            <a:ext cx="34004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global → shared memory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4241750" y="1333230"/>
            <a:ext cx="3705225" cy="1104900"/>
          </a:xfrm>
          <a:custGeom>
            <a:avLst/>
            <a:gdLst/>
            <a:ahLst/>
            <a:cxnLst/>
            <a:rect l="l" t="t" r="r" b="b"/>
            <a:pathLst>
              <a:path w="3705225" h="1104900">
                <a:moveTo>
                  <a:pt x="76205" y="0"/>
                </a:moveTo>
                <a:lnTo>
                  <a:pt x="3629020" y="0"/>
                </a:lnTo>
                <a:cubicBezTo>
                  <a:pt x="3671106" y="0"/>
                  <a:pt x="3705225" y="34119"/>
                  <a:pt x="3705225" y="76205"/>
                </a:cubicBezTo>
                <a:lnTo>
                  <a:pt x="3705225" y="1028695"/>
                </a:lnTo>
                <a:cubicBezTo>
                  <a:pt x="3705225" y="1070781"/>
                  <a:pt x="3671106" y="1104900"/>
                  <a:pt x="3629020" y="1104900"/>
                </a:cubicBezTo>
                <a:lnTo>
                  <a:pt x="76205" y="1104900"/>
                </a:lnTo>
                <a:cubicBezTo>
                  <a:pt x="34119" y="1104900"/>
                  <a:pt x="0" y="1070781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4432190" y="152367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4565" y="1523674"/>
            <a:ext cx="476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B89A6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927395" y="1580759"/>
            <a:ext cx="2491557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Reduction computation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32190" y="2018881"/>
            <a:ext cx="34004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reduction within shared memory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8102544" y="1333230"/>
            <a:ext cx="3705225" cy="1104900"/>
          </a:xfrm>
          <a:custGeom>
            <a:avLst/>
            <a:gdLst/>
            <a:ahLst/>
            <a:cxnLst/>
            <a:rect l="l" t="t" r="r" b="b"/>
            <a:pathLst>
              <a:path w="3705225" h="1104900">
                <a:moveTo>
                  <a:pt x="76205" y="0"/>
                </a:moveTo>
                <a:lnTo>
                  <a:pt x="3629020" y="0"/>
                </a:lnTo>
                <a:cubicBezTo>
                  <a:pt x="3671106" y="0"/>
                  <a:pt x="3705225" y="34119"/>
                  <a:pt x="3705225" y="76205"/>
                </a:cubicBezTo>
                <a:lnTo>
                  <a:pt x="3705225" y="1028695"/>
                </a:lnTo>
                <a:cubicBezTo>
                  <a:pt x="3705225" y="1070781"/>
                  <a:pt x="3671106" y="1104900"/>
                  <a:pt x="3629020" y="1104900"/>
                </a:cubicBezTo>
                <a:lnTo>
                  <a:pt x="76205" y="1104900"/>
                </a:lnTo>
                <a:cubicBezTo>
                  <a:pt x="34119" y="1104900"/>
                  <a:pt x="0" y="1070781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Freeform 15"/>
          <p:cNvSpPr/>
          <p:nvPr/>
        </p:nvSpPr>
        <p:spPr>
          <a:xfrm>
            <a:off x="8292985" y="152367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39" y="0"/>
                  <a:pt x="381000" y="85361"/>
                  <a:pt x="381000" y="190500"/>
                </a:cubicBezTo>
                <a:lnTo>
                  <a:pt x="381000" y="190500"/>
                </a:lnTo>
                <a:cubicBezTo>
                  <a:pt x="381000" y="295639"/>
                  <a:pt x="295639" y="381000"/>
                  <a:pt x="190500" y="381000"/>
                </a:cubicBezTo>
                <a:lnTo>
                  <a:pt x="190500" y="381000"/>
                </a:lnTo>
                <a:cubicBezTo>
                  <a:pt x="85361" y="381000"/>
                  <a:pt x="0" y="295639"/>
                  <a:pt x="0" y="190500"/>
                </a:cubicBezTo>
                <a:lnTo>
                  <a:pt x="0" y="190500"/>
                </a:lnTo>
                <a:cubicBezTo>
                  <a:pt x="0" y="85361"/>
                  <a:pt x="85361" y="0"/>
                  <a:pt x="1905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45360" y="1523674"/>
            <a:ext cx="476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788189" y="1580759"/>
            <a:ext cx="2068009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Write back result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92985" y="2018881"/>
            <a:ext cx="34004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Final write to global memory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380956" y="2590279"/>
            <a:ext cx="11430000" cy="2705100"/>
          </a:xfrm>
          <a:custGeom>
            <a:avLst/>
            <a:gdLst/>
            <a:ahLst/>
            <a:cxnLst/>
            <a:rect l="l" t="t" r="r" b="b"/>
            <a:pathLst>
              <a:path w="11430000" h="2705100">
                <a:moveTo>
                  <a:pt x="76203" y="0"/>
                </a:moveTo>
                <a:lnTo>
                  <a:pt x="11353797" y="0"/>
                </a:lnTo>
                <a:cubicBezTo>
                  <a:pt x="11395883" y="0"/>
                  <a:pt x="11430000" y="34117"/>
                  <a:pt x="11430000" y="76203"/>
                </a:cubicBezTo>
                <a:lnTo>
                  <a:pt x="11430000" y="2628897"/>
                </a:lnTo>
                <a:cubicBezTo>
                  <a:pt x="11430000" y="2670983"/>
                  <a:pt x="11395883" y="2705100"/>
                  <a:pt x="11353797" y="2705100"/>
                </a:cubicBezTo>
                <a:lnTo>
                  <a:pt x="76203" y="2705100"/>
                </a:lnTo>
                <a:cubicBezTo>
                  <a:pt x="34117" y="2705100"/>
                  <a:pt x="0" y="2670983"/>
                  <a:pt x="0" y="26288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Freeform 20"/>
          <p:cNvSpPr/>
          <p:nvPr/>
        </p:nvSpPr>
        <p:spPr>
          <a:xfrm>
            <a:off x="595209" y="281877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35719"/>
                </a:moveTo>
                <a:cubicBezTo>
                  <a:pt x="190500" y="54397"/>
                  <a:pt x="168511" y="82266"/>
                  <a:pt x="159023" y="93389"/>
                </a:cubicBezTo>
                <a:cubicBezTo>
                  <a:pt x="157610" y="95026"/>
                  <a:pt x="155525" y="95659"/>
                  <a:pt x="153628" y="95250"/>
                </a:cubicBezTo>
                <a:lnTo>
                  <a:pt x="119063" y="95250"/>
                </a:lnTo>
                <a:cubicBezTo>
                  <a:pt x="112478" y="95250"/>
                  <a:pt x="107156" y="100571"/>
                  <a:pt x="107156" y="107156"/>
                </a:cubicBezTo>
                <a:cubicBezTo>
                  <a:pt x="107156" y="113742"/>
                  <a:pt x="112478" y="119063"/>
                  <a:pt x="119063" y="119063"/>
                </a:cubicBezTo>
                <a:lnTo>
                  <a:pt x="154781" y="119063"/>
                </a:lnTo>
                <a:cubicBezTo>
                  <a:pt x="174501" y="119063"/>
                  <a:pt x="190500" y="135062"/>
                  <a:pt x="190500" y="154781"/>
                </a:cubicBezTo>
                <a:cubicBezTo>
                  <a:pt x="190500" y="174501"/>
                  <a:pt x="174501" y="190500"/>
                  <a:pt x="154781" y="190500"/>
                </a:cubicBezTo>
                <a:lnTo>
                  <a:pt x="51940" y="190500"/>
                </a:lnTo>
                <a:cubicBezTo>
                  <a:pt x="55178" y="186817"/>
                  <a:pt x="59122" y="182091"/>
                  <a:pt x="63102" y="176808"/>
                </a:cubicBezTo>
                <a:cubicBezTo>
                  <a:pt x="65447" y="173681"/>
                  <a:pt x="67866" y="170259"/>
                  <a:pt x="70173" y="166687"/>
                </a:cubicBezTo>
                <a:lnTo>
                  <a:pt x="154781" y="166687"/>
                </a:lnTo>
                <a:cubicBezTo>
                  <a:pt x="161367" y="166687"/>
                  <a:pt x="166687" y="161367"/>
                  <a:pt x="166687" y="154781"/>
                </a:cubicBezTo>
                <a:cubicBezTo>
                  <a:pt x="166687" y="148196"/>
                  <a:pt x="161367" y="142875"/>
                  <a:pt x="154781" y="142875"/>
                </a:cubicBezTo>
                <a:lnTo>
                  <a:pt x="119063" y="142875"/>
                </a:lnTo>
                <a:cubicBezTo>
                  <a:pt x="99343" y="142875"/>
                  <a:pt x="83344" y="126876"/>
                  <a:pt x="83344" y="107156"/>
                </a:cubicBezTo>
                <a:cubicBezTo>
                  <a:pt x="83344" y="87437"/>
                  <a:pt x="99343" y="71437"/>
                  <a:pt x="119063" y="71437"/>
                </a:cubicBezTo>
                <a:lnTo>
                  <a:pt x="133871" y="71437"/>
                </a:lnTo>
                <a:cubicBezTo>
                  <a:pt x="126056" y="59717"/>
                  <a:pt x="119063" y="46248"/>
                  <a:pt x="119063" y="35719"/>
                </a:cubicBezTo>
                <a:cubicBezTo>
                  <a:pt x="119063" y="15999"/>
                  <a:pt x="135062" y="0"/>
                  <a:pt x="154781" y="0"/>
                </a:cubicBezTo>
                <a:cubicBezTo>
                  <a:pt x="174501" y="0"/>
                  <a:pt x="190500" y="15999"/>
                  <a:pt x="190500" y="35719"/>
                </a:cubicBezTo>
                <a:close/>
                <a:moveTo>
                  <a:pt x="43569" y="181980"/>
                </a:moveTo>
                <a:cubicBezTo>
                  <a:pt x="42156" y="183579"/>
                  <a:pt x="40891" y="184993"/>
                  <a:pt x="39812" y="186185"/>
                </a:cubicBezTo>
                <a:lnTo>
                  <a:pt x="39141" y="186927"/>
                </a:lnTo>
                <a:lnTo>
                  <a:pt x="39066" y="186854"/>
                </a:lnTo>
                <a:cubicBezTo>
                  <a:pt x="36835" y="188565"/>
                  <a:pt x="33635" y="188342"/>
                  <a:pt x="31626" y="186185"/>
                </a:cubicBezTo>
                <a:cubicBezTo>
                  <a:pt x="22250" y="175989"/>
                  <a:pt x="0" y="149758"/>
                  <a:pt x="0" y="130969"/>
                </a:cubicBezTo>
                <a:cubicBezTo>
                  <a:pt x="0" y="111249"/>
                  <a:pt x="15999" y="95250"/>
                  <a:pt x="35719" y="95250"/>
                </a:cubicBezTo>
                <a:cubicBezTo>
                  <a:pt x="55438" y="95250"/>
                  <a:pt x="71437" y="111249"/>
                  <a:pt x="71437" y="130969"/>
                </a:cubicBezTo>
                <a:cubicBezTo>
                  <a:pt x="71437" y="142131"/>
                  <a:pt x="63588" y="155898"/>
                  <a:pt x="55253" y="167394"/>
                </a:cubicBezTo>
                <a:cubicBezTo>
                  <a:pt x="51271" y="172864"/>
                  <a:pt x="47179" y="177811"/>
                  <a:pt x="43793" y="181719"/>
                </a:cubicBezTo>
                <a:lnTo>
                  <a:pt x="43569" y="181980"/>
                </a:lnTo>
                <a:close/>
                <a:moveTo>
                  <a:pt x="47625" y="130969"/>
                </a:moveTo>
                <a:cubicBezTo>
                  <a:pt x="47625" y="124398"/>
                  <a:pt x="42290" y="119063"/>
                  <a:pt x="35719" y="119063"/>
                </a:cubicBezTo>
                <a:cubicBezTo>
                  <a:pt x="29148" y="119063"/>
                  <a:pt x="23813" y="124398"/>
                  <a:pt x="23813" y="130969"/>
                </a:cubicBezTo>
                <a:cubicBezTo>
                  <a:pt x="23813" y="137540"/>
                  <a:pt x="29148" y="142875"/>
                  <a:pt x="35719" y="142875"/>
                </a:cubicBezTo>
                <a:cubicBezTo>
                  <a:pt x="42290" y="142875"/>
                  <a:pt x="47625" y="137540"/>
                  <a:pt x="47625" y="130969"/>
                </a:cubicBezTo>
                <a:close/>
                <a:moveTo>
                  <a:pt x="154781" y="47625"/>
                </a:moveTo>
                <a:cubicBezTo>
                  <a:pt x="161352" y="47625"/>
                  <a:pt x="166687" y="42290"/>
                  <a:pt x="166687" y="35719"/>
                </a:cubicBezTo>
                <a:cubicBezTo>
                  <a:pt x="166687" y="29148"/>
                  <a:pt x="161352" y="23813"/>
                  <a:pt x="154781" y="23813"/>
                </a:cubicBezTo>
                <a:cubicBezTo>
                  <a:pt x="148210" y="23813"/>
                  <a:pt x="142875" y="29148"/>
                  <a:pt x="142875" y="35719"/>
                </a:cubicBezTo>
                <a:cubicBezTo>
                  <a:pt x="142875" y="42290"/>
                  <a:pt x="148210" y="47625"/>
                  <a:pt x="154781" y="47625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09521" y="2780714"/>
            <a:ext cx="109061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Optimization Flow</a:t>
            </a:r>
            <a:endParaRPr lang="en-US" sz="1100"/>
          </a:p>
        </p:txBody>
      </p:sp>
      <p:sp>
        <p:nvSpPr>
          <p:cNvPr id="22" name="Freeform 22"/>
          <p:cNvSpPr/>
          <p:nvPr/>
        </p:nvSpPr>
        <p:spPr>
          <a:xfrm>
            <a:off x="3370624" y="3199805"/>
            <a:ext cx="1371600" cy="723900"/>
          </a:xfrm>
          <a:custGeom>
            <a:avLst/>
            <a:gdLst/>
            <a:ahLst/>
            <a:cxnLst/>
            <a:rect l="l" t="t" r="r" b="b"/>
            <a:pathLst>
              <a:path w="1371600" h="723900">
                <a:moveTo>
                  <a:pt x="76197" y="0"/>
                </a:moveTo>
                <a:lnTo>
                  <a:pt x="1295403" y="0"/>
                </a:lnTo>
                <a:cubicBezTo>
                  <a:pt x="1337457" y="0"/>
                  <a:pt x="1371600" y="34143"/>
                  <a:pt x="1371600" y="76197"/>
                </a:cubicBezTo>
                <a:lnTo>
                  <a:pt x="1371600" y="647703"/>
                </a:lnTo>
                <a:cubicBezTo>
                  <a:pt x="1371600" y="689757"/>
                  <a:pt x="1337457" y="723900"/>
                  <a:pt x="1295403" y="723900"/>
                </a:cubicBezTo>
                <a:lnTo>
                  <a:pt x="76197" y="723900"/>
                </a:lnTo>
                <a:cubicBezTo>
                  <a:pt x="34143" y="723900"/>
                  <a:pt x="0" y="689757"/>
                  <a:pt x="0" y="647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3484906" y="3352186"/>
            <a:ext cx="114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Global Memory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489668" y="3691224"/>
            <a:ext cx="1133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Input Data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337286" y="3999774"/>
            <a:ext cx="14382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Input Data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892003" y="3504493"/>
            <a:ext cx="5143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0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→</a:t>
            </a:r>
            <a:endParaRPr lang="en-US" sz="1100"/>
          </a:p>
        </p:txBody>
      </p:sp>
      <p:sp>
        <p:nvSpPr>
          <p:cNvPr id="27" name="Freeform 27"/>
          <p:cNvSpPr/>
          <p:nvPr/>
        </p:nvSpPr>
        <p:spPr>
          <a:xfrm>
            <a:off x="5387356" y="3199805"/>
            <a:ext cx="1419225" cy="723900"/>
          </a:xfrm>
          <a:custGeom>
            <a:avLst/>
            <a:gdLst/>
            <a:ahLst/>
            <a:cxnLst/>
            <a:rect l="l" t="t" r="r" b="b"/>
            <a:pathLst>
              <a:path w="1419225" h="723900">
                <a:moveTo>
                  <a:pt x="76197" y="0"/>
                </a:moveTo>
                <a:lnTo>
                  <a:pt x="1343028" y="0"/>
                </a:lnTo>
                <a:cubicBezTo>
                  <a:pt x="1385082" y="0"/>
                  <a:pt x="1419225" y="34143"/>
                  <a:pt x="1419225" y="76197"/>
                </a:cubicBezTo>
                <a:lnTo>
                  <a:pt x="1419225" y="647703"/>
                </a:lnTo>
                <a:cubicBezTo>
                  <a:pt x="1419225" y="689757"/>
                  <a:pt x="1385082" y="723900"/>
                  <a:pt x="1343028" y="723900"/>
                </a:cubicBezTo>
                <a:lnTo>
                  <a:pt x="76197" y="723900"/>
                </a:lnTo>
                <a:cubicBezTo>
                  <a:pt x="34143" y="723900"/>
                  <a:pt x="0" y="689757"/>
                  <a:pt x="0" y="647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B89A6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5501638" y="3352186"/>
            <a:ext cx="119062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Shared Memory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524812" y="3709635"/>
            <a:ext cx="11811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Load &amp; Reduce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354019" y="3999774"/>
            <a:ext cx="14859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Load &amp; Reduce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956937" y="3504493"/>
            <a:ext cx="5143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700" b="0" i="0" u="none" strike="noStrike">
                <a:solidFill>
                  <a:srgbClr val="8B263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→</a:t>
            </a:r>
            <a:endParaRPr lang="en-US" sz="1100"/>
          </a:p>
        </p:txBody>
      </p:sp>
      <p:sp>
        <p:nvSpPr>
          <p:cNvPr id="32" name="Freeform 32"/>
          <p:cNvSpPr/>
          <p:nvPr/>
        </p:nvSpPr>
        <p:spPr>
          <a:xfrm>
            <a:off x="7452290" y="3199805"/>
            <a:ext cx="1371600" cy="723900"/>
          </a:xfrm>
          <a:custGeom>
            <a:avLst/>
            <a:gdLst/>
            <a:ahLst/>
            <a:cxnLst/>
            <a:rect l="l" t="t" r="r" b="b"/>
            <a:pathLst>
              <a:path w="1371600" h="723900">
                <a:moveTo>
                  <a:pt x="76197" y="0"/>
                </a:moveTo>
                <a:lnTo>
                  <a:pt x="1295403" y="0"/>
                </a:lnTo>
                <a:cubicBezTo>
                  <a:pt x="1337457" y="0"/>
                  <a:pt x="1371600" y="34143"/>
                  <a:pt x="1371600" y="76197"/>
                </a:cubicBezTo>
                <a:lnTo>
                  <a:pt x="1371600" y="647703"/>
                </a:lnTo>
                <a:cubicBezTo>
                  <a:pt x="1371600" y="689757"/>
                  <a:pt x="1337457" y="723900"/>
                  <a:pt x="1295403" y="723900"/>
                </a:cubicBezTo>
                <a:lnTo>
                  <a:pt x="76197" y="723900"/>
                </a:lnTo>
                <a:cubicBezTo>
                  <a:pt x="34143" y="723900"/>
                  <a:pt x="0" y="689757"/>
                  <a:pt x="0" y="647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7566573" y="3352186"/>
            <a:ext cx="114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Global Memory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571336" y="3709635"/>
            <a:ext cx="11334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Output Result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418953" y="3999774"/>
            <a:ext cx="14382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Output Result</a:t>
            </a:r>
            <a:endParaRPr lang="en-US" sz="1100"/>
          </a:p>
        </p:txBody>
      </p:sp>
      <p:sp>
        <p:nvSpPr>
          <p:cNvPr id="36" name="Freeform 36"/>
          <p:cNvSpPr/>
          <p:nvPr/>
        </p:nvSpPr>
        <p:spPr>
          <a:xfrm>
            <a:off x="380956" y="5448514"/>
            <a:ext cx="11430000" cy="762000"/>
          </a:xfrm>
          <a:custGeom>
            <a:avLst/>
            <a:gdLst/>
            <a:ahLst/>
            <a:cxnLst/>
            <a:rect l="l" t="t" r="r" b="b"/>
            <a:pathLst>
              <a:path w="11430000" h="762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685800"/>
                </a:lnTo>
                <a:cubicBezTo>
                  <a:pt x="11430000" y="727856"/>
                  <a:pt x="11395856" y="762000"/>
                  <a:pt x="1135380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7" name="Freeform 37"/>
          <p:cNvSpPr/>
          <p:nvPr/>
        </p:nvSpPr>
        <p:spPr>
          <a:xfrm>
            <a:off x="561913" y="571514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3" y="228600"/>
                  <a:pt x="228600" y="177383"/>
                  <a:pt x="228600" y="114300"/>
                </a:cubicBezTo>
                <a:cubicBezTo>
                  <a:pt x="228600" y="51217"/>
                  <a:pt x="177383" y="0"/>
                  <a:pt x="114300" y="0"/>
                </a:cubicBezTo>
                <a:cubicBezTo>
                  <a:pt x="51217" y="0"/>
                  <a:pt x="0" y="51217"/>
                  <a:pt x="0" y="114300"/>
                </a:cubicBezTo>
                <a:cubicBezTo>
                  <a:pt x="0" y="177383"/>
                  <a:pt x="51217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3"/>
                  <a:pt x="107646" y="157163"/>
                </a:cubicBezTo>
                <a:cubicBezTo>
                  <a:pt x="104120" y="157342"/>
                  <a:pt x="100728" y="155734"/>
                  <a:pt x="98628" y="152876"/>
                </a:cubicBezTo>
                <a:lnTo>
                  <a:pt x="77197" y="124301"/>
                </a:lnTo>
                <a:cubicBezTo>
                  <a:pt x="73624" y="119569"/>
                  <a:pt x="74607" y="112871"/>
                  <a:pt x="79339" y="109299"/>
                </a:cubicBezTo>
                <a:cubicBezTo>
                  <a:pt x="84073" y="105727"/>
                  <a:pt x="90769" y="106710"/>
                  <a:pt x="94342" y="111442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6" y="78626"/>
                  <a:pt x="143546" y="77064"/>
                  <a:pt x="148590" y="80234"/>
                </a:cubicBezTo>
                <a:cubicBezTo>
                  <a:pt x="153634" y="83403"/>
                  <a:pt x="155153" y="89967"/>
                  <a:pt x="151983" y="95013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933323" y="5600895"/>
            <a:ext cx="25336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Optimization Advantage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33323" y="5867530"/>
            <a:ext cx="5162677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Reduces global memory accesses and improves parallel efficiency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314281" y="6286547"/>
            <a:ext cx="11496675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4601" y="614805"/>
            <a:ext cx="11699875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3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Reduction Kernel Example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17463" y="1111025"/>
            <a:ext cx="6858000" cy="5523973"/>
          </a:xfrm>
          <a:custGeom>
            <a:avLst/>
            <a:gdLst/>
            <a:ahLst/>
            <a:cxnLst/>
            <a:rect l="l" t="t" r="r" b="b"/>
            <a:pathLst>
              <a:path w="6858000" h="5523973">
                <a:moveTo>
                  <a:pt x="63492" y="0"/>
                </a:moveTo>
                <a:lnTo>
                  <a:pt x="6794508" y="0"/>
                </a:lnTo>
                <a:cubicBezTo>
                  <a:pt x="6829574" y="0"/>
                  <a:pt x="6858000" y="25894"/>
                  <a:pt x="6858000" y="57836"/>
                </a:cubicBezTo>
                <a:lnTo>
                  <a:pt x="6858000" y="5466137"/>
                </a:lnTo>
                <a:cubicBezTo>
                  <a:pt x="6858000" y="5498079"/>
                  <a:pt x="6829574" y="5523973"/>
                  <a:pt x="6794508" y="5523973"/>
                </a:cubicBezTo>
                <a:lnTo>
                  <a:pt x="63492" y="5523973"/>
                </a:lnTo>
                <a:cubicBezTo>
                  <a:pt x="28426" y="5523973"/>
                  <a:pt x="0" y="5498079"/>
                  <a:pt x="0" y="5466137"/>
                </a:cubicBezTo>
                <a:lnTo>
                  <a:pt x="0" y="57836"/>
                </a:lnTo>
                <a:cubicBezTo>
                  <a:pt x="0" y="25916"/>
                  <a:pt x="28451" y="0"/>
                  <a:pt x="63492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485124" y="1300293"/>
            <a:ext cx="180547" cy="161044"/>
          </a:xfrm>
          <a:custGeom>
            <a:avLst/>
            <a:gdLst/>
            <a:ahLst/>
            <a:cxnLst/>
            <a:rect l="l" t="t" r="r" b="b"/>
            <a:pathLst>
              <a:path w="180547" h="161044">
                <a:moveTo>
                  <a:pt x="112830" y="1519"/>
                </a:moveTo>
                <a:cubicBezTo>
                  <a:pt x="107558" y="0"/>
                  <a:pt x="102071" y="3069"/>
                  <a:pt x="100552" y="8340"/>
                </a:cubicBezTo>
                <a:lnTo>
                  <a:pt x="60864" y="147247"/>
                </a:lnTo>
                <a:cubicBezTo>
                  <a:pt x="59345" y="152518"/>
                  <a:pt x="62415" y="158006"/>
                  <a:pt x="67686" y="159525"/>
                </a:cubicBezTo>
                <a:cubicBezTo>
                  <a:pt x="72957" y="161044"/>
                  <a:pt x="78445" y="157975"/>
                  <a:pt x="79964" y="152704"/>
                </a:cubicBezTo>
                <a:lnTo>
                  <a:pt x="119651" y="13797"/>
                </a:lnTo>
                <a:cubicBezTo>
                  <a:pt x="121172" y="8526"/>
                  <a:pt x="118101" y="3038"/>
                  <a:pt x="112830" y="1519"/>
                </a:cubicBezTo>
                <a:close/>
                <a:moveTo>
                  <a:pt x="132859" y="43717"/>
                </a:moveTo>
                <a:cubicBezTo>
                  <a:pt x="128985" y="47593"/>
                  <a:pt x="128985" y="53888"/>
                  <a:pt x="132859" y="57764"/>
                </a:cubicBezTo>
                <a:lnTo>
                  <a:pt x="155618" y="80522"/>
                </a:lnTo>
                <a:lnTo>
                  <a:pt x="132859" y="103280"/>
                </a:lnTo>
                <a:cubicBezTo>
                  <a:pt x="128985" y="107156"/>
                  <a:pt x="128985" y="113451"/>
                  <a:pt x="132859" y="117327"/>
                </a:cubicBezTo>
                <a:cubicBezTo>
                  <a:pt x="136735" y="121201"/>
                  <a:pt x="143030" y="121201"/>
                  <a:pt x="146906" y="117327"/>
                </a:cubicBezTo>
                <a:lnTo>
                  <a:pt x="176671" y="87560"/>
                </a:lnTo>
                <a:cubicBezTo>
                  <a:pt x="180547" y="83686"/>
                  <a:pt x="180547" y="77390"/>
                  <a:pt x="176671" y="73515"/>
                </a:cubicBezTo>
                <a:lnTo>
                  <a:pt x="146906" y="43749"/>
                </a:lnTo>
                <a:cubicBezTo>
                  <a:pt x="143030" y="39873"/>
                  <a:pt x="136735" y="39873"/>
                  <a:pt x="132859" y="43749"/>
                </a:cubicBezTo>
                <a:close/>
                <a:moveTo>
                  <a:pt x="47687" y="43717"/>
                </a:moveTo>
                <a:cubicBezTo>
                  <a:pt x="43811" y="39843"/>
                  <a:pt x="37517" y="39843"/>
                  <a:pt x="33641" y="43717"/>
                </a:cubicBezTo>
                <a:lnTo>
                  <a:pt x="3876" y="73484"/>
                </a:lnTo>
                <a:cubicBezTo>
                  <a:pt x="0" y="77358"/>
                  <a:pt x="0" y="83654"/>
                  <a:pt x="3876" y="87529"/>
                </a:cubicBezTo>
                <a:lnTo>
                  <a:pt x="33641" y="117295"/>
                </a:lnTo>
                <a:cubicBezTo>
                  <a:pt x="37517" y="121171"/>
                  <a:pt x="43811" y="121171"/>
                  <a:pt x="47687" y="117295"/>
                </a:cubicBezTo>
                <a:cubicBezTo>
                  <a:pt x="51563" y="113419"/>
                  <a:pt x="51563" y="107125"/>
                  <a:pt x="47687" y="103249"/>
                </a:cubicBezTo>
                <a:lnTo>
                  <a:pt x="24928" y="80522"/>
                </a:lnTo>
                <a:lnTo>
                  <a:pt x="47656" y="57764"/>
                </a:lnTo>
                <a:cubicBezTo>
                  <a:pt x="51532" y="53888"/>
                  <a:pt x="51532" y="47593"/>
                  <a:pt x="47656" y="43717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74601" y="1269729"/>
            <a:ext cx="642143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CUDA Implementation Code</a:t>
            </a:r>
            <a:endParaRPr lang="en-US" sz="1100"/>
          </a:p>
        </p:txBody>
      </p:sp>
      <p:sp>
        <p:nvSpPr>
          <p:cNvPr id="6" name="Freeform 6"/>
          <p:cNvSpPr/>
          <p:nvPr/>
        </p:nvSpPr>
        <p:spPr>
          <a:xfrm>
            <a:off x="491960" y="1618971"/>
            <a:ext cx="6524546" cy="4952442"/>
          </a:xfrm>
          <a:custGeom>
            <a:avLst/>
            <a:gdLst/>
            <a:ahLst/>
            <a:cxnLst/>
            <a:rect l="l" t="t" r="r" b="b"/>
            <a:pathLst>
              <a:path w="6524546" h="4952442">
                <a:moveTo>
                  <a:pt x="31593" y="0"/>
                </a:moveTo>
                <a:lnTo>
                  <a:pt x="6461070" y="0"/>
                </a:lnTo>
                <a:cubicBezTo>
                  <a:pt x="6496127" y="0"/>
                  <a:pt x="6524546" y="26076"/>
                  <a:pt x="6524546" y="58241"/>
                </a:cubicBezTo>
                <a:lnTo>
                  <a:pt x="6524546" y="4894202"/>
                </a:lnTo>
                <a:cubicBezTo>
                  <a:pt x="6524546" y="4926367"/>
                  <a:pt x="6496127" y="4952442"/>
                  <a:pt x="6461070" y="4952442"/>
                </a:cubicBezTo>
                <a:lnTo>
                  <a:pt x="31593" y="4952442"/>
                </a:lnTo>
                <a:cubicBezTo>
                  <a:pt x="14144" y="4952442"/>
                  <a:pt x="0" y="4939464"/>
                  <a:pt x="0" y="4923455"/>
                </a:cubicBezTo>
                <a:lnTo>
                  <a:pt x="0" y="28986"/>
                </a:lnTo>
                <a:cubicBezTo>
                  <a:pt x="0" y="12988"/>
                  <a:pt x="14155" y="0"/>
                  <a:pt x="31593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491959" y="1618972"/>
            <a:ext cx="45719" cy="4990484"/>
          </a:xfrm>
          <a:custGeom>
            <a:avLst/>
            <a:gdLst/>
            <a:ahLst/>
            <a:cxnLst/>
            <a:rect l="l" t="t" r="r" b="b"/>
            <a:pathLst>
              <a:path w="45719" h="4990484">
                <a:moveTo>
                  <a:pt x="45719" y="0"/>
                </a:moveTo>
                <a:lnTo>
                  <a:pt x="45719" y="0"/>
                </a:lnTo>
                <a:lnTo>
                  <a:pt x="45719" y="4990484"/>
                </a:lnTo>
                <a:lnTo>
                  <a:pt x="45719" y="4990484"/>
                </a:lnTo>
                <a:cubicBezTo>
                  <a:pt x="20469" y="4990484"/>
                  <a:pt x="0" y="4977407"/>
                  <a:pt x="0" y="4961274"/>
                </a:cubicBezTo>
                <a:lnTo>
                  <a:pt x="0" y="29210"/>
                </a:lnTo>
                <a:cubicBezTo>
                  <a:pt x="0" y="13089"/>
                  <a:pt x="20486" y="0"/>
                  <a:pt x="45719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34741" y="1745955"/>
            <a:ext cx="6318250" cy="5143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__global__ void reduction_kernel(float* input, float* output, int n) {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   // Declare Shared Memory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__shared__ float sdata[256];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   // Get thread indices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int tid = threadIdx.x;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int i = blockIdx.x * blockDim.x + threadIdx.x;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   // Load data from Global Memory to Shared Memory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sdata[tid] = (i &lt; n) ? input[i] : 0;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   // Sync threads to ensure data is loaded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__syncthreads();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   // Perform reduction in Shared Memory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for(int s = blockDim.x/2; s &gt; 0; s &gt;&gt;= 1) {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    if(tid &lt; s) {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        sdata[tid] += sdata[tid + s];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    }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    __syncthreads();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}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    // Write result back to Global Memory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if(tid == 0) {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    output[blockIdx.x] = sdata[0];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    }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}</a:t>
            </a:r>
            <a:endParaRPr lang="en-US" sz="1000" b="0" i="0" u="none" strike="noStrike">
              <a:solidFill>
                <a:srgbClr val="1A1A1A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  <a:sym typeface="MiSans" panose="00000500000000000000" charset="-122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7365943" y="1111025"/>
            <a:ext cx="4508500" cy="3238500"/>
          </a:xfrm>
          <a:custGeom>
            <a:avLst/>
            <a:gdLst/>
            <a:ahLst/>
            <a:cxnLst/>
            <a:rect l="l" t="t" r="r" b="b"/>
            <a:pathLst>
              <a:path w="4508500" h="3238500">
                <a:moveTo>
                  <a:pt x="63508" y="0"/>
                </a:moveTo>
                <a:lnTo>
                  <a:pt x="4444992" y="0"/>
                </a:lnTo>
                <a:cubicBezTo>
                  <a:pt x="4480067" y="0"/>
                  <a:pt x="4508500" y="28433"/>
                  <a:pt x="4508500" y="63508"/>
                </a:cubicBezTo>
                <a:lnTo>
                  <a:pt x="4508500" y="3174992"/>
                </a:lnTo>
                <a:cubicBezTo>
                  <a:pt x="4508500" y="3210067"/>
                  <a:pt x="4480067" y="3238500"/>
                  <a:pt x="4444992" y="3238500"/>
                </a:cubicBezTo>
                <a:lnTo>
                  <a:pt x="63508" y="3238500"/>
                </a:lnTo>
                <a:cubicBezTo>
                  <a:pt x="28433" y="3238500"/>
                  <a:pt x="0" y="3210067"/>
                  <a:pt x="0" y="3174992"/>
                </a:cubicBezTo>
                <a:lnTo>
                  <a:pt x="0" y="63508"/>
                </a:lnTo>
                <a:cubicBezTo>
                  <a:pt x="0" y="28457"/>
                  <a:pt x="28457" y="0"/>
                  <a:pt x="63508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Freeform 10"/>
          <p:cNvSpPr/>
          <p:nvPr/>
        </p:nvSpPr>
        <p:spPr>
          <a:xfrm>
            <a:off x="7544488" y="130144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2" y="158750"/>
                  <a:pt x="158750" y="123182"/>
                  <a:pt x="158750" y="79375"/>
                </a:cubicBezTo>
                <a:cubicBezTo>
                  <a:pt x="158750" y="35568"/>
                  <a:pt x="123182" y="0"/>
                  <a:pt x="79375" y="0"/>
                </a:cubicBezTo>
                <a:cubicBezTo>
                  <a:pt x="35568" y="0"/>
                  <a:pt x="0" y="35568"/>
                  <a:pt x="0" y="79375"/>
                </a:cubicBezTo>
                <a:cubicBezTo>
                  <a:pt x="0" y="123182"/>
                  <a:pt x="35568" y="158750"/>
                  <a:pt x="79375" y="158750"/>
                </a:cubicBezTo>
                <a:close/>
                <a:moveTo>
                  <a:pt x="69452" y="49609"/>
                </a:moveTo>
                <a:cubicBezTo>
                  <a:pt x="69452" y="44132"/>
                  <a:pt x="73899" y="39688"/>
                  <a:pt x="79375" y="39688"/>
                </a:cubicBezTo>
                <a:cubicBezTo>
                  <a:pt x="84851" y="39688"/>
                  <a:pt x="89298" y="44132"/>
                  <a:pt x="89298" y="49609"/>
                </a:cubicBezTo>
                <a:cubicBezTo>
                  <a:pt x="89298" y="55085"/>
                  <a:pt x="84851" y="59531"/>
                  <a:pt x="79375" y="59531"/>
                </a:cubicBezTo>
                <a:cubicBezTo>
                  <a:pt x="73899" y="59531"/>
                  <a:pt x="69452" y="55085"/>
                  <a:pt x="69452" y="49609"/>
                </a:cubicBezTo>
                <a:close/>
                <a:moveTo>
                  <a:pt x="66973" y="69452"/>
                </a:moveTo>
                <a:lnTo>
                  <a:pt x="81855" y="69452"/>
                </a:lnTo>
                <a:cubicBezTo>
                  <a:pt x="85979" y="69452"/>
                  <a:pt x="89298" y="72771"/>
                  <a:pt x="89298" y="76895"/>
                </a:cubicBezTo>
                <a:lnTo>
                  <a:pt x="89298" y="104179"/>
                </a:lnTo>
                <a:lnTo>
                  <a:pt x="91777" y="104179"/>
                </a:lnTo>
                <a:cubicBezTo>
                  <a:pt x="95902" y="104179"/>
                  <a:pt x="99219" y="107497"/>
                  <a:pt x="99219" y="111622"/>
                </a:cubicBezTo>
                <a:cubicBezTo>
                  <a:pt x="99219" y="115745"/>
                  <a:pt x="95902" y="119062"/>
                  <a:pt x="91777" y="119062"/>
                </a:cubicBezTo>
                <a:lnTo>
                  <a:pt x="66973" y="119062"/>
                </a:lnTo>
                <a:cubicBezTo>
                  <a:pt x="62848" y="119062"/>
                  <a:pt x="59531" y="115745"/>
                  <a:pt x="59531" y="111622"/>
                </a:cubicBezTo>
                <a:cubicBezTo>
                  <a:pt x="59531" y="107497"/>
                  <a:pt x="62848" y="104179"/>
                  <a:pt x="66973" y="104179"/>
                </a:cubicBezTo>
                <a:lnTo>
                  <a:pt x="74414" y="104179"/>
                </a:lnTo>
                <a:lnTo>
                  <a:pt x="74414" y="84336"/>
                </a:lnTo>
                <a:lnTo>
                  <a:pt x="66973" y="84336"/>
                </a:lnTo>
                <a:cubicBezTo>
                  <a:pt x="62848" y="84336"/>
                  <a:pt x="59531" y="81018"/>
                  <a:pt x="59531" y="76895"/>
                </a:cubicBezTo>
                <a:cubicBezTo>
                  <a:pt x="59531" y="72771"/>
                  <a:pt x="62848" y="69452"/>
                  <a:pt x="66973" y="69452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723081" y="1269729"/>
            <a:ext cx="4071938" cy="222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Code Notes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7524644" y="1618971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19852" y="1714174"/>
            <a:ext cx="4064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Declare shared memory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19852" y="1936370"/>
            <a:ext cx="40560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__shared__ float sdata[256]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7524644" y="2285488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19852" y="2380692"/>
            <a:ext cx="4064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Load data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19852" y="2602888"/>
            <a:ext cx="40560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global → shared memory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7524644" y="2952006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19852" y="3047209"/>
            <a:ext cx="4064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Thread synchronization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19852" y="3269405"/>
            <a:ext cx="40560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__syncthreads()</a:t>
            </a:r>
            <a:endParaRPr lang="en-US" sz="1100"/>
          </a:p>
        </p:txBody>
      </p:sp>
      <p:sp>
        <p:nvSpPr>
          <p:cNvPr id="21" name="Freeform 21"/>
          <p:cNvSpPr/>
          <p:nvPr/>
        </p:nvSpPr>
        <p:spPr>
          <a:xfrm>
            <a:off x="7524644" y="3618523"/>
            <a:ext cx="4191000" cy="571500"/>
          </a:xfrm>
          <a:custGeom>
            <a:avLst/>
            <a:gdLst/>
            <a:ahLst/>
            <a:cxnLst/>
            <a:rect l="l" t="t" r="r" b="b"/>
            <a:pathLst>
              <a:path w="4191000" h="571500">
                <a:moveTo>
                  <a:pt x="63499" y="0"/>
                </a:moveTo>
                <a:lnTo>
                  <a:pt x="4127501" y="0"/>
                </a:lnTo>
                <a:cubicBezTo>
                  <a:pt x="4162570" y="0"/>
                  <a:pt x="4191000" y="28430"/>
                  <a:pt x="4191000" y="63499"/>
                </a:cubicBezTo>
                <a:lnTo>
                  <a:pt x="4191000" y="508001"/>
                </a:lnTo>
                <a:cubicBezTo>
                  <a:pt x="4191000" y="543070"/>
                  <a:pt x="4162570" y="571500"/>
                  <a:pt x="412750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19852" y="3713727"/>
            <a:ext cx="4064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Reduction loop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19852" y="3935923"/>
            <a:ext cx="40560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Halving reduction strategy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95250" y="6652561"/>
            <a:ext cx="11612563" cy="158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9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Code example: CUDA Reduction Kernel implementation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55142" y="633130"/>
            <a:ext cx="11631656" cy="3615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6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Optimization Effect Comparison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61470" y="1265046"/>
            <a:ext cx="2738455" cy="1446049"/>
          </a:xfrm>
          <a:custGeom>
            <a:avLst/>
            <a:gdLst/>
            <a:ahLst/>
            <a:cxnLst/>
            <a:rect l="l" t="t" r="r" b="b"/>
            <a:pathLst>
              <a:path w="2738455" h="1446049">
                <a:moveTo>
                  <a:pt x="72302" y="0"/>
                </a:moveTo>
                <a:lnTo>
                  <a:pt x="2666153" y="0"/>
                </a:lnTo>
                <a:cubicBezTo>
                  <a:pt x="2706084" y="0"/>
                  <a:pt x="2738455" y="32371"/>
                  <a:pt x="2738455" y="72302"/>
                </a:cubicBezTo>
                <a:lnTo>
                  <a:pt x="2738455" y="1373746"/>
                </a:lnTo>
                <a:cubicBezTo>
                  <a:pt x="2738455" y="1413678"/>
                  <a:pt x="2706084" y="1446049"/>
                  <a:pt x="2666153" y="1446049"/>
                </a:cubicBezTo>
                <a:lnTo>
                  <a:pt x="72302" y="1446049"/>
                </a:lnTo>
                <a:cubicBezTo>
                  <a:pt x="32371" y="1446049"/>
                  <a:pt x="0" y="1413678"/>
                  <a:pt x="0" y="1373746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4A4A4A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Freeform 4"/>
          <p:cNvSpPr/>
          <p:nvPr/>
        </p:nvSpPr>
        <p:spPr>
          <a:xfrm>
            <a:off x="564764" y="1481856"/>
            <a:ext cx="180757" cy="180757"/>
          </a:xfrm>
          <a:custGeom>
            <a:avLst/>
            <a:gdLst/>
            <a:ahLst/>
            <a:cxnLst/>
            <a:rect l="l" t="t" r="r" b="b"/>
            <a:pathLst>
              <a:path w="180757" h="180757">
                <a:moveTo>
                  <a:pt x="90378" y="180757"/>
                </a:moveTo>
                <a:cubicBezTo>
                  <a:pt x="140259" y="180757"/>
                  <a:pt x="180757" y="140259"/>
                  <a:pt x="180757" y="90378"/>
                </a:cubicBezTo>
                <a:cubicBezTo>
                  <a:pt x="180757" y="40496"/>
                  <a:pt x="140259" y="0"/>
                  <a:pt x="90378" y="0"/>
                </a:cubicBezTo>
                <a:cubicBezTo>
                  <a:pt x="40496" y="0"/>
                  <a:pt x="0" y="40496"/>
                  <a:pt x="0" y="90378"/>
                </a:cubicBezTo>
                <a:cubicBezTo>
                  <a:pt x="0" y="140259"/>
                  <a:pt x="40496" y="180757"/>
                  <a:pt x="90378" y="180757"/>
                </a:cubicBezTo>
                <a:close/>
                <a:moveTo>
                  <a:pt x="58958" y="58958"/>
                </a:moveTo>
                <a:cubicBezTo>
                  <a:pt x="62276" y="55639"/>
                  <a:pt x="67641" y="55639"/>
                  <a:pt x="70926" y="58958"/>
                </a:cubicBezTo>
                <a:lnTo>
                  <a:pt x="90343" y="78376"/>
                </a:lnTo>
                <a:lnTo>
                  <a:pt x="109760" y="58958"/>
                </a:lnTo>
                <a:cubicBezTo>
                  <a:pt x="113078" y="55639"/>
                  <a:pt x="118445" y="55639"/>
                  <a:pt x="121728" y="58958"/>
                </a:cubicBezTo>
                <a:cubicBezTo>
                  <a:pt x="125011" y="62276"/>
                  <a:pt x="125047" y="67641"/>
                  <a:pt x="121728" y="70926"/>
                </a:cubicBezTo>
                <a:lnTo>
                  <a:pt x="102311" y="90343"/>
                </a:lnTo>
                <a:lnTo>
                  <a:pt x="121728" y="109760"/>
                </a:lnTo>
                <a:cubicBezTo>
                  <a:pt x="125047" y="113078"/>
                  <a:pt x="125047" y="118445"/>
                  <a:pt x="121728" y="121728"/>
                </a:cubicBezTo>
                <a:cubicBezTo>
                  <a:pt x="118408" y="125011"/>
                  <a:pt x="113043" y="125047"/>
                  <a:pt x="109760" y="121728"/>
                </a:cubicBezTo>
                <a:lnTo>
                  <a:pt x="90343" y="102311"/>
                </a:lnTo>
                <a:lnTo>
                  <a:pt x="70926" y="121728"/>
                </a:lnTo>
                <a:cubicBezTo>
                  <a:pt x="67607" y="125047"/>
                  <a:pt x="62241" y="125047"/>
                  <a:pt x="58958" y="121728"/>
                </a:cubicBezTo>
                <a:cubicBezTo>
                  <a:pt x="55674" y="118408"/>
                  <a:pt x="55639" y="113043"/>
                  <a:pt x="58958" y="109760"/>
                </a:cubicBezTo>
                <a:lnTo>
                  <a:pt x="78376" y="90343"/>
                </a:lnTo>
                <a:lnTo>
                  <a:pt x="58958" y="70926"/>
                </a:lnTo>
                <a:cubicBezTo>
                  <a:pt x="55639" y="67607"/>
                  <a:pt x="55639" y="62241"/>
                  <a:pt x="58958" y="5895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8115" y="1445740"/>
            <a:ext cx="2241376" cy="2530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Naive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3716" y="1807217"/>
            <a:ext cx="2593850" cy="4338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83000"/>
              </a:lnSpc>
              <a:defRPr/>
            </a:pPr>
            <a:r>
              <a:rPr lang="en-US" sz="3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Slow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6019" y="2313343"/>
            <a:ext cx="2449245" cy="2169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Frequent global memory accesses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3247540" y="1265046"/>
            <a:ext cx="2738455" cy="1446049"/>
          </a:xfrm>
          <a:custGeom>
            <a:avLst/>
            <a:gdLst/>
            <a:ahLst/>
            <a:cxnLst/>
            <a:rect l="l" t="t" r="r" b="b"/>
            <a:pathLst>
              <a:path w="2738455" h="1446049">
                <a:moveTo>
                  <a:pt x="72302" y="0"/>
                </a:moveTo>
                <a:lnTo>
                  <a:pt x="2666153" y="0"/>
                </a:lnTo>
                <a:cubicBezTo>
                  <a:pt x="2706084" y="0"/>
                  <a:pt x="2738455" y="32371"/>
                  <a:pt x="2738455" y="72302"/>
                </a:cubicBezTo>
                <a:lnTo>
                  <a:pt x="2738455" y="1373746"/>
                </a:lnTo>
                <a:cubicBezTo>
                  <a:pt x="2738455" y="1413678"/>
                  <a:pt x="2706084" y="1446049"/>
                  <a:pt x="2666153" y="1446049"/>
                </a:cubicBezTo>
                <a:lnTo>
                  <a:pt x="72302" y="1446049"/>
                </a:lnTo>
                <a:cubicBezTo>
                  <a:pt x="32371" y="1446049"/>
                  <a:pt x="0" y="1413678"/>
                  <a:pt x="0" y="1373746"/>
                </a:cubicBezTo>
                <a:lnTo>
                  <a:pt x="0" y="72302"/>
                </a:lnTo>
                <a:cubicBezTo>
                  <a:pt x="0" y="32371"/>
                  <a:pt x="32371" y="0"/>
                  <a:pt x="72302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Freeform 9"/>
          <p:cNvSpPr/>
          <p:nvPr/>
        </p:nvSpPr>
        <p:spPr>
          <a:xfrm>
            <a:off x="3450834" y="1481856"/>
            <a:ext cx="180757" cy="180757"/>
          </a:xfrm>
          <a:custGeom>
            <a:avLst/>
            <a:gdLst/>
            <a:ahLst/>
            <a:cxnLst/>
            <a:rect l="l" t="t" r="r" b="b"/>
            <a:pathLst>
              <a:path w="180757" h="180757">
                <a:moveTo>
                  <a:pt x="90378" y="180757"/>
                </a:moveTo>
                <a:cubicBezTo>
                  <a:pt x="140259" y="180757"/>
                  <a:pt x="180757" y="140259"/>
                  <a:pt x="180757" y="90378"/>
                </a:cubicBezTo>
                <a:cubicBezTo>
                  <a:pt x="180757" y="40496"/>
                  <a:pt x="140259" y="0"/>
                  <a:pt x="90378" y="0"/>
                </a:cubicBezTo>
                <a:cubicBezTo>
                  <a:pt x="40496" y="0"/>
                  <a:pt x="0" y="40496"/>
                  <a:pt x="0" y="90378"/>
                </a:cubicBezTo>
                <a:cubicBezTo>
                  <a:pt x="0" y="140259"/>
                  <a:pt x="40496" y="180757"/>
                  <a:pt x="90378" y="180757"/>
                </a:cubicBezTo>
                <a:close/>
                <a:moveTo>
                  <a:pt x="120175" y="75091"/>
                </a:moveTo>
                <a:lnTo>
                  <a:pt x="91931" y="120280"/>
                </a:lnTo>
                <a:cubicBezTo>
                  <a:pt x="90449" y="122646"/>
                  <a:pt x="87907" y="124129"/>
                  <a:pt x="85118" y="124270"/>
                </a:cubicBezTo>
                <a:cubicBezTo>
                  <a:pt x="82329" y="124410"/>
                  <a:pt x="79646" y="123140"/>
                  <a:pt x="77986" y="120881"/>
                </a:cubicBezTo>
                <a:lnTo>
                  <a:pt x="61040" y="98287"/>
                </a:lnTo>
                <a:cubicBezTo>
                  <a:pt x="58216" y="94544"/>
                  <a:pt x="58993" y="89248"/>
                  <a:pt x="62735" y="86424"/>
                </a:cubicBezTo>
                <a:cubicBezTo>
                  <a:pt x="66477" y="83600"/>
                  <a:pt x="71773" y="84376"/>
                  <a:pt x="74597" y="88119"/>
                </a:cubicBezTo>
                <a:lnTo>
                  <a:pt x="84129" y="100828"/>
                </a:lnTo>
                <a:lnTo>
                  <a:pt x="105806" y="66124"/>
                </a:lnTo>
                <a:cubicBezTo>
                  <a:pt x="108276" y="62170"/>
                  <a:pt x="113502" y="60935"/>
                  <a:pt x="117492" y="63442"/>
                </a:cubicBezTo>
                <a:cubicBezTo>
                  <a:pt x="121481" y="65949"/>
                  <a:pt x="122681" y="71137"/>
                  <a:pt x="120175" y="75127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654185" y="1445740"/>
            <a:ext cx="2241376" cy="2530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Optimized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19786" y="1807217"/>
            <a:ext cx="2593850" cy="4338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83000"/>
              </a:lnSpc>
              <a:defRPr/>
            </a:pPr>
            <a:r>
              <a:rPr lang="en-US" sz="34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Fast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392089" y="2313343"/>
            <a:ext cx="2449245" cy="2169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Using shared memory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361470" y="2855514"/>
            <a:ext cx="5630553" cy="3967597"/>
          </a:xfrm>
          <a:custGeom>
            <a:avLst/>
            <a:gdLst/>
            <a:ahLst/>
            <a:cxnLst/>
            <a:rect l="l" t="t" r="r" b="b"/>
            <a:pathLst>
              <a:path w="5630553" h="3967597">
                <a:moveTo>
                  <a:pt x="72290" y="0"/>
                </a:moveTo>
                <a:lnTo>
                  <a:pt x="5558263" y="0"/>
                </a:lnTo>
                <a:cubicBezTo>
                  <a:pt x="5598188" y="0"/>
                  <a:pt x="5630553" y="32365"/>
                  <a:pt x="5630553" y="72290"/>
                </a:cubicBezTo>
                <a:lnTo>
                  <a:pt x="5630553" y="3895307"/>
                </a:lnTo>
                <a:cubicBezTo>
                  <a:pt x="5630553" y="3935232"/>
                  <a:pt x="5598188" y="3967597"/>
                  <a:pt x="5558263" y="3967597"/>
                </a:cubicBezTo>
                <a:lnTo>
                  <a:pt x="72290" y="3967597"/>
                </a:lnTo>
                <a:cubicBezTo>
                  <a:pt x="32365" y="3967597"/>
                  <a:pt x="0" y="3935232"/>
                  <a:pt x="0" y="3895307"/>
                </a:cubicBezTo>
                <a:lnTo>
                  <a:pt x="0" y="72290"/>
                </a:lnTo>
                <a:cubicBezTo>
                  <a:pt x="0" y="32365"/>
                  <a:pt x="32365" y="0"/>
                  <a:pt x="72290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Freeform 14"/>
          <p:cNvSpPr/>
          <p:nvPr/>
        </p:nvSpPr>
        <p:spPr>
          <a:xfrm>
            <a:off x="564764" y="3072324"/>
            <a:ext cx="180757" cy="180757"/>
          </a:xfrm>
          <a:custGeom>
            <a:avLst/>
            <a:gdLst/>
            <a:ahLst/>
            <a:cxnLst/>
            <a:rect l="l" t="t" r="r" b="b"/>
            <a:pathLst>
              <a:path w="180757" h="180757">
                <a:moveTo>
                  <a:pt x="0" y="90378"/>
                </a:moveTo>
                <a:cubicBezTo>
                  <a:pt x="0" y="40496"/>
                  <a:pt x="40496" y="0"/>
                  <a:pt x="90378" y="0"/>
                </a:cubicBezTo>
                <a:cubicBezTo>
                  <a:pt x="140259" y="0"/>
                  <a:pt x="180757" y="40496"/>
                  <a:pt x="180757" y="90378"/>
                </a:cubicBezTo>
                <a:cubicBezTo>
                  <a:pt x="180757" y="140259"/>
                  <a:pt x="140259" y="180757"/>
                  <a:pt x="90378" y="180757"/>
                </a:cubicBezTo>
                <a:cubicBezTo>
                  <a:pt x="40496" y="180757"/>
                  <a:pt x="0" y="140259"/>
                  <a:pt x="0" y="90378"/>
                </a:cubicBezTo>
                <a:close/>
                <a:moveTo>
                  <a:pt x="101675" y="33892"/>
                </a:moveTo>
                <a:cubicBezTo>
                  <a:pt x="101675" y="27657"/>
                  <a:pt x="96613" y="22595"/>
                  <a:pt x="90378" y="22595"/>
                </a:cubicBezTo>
                <a:cubicBezTo>
                  <a:pt x="84143" y="22595"/>
                  <a:pt x="79082" y="27657"/>
                  <a:pt x="79082" y="33892"/>
                </a:cubicBezTo>
                <a:cubicBezTo>
                  <a:pt x="79082" y="40127"/>
                  <a:pt x="84143" y="45189"/>
                  <a:pt x="90378" y="45189"/>
                </a:cubicBezTo>
                <a:cubicBezTo>
                  <a:pt x="96613" y="45189"/>
                  <a:pt x="101675" y="40127"/>
                  <a:pt x="101675" y="33892"/>
                </a:cubicBezTo>
                <a:close/>
                <a:moveTo>
                  <a:pt x="90378" y="146864"/>
                </a:moveTo>
                <a:cubicBezTo>
                  <a:pt x="102840" y="146864"/>
                  <a:pt x="112973" y="136732"/>
                  <a:pt x="112973" y="124270"/>
                </a:cubicBezTo>
                <a:cubicBezTo>
                  <a:pt x="112973" y="118551"/>
                  <a:pt x="110854" y="113290"/>
                  <a:pt x="107324" y="109336"/>
                </a:cubicBezTo>
                <a:lnTo>
                  <a:pt x="131860" y="60300"/>
                </a:lnTo>
                <a:cubicBezTo>
                  <a:pt x="133943" y="56098"/>
                  <a:pt x="132249" y="51015"/>
                  <a:pt x="128083" y="48931"/>
                </a:cubicBezTo>
                <a:cubicBezTo>
                  <a:pt x="123916" y="46848"/>
                  <a:pt x="118798" y="48543"/>
                  <a:pt x="116716" y="52709"/>
                </a:cubicBezTo>
                <a:lnTo>
                  <a:pt x="92179" y="101746"/>
                </a:lnTo>
                <a:cubicBezTo>
                  <a:pt x="91578" y="101710"/>
                  <a:pt x="90978" y="101675"/>
                  <a:pt x="90378" y="101675"/>
                </a:cubicBezTo>
                <a:cubicBezTo>
                  <a:pt x="77916" y="101675"/>
                  <a:pt x="67784" y="111808"/>
                  <a:pt x="67784" y="124270"/>
                </a:cubicBezTo>
                <a:cubicBezTo>
                  <a:pt x="67784" y="136732"/>
                  <a:pt x="77916" y="146864"/>
                  <a:pt x="90378" y="146864"/>
                </a:cubicBezTo>
                <a:close/>
                <a:moveTo>
                  <a:pt x="62135" y="50838"/>
                </a:moveTo>
                <a:cubicBezTo>
                  <a:pt x="62135" y="44602"/>
                  <a:pt x="57073" y="39540"/>
                  <a:pt x="50838" y="39540"/>
                </a:cubicBezTo>
                <a:cubicBezTo>
                  <a:pt x="44602" y="39540"/>
                  <a:pt x="39540" y="44602"/>
                  <a:pt x="39540" y="50838"/>
                </a:cubicBezTo>
                <a:cubicBezTo>
                  <a:pt x="39540" y="57073"/>
                  <a:pt x="44602" y="62135"/>
                  <a:pt x="50838" y="62135"/>
                </a:cubicBezTo>
                <a:cubicBezTo>
                  <a:pt x="57073" y="62135"/>
                  <a:pt x="62135" y="57073"/>
                  <a:pt x="62135" y="50838"/>
                </a:cubicBezTo>
                <a:close/>
                <a:moveTo>
                  <a:pt x="33892" y="101675"/>
                </a:moveTo>
                <a:cubicBezTo>
                  <a:pt x="40127" y="101675"/>
                  <a:pt x="45189" y="96613"/>
                  <a:pt x="45189" y="90378"/>
                </a:cubicBezTo>
                <a:cubicBezTo>
                  <a:pt x="45189" y="84143"/>
                  <a:pt x="40127" y="79082"/>
                  <a:pt x="33892" y="79082"/>
                </a:cubicBezTo>
                <a:cubicBezTo>
                  <a:pt x="27657" y="79082"/>
                  <a:pt x="22595" y="84143"/>
                  <a:pt x="22595" y="90378"/>
                </a:cubicBezTo>
                <a:cubicBezTo>
                  <a:pt x="22595" y="96613"/>
                  <a:pt x="27657" y="101675"/>
                  <a:pt x="33892" y="101675"/>
                </a:cubicBezTo>
                <a:close/>
                <a:moveTo>
                  <a:pt x="158162" y="90378"/>
                </a:moveTo>
                <a:cubicBezTo>
                  <a:pt x="158162" y="84143"/>
                  <a:pt x="153098" y="79082"/>
                  <a:pt x="146864" y="79082"/>
                </a:cubicBezTo>
                <a:cubicBezTo>
                  <a:pt x="140628" y="79082"/>
                  <a:pt x="135567" y="84143"/>
                  <a:pt x="135567" y="90378"/>
                </a:cubicBezTo>
                <a:cubicBezTo>
                  <a:pt x="135567" y="96613"/>
                  <a:pt x="140628" y="101675"/>
                  <a:pt x="146864" y="101675"/>
                </a:cubicBezTo>
                <a:cubicBezTo>
                  <a:pt x="153098" y="101675"/>
                  <a:pt x="158162" y="96613"/>
                  <a:pt x="158162" y="90378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8115" y="3036208"/>
            <a:ext cx="5133474" cy="2530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Performance improvement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542170" y="3433863"/>
            <a:ext cx="5269041" cy="1301444"/>
          </a:xfrm>
          <a:custGeom>
            <a:avLst/>
            <a:gdLst/>
            <a:ahLst/>
            <a:cxnLst/>
            <a:rect l="l" t="t" r="r" b="b"/>
            <a:pathLst>
              <a:path w="5269041" h="1301444">
                <a:moveTo>
                  <a:pt x="72307" y="0"/>
                </a:moveTo>
                <a:lnTo>
                  <a:pt x="5196733" y="0"/>
                </a:lnTo>
                <a:cubicBezTo>
                  <a:pt x="5236667" y="0"/>
                  <a:pt x="5269041" y="32374"/>
                  <a:pt x="5269041" y="72307"/>
                </a:cubicBezTo>
                <a:lnTo>
                  <a:pt x="5269041" y="1229136"/>
                </a:lnTo>
                <a:cubicBezTo>
                  <a:pt x="5269041" y="1269072"/>
                  <a:pt x="5236667" y="1301444"/>
                  <a:pt x="5196733" y="1301444"/>
                </a:cubicBezTo>
                <a:lnTo>
                  <a:pt x="72307" y="1301444"/>
                </a:lnTo>
                <a:cubicBezTo>
                  <a:pt x="32400" y="1301444"/>
                  <a:pt x="0" y="1269044"/>
                  <a:pt x="0" y="1229136"/>
                </a:cubicBezTo>
                <a:lnTo>
                  <a:pt x="0" y="72307"/>
                </a:lnTo>
                <a:cubicBezTo>
                  <a:pt x="0" y="32374"/>
                  <a:pt x="32374" y="0"/>
                  <a:pt x="72307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3485" y="3650744"/>
            <a:ext cx="5106360" cy="54226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83000"/>
              </a:lnSpc>
              <a:defRPr/>
            </a:pPr>
            <a:r>
              <a:rPr lang="en-US" sz="43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10-50×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8382" y="4265279"/>
            <a:ext cx="4916566" cy="2530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Performance improvement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6205904" y="1265046"/>
            <a:ext cx="5630553" cy="3895294"/>
          </a:xfrm>
          <a:custGeom>
            <a:avLst/>
            <a:gdLst/>
            <a:ahLst/>
            <a:cxnLst/>
            <a:rect l="l" t="t" r="r" b="b"/>
            <a:pathLst>
              <a:path w="5630553" h="3895294">
                <a:moveTo>
                  <a:pt x="72297" y="0"/>
                </a:moveTo>
                <a:lnTo>
                  <a:pt x="5558257" y="0"/>
                </a:lnTo>
                <a:cubicBezTo>
                  <a:pt x="5598185" y="0"/>
                  <a:pt x="5630553" y="32368"/>
                  <a:pt x="5630553" y="72297"/>
                </a:cubicBezTo>
                <a:lnTo>
                  <a:pt x="5630553" y="3822998"/>
                </a:lnTo>
                <a:cubicBezTo>
                  <a:pt x="5630553" y="3862926"/>
                  <a:pt x="5598185" y="3895294"/>
                  <a:pt x="5558257" y="3895294"/>
                </a:cubicBezTo>
                <a:lnTo>
                  <a:pt x="72297" y="3895294"/>
                </a:lnTo>
                <a:cubicBezTo>
                  <a:pt x="32368" y="3895294"/>
                  <a:pt x="0" y="3862926"/>
                  <a:pt x="0" y="3822998"/>
                </a:cubicBezTo>
                <a:lnTo>
                  <a:pt x="0" y="72297"/>
                </a:lnTo>
                <a:cubicBezTo>
                  <a:pt x="0" y="32395"/>
                  <a:pt x="32395" y="0"/>
                  <a:pt x="72297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rcRect t="3" b="2"/>
          <a:stretch>
            <a:fillRect/>
          </a:stretch>
        </p:blipFill>
        <p:spPr>
          <a:xfrm>
            <a:off x="6386674" y="1445740"/>
            <a:ext cx="5269041" cy="3533782"/>
          </a:xfrm>
          <a:prstGeom prst="roundRect">
            <a:avLst>
              <a:gd name="adj" fmla="val 1023"/>
            </a:avLst>
          </a:prstGeom>
          <a:ln w="12700">
            <a:noFill/>
            <a:prstDash val="solid"/>
          </a:ln>
        </p:spPr>
      </p:pic>
      <p:sp>
        <p:nvSpPr>
          <p:cNvPr id="21" name="Freeform 21"/>
          <p:cNvSpPr/>
          <p:nvPr/>
        </p:nvSpPr>
        <p:spPr>
          <a:xfrm>
            <a:off x="6205904" y="5303109"/>
            <a:ext cx="5630553" cy="1518351"/>
          </a:xfrm>
          <a:custGeom>
            <a:avLst/>
            <a:gdLst/>
            <a:ahLst/>
            <a:cxnLst/>
            <a:rect l="l" t="t" r="r" b="b"/>
            <a:pathLst>
              <a:path w="5630553" h="1518351">
                <a:moveTo>
                  <a:pt x="72304" y="0"/>
                </a:moveTo>
                <a:lnTo>
                  <a:pt x="5558249" y="0"/>
                </a:lnTo>
                <a:cubicBezTo>
                  <a:pt x="5598182" y="0"/>
                  <a:pt x="5630553" y="32372"/>
                  <a:pt x="5630553" y="72304"/>
                </a:cubicBezTo>
                <a:lnTo>
                  <a:pt x="5630553" y="1446047"/>
                </a:lnTo>
                <a:cubicBezTo>
                  <a:pt x="5630553" y="1485980"/>
                  <a:pt x="5598182" y="1518351"/>
                  <a:pt x="5558249" y="1518351"/>
                </a:cubicBezTo>
                <a:lnTo>
                  <a:pt x="72304" y="1518351"/>
                </a:lnTo>
                <a:cubicBezTo>
                  <a:pt x="32372" y="1518351"/>
                  <a:pt x="0" y="1485980"/>
                  <a:pt x="0" y="1446047"/>
                </a:cubicBezTo>
                <a:lnTo>
                  <a:pt x="0" y="72304"/>
                </a:lnTo>
                <a:cubicBezTo>
                  <a:pt x="0" y="32372"/>
                  <a:pt x="32372" y="0"/>
                  <a:pt x="72304" y="0"/>
                </a:cubicBezTo>
                <a:close/>
              </a:path>
            </a:pathLst>
          </a:custGeom>
          <a:solidFill>
            <a:srgbClr val="F8F8F8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6431793" y="5519919"/>
            <a:ext cx="135567" cy="186406"/>
          </a:xfrm>
          <a:custGeom>
            <a:avLst/>
            <a:gdLst/>
            <a:ahLst/>
            <a:cxnLst/>
            <a:rect l="l" t="t" r="r" b="b"/>
            <a:pathLst>
              <a:path w="135567" h="186406">
                <a:moveTo>
                  <a:pt x="103405" y="135567"/>
                </a:moveTo>
                <a:cubicBezTo>
                  <a:pt x="105981" y="127693"/>
                  <a:pt x="111136" y="120562"/>
                  <a:pt x="116962" y="114419"/>
                </a:cubicBezTo>
                <a:cubicBezTo>
                  <a:pt x="128506" y="102274"/>
                  <a:pt x="135567" y="85860"/>
                  <a:pt x="135567" y="67784"/>
                </a:cubicBezTo>
                <a:cubicBezTo>
                  <a:pt x="135567" y="30361"/>
                  <a:pt x="105206" y="0"/>
                  <a:pt x="67784" y="0"/>
                </a:cubicBezTo>
                <a:cubicBezTo>
                  <a:pt x="30361" y="0"/>
                  <a:pt x="0" y="30361"/>
                  <a:pt x="0" y="67784"/>
                </a:cubicBezTo>
                <a:cubicBezTo>
                  <a:pt x="0" y="85860"/>
                  <a:pt x="7061" y="102274"/>
                  <a:pt x="18605" y="114419"/>
                </a:cubicBezTo>
                <a:cubicBezTo>
                  <a:pt x="24430" y="120562"/>
                  <a:pt x="29620" y="127693"/>
                  <a:pt x="32161" y="135567"/>
                </a:cubicBezTo>
                <a:lnTo>
                  <a:pt x="103370" y="135567"/>
                </a:lnTo>
                <a:close/>
                <a:moveTo>
                  <a:pt x="101675" y="152513"/>
                </a:moveTo>
                <a:lnTo>
                  <a:pt x="33892" y="152513"/>
                </a:lnTo>
                <a:lnTo>
                  <a:pt x="33892" y="158162"/>
                </a:lnTo>
                <a:cubicBezTo>
                  <a:pt x="33892" y="173766"/>
                  <a:pt x="46532" y="186406"/>
                  <a:pt x="62135" y="186406"/>
                </a:cubicBezTo>
                <a:lnTo>
                  <a:pt x="73431" y="186406"/>
                </a:lnTo>
                <a:cubicBezTo>
                  <a:pt x="89037" y="186406"/>
                  <a:pt x="101675" y="173766"/>
                  <a:pt x="101675" y="158162"/>
                </a:cubicBezTo>
                <a:lnTo>
                  <a:pt x="101675" y="152513"/>
                </a:lnTo>
                <a:close/>
                <a:moveTo>
                  <a:pt x="64959" y="39540"/>
                </a:moveTo>
                <a:cubicBezTo>
                  <a:pt x="50908" y="39540"/>
                  <a:pt x="39540" y="50908"/>
                  <a:pt x="39540" y="64959"/>
                </a:cubicBezTo>
                <a:cubicBezTo>
                  <a:pt x="39540" y="69654"/>
                  <a:pt x="35763" y="73431"/>
                  <a:pt x="31067" y="73431"/>
                </a:cubicBezTo>
                <a:cubicBezTo>
                  <a:pt x="26372" y="73431"/>
                  <a:pt x="22595" y="69654"/>
                  <a:pt x="22595" y="64959"/>
                </a:cubicBezTo>
                <a:cubicBezTo>
                  <a:pt x="22595" y="41553"/>
                  <a:pt x="41553" y="22595"/>
                  <a:pt x="64959" y="22595"/>
                </a:cubicBezTo>
                <a:cubicBezTo>
                  <a:pt x="69654" y="22595"/>
                  <a:pt x="73431" y="26372"/>
                  <a:pt x="73431" y="31067"/>
                </a:cubicBezTo>
                <a:cubicBezTo>
                  <a:pt x="73431" y="35763"/>
                  <a:pt x="69654" y="39540"/>
                  <a:pt x="64959" y="3954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612549" y="5483812"/>
            <a:ext cx="5133474" cy="25305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A1A1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Reasons for Improvement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6386604" y="5917574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31191" y="5845280"/>
            <a:ext cx="3330827" cy="1807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Reduced global memory access</a:t>
            </a:r>
            <a:endParaRPr lang="en-US" sz="1100"/>
          </a:p>
        </p:txBody>
      </p:sp>
      <p:sp>
        <p:nvSpPr>
          <p:cNvPr id="26" name="Freeform 26"/>
          <p:cNvSpPr/>
          <p:nvPr/>
        </p:nvSpPr>
        <p:spPr>
          <a:xfrm>
            <a:off x="6386604" y="6206748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531191" y="6134455"/>
            <a:ext cx="2931927" cy="1807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Improved parallel efficiency</a:t>
            </a:r>
            <a:endParaRPr lang="en-US" sz="1100"/>
          </a:p>
        </p:txBody>
      </p:sp>
      <p:sp>
        <p:nvSpPr>
          <p:cNvPr id="28" name="Freeform 28"/>
          <p:cNvSpPr/>
          <p:nvPr/>
        </p:nvSpPr>
        <p:spPr>
          <a:xfrm>
            <a:off x="6386604" y="6495923"/>
            <a:ext cx="72302" cy="72302"/>
          </a:xfrm>
          <a:custGeom>
            <a:avLst/>
            <a:gdLst/>
            <a:ahLst/>
            <a:cxnLst/>
            <a:rect l="l" t="t" r="r" b="b"/>
            <a:pathLst>
              <a:path w="72302" h="72302">
                <a:moveTo>
                  <a:pt x="36151" y="0"/>
                </a:moveTo>
                <a:lnTo>
                  <a:pt x="36151" y="0"/>
                </a:lnTo>
                <a:cubicBezTo>
                  <a:pt x="56117" y="0"/>
                  <a:pt x="72302" y="16185"/>
                  <a:pt x="72302" y="36151"/>
                </a:cubicBezTo>
                <a:lnTo>
                  <a:pt x="72302" y="36151"/>
                </a:lnTo>
                <a:cubicBezTo>
                  <a:pt x="72302" y="56117"/>
                  <a:pt x="56117" y="72302"/>
                  <a:pt x="36151" y="72302"/>
                </a:cubicBezTo>
                <a:lnTo>
                  <a:pt x="36151" y="72302"/>
                </a:lnTo>
                <a:cubicBezTo>
                  <a:pt x="16185" y="72302"/>
                  <a:pt x="0" y="56117"/>
                  <a:pt x="0" y="36151"/>
                </a:cubicBezTo>
                <a:lnTo>
                  <a:pt x="0" y="36151"/>
                </a:lnTo>
                <a:cubicBezTo>
                  <a:pt x="0" y="16185"/>
                  <a:pt x="16185" y="0"/>
                  <a:pt x="36151" y="0"/>
                </a:cubicBezTo>
                <a:close/>
              </a:path>
            </a:pathLst>
          </a:custGeom>
          <a:solidFill>
            <a:srgbClr val="8B2635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531192" y="6423630"/>
            <a:ext cx="4079530" cy="1807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Fully leverages shared memory's low latency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298205" y="6680312"/>
            <a:ext cx="11532240" cy="1807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r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4A4A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Medium - Rimika Dhara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7331" y="591438"/>
            <a:ext cx="11652454" cy="34809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92000"/>
              </a:lnSpc>
              <a:defRPr/>
            </a:pPr>
            <a:r>
              <a:rPr lang="en-US" sz="2500" b="1" i="0" u="none" strike="noStrike">
                <a:solidFill>
                  <a:srgbClr val="1018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Resources</a:t>
            </a:r>
            <a:endParaRPr lang="en-US" sz="1100"/>
          </a:p>
        </p:txBody>
      </p:sp>
      <p:sp>
        <p:nvSpPr>
          <p:cNvPr id="3" name="Freeform 3"/>
          <p:cNvSpPr/>
          <p:nvPr/>
        </p:nvSpPr>
        <p:spPr>
          <a:xfrm>
            <a:off x="348054" y="1287694"/>
            <a:ext cx="5604317" cy="3654989"/>
          </a:xfrm>
          <a:custGeom>
            <a:avLst/>
            <a:gdLst/>
            <a:ahLst/>
            <a:cxnLst/>
            <a:rect l="l" t="t" r="r" b="b"/>
            <a:pathLst>
              <a:path w="5604317" h="3654989">
                <a:moveTo>
                  <a:pt x="104423" y="0"/>
                </a:moveTo>
                <a:lnTo>
                  <a:pt x="5499894" y="0"/>
                </a:lnTo>
                <a:cubicBezTo>
                  <a:pt x="5557564" y="0"/>
                  <a:pt x="5604317" y="46753"/>
                  <a:pt x="5604317" y="104423"/>
                </a:cubicBezTo>
                <a:lnTo>
                  <a:pt x="5604317" y="3550566"/>
                </a:lnTo>
                <a:cubicBezTo>
                  <a:pt x="5604317" y="3608238"/>
                  <a:pt x="5557564" y="3654989"/>
                  <a:pt x="5499894" y="3654989"/>
                </a:cubicBezTo>
                <a:lnTo>
                  <a:pt x="104423" y="3654989"/>
                </a:lnTo>
                <a:cubicBezTo>
                  <a:pt x="46753" y="3654989"/>
                  <a:pt x="0" y="3608238"/>
                  <a:pt x="0" y="3550566"/>
                </a:cubicBezTo>
                <a:lnTo>
                  <a:pt x="0" y="104423"/>
                </a:lnTo>
                <a:cubicBezTo>
                  <a:pt x="0" y="46791"/>
                  <a:pt x="46791" y="0"/>
                  <a:pt x="10442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56886" y="1496525"/>
            <a:ext cx="5291032" cy="2784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Advanced Topics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74204" y="1914127"/>
            <a:ext cx="5169113" cy="626570"/>
          </a:xfrm>
          <a:custGeom>
            <a:avLst/>
            <a:gdLst/>
            <a:ahLst/>
            <a:cxnLst/>
            <a:rect l="l" t="t" r="r" b="b"/>
            <a:pathLst>
              <a:path w="5169113" h="626570">
                <a:moveTo>
                  <a:pt x="34635" y="0"/>
                </a:moveTo>
                <a:lnTo>
                  <a:pt x="5099494" y="0"/>
                </a:lnTo>
                <a:cubicBezTo>
                  <a:pt x="5137942" y="0"/>
                  <a:pt x="5169113" y="31170"/>
                  <a:pt x="5169113" y="69618"/>
                </a:cubicBezTo>
                <a:lnTo>
                  <a:pt x="5169113" y="556951"/>
                </a:lnTo>
                <a:cubicBezTo>
                  <a:pt x="5169113" y="595400"/>
                  <a:pt x="5137942" y="626570"/>
                  <a:pt x="5099494" y="626570"/>
                </a:cubicBez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07"/>
                  <a:pt x="15507" y="0"/>
                  <a:pt x="346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6" name="Freeform 6"/>
          <p:cNvSpPr/>
          <p:nvPr/>
        </p:nvSpPr>
        <p:spPr>
          <a:xfrm>
            <a:off x="574204" y="1914127"/>
            <a:ext cx="34635" cy="626570"/>
          </a:xfrm>
          <a:custGeom>
            <a:avLst/>
            <a:gdLst/>
            <a:ahLst/>
            <a:cxnLst/>
            <a:rect l="l" t="t" r="r" b="b"/>
            <a:pathLst>
              <a:path w="34635" h="626570">
                <a:moveTo>
                  <a:pt x="34635" y="0"/>
                </a:moveTo>
                <a:lnTo>
                  <a:pt x="34635" y="0"/>
                </a:lnTo>
                <a:lnTo>
                  <a:pt x="34635" y="626570"/>
                </a:ln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Freeform 7"/>
          <p:cNvSpPr/>
          <p:nvPr/>
        </p:nvSpPr>
        <p:spPr>
          <a:xfrm>
            <a:off x="739416" y="2140270"/>
            <a:ext cx="130534" cy="174047"/>
          </a:xfrm>
          <a:custGeom>
            <a:avLst/>
            <a:gdLst/>
            <a:ahLst/>
            <a:cxnLst/>
            <a:rect l="l" t="t" r="r" b="b"/>
            <a:pathLst>
              <a:path w="130534" h="174047">
                <a:moveTo>
                  <a:pt x="21756" y="0"/>
                </a:moveTo>
                <a:cubicBezTo>
                  <a:pt x="9756" y="0"/>
                  <a:pt x="0" y="9756"/>
                  <a:pt x="0" y="21756"/>
                </a:cubicBezTo>
                <a:lnTo>
                  <a:pt x="0" y="152291"/>
                </a:lnTo>
                <a:cubicBezTo>
                  <a:pt x="0" y="164291"/>
                  <a:pt x="9756" y="174047"/>
                  <a:pt x="21756" y="174047"/>
                </a:cubicBezTo>
                <a:lnTo>
                  <a:pt x="108779" y="174047"/>
                </a:lnTo>
                <a:cubicBezTo>
                  <a:pt x="120780" y="174047"/>
                  <a:pt x="130534" y="164291"/>
                  <a:pt x="130534" y="152291"/>
                </a:cubicBezTo>
                <a:lnTo>
                  <a:pt x="130534" y="21756"/>
                </a:lnTo>
                <a:cubicBezTo>
                  <a:pt x="130534" y="9756"/>
                  <a:pt x="120780" y="0"/>
                  <a:pt x="108779" y="0"/>
                </a:cubicBezTo>
                <a:lnTo>
                  <a:pt x="21756" y="0"/>
                </a:lnTo>
                <a:close/>
                <a:moveTo>
                  <a:pt x="32634" y="21756"/>
                </a:moveTo>
                <a:lnTo>
                  <a:pt x="97900" y="21756"/>
                </a:lnTo>
                <a:cubicBezTo>
                  <a:pt x="103918" y="21756"/>
                  <a:pt x="108779" y="26617"/>
                  <a:pt x="108779" y="32634"/>
                </a:cubicBezTo>
                <a:lnTo>
                  <a:pt x="108779" y="43511"/>
                </a:lnTo>
                <a:cubicBezTo>
                  <a:pt x="108779" y="49529"/>
                  <a:pt x="103918" y="54390"/>
                  <a:pt x="97900" y="54390"/>
                </a:cubicBezTo>
                <a:lnTo>
                  <a:pt x="32634" y="54390"/>
                </a:lnTo>
                <a:cubicBezTo>
                  <a:pt x="26617" y="54390"/>
                  <a:pt x="21756" y="49529"/>
                  <a:pt x="21756" y="43511"/>
                </a:cubicBezTo>
                <a:lnTo>
                  <a:pt x="21756" y="32634"/>
                </a:lnTo>
                <a:cubicBezTo>
                  <a:pt x="21756" y="26617"/>
                  <a:pt x="26617" y="21756"/>
                  <a:pt x="32634" y="21756"/>
                </a:cubicBezTo>
                <a:close/>
                <a:moveTo>
                  <a:pt x="38073" y="78864"/>
                </a:moveTo>
                <a:cubicBezTo>
                  <a:pt x="38073" y="83368"/>
                  <a:pt x="34417" y="87024"/>
                  <a:pt x="29914" y="87024"/>
                </a:cubicBezTo>
                <a:cubicBezTo>
                  <a:pt x="25411" y="87024"/>
                  <a:pt x="21756" y="83368"/>
                  <a:pt x="21756" y="78864"/>
                </a:cubicBezTo>
                <a:cubicBezTo>
                  <a:pt x="21756" y="74362"/>
                  <a:pt x="25411" y="70707"/>
                  <a:pt x="29914" y="70707"/>
                </a:cubicBezTo>
                <a:cubicBezTo>
                  <a:pt x="34417" y="70707"/>
                  <a:pt x="38073" y="74362"/>
                  <a:pt x="38073" y="78864"/>
                </a:cubicBezTo>
                <a:close/>
                <a:moveTo>
                  <a:pt x="65268" y="87024"/>
                </a:moveTo>
                <a:cubicBezTo>
                  <a:pt x="60764" y="87024"/>
                  <a:pt x="57109" y="83368"/>
                  <a:pt x="57109" y="78864"/>
                </a:cubicBezTo>
                <a:cubicBezTo>
                  <a:pt x="57109" y="74362"/>
                  <a:pt x="60764" y="70707"/>
                  <a:pt x="65268" y="70707"/>
                </a:cubicBezTo>
                <a:cubicBezTo>
                  <a:pt x="69770" y="70707"/>
                  <a:pt x="73426" y="74362"/>
                  <a:pt x="73426" y="78864"/>
                </a:cubicBezTo>
                <a:cubicBezTo>
                  <a:pt x="73426" y="83368"/>
                  <a:pt x="69770" y="87024"/>
                  <a:pt x="65268" y="87024"/>
                </a:cubicBezTo>
                <a:close/>
                <a:moveTo>
                  <a:pt x="108779" y="78864"/>
                </a:moveTo>
                <a:cubicBezTo>
                  <a:pt x="108779" y="83368"/>
                  <a:pt x="105124" y="87024"/>
                  <a:pt x="100621" y="87024"/>
                </a:cubicBezTo>
                <a:cubicBezTo>
                  <a:pt x="96117" y="87024"/>
                  <a:pt x="92464" y="83368"/>
                  <a:pt x="92464" y="78864"/>
                </a:cubicBezTo>
                <a:cubicBezTo>
                  <a:pt x="92464" y="74362"/>
                  <a:pt x="96117" y="70707"/>
                  <a:pt x="100621" y="70707"/>
                </a:cubicBezTo>
                <a:cubicBezTo>
                  <a:pt x="105124" y="70707"/>
                  <a:pt x="108779" y="74362"/>
                  <a:pt x="108779" y="78864"/>
                </a:cubicBezTo>
                <a:close/>
                <a:moveTo>
                  <a:pt x="29914" y="119657"/>
                </a:moveTo>
                <a:cubicBezTo>
                  <a:pt x="25411" y="119657"/>
                  <a:pt x="21756" y="116002"/>
                  <a:pt x="21756" y="111498"/>
                </a:cubicBezTo>
                <a:cubicBezTo>
                  <a:pt x="21756" y="106996"/>
                  <a:pt x="25411" y="103340"/>
                  <a:pt x="29914" y="103340"/>
                </a:cubicBezTo>
                <a:cubicBezTo>
                  <a:pt x="34417" y="103340"/>
                  <a:pt x="38073" y="106996"/>
                  <a:pt x="38073" y="111498"/>
                </a:cubicBezTo>
                <a:cubicBezTo>
                  <a:pt x="38073" y="116002"/>
                  <a:pt x="34417" y="119657"/>
                  <a:pt x="29914" y="119657"/>
                </a:cubicBezTo>
                <a:close/>
                <a:moveTo>
                  <a:pt x="73426" y="111498"/>
                </a:moveTo>
                <a:cubicBezTo>
                  <a:pt x="73426" y="116002"/>
                  <a:pt x="69770" y="119657"/>
                  <a:pt x="65268" y="119657"/>
                </a:cubicBezTo>
                <a:cubicBezTo>
                  <a:pt x="60764" y="119657"/>
                  <a:pt x="57109" y="116002"/>
                  <a:pt x="57109" y="111498"/>
                </a:cubicBezTo>
                <a:cubicBezTo>
                  <a:pt x="57109" y="106996"/>
                  <a:pt x="60764" y="103340"/>
                  <a:pt x="65268" y="103340"/>
                </a:cubicBezTo>
                <a:cubicBezTo>
                  <a:pt x="69770" y="103340"/>
                  <a:pt x="73426" y="106996"/>
                  <a:pt x="73426" y="111498"/>
                </a:cubicBezTo>
                <a:close/>
                <a:moveTo>
                  <a:pt x="100621" y="119657"/>
                </a:moveTo>
                <a:cubicBezTo>
                  <a:pt x="96117" y="119657"/>
                  <a:pt x="92464" y="116002"/>
                  <a:pt x="92464" y="111498"/>
                </a:cubicBezTo>
                <a:cubicBezTo>
                  <a:pt x="92464" y="106996"/>
                  <a:pt x="96117" y="103340"/>
                  <a:pt x="100621" y="103340"/>
                </a:cubicBezTo>
                <a:cubicBezTo>
                  <a:pt x="105124" y="103340"/>
                  <a:pt x="108779" y="106996"/>
                  <a:pt x="108779" y="111498"/>
                </a:cubicBezTo>
                <a:cubicBezTo>
                  <a:pt x="108779" y="116002"/>
                  <a:pt x="105124" y="119657"/>
                  <a:pt x="100621" y="119657"/>
                </a:cubicBezTo>
                <a:close/>
                <a:moveTo>
                  <a:pt x="21756" y="144134"/>
                </a:moveTo>
                <a:cubicBezTo>
                  <a:pt x="21756" y="139612"/>
                  <a:pt x="25392" y="135974"/>
                  <a:pt x="29914" y="135974"/>
                </a:cubicBezTo>
                <a:lnTo>
                  <a:pt x="67987" y="135974"/>
                </a:lnTo>
                <a:cubicBezTo>
                  <a:pt x="72508" y="135974"/>
                  <a:pt x="76145" y="139612"/>
                  <a:pt x="76145" y="144134"/>
                </a:cubicBezTo>
                <a:cubicBezTo>
                  <a:pt x="76145" y="148654"/>
                  <a:pt x="72508" y="152291"/>
                  <a:pt x="67987" y="152291"/>
                </a:cubicBezTo>
                <a:lnTo>
                  <a:pt x="29914" y="152291"/>
                </a:lnTo>
                <a:cubicBezTo>
                  <a:pt x="25392" y="152291"/>
                  <a:pt x="21756" y="148654"/>
                  <a:pt x="21756" y="144134"/>
                </a:cubicBezTo>
                <a:close/>
                <a:moveTo>
                  <a:pt x="100621" y="135974"/>
                </a:moveTo>
                <a:cubicBezTo>
                  <a:pt x="105142" y="135974"/>
                  <a:pt x="108779" y="139612"/>
                  <a:pt x="108779" y="144134"/>
                </a:cubicBezTo>
                <a:cubicBezTo>
                  <a:pt x="108779" y="148654"/>
                  <a:pt x="105142" y="152291"/>
                  <a:pt x="100621" y="152291"/>
                </a:cubicBezTo>
                <a:cubicBezTo>
                  <a:pt x="96100" y="152291"/>
                  <a:pt x="92464" y="148654"/>
                  <a:pt x="92464" y="144134"/>
                </a:cubicBezTo>
                <a:cubicBezTo>
                  <a:pt x="92464" y="139612"/>
                  <a:pt x="96100" y="135974"/>
                  <a:pt x="100621" y="135974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7845" y="2018505"/>
            <a:ext cx="3120620" cy="20860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Matrix Multiplication (MatMul)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7845" y="2262179"/>
            <a:ext cx="3359959" cy="20860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Learn shared memory and tiled computation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574204" y="2644938"/>
            <a:ext cx="5169113" cy="626570"/>
          </a:xfrm>
          <a:custGeom>
            <a:avLst/>
            <a:gdLst/>
            <a:ahLst/>
            <a:cxnLst/>
            <a:rect l="l" t="t" r="r" b="b"/>
            <a:pathLst>
              <a:path w="5169113" h="626570">
                <a:moveTo>
                  <a:pt x="34635" y="0"/>
                </a:moveTo>
                <a:lnTo>
                  <a:pt x="5099494" y="0"/>
                </a:lnTo>
                <a:cubicBezTo>
                  <a:pt x="5137942" y="0"/>
                  <a:pt x="5169113" y="31170"/>
                  <a:pt x="5169113" y="69618"/>
                </a:cubicBezTo>
                <a:lnTo>
                  <a:pt x="5169113" y="556951"/>
                </a:lnTo>
                <a:cubicBezTo>
                  <a:pt x="5169113" y="595400"/>
                  <a:pt x="5137942" y="626570"/>
                  <a:pt x="5099494" y="626570"/>
                </a:cubicBez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07"/>
                  <a:pt x="15507" y="0"/>
                  <a:pt x="346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Freeform 11"/>
          <p:cNvSpPr/>
          <p:nvPr/>
        </p:nvSpPr>
        <p:spPr>
          <a:xfrm>
            <a:off x="574204" y="2644938"/>
            <a:ext cx="34635" cy="626570"/>
          </a:xfrm>
          <a:custGeom>
            <a:avLst/>
            <a:gdLst/>
            <a:ahLst/>
            <a:cxnLst/>
            <a:rect l="l" t="t" r="r" b="b"/>
            <a:pathLst>
              <a:path w="34635" h="626570">
                <a:moveTo>
                  <a:pt x="34635" y="0"/>
                </a:moveTo>
                <a:lnTo>
                  <a:pt x="34635" y="0"/>
                </a:lnTo>
                <a:lnTo>
                  <a:pt x="34635" y="626570"/>
                </a:ln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Freeform 12"/>
          <p:cNvSpPr/>
          <p:nvPr/>
        </p:nvSpPr>
        <p:spPr>
          <a:xfrm>
            <a:off x="717660" y="2892845"/>
            <a:ext cx="174047" cy="130534"/>
          </a:xfrm>
          <a:custGeom>
            <a:avLst/>
            <a:gdLst/>
            <a:ahLst/>
            <a:cxnLst/>
            <a:rect l="l" t="t" r="r" b="b"/>
            <a:pathLst>
              <a:path w="174047" h="130534">
                <a:moveTo>
                  <a:pt x="21756" y="10878"/>
                </a:moveTo>
                <a:cubicBezTo>
                  <a:pt x="21756" y="4861"/>
                  <a:pt x="26617" y="0"/>
                  <a:pt x="32634" y="0"/>
                </a:cubicBezTo>
                <a:lnTo>
                  <a:pt x="87024" y="0"/>
                </a:lnTo>
                <a:cubicBezTo>
                  <a:pt x="93040" y="0"/>
                  <a:pt x="97900" y="4861"/>
                  <a:pt x="97900" y="10878"/>
                </a:cubicBezTo>
                <a:lnTo>
                  <a:pt x="97900" y="108778"/>
                </a:lnTo>
                <a:lnTo>
                  <a:pt x="130534" y="108778"/>
                </a:lnTo>
                <a:lnTo>
                  <a:pt x="130534" y="65268"/>
                </a:lnTo>
                <a:cubicBezTo>
                  <a:pt x="130534" y="59251"/>
                  <a:pt x="135396" y="54389"/>
                  <a:pt x="141413" y="54389"/>
                </a:cubicBezTo>
                <a:lnTo>
                  <a:pt x="163170" y="54389"/>
                </a:lnTo>
                <a:cubicBezTo>
                  <a:pt x="169186" y="54389"/>
                  <a:pt x="174047" y="59251"/>
                  <a:pt x="174047" y="65268"/>
                </a:cubicBezTo>
                <a:cubicBezTo>
                  <a:pt x="174047" y="71284"/>
                  <a:pt x="169186" y="76144"/>
                  <a:pt x="163170" y="76144"/>
                </a:cubicBezTo>
                <a:lnTo>
                  <a:pt x="152291" y="76144"/>
                </a:lnTo>
                <a:lnTo>
                  <a:pt x="152291" y="119657"/>
                </a:lnTo>
                <a:cubicBezTo>
                  <a:pt x="152291" y="125674"/>
                  <a:pt x="147430" y="130535"/>
                  <a:pt x="141413" y="130535"/>
                </a:cubicBezTo>
                <a:lnTo>
                  <a:pt x="87024" y="130535"/>
                </a:lnTo>
                <a:cubicBezTo>
                  <a:pt x="81007" y="130535"/>
                  <a:pt x="76145" y="125674"/>
                  <a:pt x="76145" y="119657"/>
                </a:cubicBezTo>
                <a:lnTo>
                  <a:pt x="76145" y="21755"/>
                </a:lnTo>
                <a:lnTo>
                  <a:pt x="43511" y="21755"/>
                </a:lnTo>
                <a:lnTo>
                  <a:pt x="43511" y="65268"/>
                </a:lnTo>
                <a:cubicBezTo>
                  <a:pt x="43511" y="71284"/>
                  <a:pt x="38651" y="76144"/>
                  <a:pt x="32634" y="76144"/>
                </a:cubicBezTo>
                <a:lnTo>
                  <a:pt x="10878" y="76144"/>
                </a:lnTo>
                <a:cubicBezTo>
                  <a:pt x="4862" y="76144"/>
                  <a:pt x="0" y="71284"/>
                  <a:pt x="0" y="65268"/>
                </a:cubicBezTo>
                <a:cubicBezTo>
                  <a:pt x="0" y="59251"/>
                  <a:pt x="4862" y="54389"/>
                  <a:pt x="10878" y="54389"/>
                </a:cubicBezTo>
                <a:lnTo>
                  <a:pt x="21756" y="54389"/>
                </a:lnTo>
                <a:lnTo>
                  <a:pt x="21756" y="10878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7845" y="2749315"/>
            <a:ext cx="1540317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Softmax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7844" y="2992990"/>
            <a:ext cx="3768947" cy="174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Understand reduction operations and numerical stability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574204" y="3375749"/>
            <a:ext cx="5169113" cy="626570"/>
          </a:xfrm>
          <a:custGeom>
            <a:avLst/>
            <a:gdLst/>
            <a:ahLst/>
            <a:cxnLst/>
            <a:rect l="l" t="t" r="r" b="b"/>
            <a:pathLst>
              <a:path w="5169113" h="626570">
                <a:moveTo>
                  <a:pt x="34635" y="0"/>
                </a:moveTo>
                <a:lnTo>
                  <a:pt x="5099494" y="0"/>
                </a:lnTo>
                <a:cubicBezTo>
                  <a:pt x="5137942" y="0"/>
                  <a:pt x="5169113" y="31170"/>
                  <a:pt x="5169113" y="69618"/>
                </a:cubicBezTo>
                <a:lnTo>
                  <a:pt x="5169113" y="556951"/>
                </a:lnTo>
                <a:cubicBezTo>
                  <a:pt x="5169113" y="595400"/>
                  <a:pt x="5137942" y="626570"/>
                  <a:pt x="5099494" y="626570"/>
                </a:cubicBez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07"/>
                  <a:pt x="15507" y="0"/>
                  <a:pt x="346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Freeform 16"/>
          <p:cNvSpPr/>
          <p:nvPr/>
        </p:nvSpPr>
        <p:spPr>
          <a:xfrm>
            <a:off x="574204" y="3375749"/>
            <a:ext cx="34635" cy="626570"/>
          </a:xfrm>
          <a:custGeom>
            <a:avLst/>
            <a:gdLst/>
            <a:ahLst/>
            <a:cxnLst/>
            <a:rect l="l" t="t" r="r" b="b"/>
            <a:pathLst>
              <a:path w="34635" h="626570">
                <a:moveTo>
                  <a:pt x="34635" y="0"/>
                </a:moveTo>
                <a:lnTo>
                  <a:pt x="34635" y="0"/>
                </a:lnTo>
                <a:lnTo>
                  <a:pt x="34635" y="626570"/>
                </a:ln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Freeform 17"/>
          <p:cNvSpPr/>
          <p:nvPr/>
        </p:nvSpPr>
        <p:spPr>
          <a:xfrm>
            <a:off x="717660" y="3601322"/>
            <a:ext cx="174047" cy="175203"/>
          </a:xfrm>
          <a:custGeom>
            <a:avLst/>
            <a:gdLst/>
            <a:ahLst/>
            <a:cxnLst/>
            <a:rect l="l" t="t" r="r" b="b"/>
            <a:pathLst>
              <a:path w="174047" h="175203">
                <a:moveTo>
                  <a:pt x="79035" y="2346"/>
                </a:moveTo>
                <a:cubicBezTo>
                  <a:pt x="84099" y="0"/>
                  <a:pt x="89946" y="0"/>
                  <a:pt x="95013" y="2346"/>
                </a:cubicBezTo>
                <a:lnTo>
                  <a:pt x="169321" y="36679"/>
                </a:lnTo>
                <a:cubicBezTo>
                  <a:pt x="172211" y="38005"/>
                  <a:pt x="174047" y="40894"/>
                  <a:pt x="174047" y="44089"/>
                </a:cubicBezTo>
                <a:cubicBezTo>
                  <a:pt x="174047" y="47285"/>
                  <a:pt x="172211" y="50175"/>
                  <a:pt x="169321" y="51500"/>
                </a:cubicBezTo>
                <a:lnTo>
                  <a:pt x="95013" y="85834"/>
                </a:lnTo>
                <a:cubicBezTo>
                  <a:pt x="89946" y="88179"/>
                  <a:pt x="84099" y="88179"/>
                  <a:pt x="79035" y="85834"/>
                </a:cubicBezTo>
                <a:lnTo>
                  <a:pt x="4724" y="51500"/>
                </a:lnTo>
                <a:cubicBezTo>
                  <a:pt x="1836" y="50141"/>
                  <a:pt x="0" y="47250"/>
                  <a:pt x="0" y="44089"/>
                </a:cubicBezTo>
                <a:cubicBezTo>
                  <a:pt x="0" y="40928"/>
                  <a:pt x="1836" y="38005"/>
                  <a:pt x="4724" y="36679"/>
                </a:cubicBezTo>
                <a:lnTo>
                  <a:pt x="79035" y="2346"/>
                </a:lnTo>
                <a:close/>
                <a:moveTo>
                  <a:pt x="16351" y="74820"/>
                </a:moveTo>
                <a:lnTo>
                  <a:pt x="72202" y="100621"/>
                </a:lnTo>
                <a:cubicBezTo>
                  <a:pt x="81619" y="104972"/>
                  <a:pt x="92464" y="104972"/>
                  <a:pt x="101879" y="100621"/>
                </a:cubicBezTo>
                <a:lnTo>
                  <a:pt x="157730" y="74820"/>
                </a:lnTo>
                <a:lnTo>
                  <a:pt x="169321" y="80190"/>
                </a:lnTo>
                <a:cubicBezTo>
                  <a:pt x="172211" y="81516"/>
                  <a:pt x="174047" y="84406"/>
                  <a:pt x="174047" y="87602"/>
                </a:cubicBezTo>
                <a:cubicBezTo>
                  <a:pt x="174047" y="90798"/>
                  <a:pt x="172211" y="93686"/>
                  <a:pt x="169321" y="95011"/>
                </a:cubicBezTo>
                <a:lnTo>
                  <a:pt x="95013" y="129346"/>
                </a:lnTo>
                <a:cubicBezTo>
                  <a:pt x="89946" y="131692"/>
                  <a:pt x="84099" y="131692"/>
                  <a:pt x="79035" y="129346"/>
                </a:cubicBezTo>
                <a:lnTo>
                  <a:pt x="4724" y="95011"/>
                </a:lnTo>
                <a:cubicBezTo>
                  <a:pt x="1836" y="93652"/>
                  <a:pt x="0" y="90763"/>
                  <a:pt x="0" y="87602"/>
                </a:cubicBezTo>
                <a:cubicBezTo>
                  <a:pt x="0" y="84440"/>
                  <a:pt x="1836" y="81516"/>
                  <a:pt x="4724" y="80190"/>
                </a:cubicBezTo>
                <a:lnTo>
                  <a:pt x="16317" y="74820"/>
                </a:lnTo>
                <a:close/>
                <a:moveTo>
                  <a:pt x="4724" y="123703"/>
                </a:moveTo>
                <a:lnTo>
                  <a:pt x="16317" y="118332"/>
                </a:lnTo>
                <a:lnTo>
                  <a:pt x="72168" y="144132"/>
                </a:lnTo>
                <a:cubicBezTo>
                  <a:pt x="81585" y="148483"/>
                  <a:pt x="92429" y="148483"/>
                  <a:pt x="101845" y="144132"/>
                </a:cubicBezTo>
                <a:lnTo>
                  <a:pt x="157696" y="118332"/>
                </a:lnTo>
                <a:lnTo>
                  <a:pt x="169288" y="123703"/>
                </a:lnTo>
                <a:cubicBezTo>
                  <a:pt x="172176" y="125028"/>
                  <a:pt x="174013" y="127918"/>
                  <a:pt x="174013" y="131112"/>
                </a:cubicBezTo>
                <a:cubicBezTo>
                  <a:pt x="174013" y="134309"/>
                  <a:pt x="172176" y="137198"/>
                  <a:pt x="169288" y="138524"/>
                </a:cubicBezTo>
                <a:lnTo>
                  <a:pt x="94978" y="172857"/>
                </a:lnTo>
                <a:cubicBezTo>
                  <a:pt x="89913" y="175203"/>
                  <a:pt x="84066" y="175203"/>
                  <a:pt x="79002" y="172857"/>
                </a:cubicBezTo>
                <a:lnTo>
                  <a:pt x="4724" y="138524"/>
                </a:lnTo>
                <a:cubicBezTo>
                  <a:pt x="1836" y="137164"/>
                  <a:pt x="0" y="134275"/>
                  <a:pt x="0" y="131112"/>
                </a:cubicBezTo>
                <a:cubicBezTo>
                  <a:pt x="0" y="127951"/>
                  <a:pt x="1836" y="125028"/>
                  <a:pt x="4724" y="12370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7845" y="3480126"/>
            <a:ext cx="1540317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LayerNorm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7845" y="3723801"/>
            <a:ext cx="3768946" cy="20795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Learn statistics computation and broadcast operations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574204" y="4106560"/>
            <a:ext cx="5169113" cy="626570"/>
          </a:xfrm>
          <a:custGeom>
            <a:avLst/>
            <a:gdLst/>
            <a:ahLst/>
            <a:cxnLst/>
            <a:rect l="l" t="t" r="r" b="b"/>
            <a:pathLst>
              <a:path w="5169113" h="626570">
                <a:moveTo>
                  <a:pt x="34635" y="0"/>
                </a:moveTo>
                <a:lnTo>
                  <a:pt x="5099494" y="0"/>
                </a:lnTo>
                <a:cubicBezTo>
                  <a:pt x="5137942" y="0"/>
                  <a:pt x="5169113" y="31170"/>
                  <a:pt x="5169113" y="69618"/>
                </a:cubicBezTo>
                <a:lnTo>
                  <a:pt x="5169113" y="556951"/>
                </a:lnTo>
                <a:cubicBezTo>
                  <a:pt x="5169113" y="595400"/>
                  <a:pt x="5137942" y="626570"/>
                  <a:pt x="5099494" y="626570"/>
                </a:cubicBez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07"/>
                  <a:pt x="15507" y="0"/>
                  <a:pt x="3463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Freeform 21"/>
          <p:cNvSpPr/>
          <p:nvPr/>
        </p:nvSpPr>
        <p:spPr>
          <a:xfrm>
            <a:off x="574204" y="4106560"/>
            <a:ext cx="34635" cy="626570"/>
          </a:xfrm>
          <a:custGeom>
            <a:avLst/>
            <a:gdLst/>
            <a:ahLst/>
            <a:cxnLst/>
            <a:rect l="l" t="t" r="r" b="b"/>
            <a:pathLst>
              <a:path w="34635" h="626570">
                <a:moveTo>
                  <a:pt x="34635" y="0"/>
                </a:moveTo>
                <a:lnTo>
                  <a:pt x="34635" y="0"/>
                </a:lnTo>
                <a:lnTo>
                  <a:pt x="34635" y="626570"/>
                </a:lnTo>
                <a:lnTo>
                  <a:pt x="34635" y="626570"/>
                </a:lnTo>
                <a:cubicBezTo>
                  <a:pt x="15507" y="626570"/>
                  <a:pt x="0" y="611062"/>
                  <a:pt x="0" y="591933"/>
                </a:cubicBezTo>
                <a:lnTo>
                  <a:pt x="0" y="34635"/>
                </a:lnTo>
                <a:cubicBezTo>
                  <a:pt x="0" y="15519"/>
                  <a:pt x="15519" y="0"/>
                  <a:pt x="3463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Freeform 22"/>
          <p:cNvSpPr/>
          <p:nvPr/>
        </p:nvSpPr>
        <p:spPr>
          <a:xfrm>
            <a:off x="727620" y="4326422"/>
            <a:ext cx="154127" cy="186625"/>
          </a:xfrm>
          <a:custGeom>
            <a:avLst/>
            <a:gdLst/>
            <a:ahLst/>
            <a:cxnLst/>
            <a:rect l="l" t="t" r="r" b="b"/>
            <a:pathLst>
              <a:path w="154127" h="186625">
                <a:moveTo>
                  <a:pt x="116088" y="2924"/>
                </a:moveTo>
                <a:cubicBezTo>
                  <a:pt x="120133" y="5847"/>
                  <a:pt x="121629" y="11151"/>
                  <a:pt x="119794" y="15773"/>
                </a:cubicBezTo>
                <a:lnTo>
                  <a:pt x="93143" y="82434"/>
                </a:lnTo>
                <a:lnTo>
                  <a:pt x="142331" y="82434"/>
                </a:lnTo>
                <a:cubicBezTo>
                  <a:pt x="146920" y="82434"/>
                  <a:pt x="151000" y="85291"/>
                  <a:pt x="152564" y="89607"/>
                </a:cubicBezTo>
                <a:cubicBezTo>
                  <a:pt x="154127" y="93924"/>
                  <a:pt x="152801" y="98753"/>
                  <a:pt x="149300" y="101675"/>
                </a:cubicBezTo>
                <a:lnTo>
                  <a:pt x="51398" y="183260"/>
                </a:lnTo>
                <a:cubicBezTo>
                  <a:pt x="47557" y="186455"/>
                  <a:pt x="42084" y="186625"/>
                  <a:pt x="38039" y="183700"/>
                </a:cubicBezTo>
                <a:cubicBezTo>
                  <a:pt x="33994" y="180778"/>
                  <a:pt x="32498" y="175475"/>
                  <a:pt x="34334" y="170852"/>
                </a:cubicBezTo>
                <a:lnTo>
                  <a:pt x="60985" y="104189"/>
                </a:lnTo>
                <a:lnTo>
                  <a:pt x="11796" y="104189"/>
                </a:lnTo>
                <a:cubicBezTo>
                  <a:pt x="7207" y="104189"/>
                  <a:pt x="3128" y="101335"/>
                  <a:pt x="1564" y="97018"/>
                </a:cubicBezTo>
                <a:cubicBezTo>
                  <a:pt x="0" y="92701"/>
                  <a:pt x="1326" y="87874"/>
                  <a:pt x="4827" y="84950"/>
                </a:cubicBezTo>
                <a:lnTo>
                  <a:pt x="102729" y="3365"/>
                </a:lnTo>
                <a:cubicBezTo>
                  <a:pt x="106571" y="170"/>
                  <a:pt x="112043" y="0"/>
                  <a:pt x="116088" y="2924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7845" y="4210937"/>
            <a:ext cx="1549019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Flash Attention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17845" y="4454612"/>
            <a:ext cx="3633935" cy="27851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Advanced memory optimization and kernel fusion</a:t>
            </a:r>
            <a:endParaRPr lang="en-US" sz="1100"/>
          </a:p>
        </p:txBody>
      </p:sp>
      <p:sp>
        <p:nvSpPr>
          <p:cNvPr id="25" name="Freeform 25"/>
          <p:cNvSpPr/>
          <p:nvPr/>
        </p:nvSpPr>
        <p:spPr>
          <a:xfrm>
            <a:off x="6234726" y="1287694"/>
            <a:ext cx="5604317" cy="3654989"/>
          </a:xfrm>
          <a:custGeom>
            <a:avLst/>
            <a:gdLst/>
            <a:ahLst/>
            <a:cxnLst/>
            <a:rect l="l" t="t" r="r" b="b"/>
            <a:pathLst>
              <a:path w="5604317" h="3654989">
                <a:moveTo>
                  <a:pt x="104423" y="0"/>
                </a:moveTo>
                <a:lnTo>
                  <a:pt x="5499894" y="0"/>
                </a:lnTo>
                <a:cubicBezTo>
                  <a:pt x="5557564" y="0"/>
                  <a:pt x="5604317" y="46753"/>
                  <a:pt x="5604317" y="104423"/>
                </a:cubicBezTo>
                <a:lnTo>
                  <a:pt x="5604317" y="3550566"/>
                </a:lnTo>
                <a:cubicBezTo>
                  <a:pt x="5604317" y="3608238"/>
                  <a:pt x="5557564" y="3654989"/>
                  <a:pt x="5499894" y="3654989"/>
                </a:cubicBezTo>
                <a:lnTo>
                  <a:pt x="104423" y="3654989"/>
                </a:lnTo>
                <a:cubicBezTo>
                  <a:pt x="46753" y="3654989"/>
                  <a:pt x="0" y="3608238"/>
                  <a:pt x="0" y="3550566"/>
                </a:cubicBezTo>
                <a:lnTo>
                  <a:pt x="0" y="104423"/>
                </a:lnTo>
                <a:cubicBezTo>
                  <a:pt x="0" y="46791"/>
                  <a:pt x="46791" y="0"/>
                  <a:pt x="10442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43558" y="1565863"/>
            <a:ext cx="5291032" cy="2784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Recommended Resources</a:t>
            </a:r>
            <a:endParaRPr lang="en-US" sz="1100"/>
          </a:p>
        </p:txBody>
      </p:sp>
      <p:sp>
        <p:nvSpPr>
          <p:cNvPr id="27" name="Freeform 27"/>
          <p:cNvSpPr/>
          <p:nvPr/>
        </p:nvSpPr>
        <p:spPr>
          <a:xfrm>
            <a:off x="6443558" y="1983466"/>
            <a:ext cx="5186604" cy="800617"/>
          </a:xfrm>
          <a:custGeom>
            <a:avLst/>
            <a:gdLst/>
            <a:ahLst/>
            <a:cxnLst/>
            <a:rect l="l" t="t" r="r" b="b"/>
            <a:pathLst>
              <a:path w="5186604" h="800617">
                <a:moveTo>
                  <a:pt x="69621" y="0"/>
                </a:moveTo>
                <a:lnTo>
                  <a:pt x="5116982" y="0"/>
                </a:lnTo>
                <a:cubicBezTo>
                  <a:pt x="5155433" y="0"/>
                  <a:pt x="5186604" y="31171"/>
                  <a:pt x="5186604" y="69621"/>
                </a:cubicBezTo>
                <a:lnTo>
                  <a:pt x="5186604" y="730995"/>
                </a:lnTo>
                <a:cubicBezTo>
                  <a:pt x="5186604" y="769446"/>
                  <a:pt x="5155433" y="800617"/>
                  <a:pt x="5116982" y="800617"/>
                </a:cubicBezTo>
                <a:lnTo>
                  <a:pt x="69621" y="800617"/>
                </a:lnTo>
                <a:cubicBezTo>
                  <a:pt x="31196" y="800617"/>
                  <a:pt x="0" y="769421"/>
                  <a:pt x="0" y="730995"/>
                </a:cubicBezTo>
                <a:lnTo>
                  <a:pt x="0" y="69621"/>
                </a:lnTo>
                <a:cubicBezTo>
                  <a:pt x="0" y="31196"/>
                  <a:pt x="31196" y="0"/>
                  <a:pt x="6962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8" name="Freeform 28"/>
          <p:cNvSpPr/>
          <p:nvPr/>
        </p:nvSpPr>
        <p:spPr>
          <a:xfrm>
            <a:off x="6615414" y="2157453"/>
            <a:ext cx="152291" cy="174047"/>
          </a:xfrm>
          <a:custGeom>
            <a:avLst/>
            <a:gdLst/>
            <a:ahLst/>
            <a:cxnLst/>
            <a:rect l="l" t="t" r="r" b="b"/>
            <a:pathLst>
              <a:path w="152291" h="174047">
                <a:moveTo>
                  <a:pt x="130534" y="174047"/>
                </a:moveTo>
                <a:lnTo>
                  <a:pt x="32634" y="174047"/>
                </a:lnTo>
                <a:cubicBezTo>
                  <a:pt x="14616" y="174047"/>
                  <a:pt x="0" y="159429"/>
                  <a:pt x="0" y="141413"/>
                </a:cubicBezTo>
                <a:lnTo>
                  <a:pt x="0" y="32634"/>
                </a:lnTo>
                <a:cubicBezTo>
                  <a:pt x="0" y="14616"/>
                  <a:pt x="14616" y="0"/>
                  <a:pt x="32634" y="0"/>
                </a:cubicBezTo>
                <a:lnTo>
                  <a:pt x="135974" y="0"/>
                </a:lnTo>
                <a:cubicBezTo>
                  <a:pt x="144983" y="0"/>
                  <a:pt x="152291" y="7309"/>
                  <a:pt x="152291" y="16317"/>
                </a:cubicBezTo>
                <a:lnTo>
                  <a:pt x="152291" y="114217"/>
                </a:lnTo>
                <a:cubicBezTo>
                  <a:pt x="152291" y="121323"/>
                  <a:pt x="147737" y="127373"/>
                  <a:pt x="141413" y="129617"/>
                </a:cubicBezTo>
                <a:lnTo>
                  <a:pt x="141413" y="152291"/>
                </a:lnTo>
                <a:cubicBezTo>
                  <a:pt x="147430" y="152291"/>
                  <a:pt x="152291" y="157152"/>
                  <a:pt x="152291" y="163170"/>
                </a:cubicBezTo>
                <a:cubicBezTo>
                  <a:pt x="152291" y="169186"/>
                  <a:pt x="147430" y="174047"/>
                  <a:pt x="141413" y="174047"/>
                </a:cubicBezTo>
                <a:lnTo>
                  <a:pt x="130534" y="174047"/>
                </a:lnTo>
                <a:close/>
                <a:moveTo>
                  <a:pt x="32634" y="130534"/>
                </a:moveTo>
                <a:cubicBezTo>
                  <a:pt x="26617" y="130534"/>
                  <a:pt x="21756" y="135396"/>
                  <a:pt x="21756" y="141413"/>
                </a:cubicBezTo>
                <a:cubicBezTo>
                  <a:pt x="21756" y="147430"/>
                  <a:pt x="26617" y="152291"/>
                  <a:pt x="32634" y="152291"/>
                </a:cubicBezTo>
                <a:lnTo>
                  <a:pt x="119657" y="152291"/>
                </a:lnTo>
                <a:lnTo>
                  <a:pt x="119657" y="130534"/>
                </a:lnTo>
                <a:lnTo>
                  <a:pt x="32634" y="130534"/>
                </a:lnTo>
                <a:close/>
                <a:moveTo>
                  <a:pt x="43511" y="51670"/>
                </a:moveTo>
                <a:cubicBezTo>
                  <a:pt x="43511" y="56191"/>
                  <a:pt x="47149" y="59828"/>
                  <a:pt x="51670" y="59828"/>
                </a:cubicBezTo>
                <a:lnTo>
                  <a:pt x="111498" y="59828"/>
                </a:lnTo>
                <a:cubicBezTo>
                  <a:pt x="116020" y="59828"/>
                  <a:pt x="119657" y="56191"/>
                  <a:pt x="119657" y="51670"/>
                </a:cubicBezTo>
                <a:cubicBezTo>
                  <a:pt x="119657" y="47149"/>
                  <a:pt x="116020" y="43511"/>
                  <a:pt x="111498" y="43511"/>
                </a:cubicBezTo>
                <a:lnTo>
                  <a:pt x="51670" y="43511"/>
                </a:lnTo>
                <a:cubicBezTo>
                  <a:pt x="47149" y="43511"/>
                  <a:pt x="43511" y="47149"/>
                  <a:pt x="43511" y="51670"/>
                </a:cubicBezTo>
                <a:close/>
                <a:moveTo>
                  <a:pt x="51670" y="76145"/>
                </a:moveTo>
                <a:cubicBezTo>
                  <a:pt x="47149" y="76145"/>
                  <a:pt x="43511" y="79783"/>
                  <a:pt x="43511" y="84304"/>
                </a:cubicBezTo>
                <a:cubicBezTo>
                  <a:pt x="43511" y="88825"/>
                  <a:pt x="47149" y="92464"/>
                  <a:pt x="51670" y="92464"/>
                </a:cubicBezTo>
                <a:lnTo>
                  <a:pt x="111498" y="92464"/>
                </a:lnTo>
                <a:cubicBezTo>
                  <a:pt x="116020" y="92464"/>
                  <a:pt x="119657" y="88825"/>
                  <a:pt x="119657" y="84304"/>
                </a:cubicBezTo>
                <a:cubicBezTo>
                  <a:pt x="119657" y="79783"/>
                  <a:pt x="116020" y="76145"/>
                  <a:pt x="111498" y="76145"/>
                </a:cubicBezTo>
                <a:lnTo>
                  <a:pt x="51670" y="76145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904721" y="2122686"/>
            <a:ext cx="1576492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Official Docs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82780" y="2435971"/>
            <a:ext cx="4977747" cy="208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https://triton-lang.org/main/index.html</a:t>
            </a:r>
            <a:endParaRPr lang="en-US" sz="1100"/>
          </a:p>
        </p:txBody>
      </p:sp>
      <p:sp>
        <p:nvSpPr>
          <p:cNvPr id="31" name="Freeform 31"/>
          <p:cNvSpPr/>
          <p:nvPr/>
        </p:nvSpPr>
        <p:spPr>
          <a:xfrm>
            <a:off x="6443558" y="2923244"/>
            <a:ext cx="5186604" cy="800617"/>
          </a:xfrm>
          <a:custGeom>
            <a:avLst/>
            <a:gdLst/>
            <a:ahLst/>
            <a:cxnLst/>
            <a:rect l="l" t="t" r="r" b="b"/>
            <a:pathLst>
              <a:path w="5186604" h="800617">
                <a:moveTo>
                  <a:pt x="69621" y="0"/>
                </a:moveTo>
                <a:lnTo>
                  <a:pt x="5116982" y="0"/>
                </a:lnTo>
                <a:cubicBezTo>
                  <a:pt x="5155433" y="0"/>
                  <a:pt x="5186604" y="31171"/>
                  <a:pt x="5186604" y="69621"/>
                </a:cubicBezTo>
                <a:lnTo>
                  <a:pt x="5186604" y="730995"/>
                </a:lnTo>
                <a:cubicBezTo>
                  <a:pt x="5186604" y="769446"/>
                  <a:pt x="5155433" y="800617"/>
                  <a:pt x="5116982" y="800617"/>
                </a:cubicBezTo>
                <a:lnTo>
                  <a:pt x="69621" y="800617"/>
                </a:lnTo>
                <a:cubicBezTo>
                  <a:pt x="31196" y="800617"/>
                  <a:pt x="0" y="769421"/>
                  <a:pt x="0" y="730995"/>
                </a:cubicBezTo>
                <a:lnTo>
                  <a:pt x="0" y="69621"/>
                </a:lnTo>
                <a:cubicBezTo>
                  <a:pt x="0" y="31196"/>
                  <a:pt x="31196" y="0"/>
                  <a:pt x="6962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6593658" y="3108109"/>
            <a:ext cx="195804" cy="152292"/>
          </a:xfrm>
          <a:custGeom>
            <a:avLst/>
            <a:gdLst/>
            <a:ahLst/>
            <a:cxnLst/>
            <a:rect l="l" t="t" r="r" b="b"/>
            <a:pathLst>
              <a:path w="195804" h="152292">
                <a:moveTo>
                  <a:pt x="16317" y="55681"/>
                </a:moveTo>
                <a:lnTo>
                  <a:pt x="87431" y="84950"/>
                </a:lnTo>
                <a:cubicBezTo>
                  <a:pt x="90763" y="86310"/>
                  <a:pt x="94298" y="87022"/>
                  <a:pt x="97900" y="87022"/>
                </a:cubicBezTo>
                <a:cubicBezTo>
                  <a:pt x="101505" y="87022"/>
                  <a:pt x="105040" y="86310"/>
                  <a:pt x="108372" y="84950"/>
                </a:cubicBezTo>
                <a:lnTo>
                  <a:pt x="190772" y="51024"/>
                </a:lnTo>
                <a:cubicBezTo>
                  <a:pt x="193831" y="49767"/>
                  <a:pt x="195804" y="46809"/>
                  <a:pt x="195804" y="43512"/>
                </a:cubicBezTo>
                <a:cubicBezTo>
                  <a:pt x="195804" y="40214"/>
                  <a:pt x="193831" y="37258"/>
                  <a:pt x="190772" y="35999"/>
                </a:cubicBezTo>
                <a:lnTo>
                  <a:pt x="108372" y="2073"/>
                </a:lnTo>
                <a:cubicBezTo>
                  <a:pt x="105040" y="715"/>
                  <a:pt x="101505" y="0"/>
                  <a:pt x="97900" y="0"/>
                </a:cubicBezTo>
                <a:cubicBezTo>
                  <a:pt x="94298" y="0"/>
                  <a:pt x="90763" y="715"/>
                  <a:pt x="87431" y="2073"/>
                </a:cubicBezTo>
                <a:lnTo>
                  <a:pt x="5030" y="35999"/>
                </a:lnTo>
                <a:cubicBezTo>
                  <a:pt x="1972" y="37258"/>
                  <a:pt x="0" y="40214"/>
                  <a:pt x="0" y="43512"/>
                </a:cubicBezTo>
                <a:lnTo>
                  <a:pt x="0" y="144133"/>
                </a:lnTo>
                <a:cubicBezTo>
                  <a:pt x="0" y="148654"/>
                  <a:pt x="3637" y="152292"/>
                  <a:pt x="8158" y="152292"/>
                </a:cubicBezTo>
                <a:cubicBezTo>
                  <a:pt x="12680" y="152292"/>
                  <a:pt x="16317" y="148654"/>
                  <a:pt x="16317" y="144133"/>
                </a:cubicBezTo>
                <a:lnTo>
                  <a:pt x="16317" y="55681"/>
                </a:lnTo>
                <a:close/>
                <a:moveTo>
                  <a:pt x="32634" y="80055"/>
                </a:moveTo>
                <a:lnTo>
                  <a:pt x="32634" y="119656"/>
                </a:lnTo>
                <a:cubicBezTo>
                  <a:pt x="32634" y="137674"/>
                  <a:pt x="61868" y="152292"/>
                  <a:pt x="97900" y="152292"/>
                </a:cubicBezTo>
                <a:cubicBezTo>
                  <a:pt x="133935" y="152292"/>
                  <a:pt x="163170" y="137674"/>
                  <a:pt x="163170" y="119656"/>
                </a:cubicBezTo>
                <a:lnTo>
                  <a:pt x="163170" y="80021"/>
                </a:lnTo>
                <a:lnTo>
                  <a:pt x="114592" y="100043"/>
                </a:lnTo>
                <a:cubicBezTo>
                  <a:pt x="109289" y="102219"/>
                  <a:pt x="103646" y="103339"/>
                  <a:pt x="97900" y="103339"/>
                </a:cubicBezTo>
                <a:cubicBezTo>
                  <a:pt x="92158" y="103339"/>
                  <a:pt x="86514" y="102219"/>
                  <a:pt x="81211" y="100043"/>
                </a:cubicBezTo>
                <a:lnTo>
                  <a:pt x="32634" y="80021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904721" y="3062464"/>
            <a:ext cx="1846517" cy="20881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Official Tutorials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582780" y="3375749"/>
            <a:ext cx="4977747" cy="208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https://triton-lang.org/main/getting-started/tutorials/</a:t>
            </a:r>
            <a:endParaRPr lang="en-US" sz="1100"/>
          </a:p>
        </p:txBody>
      </p:sp>
      <p:sp>
        <p:nvSpPr>
          <p:cNvPr id="35" name="Freeform 35"/>
          <p:cNvSpPr/>
          <p:nvPr/>
        </p:nvSpPr>
        <p:spPr>
          <a:xfrm>
            <a:off x="6443558" y="3863021"/>
            <a:ext cx="5186604" cy="800617"/>
          </a:xfrm>
          <a:custGeom>
            <a:avLst/>
            <a:gdLst/>
            <a:ahLst/>
            <a:cxnLst/>
            <a:rect l="l" t="t" r="r" b="b"/>
            <a:pathLst>
              <a:path w="5186604" h="800617">
                <a:moveTo>
                  <a:pt x="69621" y="0"/>
                </a:moveTo>
                <a:lnTo>
                  <a:pt x="5116982" y="0"/>
                </a:lnTo>
                <a:cubicBezTo>
                  <a:pt x="5155433" y="0"/>
                  <a:pt x="5186604" y="31171"/>
                  <a:pt x="5186604" y="69621"/>
                </a:cubicBezTo>
                <a:lnTo>
                  <a:pt x="5186604" y="730995"/>
                </a:lnTo>
                <a:cubicBezTo>
                  <a:pt x="5186604" y="769446"/>
                  <a:pt x="5155433" y="800617"/>
                  <a:pt x="5116982" y="800617"/>
                </a:cubicBezTo>
                <a:lnTo>
                  <a:pt x="69621" y="800617"/>
                </a:lnTo>
                <a:cubicBezTo>
                  <a:pt x="31196" y="800617"/>
                  <a:pt x="0" y="769421"/>
                  <a:pt x="0" y="730995"/>
                </a:cubicBezTo>
                <a:lnTo>
                  <a:pt x="0" y="69621"/>
                </a:lnTo>
                <a:cubicBezTo>
                  <a:pt x="0" y="31196"/>
                  <a:pt x="31196" y="0"/>
                  <a:pt x="6962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6" name="Freeform 36"/>
          <p:cNvSpPr/>
          <p:nvPr/>
        </p:nvSpPr>
        <p:spPr>
          <a:xfrm>
            <a:off x="6607255" y="4039737"/>
            <a:ext cx="168609" cy="165039"/>
          </a:xfrm>
          <a:custGeom>
            <a:avLst/>
            <a:gdLst/>
            <a:ahLst/>
            <a:cxnLst/>
            <a:rect l="l" t="t" r="r" b="b"/>
            <a:pathLst>
              <a:path w="168609" h="165039">
                <a:moveTo>
                  <a:pt x="56396" y="132371"/>
                </a:moveTo>
                <a:cubicBezTo>
                  <a:pt x="56396" y="133052"/>
                  <a:pt x="55613" y="133595"/>
                  <a:pt x="54628" y="133595"/>
                </a:cubicBezTo>
                <a:cubicBezTo>
                  <a:pt x="53506" y="133697"/>
                  <a:pt x="52725" y="133153"/>
                  <a:pt x="52725" y="132371"/>
                </a:cubicBezTo>
                <a:cubicBezTo>
                  <a:pt x="52725" y="131691"/>
                  <a:pt x="53506" y="131148"/>
                  <a:pt x="54492" y="131148"/>
                </a:cubicBezTo>
                <a:cubicBezTo>
                  <a:pt x="55512" y="131046"/>
                  <a:pt x="56396" y="131590"/>
                  <a:pt x="56396" y="132371"/>
                </a:cubicBezTo>
                <a:close/>
                <a:moveTo>
                  <a:pt x="45824" y="130842"/>
                </a:moveTo>
                <a:cubicBezTo>
                  <a:pt x="45585" y="131523"/>
                  <a:pt x="46266" y="132304"/>
                  <a:pt x="47286" y="132507"/>
                </a:cubicBezTo>
                <a:cubicBezTo>
                  <a:pt x="48169" y="132847"/>
                  <a:pt x="49188" y="132507"/>
                  <a:pt x="49393" y="131829"/>
                </a:cubicBezTo>
                <a:cubicBezTo>
                  <a:pt x="49597" y="131148"/>
                  <a:pt x="48951" y="130366"/>
                  <a:pt x="47931" y="130059"/>
                </a:cubicBezTo>
                <a:cubicBezTo>
                  <a:pt x="47048" y="129822"/>
                  <a:pt x="46062" y="130162"/>
                  <a:pt x="45824" y="130842"/>
                </a:cubicBezTo>
                <a:close/>
                <a:moveTo>
                  <a:pt x="60850" y="130264"/>
                </a:moveTo>
                <a:cubicBezTo>
                  <a:pt x="59863" y="130501"/>
                  <a:pt x="59183" y="131148"/>
                  <a:pt x="59285" y="131930"/>
                </a:cubicBezTo>
                <a:cubicBezTo>
                  <a:pt x="59387" y="132608"/>
                  <a:pt x="60270" y="133052"/>
                  <a:pt x="61292" y="132813"/>
                </a:cubicBezTo>
                <a:cubicBezTo>
                  <a:pt x="62277" y="132575"/>
                  <a:pt x="62957" y="131930"/>
                  <a:pt x="62855" y="131249"/>
                </a:cubicBezTo>
                <a:cubicBezTo>
                  <a:pt x="62753" y="130604"/>
                  <a:pt x="61835" y="130162"/>
                  <a:pt x="60850" y="130264"/>
                </a:cubicBezTo>
                <a:close/>
                <a:moveTo>
                  <a:pt x="83217" y="0"/>
                </a:moveTo>
                <a:cubicBezTo>
                  <a:pt x="36068" y="0"/>
                  <a:pt x="0" y="35796"/>
                  <a:pt x="0" y="82945"/>
                </a:cubicBezTo>
                <a:cubicBezTo>
                  <a:pt x="0" y="120644"/>
                  <a:pt x="23727" y="152904"/>
                  <a:pt x="57620" y="164257"/>
                </a:cubicBezTo>
                <a:cubicBezTo>
                  <a:pt x="61971" y="165039"/>
                  <a:pt x="63500" y="162354"/>
                  <a:pt x="63500" y="160145"/>
                </a:cubicBezTo>
                <a:cubicBezTo>
                  <a:pt x="63500" y="158038"/>
                  <a:pt x="63398" y="146411"/>
                  <a:pt x="63398" y="139272"/>
                </a:cubicBezTo>
                <a:cubicBezTo>
                  <a:pt x="63398" y="139272"/>
                  <a:pt x="39602" y="144371"/>
                  <a:pt x="34606" y="129143"/>
                </a:cubicBezTo>
                <a:cubicBezTo>
                  <a:pt x="34606" y="129143"/>
                  <a:pt x="30732" y="119251"/>
                  <a:pt x="25156" y="116700"/>
                </a:cubicBezTo>
                <a:cubicBezTo>
                  <a:pt x="25156" y="116700"/>
                  <a:pt x="17371" y="111363"/>
                  <a:pt x="25700" y="111465"/>
                </a:cubicBezTo>
                <a:cubicBezTo>
                  <a:pt x="25700" y="111465"/>
                  <a:pt x="34164" y="112145"/>
                  <a:pt x="38821" y="120236"/>
                </a:cubicBezTo>
                <a:cubicBezTo>
                  <a:pt x="46266" y="133356"/>
                  <a:pt x="58741" y="129585"/>
                  <a:pt x="63602" y="127340"/>
                </a:cubicBezTo>
                <a:cubicBezTo>
                  <a:pt x="64384" y="121901"/>
                  <a:pt x="66594" y="118128"/>
                  <a:pt x="69041" y="115885"/>
                </a:cubicBezTo>
                <a:cubicBezTo>
                  <a:pt x="50039" y="113777"/>
                  <a:pt x="30867" y="111023"/>
                  <a:pt x="30867" y="78322"/>
                </a:cubicBezTo>
                <a:cubicBezTo>
                  <a:pt x="30867" y="68973"/>
                  <a:pt x="33451" y="64282"/>
                  <a:pt x="38889" y="58299"/>
                </a:cubicBezTo>
                <a:cubicBezTo>
                  <a:pt x="38005" y="56090"/>
                  <a:pt x="35116" y="46980"/>
                  <a:pt x="39773" y="35218"/>
                </a:cubicBezTo>
                <a:cubicBezTo>
                  <a:pt x="46878" y="33007"/>
                  <a:pt x="63230" y="44395"/>
                  <a:pt x="63230" y="44395"/>
                </a:cubicBezTo>
                <a:cubicBezTo>
                  <a:pt x="70027" y="42492"/>
                  <a:pt x="77335" y="41507"/>
                  <a:pt x="84577" y="41507"/>
                </a:cubicBezTo>
                <a:cubicBezTo>
                  <a:pt x="91817" y="41507"/>
                  <a:pt x="99126" y="42492"/>
                  <a:pt x="105924" y="44395"/>
                </a:cubicBezTo>
                <a:cubicBezTo>
                  <a:pt x="105924" y="44395"/>
                  <a:pt x="122274" y="32974"/>
                  <a:pt x="129380" y="35218"/>
                </a:cubicBezTo>
                <a:cubicBezTo>
                  <a:pt x="134037" y="47014"/>
                  <a:pt x="131148" y="56090"/>
                  <a:pt x="130264" y="58299"/>
                </a:cubicBezTo>
                <a:cubicBezTo>
                  <a:pt x="135703" y="64315"/>
                  <a:pt x="139035" y="69007"/>
                  <a:pt x="139035" y="78322"/>
                </a:cubicBezTo>
                <a:cubicBezTo>
                  <a:pt x="139035" y="111125"/>
                  <a:pt x="119012" y="113743"/>
                  <a:pt x="100010" y="115885"/>
                </a:cubicBezTo>
                <a:cubicBezTo>
                  <a:pt x="103137" y="118570"/>
                  <a:pt x="105789" y="123669"/>
                  <a:pt x="105789" y="131658"/>
                </a:cubicBezTo>
                <a:cubicBezTo>
                  <a:pt x="105789" y="143113"/>
                  <a:pt x="105687" y="157290"/>
                  <a:pt x="105687" y="160076"/>
                </a:cubicBezTo>
                <a:cubicBezTo>
                  <a:pt x="105687" y="162286"/>
                  <a:pt x="107250" y="164971"/>
                  <a:pt x="111567" y="164189"/>
                </a:cubicBezTo>
                <a:cubicBezTo>
                  <a:pt x="145561" y="152904"/>
                  <a:pt x="168609" y="120644"/>
                  <a:pt x="168609" y="82945"/>
                </a:cubicBezTo>
                <a:cubicBezTo>
                  <a:pt x="168609" y="35796"/>
                  <a:pt x="130366" y="0"/>
                  <a:pt x="83217" y="0"/>
                </a:cubicBezTo>
                <a:close/>
                <a:moveTo>
                  <a:pt x="33042" y="117244"/>
                </a:moveTo>
                <a:cubicBezTo>
                  <a:pt x="32600" y="117584"/>
                  <a:pt x="32703" y="118367"/>
                  <a:pt x="33280" y="119012"/>
                </a:cubicBezTo>
                <a:cubicBezTo>
                  <a:pt x="33824" y="119557"/>
                  <a:pt x="34606" y="119794"/>
                  <a:pt x="35048" y="119352"/>
                </a:cubicBezTo>
                <a:cubicBezTo>
                  <a:pt x="35490" y="119012"/>
                  <a:pt x="35389" y="118229"/>
                  <a:pt x="34809" y="117584"/>
                </a:cubicBezTo>
                <a:cubicBezTo>
                  <a:pt x="34266" y="117039"/>
                  <a:pt x="33484" y="116802"/>
                  <a:pt x="33042" y="117244"/>
                </a:cubicBezTo>
                <a:close/>
                <a:moveTo>
                  <a:pt x="29371" y="114491"/>
                </a:moveTo>
                <a:cubicBezTo>
                  <a:pt x="29133" y="114933"/>
                  <a:pt x="29473" y="115477"/>
                  <a:pt x="30152" y="115816"/>
                </a:cubicBezTo>
                <a:cubicBezTo>
                  <a:pt x="30697" y="116157"/>
                  <a:pt x="31377" y="116055"/>
                  <a:pt x="31615" y="115579"/>
                </a:cubicBezTo>
                <a:cubicBezTo>
                  <a:pt x="31852" y="115137"/>
                  <a:pt x="31513" y="114593"/>
                  <a:pt x="30833" y="114253"/>
                </a:cubicBezTo>
                <a:cubicBezTo>
                  <a:pt x="30152" y="114049"/>
                  <a:pt x="29609" y="114151"/>
                  <a:pt x="29371" y="114491"/>
                </a:cubicBezTo>
                <a:close/>
                <a:moveTo>
                  <a:pt x="40385" y="126592"/>
                </a:moveTo>
                <a:cubicBezTo>
                  <a:pt x="39841" y="127034"/>
                  <a:pt x="40044" y="128054"/>
                  <a:pt x="40827" y="128701"/>
                </a:cubicBezTo>
                <a:cubicBezTo>
                  <a:pt x="41609" y="129482"/>
                  <a:pt x="42595" y="129585"/>
                  <a:pt x="43037" y="129040"/>
                </a:cubicBezTo>
                <a:cubicBezTo>
                  <a:pt x="43479" y="128598"/>
                  <a:pt x="43274" y="127578"/>
                  <a:pt x="42595" y="126931"/>
                </a:cubicBezTo>
                <a:cubicBezTo>
                  <a:pt x="41847" y="126150"/>
                  <a:pt x="40827" y="126049"/>
                  <a:pt x="40385" y="126592"/>
                </a:cubicBezTo>
                <a:close/>
                <a:moveTo>
                  <a:pt x="36510" y="121596"/>
                </a:moveTo>
                <a:cubicBezTo>
                  <a:pt x="35966" y="121935"/>
                  <a:pt x="35966" y="122819"/>
                  <a:pt x="36510" y="123602"/>
                </a:cubicBezTo>
                <a:cubicBezTo>
                  <a:pt x="37054" y="124383"/>
                  <a:pt x="37971" y="124723"/>
                  <a:pt x="38412" y="124383"/>
                </a:cubicBezTo>
                <a:cubicBezTo>
                  <a:pt x="38957" y="123941"/>
                  <a:pt x="38957" y="123057"/>
                  <a:pt x="38412" y="122274"/>
                </a:cubicBezTo>
                <a:cubicBezTo>
                  <a:pt x="37938" y="121495"/>
                  <a:pt x="37054" y="121154"/>
                  <a:pt x="36510" y="121596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904720" y="4002242"/>
            <a:ext cx="1674683" cy="20882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200" b="1" i="0" u="none" strike="noStrike">
                <a:solidFill>
                  <a:srgbClr val="101828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GitHub Repository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582780" y="4315527"/>
            <a:ext cx="4977747" cy="208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4A5565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https://github.com/triton-lang/triton</a:t>
            </a:r>
            <a:endParaRPr lang="en-US" sz="1100"/>
          </a:p>
        </p:txBody>
      </p:sp>
      <p:sp>
        <p:nvSpPr>
          <p:cNvPr id="39" name="Freeform 39"/>
          <p:cNvSpPr/>
          <p:nvPr/>
        </p:nvSpPr>
        <p:spPr>
          <a:xfrm>
            <a:off x="348054" y="5150647"/>
            <a:ext cx="11495811" cy="1427187"/>
          </a:xfrm>
          <a:custGeom>
            <a:avLst/>
            <a:gdLst/>
            <a:ahLst/>
            <a:cxnLst/>
            <a:rect l="l" t="t" r="r" b="b"/>
            <a:pathLst>
              <a:path w="11495811" h="1427187">
                <a:moveTo>
                  <a:pt x="104427" y="0"/>
                </a:moveTo>
                <a:lnTo>
                  <a:pt x="11391384" y="0"/>
                </a:lnTo>
                <a:cubicBezTo>
                  <a:pt x="11449058" y="0"/>
                  <a:pt x="11495811" y="46754"/>
                  <a:pt x="11495811" y="104427"/>
                </a:cubicBezTo>
                <a:lnTo>
                  <a:pt x="11495811" y="1322760"/>
                </a:lnTo>
                <a:cubicBezTo>
                  <a:pt x="11495811" y="1380433"/>
                  <a:pt x="11449058" y="1427187"/>
                  <a:pt x="11391384" y="1427187"/>
                </a:cubicBezTo>
                <a:lnTo>
                  <a:pt x="104427" y="1427187"/>
                </a:lnTo>
                <a:cubicBezTo>
                  <a:pt x="46754" y="1427187"/>
                  <a:pt x="0" y="1380433"/>
                  <a:pt x="0" y="1322760"/>
                </a:cubicBezTo>
                <a:lnTo>
                  <a:pt x="0" y="104427"/>
                </a:lnTo>
                <a:cubicBezTo>
                  <a:pt x="0" y="46792"/>
                  <a:pt x="46792" y="0"/>
                  <a:pt x="10442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5929281" y="5374530"/>
            <a:ext cx="307839" cy="307839"/>
          </a:xfrm>
          <a:custGeom>
            <a:avLst/>
            <a:gdLst/>
            <a:ahLst/>
            <a:cxnLst/>
            <a:rect l="l" t="t" r="r" b="b"/>
            <a:pathLst>
              <a:path w="307839" h="307839">
                <a:moveTo>
                  <a:pt x="87929" y="180752"/>
                </a:moveTo>
                <a:lnTo>
                  <a:pt x="24599" y="180752"/>
                </a:lnTo>
                <a:cubicBezTo>
                  <a:pt x="9363" y="180752"/>
                  <a:pt x="0" y="164169"/>
                  <a:pt x="7834" y="151075"/>
                </a:cubicBezTo>
                <a:lnTo>
                  <a:pt x="40202" y="97106"/>
                </a:lnTo>
                <a:cubicBezTo>
                  <a:pt x="45526" y="88235"/>
                  <a:pt x="55071" y="82848"/>
                  <a:pt x="65412" y="82848"/>
                </a:cubicBezTo>
                <a:lnTo>
                  <a:pt x="123541" y="82848"/>
                </a:lnTo>
                <a:cubicBezTo>
                  <a:pt x="170106" y="3978"/>
                  <a:pt x="239554" y="0"/>
                  <a:pt x="285996" y="6792"/>
                </a:cubicBezTo>
                <a:cubicBezTo>
                  <a:pt x="293828" y="7955"/>
                  <a:pt x="299947" y="14074"/>
                  <a:pt x="301049" y="21845"/>
                </a:cubicBezTo>
                <a:cubicBezTo>
                  <a:pt x="307840" y="68287"/>
                  <a:pt x="303863" y="137737"/>
                  <a:pt x="224991" y="184300"/>
                </a:cubicBezTo>
                <a:lnTo>
                  <a:pt x="224991" y="242429"/>
                </a:lnTo>
                <a:cubicBezTo>
                  <a:pt x="224991" y="252769"/>
                  <a:pt x="219608" y="262315"/>
                  <a:pt x="210734" y="267639"/>
                </a:cubicBezTo>
                <a:lnTo>
                  <a:pt x="156765" y="300007"/>
                </a:lnTo>
                <a:cubicBezTo>
                  <a:pt x="143733" y="307839"/>
                  <a:pt x="127091" y="298416"/>
                  <a:pt x="127091" y="283242"/>
                </a:cubicBezTo>
                <a:lnTo>
                  <a:pt x="127091" y="219912"/>
                </a:lnTo>
                <a:cubicBezTo>
                  <a:pt x="127091" y="198312"/>
                  <a:pt x="109529" y="180752"/>
                  <a:pt x="87929" y="180752"/>
                </a:cubicBezTo>
                <a:lnTo>
                  <a:pt x="87868" y="180752"/>
                </a:lnTo>
                <a:close/>
                <a:moveTo>
                  <a:pt x="254362" y="82848"/>
                </a:moveTo>
                <a:cubicBezTo>
                  <a:pt x="254362" y="66639"/>
                  <a:pt x="241201" y="53478"/>
                  <a:pt x="224991" y="53478"/>
                </a:cubicBezTo>
                <a:cubicBezTo>
                  <a:pt x="208781" y="53478"/>
                  <a:pt x="195621" y="66639"/>
                  <a:pt x="195621" y="82848"/>
                </a:cubicBezTo>
                <a:cubicBezTo>
                  <a:pt x="195621" y="99059"/>
                  <a:pt x="208781" y="112220"/>
                  <a:pt x="224991" y="112220"/>
                </a:cubicBezTo>
                <a:cubicBezTo>
                  <a:pt x="241201" y="112220"/>
                  <a:pt x="254362" y="99059"/>
                  <a:pt x="254362" y="82848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504672" y="5777149"/>
            <a:ext cx="11182527" cy="2784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Start Your Triton Journey!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517725" y="6125132"/>
            <a:ext cx="11156420" cy="24366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ctr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Starting from Vector Add, explore the limitless possibilities of GPU programming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348054" y="6716859"/>
            <a:ext cx="11548026" cy="1392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indent="0" algn="l">
              <a:lnSpc>
                <a:spcPct val="108000"/>
              </a:lnSpc>
              <a:defRPr/>
            </a:pPr>
            <a:r>
              <a:rPr lang="en-US" sz="800" b="0" i="0" u="none" strike="noStrike">
                <a:solidFill>
                  <a:srgbClr val="99A1AF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  <a:sym typeface="MiSans" panose="00000500000000000000" charset="-122"/>
              </a:rPr>
              <a:t>Image source: Triton Official Docs</a:t>
            </a:r>
            <a:endParaRPr lang="en-US" sz="1100"/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  <a:endParaRPr lang="en-US" sz="3600" b="0" i="0" u="none" strike="noStrike">
              <a:solidFill>
                <a:srgbClr val="26262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7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600" b="0" i="0" u="none" strike="noStrike">
              <a:solidFill>
                <a:srgbClr val="76717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1"/>
          <a:srcRect l="2306" r="2305"/>
          <a:stretch>
            <a:fillRect/>
          </a:stretch>
        </p:blipFill>
        <p:spPr>
          <a:xfrm>
            <a:off x="0" y="-34924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  <a:endParaRPr lang="en-US" sz="4400" b="0" i="0" u="none" strike="noStrike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29&quot;:[50000086,50052716,50000090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8825</Words>
  <Application>WPS 演示</Application>
  <PresentationFormat>宽屏</PresentationFormat>
  <Paragraphs>839</Paragraphs>
  <Slides>25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Arial</vt:lpstr>
      <vt:lpstr>宋体</vt:lpstr>
      <vt:lpstr>Wingdings</vt:lpstr>
      <vt:lpstr>Arial</vt:lpstr>
      <vt:lpstr>微软雅黑</vt:lpstr>
      <vt:lpstr>Noto Sans SC</vt:lpstr>
      <vt:lpstr>Garamond</vt:lpstr>
      <vt:lpstr>Calibri</vt:lpstr>
      <vt:lpstr>Calibri Light</vt:lpstr>
      <vt:lpstr>Pretendard</vt:lpstr>
      <vt:lpstr>Segoe Print</vt:lpstr>
      <vt:lpstr>Montserrat SemiBold</vt:lpstr>
      <vt:lpstr>MiSans</vt:lpstr>
      <vt:lpstr>Arial Unicode MS</vt:lpstr>
      <vt:lpstr>BatangChe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Zhiqiang Zhao</cp:lastModifiedBy>
  <cp:revision>53</cp:revision>
  <dcterms:created xsi:type="dcterms:W3CDTF">2026-04-14T06:08:00Z</dcterms:created>
  <dcterms:modified xsi:type="dcterms:W3CDTF">2026-05-27T11:18:22Z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9A866395107AA02062CEDD69306860DC_42</vt:lpwstr>
  </property>
  <property fmtid="{D5CDD505-2E9C-101B-9397-08002B2CF9AE}" pid="3" name="KSOProductBuildVer">
    <vt:lpwstr>2052-12.1.0.21915</vt:lpwstr>
  </property>
</Properties>
</file>