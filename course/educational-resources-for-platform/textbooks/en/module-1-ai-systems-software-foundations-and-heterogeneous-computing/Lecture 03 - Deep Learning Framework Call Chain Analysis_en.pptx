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321" r:id="rId20"/>
    <p:sldId id="322" r:id="rId21"/>
    <p:sldId id="281" r:id="rId22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  <a:endParaRPr lang="zh-CN" altLang="en-US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Basic ML Framework: PyTorch &amp; Tensorflow.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Training Framework: DeepSpeed, Megatron-LLM, Accelerate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Inference Framework: vLLM, SGLang, llama.cpp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Flexible Post Training Framework: verl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Basic ML Framework: PyTorch &amp; Tensorflow.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Training Framework: DeepSpeed, Megatron-LLM, Accelerate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Inference Framework: vLLM, SGLang, llama.cpp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Flexible Post Training Framework: verl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Basic ML Framework: PyTorch &amp; Tensorflow.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Training Framework: DeepSpeed, Megatron-LLM, Accelerate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Efficient LLM Inference Framework: vLLM, SGLang, llama.cpp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Flexible Post Training Framework: verl</a:t>
            </a:r>
            <a:endParaRPr lang="en-US" sz="12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https://sites.cc.gatech.edu/classes/AY2021/cs7650_fall/slides/Introduction_to_PyTorch.pdf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https://docs.pytorch.org/tutorials/beginner/dist_overview.html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https://sites.cc.gatech.edu/classes/AY2021/cs7650_fall/slides/Introduction_to_PyTorch.pdf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https://sites.cc.gatech.edu/classes/AY2021/cs7650_fall/slides/Introduction_to_PyTorch.pdf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https://dl.acm.org/doi/pdf/10.1145/3620665.3640366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https://zhuanlan.zhihu.com/p/630933479</a:t>
            </a:r>
            <a:b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https://chips-compilers-mlsys-22.github.io/assets/slides/PyTorch%20Compilers%20(Compiler%20&amp;%20Chips%20Symposium%202022).pdf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https://docs.pytorch.org/docs/stable/torch.compiler_ir.html</a:t>
            </a:r>
            <a:b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https://pytorch.org/get-started/pytorch-2-x/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https://dev-discuss.pytorch.org/t/torchinductor-a-pytorch-native-compiler-with-define-by-run-ir-and-symbolic-shapes/747</a:t>
            </a:r>
            <a:b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这里面最重要的理念是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define-by-run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https://blog.csdn.net/weixin_38235865/article/details/130085600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44.png"/><Relationship Id="rId11" Type="http://schemas.openxmlformats.org/officeDocument/2006/relationships/image" Target="../media/image43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03: Deep Learning Framework Call Chain Analysis</a:t>
            </a:r>
            <a:endParaRPr lang="en-US" sz="51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 System Lifecycle &amp; Three Scaling Laws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17920" y="3310255"/>
            <a:ext cx="5760000" cy="324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1485" y="1839595"/>
            <a:ext cx="8027035" cy="22402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6140450" y="2178685"/>
            <a:ext cx="126000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serve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316480" y="2915920"/>
            <a:ext cx="162000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313305" y="1256030"/>
            <a:ext cx="1620000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pre-train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post-train</a:t>
            </a:r>
            <a:endParaRPr lang="en-US" sz="1600" b="1" i="0" u="none" strike="noStrike">
              <a:solidFill>
                <a:srgbClr val="54823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Overview of LLM Software Framework</a:t>
            </a:r>
            <a:endParaRPr lang="en-US" sz="3600" b="0" i="0" u="none" strike="noStrike">
              <a:solidFill>
                <a:srgbClr val="262626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grpSp>
        <p:nvGrpSpPr>
          <p:cNvPr id="6" name="Group 6"/>
          <p:cNvGrpSpPr/>
          <p:nvPr/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7" name="Group 7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Basics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60955" y="3960597"/>
              <a:ext cx="5850892" cy="2701097"/>
              <a:chOff x="160955" y="3960597"/>
              <a:chExt cx="5850892" cy="2701097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60955" y="4136927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493247" y="3960597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Serve</a:t>
                </a:r>
                <a:endParaRPr lang="en-US" sz="1100"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6200149" y="1132554"/>
            <a:ext cx="5850892" cy="5526082"/>
            <a:chOff x="6200149" y="1132554"/>
            <a:chExt cx="5850892" cy="5526082"/>
          </a:xfrm>
        </p:grpSpPr>
        <p:grpSp>
          <p:nvGrpSpPr>
            <p:cNvPr id="14" name="Group 14"/>
            <p:cNvGrpSpPr/>
            <p:nvPr/>
          </p:nvGrpSpPr>
          <p:grpSpPr>
            <a:xfrm>
              <a:off x="6200149" y="1132554"/>
              <a:ext cx="5850892" cy="2701097"/>
              <a:chOff x="6200149" y="1132554"/>
              <a:chExt cx="5850892" cy="2701097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200149" y="1308884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8532441" y="1132554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Pre-train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200149" y="3957539"/>
              <a:ext cx="5850892" cy="2701097"/>
              <a:chOff x="6200149" y="3957539"/>
              <a:chExt cx="5850892" cy="2701097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6200149" y="4133869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8532441" y="3957539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</p:grpSp>
      </p:grpSp>
      <p:sp>
        <p:nvSpPr>
          <p:cNvPr id="20" name="AutoShape 20"/>
          <p:cNvSpPr/>
          <p:nvPr/>
        </p:nvSpPr>
        <p:spPr>
          <a:xfrm>
            <a:off x="6075354" y="3949202"/>
            <a:ext cx="610048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Post-train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12358" y="1579715"/>
            <a:ext cx="2265589" cy="158735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2" name="AutoShape 22"/>
          <p:cNvSpPr/>
          <p:nvPr/>
        </p:nvSpPr>
        <p:spPr>
          <a:xfrm>
            <a:off x="366744" y="3198926"/>
            <a:ext cx="5328975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PyTorch &amp; Tensorflow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DSL&amp;API, Graph, AutoDiff, Compiler, CodeGen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57932" y="1725914"/>
            <a:ext cx="3090002" cy="147301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4" name="AutoShape 24"/>
          <p:cNvSpPr/>
          <p:nvPr/>
        </p:nvSpPr>
        <p:spPr>
          <a:xfrm>
            <a:off x="6227919" y="3167071"/>
            <a:ext cx="582312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Megatron-LM &amp; Accelerate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Parallelism Settings, FP/BP Optimization, Redundancy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91832" y="1816138"/>
            <a:ext cx="3163020" cy="133504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10124" y="2375545"/>
            <a:ext cx="2620921" cy="7915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44257" y="1641775"/>
            <a:ext cx="2552653" cy="76222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8" name="AutoShape 28"/>
          <p:cNvSpPr/>
          <p:nvPr/>
        </p:nvSpPr>
        <p:spPr>
          <a:xfrm>
            <a:off x="140960" y="6012305"/>
            <a:ext cx="5870888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vLLM &amp; SGLang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Paged Attention, Prefix Caching, Speculative Decoding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12780" y="4682964"/>
            <a:ext cx="2391298" cy="109809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992380" y="4675951"/>
            <a:ext cx="2675867" cy="120712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1" name="AutoShape 31"/>
          <p:cNvSpPr/>
          <p:nvPr/>
        </p:nvSpPr>
        <p:spPr>
          <a:xfrm>
            <a:off x="6242551" y="6003968"/>
            <a:ext cx="5870888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OpenRLHF &amp; veRL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Controller &amp; Dataflow Opt, Efficiency &amp; Flexibility 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10987" y="4407995"/>
            <a:ext cx="2279825" cy="165026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826722" y="4535679"/>
            <a:ext cx="3088408" cy="130663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Key Concepts of LLM Software Framework (1/2)</a:t>
            </a:r>
            <a:endParaRPr lang="en-US" sz="3600" b="0" i="0" u="none" strike="noStrike">
              <a:solidFill>
                <a:srgbClr val="262626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grpSp>
        <p:nvGrpSpPr>
          <p:cNvPr id="6" name="Group 6"/>
          <p:cNvGrpSpPr/>
          <p:nvPr/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7" name="Group 7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Basics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60955" y="3960597"/>
              <a:ext cx="5850892" cy="2701097"/>
              <a:chOff x="160955" y="3960597"/>
              <a:chExt cx="5850892" cy="2701097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60955" y="4136927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493247" y="3960597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Algo.</a:t>
                </a:r>
                <a:endParaRPr lang="en-US" sz="1100"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6200149" y="1132554"/>
            <a:ext cx="5850892" cy="5526082"/>
            <a:chOff x="6200149" y="1132554"/>
            <a:chExt cx="5850892" cy="5526082"/>
          </a:xfrm>
        </p:grpSpPr>
        <p:sp>
          <p:nvSpPr>
            <p:cNvPr id="14" name="AutoShape 14"/>
            <p:cNvSpPr/>
            <p:nvPr/>
          </p:nvSpPr>
          <p:spPr>
            <a:xfrm>
              <a:off x="6200149" y="1308884"/>
              <a:ext cx="5850892" cy="5349752"/>
            </a:xfrm>
            <a:prstGeom prst="rect">
              <a:avLst/>
            </a:prstGeom>
            <a:noFill/>
            <a:ln w="12700" cap="flat">
              <a:solidFill>
                <a:srgbClr val="549E39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8532441" y="1132554"/>
              <a:ext cx="1186308" cy="352659"/>
            </a:xfrm>
            <a:prstGeom prst="roundRect">
              <a:avLst>
                <a:gd name="adj" fmla="val 16666"/>
              </a:avLst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549E39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Book Antiqua" panose="02040602050305030304"/>
                  <a:ea typeface="Book Antiqua" panose="02040602050305030304"/>
                  <a:cs typeface="Book Antiqua" panose="02040602050305030304"/>
                  <a:sym typeface="Book Antiqua" panose="02040602050305030304"/>
                </a:rPr>
                <a:t>System</a:t>
              </a:r>
              <a:endParaRPr lang="en-US" sz="1100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60955" y="1509151"/>
            <a:ext cx="5850891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Features: Automation, Abstraction, Backend Portability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Programming Model: Eager Execution v.s. Static Graph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7919" y="1528168"/>
            <a:ext cx="5823122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Computation, Memory, and Communication Wall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0329" y="4355991"/>
            <a:ext cx="5870888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Runtime: Dynamicity at the inference time.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Post-training: DPO, PPO, GRPO, and etc. 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07066" y="2226174"/>
            <a:ext cx="2927400" cy="1562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8742" y="2412834"/>
            <a:ext cx="2559374" cy="109464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1449" y="5277122"/>
            <a:ext cx="2067831" cy="95466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7830" y="5033781"/>
            <a:ext cx="1481368" cy="53189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1" r="20093" b="4026"/>
          <a:stretch>
            <a:fillRect/>
          </a:stretch>
        </p:blipFill>
        <p:spPr>
          <a:xfrm>
            <a:off x="1829823" y="5055155"/>
            <a:ext cx="2067831" cy="13374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7830" y="5690631"/>
            <a:ext cx="1481369" cy="7357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6" name="AutoShape 2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868029" y="2039134"/>
            <a:ext cx="4297276" cy="216379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01728" y="4313256"/>
            <a:ext cx="4429878" cy="226457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Key Concepts of LLM Software Framework (2/2)</a:t>
            </a:r>
            <a:endParaRPr lang="en-US" sz="3600" b="0" i="0" u="none" strike="noStrike">
              <a:solidFill>
                <a:srgbClr val="262626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grpSp>
        <p:nvGrpSpPr>
          <p:cNvPr id="6" name="Group 6"/>
          <p:cNvGrpSpPr/>
          <p:nvPr/>
        </p:nvGrpSpPr>
        <p:grpSpPr>
          <a:xfrm>
            <a:off x="160955" y="1135612"/>
            <a:ext cx="5850892" cy="5526082"/>
            <a:chOff x="160955" y="1135612"/>
            <a:chExt cx="5850892" cy="5526082"/>
          </a:xfrm>
        </p:grpSpPr>
        <p:grpSp>
          <p:nvGrpSpPr>
            <p:cNvPr id="7" name="Group 7"/>
            <p:cNvGrpSpPr/>
            <p:nvPr/>
          </p:nvGrpSpPr>
          <p:grpSpPr>
            <a:xfrm>
              <a:off x="160955" y="1135612"/>
              <a:ext cx="5850892" cy="2701097"/>
              <a:chOff x="160955" y="1135612"/>
              <a:chExt cx="5850892" cy="2701097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60955" y="1311942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2493247" y="1135612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Basics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60955" y="3960597"/>
              <a:ext cx="5850892" cy="2701097"/>
              <a:chOff x="160955" y="3960597"/>
              <a:chExt cx="5850892" cy="2701097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60955" y="4136927"/>
                <a:ext cx="5850892" cy="2524767"/>
              </a:xfrm>
              <a:prstGeom prst="rect">
                <a:avLst/>
              </a:prstGeom>
              <a:noFill/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493247" y="3960597"/>
                <a:ext cx="1186308" cy="352659"/>
              </a:xfrm>
              <a:prstGeom prst="roundRect">
                <a:avLst>
                  <a:gd name="adj" fmla="val 16666"/>
                </a:avLst>
              </a:prstGeom>
              <a:solidFill>
                <a:srgbClr val="549E39">
                  <a:alpha val="100000"/>
                </a:srgbClr>
              </a:solidFill>
              <a:ln w="12700" cap="flat">
                <a:solidFill>
                  <a:srgbClr val="549E39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1" i="0" u="none" strike="noStrike">
                    <a:solidFill>
                      <a:srgbClr val="FFFFFF"/>
                    </a:solidFill>
                    <a:latin typeface="Book Antiqua" panose="02040602050305030304"/>
                    <a:ea typeface="Book Antiqua" panose="02040602050305030304"/>
                    <a:cs typeface="Book Antiqua" panose="02040602050305030304"/>
                    <a:sym typeface="Book Antiqua" panose="02040602050305030304"/>
                  </a:rPr>
                  <a:t>Algo.</a:t>
                </a:r>
                <a:endParaRPr lang="en-US" sz="1100"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6200149" y="1132554"/>
            <a:ext cx="5850892" cy="5526082"/>
            <a:chOff x="6200149" y="1132554"/>
            <a:chExt cx="5850892" cy="5526082"/>
          </a:xfrm>
        </p:grpSpPr>
        <p:sp>
          <p:nvSpPr>
            <p:cNvPr id="14" name="AutoShape 14"/>
            <p:cNvSpPr/>
            <p:nvPr/>
          </p:nvSpPr>
          <p:spPr>
            <a:xfrm>
              <a:off x="6200149" y="1308884"/>
              <a:ext cx="5850892" cy="5349752"/>
            </a:xfrm>
            <a:prstGeom prst="rect">
              <a:avLst/>
            </a:prstGeom>
            <a:noFill/>
            <a:ln w="12700" cap="flat">
              <a:solidFill>
                <a:srgbClr val="549E39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8532441" y="1132554"/>
              <a:ext cx="1186308" cy="352659"/>
            </a:xfrm>
            <a:prstGeom prst="roundRect">
              <a:avLst>
                <a:gd name="adj" fmla="val 16666"/>
              </a:avLst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549E39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Book Antiqua" panose="02040602050305030304"/>
                  <a:ea typeface="Book Antiqua" panose="02040602050305030304"/>
                  <a:cs typeface="Book Antiqua" panose="02040602050305030304"/>
                  <a:sym typeface="Book Antiqua" panose="02040602050305030304"/>
                </a:rPr>
                <a:t>System</a:t>
              </a:r>
              <a:endParaRPr lang="en-US" sz="1100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60955" y="1509151"/>
            <a:ext cx="5850891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Features: Automation, Abstraction, Backend Portability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Programming Model: Eager Execution v.s. Static Graph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7919" y="1528168"/>
            <a:ext cx="5823122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Computation, Memory, and Communication Wall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0329" y="4355991"/>
            <a:ext cx="5870888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Runtime: Dynamicity at the inference time.</a:t>
            </a:r>
            <a:endParaRPr lang="en-US" sz="10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Post-training: DPO, PPO, GRPO, and etc. 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07066" y="2226174"/>
            <a:ext cx="2927400" cy="1562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8742" y="2412834"/>
            <a:ext cx="2559374" cy="109464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1449" y="5277122"/>
            <a:ext cx="2067831" cy="95466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7830" y="5033781"/>
            <a:ext cx="1481368" cy="53189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1" r="20093" b="4026"/>
          <a:stretch>
            <a:fillRect/>
          </a:stretch>
        </p:blipFill>
        <p:spPr>
          <a:xfrm>
            <a:off x="1829823" y="5055155"/>
            <a:ext cx="2067831" cy="13374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7830" y="5690631"/>
            <a:ext cx="1481369" cy="7357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6" name="AutoShape 2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858499" y="4291248"/>
            <a:ext cx="4531268" cy="234620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519356" y="1917786"/>
            <a:ext cx="3209555" cy="23954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PyTorch: The (most) popular open-source ML library.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definition; GPU-enabled computation; Automatic Differentiation; Compiler Support.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3950" y="2626443"/>
            <a:ext cx="3120105" cy="198552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90950" y="2626360"/>
            <a:ext cx="8293100" cy="33534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419160" y="4961940"/>
            <a:ext cx="2771023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Other ML Frameworks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31999" y="5690346"/>
            <a:ext cx="4473039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Numpy vs TensorFlow vs PyTorch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Tensors 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N-dims array in PyTorch, which is similar with NumPy’s ndarrays.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But torch.Tensor has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gradient support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device flag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Examples: Gradient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 = torch.randn(1)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t.requires_grad_() 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 = torch.randn(1, requires_grad=True)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 the value: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t.data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 the gradient: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t.grad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Tensors 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N-dims array in PyTorch, which is similar with NumPy’s ndarrays.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But torch.Tensor has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gradient support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device flag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Examples: Hetero-device Support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 = torch.randn(1)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t.to("gpu:1")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torch.cuda.is_available()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85800" lvl="2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torch-npu (by Huawei)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t.to("npu:0")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torch.npu.is_available()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35157" y="3750469"/>
            <a:ext cx="6693911" cy="3425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1500"/>
              </a:spcBef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Distributed Support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DTensor &amp; DeviceMesh</a:t>
            </a:r>
            <a:endParaRPr lang="en-US" sz="24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Autograd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Autograd: Automatic Differentiation Package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need to worry about partial differentiation, chain rule etc.  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=&gt; backward()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Gradients are accumulated for each step =&gt; zero-out gradient after update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grad_zero()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Examples: Hetero-device Support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x = torch.tensor(1., requires_grad = True)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 = torch.tensor(2., requires_grad = True)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 = torch.tensor(3., requires_grad = True)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y = w * x + b    </a:t>
            </a:r>
            <a:r>
              <a:rPr lang="en-US" sz="2000" b="0" i="0" u="none" strike="noStrike">
                <a:solidFill>
                  <a:srgbClr val="A5A5A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y = 2 * x + 3</a:t>
            </a:r>
            <a:endParaRPr lang="en-US" sz="2000" b="0" i="0" u="none" strike="noStrike">
              <a:solidFill>
                <a:srgbClr val="A5A5A5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y.backward()</a:t>
            </a: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print(x.grad, w.grad, b.grad)   </a:t>
            </a:r>
            <a:r>
              <a:rPr lang="en-US" sz="2000" b="0" i="0" u="none" strike="noStrike">
                <a:solidFill>
                  <a:srgbClr val="A5A5A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2, 1, 1</a:t>
            </a:r>
            <a:endParaRPr lang="en-US" sz="2000" b="0" i="0" u="none" strike="noStrike">
              <a:solidFill>
                <a:srgbClr val="A5A5A5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A5A5A5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Inside (1/5)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Enabling a training or inference task is simple. But how about the performance?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 the beginning, one of the design principles of PyTorch – Easy to use &gt; Performance.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the increase of hardware computing power, 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ctr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sng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performance, portability, scalability and become more and more important.</a:t>
            </a:r>
            <a:endParaRPr lang="en-US" sz="2000" b="0" i="0" u="sng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So, what is the advanced internal workflow of PyTorch (2.0)?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can we accelerate?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Compilation Optimization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capturing (acquisition)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lowering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compilation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66784" y="3680300"/>
            <a:ext cx="5139884" cy="249651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7328435" y="6176816"/>
            <a:ext cx="310035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The backend of PyTorch 2.0 </a:t>
            </a:r>
            <a:endParaRPr lang="en-US" sz="1600" b="0" i="0" u="none" strike="noStrike">
              <a:solidFill>
                <a:srgbClr val="00000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92440" y="3836035"/>
            <a:ext cx="4099560" cy="273621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Inside (2/5)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1900" b="0" i="0" u="none" strike="noStrike" spc="0">
                <a:solidFill>
                  <a:srgbClr val="404040">
                    <a:alpha val="100000"/>
                  </a:srgbClr>
                </a:solidFill>
                <a:latin typeface="Book Antiqua" panose="02040602050305030304"/>
              </a:defRPr>
            </a:lvl1pPr>
          </a:lstStyle>
          <a:p>
            <a:pPr marL="241300" indent="-2413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Unified Entrance @ PyTorch 2.0: torch.compile()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241300" indent="-2413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Torch Dynamo (for FP)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A JIT compiler for computation graph extraction.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Before Dynamo, there are several initial tries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927100" lvl="2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TorchScript, TorchFX, LazyTensor, etc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Dynamo has more flexible support combining 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    with the bytecode and VM.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Graph break when it meets the unsupported ops.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Graph re-compilation checking (@ static shape mode).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927100" lvl="2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Tensor Shape, Stride, Device and etc.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Dynamo also supports dynamic shapes without re-compilation.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marL="241300" indent="-2413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AOTAutograd is for the graph extraction during the BP.</a:t>
            </a:r>
            <a:endParaRPr lang="en-US" sz="1900" b="0" i="0" u="none" strike="noStrike">
              <a:solidFill>
                <a:srgbClr val="404040"/>
              </a:solidFill>
              <a:latin typeface="Book Antiqua" panose="02040602050305030304"/>
              <a:ea typeface="Book Antiqua" panose="02040602050305030304"/>
              <a:cs typeface="Book Antiqua" panose="02040602050305030304"/>
              <a:sym typeface="Book Antiqua" panose="020406020503050303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9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712" y="1144587"/>
            <a:ext cx="3772762" cy="213488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Inside (3/5)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28027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Entrance @ PyTorch 2.0: torch.compile()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ATen/PrimIR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ops in PyTorch: 1200+ (2000+ overload ops)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ops in Prim IR: ~250 (fairly low-level)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canonical ops in ATen: ~750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Prim IR operators should be fused for better perf.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ATen IR operators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suited for backends that already integrate at ATen level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backends that won’t have compilation to recover performance from a lower-level operator set like Prim ops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73687" y="1254791"/>
            <a:ext cx="4392756" cy="548776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Inside (4/5)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Entrance @ PyTorch 2.0: torch.compile()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 Inductor w/ OpenAI Triton support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default compiler backend.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Python-native &amp; PyTorch-first.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Loop-level TorchInductor IR has 54 primitive operators.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Define-by-run Concept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IR uses executable Python code to define the bodies of loops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Sympy symbols for the dynamic shapes.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Scheduling: mainly for the operator fusions.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CodeGen: Triton, C++, and wrapper.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25912" y="958583"/>
            <a:ext cx="4097867" cy="285499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00223" y="3840163"/>
            <a:ext cx="3949243" cy="242649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Programming: PyTorch – Inside (5/5)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Evaluations of PyTorch 2.0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Better performance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shapes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More model supports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3874" y="3194700"/>
            <a:ext cx="4913285" cy="33340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600" y="1189990"/>
            <a:ext cx="5142230" cy="53536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4737</Words>
  <Application>WPS 演示</Application>
  <PresentationFormat>宽屏</PresentationFormat>
  <Paragraphs>260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Book Antiqua</vt:lpstr>
      <vt:lpstr>Courier New</vt:lpstr>
      <vt:lpstr>等线</vt:lpstr>
      <vt:lpstr>Arial Unicode MS</vt:lpstr>
      <vt:lpstr>BatangChe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53</cp:revision>
  <dcterms:created xsi:type="dcterms:W3CDTF">2026-04-14T06:08:00Z</dcterms:created>
  <dcterms:modified xsi:type="dcterms:W3CDTF">2026-05-27T11:18:12Z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