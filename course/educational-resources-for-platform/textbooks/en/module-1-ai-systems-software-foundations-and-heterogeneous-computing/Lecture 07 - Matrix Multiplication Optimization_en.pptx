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1" r:id="rId20"/>
    <p:sldId id="482" r:id="rId21"/>
    <p:sldId id="483" r:id="rId22"/>
    <p:sldId id="484" r:id="rId23"/>
    <p:sldId id="485" r:id="rId24"/>
    <p:sldId id="486" r:id="rId25"/>
    <p:sldId id="487" r:id="rId26"/>
    <p:sldId id="321" r:id="rId27"/>
    <p:sldId id="322" r:id="rId28"/>
    <p:sldId id="281" r:id="rId29"/>
  </p:sldIdLst>
  <p:sldSz cx="12192000" cy="6858000"/>
  <p:notesSz cx="6858000" cy="9144000"/>
  <p:custDataLst>
    <p:tags r:id="rId3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  <a:endParaRPr lang="zh-CN" altLang="en-US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配图建议：Naive memory access 示意图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配图建议：GPU bandwidth vs compute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配图建议：矩阵 tile 分块图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配图建议：矩阵分块乘法示意图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配图建议：Tile multiply animation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配图建议：Data reuse 示意图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配图建议：compute vs memory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配图建议：Arithmetic intensity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配图建议：Roofline model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配图建议：Roofline 提升示意图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配图建议：Triton tile mapping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配图建议：2D tile grid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配图建议：Streaming tile 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4.png"/><Relationship Id="rId11" Type="http://schemas.openxmlformats.org/officeDocument/2006/relationships/image" Target="../media/image13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07: Matrix Multiplication Optimization</a:t>
            </a:r>
            <a:endParaRPr lang="en-US" sz="51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186" y="63852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Matrix MultiplicationFundamentals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962236"/>
            <a:ext cx="5562600" cy="3504963"/>
            <a:chOff x="380956" y="1962236"/>
            <a:chExt cx="5562600" cy="3504963"/>
          </a:xfrm>
        </p:grpSpPr>
        <p:sp>
          <p:nvSpPr>
            <p:cNvPr id="4" name="Freeform 4"/>
            <p:cNvSpPr/>
            <p:nvPr/>
          </p:nvSpPr>
          <p:spPr>
            <a:xfrm>
              <a:off x="380956" y="1962236"/>
              <a:ext cx="5562600" cy="1485900"/>
            </a:xfrm>
            <a:custGeom>
              <a:avLst/>
              <a:gdLst/>
              <a:ahLst/>
              <a:cxnLst/>
              <a:rect l="l" t="t" r="r" b="b"/>
              <a:pathLst>
                <a:path w="5562600" h="1485900">
                  <a:moveTo>
                    <a:pt x="76197" y="0"/>
                  </a:moveTo>
                  <a:lnTo>
                    <a:pt x="5486403" y="0"/>
                  </a:lnTo>
                  <a:cubicBezTo>
                    <a:pt x="5528485" y="0"/>
                    <a:pt x="5562600" y="34115"/>
                    <a:pt x="5562600" y="76197"/>
                  </a:cubicBezTo>
                  <a:lnTo>
                    <a:pt x="5562600" y="1409703"/>
                  </a:lnTo>
                  <a:cubicBezTo>
                    <a:pt x="5562600" y="1451785"/>
                    <a:pt x="5528485" y="1485900"/>
                    <a:pt x="548640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609529" y="2190809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Matrix Multiplication Definition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628484" y="2609897"/>
              <a:ext cx="5086255" cy="609600"/>
            </a:xfrm>
            <a:custGeom>
              <a:avLst/>
              <a:gdLst/>
              <a:ahLst/>
              <a:cxnLst/>
              <a:rect l="l" t="t" r="r" b="b"/>
              <a:pathLst>
                <a:path w="5086255" h="609600">
                  <a:moveTo>
                    <a:pt x="37910" y="0"/>
                  </a:moveTo>
                  <a:lnTo>
                    <a:pt x="5048155" y="0"/>
                  </a:lnTo>
                  <a:cubicBezTo>
                    <a:pt x="5069183" y="0"/>
                    <a:pt x="5086255" y="17073"/>
                    <a:pt x="5086255" y="38100"/>
                  </a:cubicBezTo>
                  <a:lnTo>
                    <a:pt x="5086255" y="571500"/>
                  </a:lnTo>
                  <a:cubicBezTo>
                    <a:pt x="5086255" y="592527"/>
                    <a:pt x="5069183" y="609600"/>
                    <a:pt x="5048155" y="609600"/>
                  </a:cubicBezTo>
                  <a:lnTo>
                    <a:pt x="37910" y="609600"/>
                  </a:lnTo>
                  <a:cubicBezTo>
                    <a:pt x="16974" y="609600"/>
                    <a:pt x="0" y="592626"/>
                    <a:pt x="0" y="5716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484" y="2609897"/>
              <a:ext cx="37909" cy="609600"/>
            </a:xfrm>
            <a:custGeom>
              <a:avLst/>
              <a:gdLst/>
              <a:ahLst/>
              <a:cxnLst/>
              <a:rect l="l" t="t" r="r" b="b"/>
              <a:pathLst>
                <a:path w="37909" h="609600">
                  <a:moveTo>
                    <a:pt x="37910" y="0"/>
                  </a:moveTo>
                  <a:lnTo>
                    <a:pt x="37910" y="0"/>
                  </a:lnTo>
                  <a:lnTo>
                    <a:pt x="37910" y="609600"/>
                  </a:lnTo>
                  <a:lnTo>
                    <a:pt x="37910" y="609600"/>
                  </a:lnTo>
                  <a:cubicBezTo>
                    <a:pt x="16974" y="609600"/>
                    <a:pt x="0" y="592626"/>
                    <a:pt x="0" y="5716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609529" y="2609897"/>
              <a:ext cx="5181600" cy="609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152400" rIns="152400" bIns="15240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1A1A1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C[M, N] = A[M, K] × B[K, N]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0956" y="3676499"/>
              <a:ext cx="5562600" cy="1790700"/>
            </a:xfrm>
            <a:custGeom>
              <a:avLst/>
              <a:gdLst/>
              <a:ahLst/>
              <a:cxnLst/>
              <a:rect l="l" t="t" r="r" b="b"/>
              <a:pathLst>
                <a:path w="5562600" h="1790700">
                  <a:moveTo>
                    <a:pt x="76194" y="0"/>
                  </a:moveTo>
                  <a:lnTo>
                    <a:pt x="5486406" y="0"/>
                  </a:lnTo>
                  <a:cubicBezTo>
                    <a:pt x="5528459" y="0"/>
                    <a:pt x="5562600" y="34141"/>
                    <a:pt x="5562600" y="76194"/>
                  </a:cubicBezTo>
                  <a:lnTo>
                    <a:pt x="5562600" y="1714506"/>
                  </a:lnTo>
                  <a:cubicBezTo>
                    <a:pt x="5562600" y="1756587"/>
                    <a:pt x="5528487" y="1790700"/>
                    <a:pt x="5486406" y="1790700"/>
                  </a:cubicBezTo>
                  <a:lnTo>
                    <a:pt x="76194" y="1790700"/>
                  </a:lnTo>
                  <a:cubicBezTo>
                    <a:pt x="34141" y="1790700"/>
                    <a:pt x="0" y="1756559"/>
                    <a:pt x="0" y="1714506"/>
                  </a:cubicBezTo>
                  <a:lnTo>
                    <a:pt x="0" y="76194"/>
                  </a:lnTo>
                  <a:cubicBezTo>
                    <a:pt x="0" y="34141"/>
                    <a:pt x="34141" y="0"/>
                    <a:pt x="7619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09529" y="3905072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Computation Formula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8484" y="4324160"/>
              <a:ext cx="5086255" cy="571500"/>
            </a:xfrm>
            <a:custGeom>
              <a:avLst/>
              <a:gdLst/>
              <a:ahLst/>
              <a:cxnLst/>
              <a:rect l="l" t="t" r="r" b="b"/>
              <a:pathLst>
                <a:path w="5086255" h="571500">
                  <a:moveTo>
                    <a:pt x="37910" y="0"/>
                  </a:moveTo>
                  <a:lnTo>
                    <a:pt x="5048153" y="0"/>
                  </a:lnTo>
                  <a:cubicBezTo>
                    <a:pt x="5069196" y="0"/>
                    <a:pt x="5086255" y="17059"/>
                    <a:pt x="5086255" y="38103"/>
                  </a:cubicBezTo>
                  <a:lnTo>
                    <a:pt x="5086255" y="533397"/>
                  </a:lnTo>
                  <a:cubicBezTo>
                    <a:pt x="5086255" y="554441"/>
                    <a:pt x="5069196" y="571500"/>
                    <a:pt x="5048153" y="571500"/>
                  </a:cubicBezTo>
                  <a:lnTo>
                    <a:pt x="37910" y="571500"/>
                  </a:lnTo>
                  <a:cubicBezTo>
                    <a:pt x="16974" y="571500"/>
                    <a:pt x="0" y="554526"/>
                    <a:pt x="0" y="5335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28484" y="4324160"/>
              <a:ext cx="37909" cy="571500"/>
            </a:xfrm>
            <a:custGeom>
              <a:avLst/>
              <a:gdLst/>
              <a:ahLst/>
              <a:cxnLst/>
              <a:rect l="l" t="t" r="r" b="b"/>
              <a:pathLst>
                <a:path w="37909" h="571500">
                  <a:moveTo>
                    <a:pt x="37910" y="0"/>
                  </a:moveTo>
                  <a:lnTo>
                    <a:pt x="37910" y="0"/>
                  </a:lnTo>
                  <a:lnTo>
                    <a:pt x="37910" y="571500"/>
                  </a:lnTo>
                  <a:lnTo>
                    <a:pt x="37910" y="571500"/>
                  </a:lnTo>
                  <a:cubicBezTo>
                    <a:pt x="16974" y="571500"/>
                    <a:pt x="0" y="554526"/>
                    <a:pt x="0" y="5335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09529" y="4324160"/>
              <a:ext cx="5162550" cy="571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152400" rIns="152400" bIns="15240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1A1A1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C[i, j] = Σ A[i, k] × B[k, j]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09529" y="5009880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Sum over k from 0 to K-1</a:t>
              </a:r>
              <a:endParaRPr lang="en-US" sz="11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05506" y="1052973"/>
            <a:ext cx="5562600" cy="3228619"/>
            <a:chOff x="6305506" y="1052973"/>
            <a:chExt cx="5562600" cy="3228619"/>
          </a:xfrm>
        </p:grpSpPr>
        <p:sp>
          <p:nvSpPr>
            <p:cNvPr id="16" name="Freeform 16"/>
            <p:cNvSpPr/>
            <p:nvPr/>
          </p:nvSpPr>
          <p:spPr>
            <a:xfrm>
              <a:off x="6305506" y="1052973"/>
              <a:ext cx="5562600" cy="1600200"/>
            </a:xfrm>
            <a:custGeom>
              <a:avLst/>
              <a:gdLst/>
              <a:ahLst/>
              <a:cxnLst/>
              <a:rect l="l" t="t" r="r" b="b"/>
              <a:pathLst>
                <a:path w="5562600" h="1600200">
                  <a:moveTo>
                    <a:pt x="76203" y="0"/>
                  </a:moveTo>
                  <a:lnTo>
                    <a:pt x="5486397" y="0"/>
                  </a:lnTo>
                  <a:cubicBezTo>
                    <a:pt x="5528483" y="0"/>
                    <a:pt x="5562600" y="34117"/>
                    <a:pt x="5562600" y="76203"/>
                  </a:cubicBezTo>
                  <a:lnTo>
                    <a:pt x="5562600" y="1523997"/>
                  </a:lnTo>
                  <a:cubicBezTo>
                    <a:pt x="5562600" y="1566083"/>
                    <a:pt x="5528483" y="1600200"/>
                    <a:pt x="54863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534079" y="1281546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Computational Complexity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534079" y="1700635"/>
              <a:ext cx="527685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92000"/>
                </a:lnSpc>
                <a:defRPr/>
              </a:pPr>
              <a:r>
                <a:rPr lang="en-US" sz="27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O(M × N × K)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14983" y="2891037"/>
              <a:ext cx="5543455" cy="1390555"/>
            </a:xfrm>
            <a:custGeom>
              <a:avLst/>
              <a:gdLst/>
              <a:ahLst/>
              <a:cxnLst/>
              <a:rect l="l" t="t" r="r" b="b"/>
              <a:pathLst>
                <a:path w="5543455" h="1390555">
                  <a:moveTo>
                    <a:pt x="76203" y="0"/>
                  </a:moveTo>
                  <a:lnTo>
                    <a:pt x="5467253" y="0"/>
                  </a:lnTo>
                  <a:cubicBezTo>
                    <a:pt x="5509337" y="0"/>
                    <a:pt x="5543455" y="34117"/>
                    <a:pt x="5543455" y="76203"/>
                  </a:cubicBezTo>
                  <a:lnTo>
                    <a:pt x="5543455" y="1314353"/>
                  </a:lnTo>
                  <a:cubicBezTo>
                    <a:pt x="5543455" y="1356437"/>
                    <a:pt x="5509337" y="1390555"/>
                    <a:pt x="5467253" y="1390555"/>
                  </a:cubicBezTo>
                  <a:lnTo>
                    <a:pt x="76203" y="1390555"/>
                  </a:lnTo>
                  <a:cubicBezTo>
                    <a:pt x="34117" y="1390555"/>
                    <a:pt x="0" y="1356437"/>
                    <a:pt x="0" y="1314353"/>
                  </a:cubicBezTo>
                  <a:lnTo>
                    <a:pt x="0" y="76203"/>
                  </a:lnTo>
                  <a:cubicBezTo>
                    <a:pt x="0" y="34117"/>
                    <a:pt x="34117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6523051" y="3129088"/>
              <a:ext cx="48672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Characteristics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553034" y="3510044"/>
              <a:ext cx="515302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Compute-intensive task</a:t>
              </a:r>
              <a:endParaRPr lang="en-US" sz="1100"/>
            </a:p>
            <a:p>
              <a:pPr indent="0" algn="l">
                <a:lnSpc>
                  <a:spcPct val="133000"/>
                </a:lnSpc>
              </a:pPr>
              <a:r>
                <a:rPr lang="en-US" sz="14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Computation far exceeds data volume</a:t>
              </a:r>
              <a:endPara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14983" y="4443615"/>
            <a:ext cx="4476750" cy="2286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8486" y="59039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Problems with Naive GPU MatMul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2171928"/>
            <a:ext cx="4438650" cy="1524000"/>
          </a:xfrm>
          <a:custGeom>
            <a:avLst/>
            <a:gdLst/>
            <a:ahLst/>
            <a:cxnLst/>
            <a:rect l="l" t="t" r="r" b="b"/>
            <a:pathLst>
              <a:path w="4438650" h="152400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1447800"/>
                </a:lnTo>
                <a:cubicBezTo>
                  <a:pt x="4438650" y="1489856"/>
                  <a:pt x="4404506" y="1524000"/>
                  <a:pt x="436245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396" y="2362369"/>
            <a:ext cx="4143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Naive Kernel Implementation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90352" y="2743324"/>
            <a:ext cx="4038505" cy="762000"/>
          </a:xfrm>
          <a:custGeom>
            <a:avLst/>
            <a:gdLst/>
            <a:ahLst/>
            <a:cxnLst/>
            <a:rect l="l" t="t" r="r" b="b"/>
            <a:pathLst>
              <a:path w="4038505" h="762000">
                <a:moveTo>
                  <a:pt x="37910" y="0"/>
                </a:moveTo>
                <a:lnTo>
                  <a:pt x="4000405" y="0"/>
                </a:lnTo>
                <a:cubicBezTo>
                  <a:pt x="4021433" y="0"/>
                  <a:pt x="4038505" y="17073"/>
                  <a:pt x="4038505" y="38100"/>
                </a:cubicBezTo>
                <a:lnTo>
                  <a:pt x="4038505" y="723900"/>
                </a:lnTo>
                <a:cubicBezTo>
                  <a:pt x="4038505" y="744927"/>
                  <a:pt x="4021433" y="762000"/>
                  <a:pt x="4000405" y="762000"/>
                </a:cubicBezTo>
                <a:lnTo>
                  <a:pt x="37910" y="762000"/>
                </a:lnTo>
                <a:cubicBezTo>
                  <a:pt x="16974" y="762000"/>
                  <a:pt x="0" y="745026"/>
                  <a:pt x="0" y="724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90352" y="2743324"/>
            <a:ext cx="37909" cy="762000"/>
          </a:xfrm>
          <a:custGeom>
            <a:avLst/>
            <a:gdLst/>
            <a:ahLst/>
            <a:cxnLst/>
            <a:rect l="l" t="t" r="r" b="b"/>
            <a:pathLst>
              <a:path w="37909" h="762000">
                <a:moveTo>
                  <a:pt x="37910" y="0"/>
                </a:moveTo>
                <a:lnTo>
                  <a:pt x="37910" y="0"/>
                </a:lnTo>
                <a:lnTo>
                  <a:pt x="37910" y="762000"/>
                </a:lnTo>
                <a:lnTo>
                  <a:pt x="37910" y="762000"/>
                </a:lnTo>
                <a:cubicBezTo>
                  <a:pt x="16974" y="762000"/>
                  <a:pt x="0" y="745026"/>
                  <a:pt x="0" y="724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71396" y="2743324"/>
            <a:ext cx="4095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52400" tIns="152400" rIns="152400" bIns="1524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thread computes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one C[i, j]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80956" y="3886117"/>
            <a:ext cx="4438650" cy="1371600"/>
          </a:xfrm>
          <a:custGeom>
            <a:avLst/>
            <a:gdLst/>
            <a:ahLst/>
            <a:cxnLst/>
            <a:rect l="l" t="t" r="r" b="b"/>
            <a:pathLst>
              <a:path w="4438650" h="1371600">
                <a:moveTo>
                  <a:pt x="76206" y="0"/>
                </a:moveTo>
                <a:lnTo>
                  <a:pt x="4362444" y="0"/>
                </a:lnTo>
                <a:cubicBezTo>
                  <a:pt x="4404531" y="0"/>
                  <a:pt x="4438650" y="34119"/>
                  <a:pt x="4438650" y="76206"/>
                </a:cubicBezTo>
                <a:lnTo>
                  <a:pt x="4438650" y="1295394"/>
                </a:lnTo>
                <a:cubicBezTo>
                  <a:pt x="4438650" y="1337481"/>
                  <a:pt x="4404531" y="1371600"/>
                  <a:pt x="43624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1396" y="4076558"/>
            <a:ext cx="4143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Core Problem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396" y="4457514"/>
            <a:ext cx="417195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Repeated reads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Memory</a:t>
            </a:r>
            <a:endParaRPr lang="en-US" sz="1800" b="1" i="0" u="none" strike="noStrike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5044385" y="1257116"/>
            <a:ext cx="6762750" cy="4914900"/>
          </a:xfrm>
          <a:custGeom>
            <a:avLst/>
            <a:gdLst/>
            <a:ahLst/>
            <a:cxnLst/>
            <a:rect l="l" t="t" r="r" b="b"/>
            <a:pathLst>
              <a:path w="6762750" h="4914900">
                <a:moveTo>
                  <a:pt x="76181" y="0"/>
                </a:moveTo>
                <a:lnTo>
                  <a:pt x="6686569" y="0"/>
                </a:lnTo>
                <a:cubicBezTo>
                  <a:pt x="6728643" y="0"/>
                  <a:pt x="6762750" y="34107"/>
                  <a:pt x="6762750" y="76181"/>
                </a:cubicBezTo>
                <a:lnTo>
                  <a:pt x="6762750" y="4838719"/>
                </a:lnTo>
                <a:cubicBezTo>
                  <a:pt x="6762750" y="4880793"/>
                  <a:pt x="6728643" y="4914900"/>
                  <a:pt x="6686569" y="4914900"/>
                </a:cubicBezTo>
                <a:lnTo>
                  <a:pt x="76181" y="4914900"/>
                </a:lnTo>
                <a:cubicBezTo>
                  <a:pt x="34107" y="4914900"/>
                  <a:pt x="0" y="4880793"/>
                  <a:pt x="0" y="4838719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272958" y="1485690"/>
            <a:ext cx="6400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Access Example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5291914" y="2419605"/>
            <a:ext cx="6286405" cy="952500"/>
          </a:xfrm>
          <a:custGeom>
            <a:avLst/>
            <a:gdLst/>
            <a:ahLst/>
            <a:cxnLst/>
            <a:rect l="l" t="t" r="r" b="b"/>
            <a:pathLst>
              <a:path w="6286405" h="952500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5291914" y="2419605"/>
            <a:ext cx="37910" cy="952500"/>
          </a:xfrm>
          <a:custGeom>
            <a:avLst/>
            <a:gdLst/>
            <a:ahLst/>
            <a:cxnLst/>
            <a:rect l="l" t="t" r="r" b="b"/>
            <a:pathLst>
              <a:path w="37910" h="95250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501310" y="2629074"/>
            <a:ext cx="1257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A[i, k]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01310" y="2933839"/>
            <a:ext cx="3151737" cy="3428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 single element of Matrix A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487008" y="2610045"/>
            <a:ext cx="904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 times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553683" y="2952869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is read repeatedly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5291914" y="3562323"/>
            <a:ext cx="6286405" cy="952500"/>
          </a:xfrm>
          <a:custGeom>
            <a:avLst/>
            <a:gdLst/>
            <a:ahLst/>
            <a:cxnLst/>
            <a:rect l="l" t="t" r="r" b="b"/>
            <a:pathLst>
              <a:path w="6286405" h="952500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5291914" y="3562323"/>
            <a:ext cx="37910" cy="952500"/>
          </a:xfrm>
          <a:custGeom>
            <a:avLst/>
            <a:gdLst/>
            <a:ahLst/>
            <a:cxnLst/>
            <a:rect l="l" t="t" r="r" b="b"/>
            <a:pathLst>
              <a:path w="37910" h="95250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501310" y="3771793"/>
            <a:ext cx="1257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B[k, j]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501310" y="4076557"/>
            <a:ext cx="2881713" cy="3045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 single element of Matrix B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487008" y="3752764"/>
            <a:ext cx="904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 times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553683" y="4095587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is read repeatedly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5272958" y="4857424"/>
            <a:ext cx="6305550" cy="647700"/>
          </a:xfrm>
          <a:custGeom>
            <a:avLst/>
            <a:gdLst/>
            <a:ahLst/>
            <a:cxnLst/>
            <a:rect l="l" t="t" r="r" b="b"/>
            <a:pathLst>
              <a:path w="6305550" h="647700">
                <a:moveTo>
                  <a:pt x="76203" y="0"/>
                </a:moveTo>
                <a:lnTo>
                  <a:pt x="6229347" y="0"/>
                </a:lnTo>
                <a:cubicBezTo>
                  <a:pt x="6271433" y="0"/>
                  <a:pt x="6305550" y="34117"/>
                  <a:pt x="6305550" y="76203"/>
                </a:cubicBezTo>
                <a:lnTo>
                  <a:pt x="6305550" y="571497"/>
                </a:lnTo>
                <a:cubicBezTo>
                  <a:pt x="6305550" y="613583"/>
                  <a:pt x="6271433" y="647700"/>
                  <a:pt x="622934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758674" y="5047865"/>
            <a:ext cx="5724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Problem: severe memory bandwidth waste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2847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 Memory Bandwidth is the Main Bottleneck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71736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600309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performance is limited by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1191"/>
            <a:ext cx="11144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Bandwidth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819293"/>
            <a:ext cx="5600700" cy="1562100"/>
          </a:xfrm>
          <a:custGeom>
            <a:avLst/>
            <a:gdLst/>
            <a:ahLst/>
            <a:cxnLst/>
            <a:rect l="l" t="t" r="r" b="b"/>
            <a:pathLst>
              <a:path w="5600700" h="15621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71429" y="3047866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Compute Capacity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229" y="3352631"/>
            <a:ext cx="53721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19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1904" y="388604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TFLOPS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210279" y="2819293"/>
            <a:ext cx="5600700" cy="1562100"/>
          </a:xfrm>
          <a:custGeom>
            <a:avLst/>
            <a:gdLst/>
            <a:ahLst/>
            <a:cxnLst/>
            <a:rect l="l" t="t" r="r" b="b"/>
            <a:pathLst>
              <a:path w="5600700" h="15621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00752" y="3047866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Bandwidth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24552" y="3352631"/>
            <a:ext cx="53721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900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91227" y="388604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GB/s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4609895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655963" y="4866902"/>
            <a:ext cx="145258" cy="191653"/>
          </a:xfrm>
          <a:custGeom>
            <a:avLst/>
            <a:gdLst/>
            <a:ahLst/>
            <a:cxnLst/>
            <a:rect l="l" t="t" r="r" b="b"/>
            <a:pathLst>
              <a:path w="145258" h="191653">
                <a:moveTo>
                  <a:pt x="64220" y="187002"/>
                </a:moveTo>
                <a:cubicBezTo>
                  <a:pt x="68871" y="191653"/>
                  <a:pt x="76425" y="191653"/>
                  <a:pt x="81074" y="187002"/>
                </a:cubicBezTo>
                <a:lnTo>
                  <a:pt x="140607" y="127471"/>
                </a:lnTo>
                <a:cubicBezTo>
                  <a:pt x="145257" y="122820"/>
                  <a:pt x="145257" y="115266"/>
                  <a:pt x="140607" y="110617"/>
                </a:cubicBezTo>
                <a:cubicBezTo>
                  <a:pt x="135955" y="105966"/>
                  <a:pt x="128402" y="105966"/>
                  <a:pt x="123751" y="110617"/>
                </a:cubicBezTo>
                <a:lnTo>
                  <a:pt x="84535" y="149833"/>
                </a:lnTo>
                <a:lnTo>
                  <a:pt x="84535" y="11906"/>
                </a:lnTo>
                <a:cubicBezTo>
                  <a:pt x="84535" y="5321"/>
                  <a:pt x="79213" y="0"/>
                  <a:pt x="72629" y="0"/>
                </a:cubicBezTo>
                <a:cubicBezTo>
                  <a:pt x="66044" y="0"/>
                  <a:pt x="60722" y="5321"/>
                  <a:pt x="60722" y="11906"/>
                </a:cubicBezTo>
                <a:lnTo>
                  <a:pt x="60722" y="149833"/>
                </a:lnTo>
                <a:lnTo>
                  <a:pt x="21506" y="110617"/>
                </a:lnTo>
                <a:cubicBezTo>
                  <a:pt x="16855" y="105966"/>
                  <a:pt x="9302" y="105966"/>
                  <a:pt x="4650" y="110617"/>
                </a:cubicBezTo>
                <a:cubicBezTo>
                  <a:pt x="0" y="115266"/>
                  <a:pt x="0" y="122820"/>
                  <a:pt x="4650" y="127471"/>
                </a:cubicBezTo>
                <a:lnTo>
                  <a:pt x="64183" y="1870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4804" y="4838469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If memory access is excessive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28484" y="5257557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628484" y="5257557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99822" y="5409938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Units sit idle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6191102" y="5257557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6191102" y="5257557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62440" y="5409938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drops significantly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7083" y="62897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Why Tiling Is Needed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76664"/>
            <a:ext cx="11430000" cy="1181100"/>
          </a:xfrm>
          <a:custGeom>
            <a:avLst/>
            <a:gdLst/>
            <a:ahLst/>
            <a:cxnLst/>
            <a:rect l="l" t="t" r="r" b="b"/>
            <a:pathLst>
              <a:path w="11430000" h="1181100">
                <a:moveTo>
                  <a:pt x="76205" y="0"/>
                </a:moveTo>
                <a:lnTo>
                  <a:pt x="11353795" y="0"/>
                </a:lnTo>
                <a:cubicBezTo>
                  <a:pt x="11395854" y="0"/>
                  <a:pt x="11430000" y="34146"/>
                  <a:pt x="11430000" y="76205"/>
                </a:cubicBezTo>
                <a:lnTo>
                  <a:pt x="11430000" y="1104895"/>
                </a:lnTo>
                <a:cubicBezTo>
                  <a:pt x="11430000" y="1146981"/>
                  <a:pt x="11395881" y="1181100"/>
                  <a:pt x="113537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05236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Goal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886117"/>
            <a:ext cx="111156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Reduce the number of Global Memory accesses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86087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2514605"/>
                </a:lnTo>
                <a:cubicBezTo>
                  <a:pt x="5600700" y="2556687"/>
                  <a:pt x="5566587" y="2590800"/>
                  <a:pt x="5524505" y="2590800"/>
                </a:cubicBezTo>
                <a:lnTo>
                  <a:pt x="76195" y="2590800"/>
                </a:lnTo>
                <a:cubicBezTo>
                  <a:pt x="34141" y="2590800"/>
                  <a:pt x="0" y="2556659"/>
                  <a:pt x="0" y="25146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04804" y="2914662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Core Idea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19007" y="3343228"/>
            <a:ext cx="5124355" cy="742855"/>
          </a:xfrm>
          <a:custGeom>
            <a:avLst/>
            <a:gdLst/>
            <a:ahLst/>
            <a:cxnLst/>
            <a:rect l="l" t="t" r="r" b="b"/>
            <a:pathLst>
              <a:path w="5124355" h="742855">
                <a:moveTo>
                  <a:pt x="38101" y="0"/>
                </a:moveTo>
                <a:lnTo>
                  <a:pt x="5086253" y="0"/>
                </a:lnTo>
                <a:cubicBezTo>
                  <a:pt x="5107297" y="0"/>
                  <a:pt x="5124355" y="17057"/>
                  <a:pt x="5124355" y="38101"/>
                </a:cubicBezTo>
                <a:lnTo>
                  <a:pt x="5124355" y="704753"/>
                </a:lnTo>
                <a:cubicBezTo>
                  <a:pt x="5124355" y="725797"/>
                  <a:pt x="5107297" y="742855"/>
                  <a:pt x="50862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47487" y="3543147"/>
            <a:ext cx="48672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reuse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210279" y="2686087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2514605"/>
                </a:lnTo>
                <a:cubicBezTo>
                  <a:pt x="5600700" y="2556687"/>
                  <a:pt x="5566587" y="2590800"/>
                  <a:pt x="5524505" y="2590800"/>
                </a:cubicBezTo>
                <a:lnTo>
                  <a:pt x="76195" y="2590800"/>
                </a:lnTo>
                <a:cubicBezTo>
                  <a:pt x="34141" y="2590800"/>
                  <a:pt x="0" y="2556659"/>
                  <a:pt x="0" y="25146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4127" y="2914662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Method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457808" y="3333750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6457808" y="3333750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91013" y="3447999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Partition the matrix into tiles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457808" y="3943203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6457808" y="3943203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91013" y="4057455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small blocks at a time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457808" y="4552659"/>
            <a:ext cx="5124355" cy="495300"/>
          </a:xfrm>
          <a:custGeom>
            <a:avLst/>
            <a:gdLst/>
            <a:ahLst/>
            <a:cxnLst/>
            <a:rect l="l" t="t" r="r" b="b"/>
            <a:pathLst>
              <a:path w="5124355" h="495300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6457808" y="4552659"/>
            <a:ext cx="37910" cy="495300"/>
          </a:xfrm>
          <a:custGeom>
            <a:avLst/>
            <a:gdLst/>
            <a:ahLst/>
            <a:cxnLst/>
            <a:rect l="l" t="t" r="r" b="b"/>
            <a:pathLst>
              <a:path w="37910" h="49530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91013" y="4666908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Reuse them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380956" y="5505010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571497"/>
                </a:lnTo>
                <a:cubicBezTo>
                  <a:pt x="11430000" y="613583"/>
                  <a:pt x="11395883" y="647700"/>
                  <a:pt x="11353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4316185" y="57333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3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95234" y="5695452"/>
            <a:ext cx="10868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reuse dramatically reduces unnecessary memory accesses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0956" y="6324602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186" y="60468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Basic Idea of Tiling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6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485691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Partition the matrix into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866572"/>
            <a:ext cx="11144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small tiles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704674"/>
            <a:ext cx="5562600" cy="1638300"/>
          </a:xfrm>
          <a:custGeom>
            <a:avLst/>
            <a:gdLst/>
            <a:ahLst/>
            <a:cxnLst/>
            <a:rect l="l" t="t" r="r" b="b"/>
            <a:pathLst>
              <a:path w="5562600" h="16383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529" y="2933247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Matrix A tile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19007" y="3361813"/>
            <a:ext cx="5086255" cy="742855"/>
          </a:xfrm>
          <a:custGeom>
            <a:avLst/>
            <a:gdLst/>
            <a:ahLst/>
            <a:cxnLst/>
            <a:rect l="l" t="t" r="r" b="b"/>
            <a:pathLst>
              <a:path w="5086255" h="742855">
                <a:moveTo>
                  <a:pt x="38101" y="0"/>
                </a:moveTo>
                <a:lnTo>
                  <a:pt x="5048153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704753"/>
                </a:lnTo>
                <a:cubicBezTo>
                  <a:pt x="5086255" y="725797"/>
                  <a:pt x="5069197" y="742855"/>
                  <a:pt x="50481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47487" y="3561731"/>
            <a:ext cx="4829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BLOCK_M × BLOCK_K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248338" y="2704674"/>
            <a:ext cx="5562600" cy="1638300"/>
          </a:xfrm>
          <a:custGeom>
            <a:avLst/>
            <a:gdLst/>
            <a:ahLst/>
            <a:cxnLst/>
            <a:rect l="l" t="t" r="r" b="b"/>
            <a:pathLst>
              <a:path w="5562600" h="16383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6911" y="2933247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Matrix B tile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486389" y="3361813"/>
            <a:ext cx="5086255" cy="742855"/>
          </a:xfrm>
          <a:custGeom>
            <a:avLst/>
            <a:gdLst/>
            <a:ahLst/>
            <a:cxnLst/>
            <a:rect l="l" t="t" r="r" b="b"/>
            <a:pathLst>
              <a:path w="5086255" h="742855">
                <a:moveTo>
                  <a:pt x="38101" y="0"/>
                </a:moveTo>
                <a:lnTo>
                  <a:pt x="5048153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704753"/>
                </a:lnTo>
                <a:cubicBezTo>
                  <a:pt x="5086255" y="725797"/>
                  <a:pt x="5069197" y="742855"/>
                  <a:pt x="50481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14869" y="3561731"/>
            <a:ext cx="4829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BLOCK_K × BLOCK_N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4571098"/>
            <a:ext cx="11430000" cy="1638300"/>
          </a:xfrm>
          <a:custGeom>
            <a:avLst/>
            <a:gdLst/>
            <a:ahLst/>
            <a:cxnLst/>
            <a:rect l="l" t="t" r="r" b="b"/>
            <a:pathLst>
              <a:path w="11430000" h="16383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657154" y="48281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2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3"/>
                </a:lnTo>
                <a:cubicBezTo>
                  <a:pt x="142875" y="10678"/>
                  <a:pt x="132197" y="0"/>
                  <a:pt x="119062" y="0"/>
                </a:cubicBezTo>
                <a:lnTo>
                  <a:pt x="23812" y="0"/>
                </a:lnTo>
                <a:close/>
                <a:moveTo>
                  <a:pt x="35719" y="23813"/>
                </a:moveTo>
                <a:lnTo>
                  <a:pt x="107156" y="23813"/>
                </a:lnTo>
                <a:cubicBezTo>
                  <a:pt x="113742" y="23813"/>
                  <a:pt x="119062" y="29133"/>
                  <a:pt x="119062" y="35719"/>
                </a:cubicBezTo>
                <a:lnTo>
                  <a:pt x="119062" y="47625"/>
                </a:lnTo>
                <a:cubicBezTo>
                  <a:pt x="119062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3"/>
                  <a:pt x="35719" y="23813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2" y="86321"/>
                </a:moveTo>
                <a:cubicBezTo>
                  <a:pt x="119062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2" y="81392"/>
                  <a:pt x="119062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2" y="117111"/>
                  <a:pt x="119062" y="122039"/>
                </a:cubicBezTo>
                <a:cubicBezTo>
                  <a:pt x="119062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2" y="152809"/>
                  <a:pt x="119062" y="157758"/>
                </a:cubicBezTo>
                <a:cubicBezTo>
                  <a:pt x="119062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4804" y="4799670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Output tile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19007" y="5228236"/>
            <a:ext cx="10953655" cy="742855"/>
          </a:xfrm>
          <a:custGeom>
            <a:avLst/>
            <a:gdLst/>
            <a:ahLst/>
            <a:cxnLst/>
            <a:rect l="l" t="t" r="r" b="b"/>
            <a:pathLst>
              <a:path w="10953655" h="742855">
                <a:moveTo>
                  <a:pt x="38101" y="0"/>
                </a:moveTo>
                <a:lnTo>
                  <a:pt x="10915553" y="0"/>
                </a:lnTo>
                <a:cubicBezTo>
                  <a:pt x="10936597" y="0"/>
                  <a:pt x="10953655" y="17057"/>
                  <a:pt x="10953655" y="38101"/>
                </a:cubicBezTo>
                <a:lnTo>
                  <a:pt x="10953655" y="704753"/>
                </a:lnTo>
                <a:cubicBezTo>
                  <a:pt x="10953655" y="725797"/>
                  <a:pt x="10936597" y="742855"/>
                  <a:pt x="109155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47487" y="5428155"/>
            <a:ext cx="10696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BLOCK_M × BLOCK_N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0956" y="6361328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2033" y="64758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 Computation Workflow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2057530"/>
            <a:ext cx="11430023" cy="1600200"/>
            <a:chOff x="380956" y="2057530"/>
            <a:chExt cx="11430023" cy="1600200"/>
          </a:xfrm>
        </p:grpSpPr>
        <p:sp>
          <p:nvSpPr>
            <p:cNvPr id="4" name="Freeform 4"/>
            <p:cNvSpPr/>
            <p:nvPr/>
          </p:nvSpPr>
          <p:spPr>
            <a:xfrm>
              <a:off x="380956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1485838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1428688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528534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Load Tile A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533296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from Global Memory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3276514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381470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324320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424092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Load Tile B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3428855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from Global Memory</a:t>
              </a:r>
              <a:endParaRPr lang="en-US" sz="11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172147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277103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219953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319725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 Partial Sum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324487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Local matrix multiply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9067779" y="2057530"/>
              <a:ext cx="2743200" cy="1600200"/>
            </a:xfrm>
            <a:custGeom>
              <a:avLst/>
              <a:gdLst/>
              <a:ahLst/>
              <a:cxnLst/>
              <a:rect l="l" t="t" r="r" b="b"/>
              <a:pathLst>
                <a:path w="2743200" h="1600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172735" y="224797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0115585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4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9215357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Repeat along K dimension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220120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Loop until complete</a:t>
              </a:r>
              <a:endParaRPr lang="en-US" sz="11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380956" y="3886042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429" y="4114614"/>
            <a:ext cx="10744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Advantages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09529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14286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 memory access count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4317941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422698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Increase data reuse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8026353" y="4571688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131110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Improve cache utilization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80956" y="6324600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186" y="62042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Reuse Principle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0433" y="1266596"/>
            <a:ext cx="5543455" cy="2952655"/>
          </a:xfrm>
          <a:custGeom>
            <a:avLst/>
            <a:gdLst/>
            <a:ahLst/>
            <a:cxnLst/>
            <a:rect l="l" t="t" r="r" b="b"/>
            <a:pathLst>
              <a:path w="5543455" h="29526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2876447"/>
                </a:lnTo>
                <a:cubicBezTo>
                  <a:pt x="5543455" y="2918536"/>
                  <a:pt x="5509336" y="2952655"/>
                  <a:pt x="5467247" y="2952655"/>
                </a:cubicBezTo>
                <a:lnTo>
                  <a:pt x="76208" y="2952655"/>
                </a:lnTo>
                <a:cubicBezTo>
                  <a:pt x="34119" y="2952655"/>
                  <a:pt x="0" y="2918536"/>
                  <a:pt x="0" y="28764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3F4F6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28484" y="1504648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Naive Approach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1961717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80866" y="2114104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read on every computation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628484" y="2685571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80866" y="2837952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No data reuse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28484" y="3409424"/>
            <a:ext cx="5067300" cy="571500"/>
          </a:xfrm>
          <a:custGeom>
            <a:avLst/>
            <a:gdLst/>
            <a:ahLst/>
            <a:cxnLst/>
            <a:rect l="l" t="t" r="r" b="b"/>
            <a:pathLst>
              <a:path w="5067300" h="5715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80866" y="3561806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High memory bandwidth consumption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031564" y="4380807"/>
            <a:ext cx="261460" cy="344976"/>
          </a:xfrm>
          <a:custGeom>
            <a:avLst/>
            <a:gdLst/>
            <a:ahLst/>
            <a:cxnLst/>
            <a:rect l="l" t="t" r="r" b="b"/>
            <a:pathLst>
              <a:path w="261460" h="344976">
                <a:moveTo>
                  <a:pt x="115594" y="336605"/>
                </a:moveTo>
                <a:cubicBezTo>
                  <a:pt x="123965" y="344976"/>
                  <a:pt x="137561" y="344976"/>
                  <a:pt x="145931" y="336605"/>
                </a:cubicBezTo>
                <a:lnTo>
                  <a:pt x="253089" y="229448"/>
                </a:lnTo>
                <a:cubicBezTo>
                  <a:pt x="261459" y="221077"/>
                  <a:pt x="261459" y="207481"/>
                  <a:pt x="253089" y="199111"/>
                </a:cubicBezTo>
                <a:cubicBezTo>
                  <a:pt x="244717" y="190737"/>
                  <a:pt x="231122" y="190737"/>
                  <a:pt x="222750" y="199111"/>
                </a:cubicBezTo>
                <a:lnTo>
                  <a:pt x="152161" y="269698"/>
                </a:lnTo>
                <a:lnTo>
                  <a:pt x="152161" y="21431"/>
                </a:lnTo>
                <a:cubicBezTo>
                  <a:pt x="152161" y="9577"/>
                  <a:pt x="142584" y="0"/>
                  <a:pt x="130730" y="0"/>
                </a:cubicBezTo>
                <a:cubicBezTo>
                  <a:pt x="118875" y="0"/>
                  <a:pt x="109298" y="9577"/>
                  <a:pt x="109298" y="21431"/>
                </a:cubicBezTo>
                <a:lnTo>
                  <a:pt x="109298" y="269698"/>
                </a:lnTo>
                <a:lnTo>
                  <a:pt x="38709" y="199111"/>
                </a:lnTo>
                <a:cubicBezTo>
                  <a:pt x="30337" y="190737"/>
                  <a:pt x="16742" y="190737"/>
                  <a:pt x="8370" y="199111"/>
                </a:cubicBezTo>
                <a:cubicBezTo>
                  <a:pt x="0" y="207481"/>
                  <a:pt x="0" y="221077"/>
                  <a:pt x="8370" y="229448"/>
                </a:cubicBezTo>
                <a:lnTo>
                  <a:pt x="115528" y="336605"/>
                </a:lnTo>
                <a:close/>
              </a:path>
            </a:pathLst>
          </a:custGeom>
          <a:solidFill>
            <a:srgbClr val="99A1A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6248338" y="1276076"/>
            <a:ext cx="5562600" cy="2933700"/>
          </a:xfrm>
          <a:custGeom>
            <a:avLst/>
            <a:gdLst/>
            <a:ahLst/>
            <a:cxnLst/>
            <a:rect l="l" t="t" r="r" b="b"/>
            <a:pathLst>
              <a:path w="5562600" h="2933700">
                <a:moveTo>
                  <a:pt x="76189" y="0"/>
                </a:moveTo>
                <a:lnTo>
                  <a:pt x="5486411" y="0"/>
                </a:lnTo>
                <a:cubicBezTo>
                  <a:pt x="5528489" y="0"/>
                  <a:pt x="5562600" y="34111"/>
                  <a:pt x="5562600" y="76189"/>
                </a:cubicBezTo>
                <a:lnTo>
                  <a:pt x="5562600" y="2857511"/>
                </a:lnTo>
                <a:cubicBezTo>
                  <a:pt x="5562600" y="2899589"/>
                  <a:pt x="5528489" y="2933700"/>
                  <a:pt x="5486411" y="2933700"/>
                </a:cubicBezTo>
                <a:lnTo>
                  <a:pt x="76189" y="2933700"/>
                </a:lnTo>
                <a:cubicBezTo>
                  <a:pt x="34111" y="2933700"/>
                  <a:pt x="0" y="2899589"/>
                  <a:pt x="0" y="2857511"/>
                </a:cubicBezTo>
                <a:lnTo>
                  <a:pt x="0" y="76189"/>
                </a:lnTo>
                <a:cubicBezTo>
                  <a:pt x="0" y="34139"/>
                  <a:pt x="34139" y="0"/>
                  <a:pt x="7618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6911" y="1504648"/>
            <a:ext cx="5219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Tiled Approach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476911" y="1961717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29293" y="2114104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Read once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6476911" y="2685571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29293" y="2837952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Used multiple times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476911" y="3409424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29293" y="3561806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Efficient data reuse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8898947" y="4365132"/>
            <a:ext cx="261460" cy="344976"/>
          </a:xfrm>
          <a:custGeom>
            <a:avLst/>
            <a:gdLst/>
            <a:ahLst/>
            <a:cxnLst/>
            <a:rect l="l" t="t" r="r" b="b"/>
            <a:pathLst>
              <a:path w="261460" h="344976">
                <a:moveTo>
                  <a:pt x="145865" y="8372"/>
                </a:moveTo>
                <a:cubicBezTo>
                  <a:pt x="137494" y="0"/>
                  <a:pt x="123898" y="0"/>
                  <a:pt x="115528" y="8372"/>
                </a:cubicBezTo>
                <a:lnTo>
                  <a:pt x="8370" y="115526"/>
                </a:lnTo>
                <a:cubicBezTo>
                  <a:pt x="0" y="123900"/>
                  <a:pt x="0" y="137495"/>
                  <a:pt x="8370" y="145866"/>
                </a:cubicBezTo>
                <a:cubicBezTo>
                  <a:pt x="16742" y="154237"/>
                  <a:pt x="30337" y="154237"/>
                  <a:pt x="38709" y="145866"/>
                </a:cubicBezTo>
                <a:lnTo>
                  <a:pt x="109298" y="75276"/>
                </a:lnTo>
                <a:lnTo>
                  <a:pt x="109298" y="323545"/>
                </a:lnTo>
                <a:cubicBezTo>
                  <a:pt x="109298" y="335399"/>
                  <a:pt x="118875" y="344976"/>
                  <a:pt x="130729" y="344976"/>
                </a:cubicBezTo>
                <a:cubicBezTo>
                  <a:pt x="142584" y="344976"/>
                  <a:pt x="152161" y="335399"/>
                  <a:pt x="152161" y="323545"/>
                </a:cubicBezTo>
                <a:lnTo>
                  <a:pt x="152161" y="75276"/>
                </a:lnTo>
                <a:lnTo>
                  <a:pt x="222750" y="145866"/>
                </a:lnTo>
                <a:cubicBezTo>
                  <a:pt x="231122" y="154237"/>
                  <a:pt x="244717" y="154237"/>
                  <a:pt x="253089" y="145866"/>
                </a:cubicBezTo>
                <a:cubicBezTo>
                  <a:pt x="261459" y="137495"/>
                  <a:pt x="261459" y="123900"/>
                  <a:pt x="253089" y="115526"/>
                </a:cubicBezTo>
                <a:lnTo>
                  <a:pt x="145931" y="837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380956" y="4908663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09529" y="513724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Reuse Effect Example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28484" y="5556326"/>
            <a:ext cx="5352955" cy="647700"/>
          </a:xfrm>
          <a:custGeom>
            <a:avLst/>
            <a:gdLst/>
            <a:ahLst/>
            <a:cxnLst/>
            <a:rect l="l" t="t" r="r" b="b"/>
            <a:pathLst>
              <a:path w="5352955" h="647700">
                <a:moveTo>
                  <a:pt x="37910" y="0"/>
                </a:moveTo>
                <a:lnTo>
                  <a:pt x="5314859" y="0"/>
                </a:lnTo>
                <a:cubicBezTo>
                  <a:pt x="5335883" y="0"/>
                  <a:pt x="5352955" y="17071"/>
                  <a:pt x="5352955" y="38097"/>
                </a:cubicBezTo>
                <a:lnTo>
                  <a:pt x="5352955" y="609603"/>
                </a:lnTo>
                <a:cubicBezTo>
                  <a:pt x="5352955" y="630643"/>
                  <a:pt x="5335897" y="647700"/>
                  <a:pt x="53148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628484" y="5556326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99822" y="5708707"/>
            <a:ext cx="511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 reused </a:t>
            </a:r>
            <a:r>
              <a:rPr lang="en-US" sz="23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32</a:t>
            </a: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times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229234" y="5556326"/>
            <a:ext cx="5352955" cy="647700"/>
          </a:xfrm>
          <a:custGeom>
            <a:avLst/>
            <a:gdLst/>
            <a:ahLst/>
            <a:cxnLst/>
            <a:rect l="l" t="t" r="r" b="b"/>
            <a:pathLst>
              <a:path w="5352955" h="647700">
                <a:moveTo>
                  <a:pt x="37910" y="0"/>
                </a:moveTo>
                <a:lnTo>
                  <a:pt x="5314859" y="0"/>
                </a:lnTo>
                <a:cubicBezTo>
                  <a:pt x="5335883" y="0"/>
                  <a:pt x="5352955" y="17071"/>
                  <a:pt x="5352955" y="38097"/>
                </a:cubicBezTo>
                <a:lnTo>
                  <a:pt x="5352955" y="609603"/>
                </a:lnTo>
                <a:cubicBezTo>
                  <a:pt x="5352955" y="630643"/>
                  <a:pt x="5335897" y="647700"/>
                  <a:pt x="53148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6229234" y="5556326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00572" y="5708707"/>
            <a:ext cx="511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access reduced by </a:t>
            </a:r>
            <a:r>
              <a:rPr lang="en-US" sz="23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32×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80956" y="658931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664" y="61492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Compute vs Memory Access Ratio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9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638104" y="1509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6"/>
                  <a:pt x="73804" y="0"/>
                  <a:pt x="67866" y="0"/>
                </a:cubicBezTo>
                <a:cubicBezTo>
                  <a:pt x="61926" y="0"/>
                  <a:pt x="57150" y="4776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6" y="57150"/>
                  <a:pt x="0" y="61926"/>
                  <a:pt x="0" y="67866"/>
                </a:cubicBezTo>
                <a:cubicBezTo>
                  <a:pt x="0" y="73804"/>
                  <a:pt x="4776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6" y="103584"/>
                  <a:pt x="0" y="108361"/>
                  <a:pt x="0" y="114300"/>
                </a:cubicBezTo>
                <a:cubicBezTo>
                  <a:pt x="0" y="120239"/>
                  <a:pt x="4776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6" y="150019"/>
                  <a:pt x="0" y="154796"/>
                  <a:pt x="0" y="160734"/>
                </a:cubicBezTo>
                <a:cubicBezTo>
                  <a:pt x="0" y="166674"/>
                  <a:pt x="4776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4"/>
                  <a:pt x="61926" y="228600"/>
                  <a:pt x="67866" y="228600"/>
                </a:cubicBezTo>
                <a:cubicBezTo>
                  <a:pt x="73804" y="228600"/>
                  <a:pt x="78581" y="223824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4"/>
                  <a:pt x="108361" y="228600"/>
                  <a:pt x="114300" y="228600"/>
                </a:cubicBezTo>
                <a:cubicBezTo>
                  <a:pt x="120239" y="228600"/>
                  <a:pt x="125016" y="223824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4"/>
                  <a:pt x="154796" y="228600"/>
                  <a:pt x="160734" y="228600"/>
                </a:cubicBezTo>
                <a:cubicBezTo>
                  <a:pt x="166674" y="228600"/>
                  <a:pt x="171450" y="223824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4" y="171450"/>
                  <a:pt x="228600" y="166674"/>
                  <a:pt x="228600" y="160734"/>
                </a:cubicBezTo>
                <a:cubicBezTo>
                  <a:pt x="228600" y="154796"/>
                  <a:pt x="223824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4" y="125016"/>
                  <a:pt x="228600" y="120239"/>
                  <a:pt x="228600" y="114300"/>
                </a:cubicBezTo>
                <a:cubicBezTo>
                  <a:pt x="228600" y="108361"/>
                  <a:pt x="223824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4" y="78581"/>
                  <a:pt x="228600" y="73804"/>
                  <a:pt x="228600" y="67866"/>
                </a:cubicBezTo>
                <a:cubicBezTo>
                  <a:pt x="228600" y="61926"/>
                  <a:pt x="223824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6"/>
                  <a:pt x="166674" y="0"/>
                  <a:pt x="160734" y="0"/>
                </a:cubicBezTo>
                <a:cubicBezTo>
                  <a:pt x="154796" y="0"/>
                  <a:pt x="150019" y="4776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6"/>
                  <a:pt x="120239" y="0"/>
                  <a:pt x="114300" y="0"/>
                </a:cubicBezTo>
                <a:cubicBezTo>
                  <a:pt x="108361" y="0"/>
                  <a:pt x="103584" y="4776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2" y="57150"/>
                </a:lnTo>
                <a:cubicBezTo>
                  <a:pt x="165064" y="57150"/>
                  <a:pt x="171450" y="63536"/>
                  <a:pt x="171450" y="71438"/>
                </a:cubicBezTo>
                <a:lnTo>
                  <a:pt x="171450" y="157162"/>
                </a:lnTo>
                <a:cubicBezTo>
                  <a:pt x="171450" y="165064"/>
                  <a:pt x="165064" y="171450"/>
                  <a:pt x="157162" y="171450"/>
                </a:cubicBezTo>
                <a:lnTo>
                  <a:pt x="71438" y="171450"/>
                </a:lnTo>
                <a:cubicBezTo>
                  <a:pt x="63536" y="171450"/>
                  <a:pt x="57150" y="165064"/>
                  <a:pt x="57150" y="157162"/>
                </a:cubicBezTo>
                <a:lnTo>
                  <a:pt x="57150" y="71438"/>
                </a:lnTo>
                <a:cubicBezTo>
                  <a:pt x="57150" y="63536"/>
                  <a:pt x="63536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429" y="1485691"/>
            <a:ext cx="4876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619007" y="1952243"/>
            <a:ext cx="5086255" cy="1161955"/>
          </a:xfrm>
          <a:custGeom>
            <a:avLst/>
            <a:gdLst/>
            <a:ahLst/>
            <a:cxnLst/>
            <a:rect l="l" t="t" r="r" b="b"/>
            <a:pathLst>
              <a:path w="5086255" h="11619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7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71332" y="2190290"/>
            <a:ext cx="4781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8957" y="2647438"/>
            <a:ext cx="468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Number of floating-point operations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248338" y="1257119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6505486" y="1537957"/>
            <a:ext cx="228600" cy="171450"/>
          </a:xfrm>
          <a:custGeom>
            <a:avLst/>
            <a:gdLst/>
            <a:ahLst/>
            <a:cxnLst/>
            <a:rect l="l" t="t" r="r" b="b"/>
            <a:pathLst>
              <a:path w="228600" h="17145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31880"/>
                </a:lnTo>
                <a:cubicBezTo>
                  <a:pt x="0" y="34915"/>
                  <a:pt x="1965" y="37504"/>
                  <a:pt x="4509" y="39157"/>
                </a:cubicBezTo>
                <a:cubicBezTo>
                  <a:pt x="10403" y="42996"/>
                  <a:pt x="14288" y="49604"/>
                  <a:pt x="14288" y="57150"/>
                </a:cubicBezTo>
                <a:cubicBezTo>
                  <a:pt x="14288" y="64696"/>
                  <a:pt x="10403" y="71304"/>
                  <a:pt x="4509" y="75143"/>
                </a:cubicBezTo>
                <a:cubicBezTo>
                  <a:pt x="1965" y="76796"/>
                  <a:pt x="0" y="79385"/>
                  <a:pt x="0" y="82420"/>
                </a:cubicBezTo>
                <a:lnTo>
                  <a:pt x="0" y="107156"/>
                </a:lnTo>
                <a:lnTo>
                  <a:pt x="228600" y="107156"/>
                </a:lnTo>
                <a:lnTo>
                  <a:pt x="228600" y="82420"/>
                </a:lnTo>
                <a:cubicBezTo>
                  <a:pt x="228600" y="79385"/>
                  <a:pt x="226635" y="76796"/>
                  <a:pt x="224092" y="75143"/>
                </a:cubicBezTo>
                <a:cubicBezTo>
                  <a:pt x="218197" y="71304"/>
                  <a:pt x="214313" y="64696"/>
                  <a:pt x="214313" y="57150"/>
                </a:cubicBezTo>
                <a:cubicBezTo>
                  <a:pt x="214313" y="49604"/>
                  <a:pt x="218197" y="42996"/>
                  <a:pt x="224092" y="39157"/>
                </a:cubicBezTo>
                <a:cubicBezTo>
                  <a:pt x="226635" y="37504"/>
                  <a:pt x="228600" y="34915"/>
                  <a:pt x="228600" y="31880"/>
                </a:cubicBezTo>
                <a:lnTo>
                  <a:pt x="228600" y="28575"/>
                </a:lnTo>
                <a:cubicBezTo>
                  <a:pt x="228600" y="12814"/>
                  <a:pt x="215786" y="0"/>
                  <a:pt x="200025" y="0"/>
                </a:cubicBezTo>
                <a:lnTo>
                  <a:pt x="28575" y="0"/>
                </a:lnTo>
                <a:close/>
                <a:moveTo>
                  <a:pt x="228600" y="157162"/>
                </a:moveTo>
                <a:lnTo>
                  <a:pt x="228600" y="128587"/>
                </a:lnTo>
                <a:lnTo>
                  <a:pt x="0" y="128587"/>
                </a:lnTo>
                <a:lnTo>
                  <a:pt x="0" y="157162"/>
                </a:lnTo>
                <a:cubicBezTo>
                  <a:pt x="0" y="165064"/>
                  <a:pt x="6386" y="171450"/>
                  <a:pt x="14288" y="171450"/>
                </a:cubicBezTo>
                <a:lnTo>
                  <a:pt x="42863" y="171450"/>
                </a:lnTo>
                <a:lnTo>
                  <a:pt x="42863" y="160734"/>
                </a:lnTo>
                <a:cubicBezTo>
                  <a:pt x="42863" y="154796"/>
                  <a:pt x="47640" y="150019"/>
                  <a:pt x="53577" y="150019"/>
                </a:cubicBezTo>
                <a:cubicBezTo>
                  <a:pt x="59516" y="150019"/>
                  <a:pt x="64294" y="154796"/>
                  <a:pt x="64294" y="160734"/>
                </a:cubicBezTo>
                <a:lnTo>
                  <a:pt x="64294" y="171450"/>
                </a:lnTo>
                <a:lnTo>
                  <a:pt x="103584" y="171450"/>
                </a:lnTo>
                <a:lnTo>
                  <a:pt x="103584" y="160734"/>
                </a:lnTo>
                <a:cubicBezTo>
                  <a:pt x="103584" y="154796"/>
                  <a:pt x="108361" y="150019"/>
                  <a:pt x="114300" y="150019"/>
                </a:cubicBezTo>
                <a:cubicBezTo>
                  <a:pt x="120239" y="150019"/>
                  <a:pt x="125016" y="154796"/>
                  <a:pt x="125016" y="160734"/>
                </a:cubicBezTo>
                <a:lnTo>
                  <a:pt x="125016" y="171450"/>
                </a:lnTo>
                <a:lnTo>
                  <a:pt x="164306" y="171450"/>
                </a:lnTo>
                <a:lnTo>
                  <a:pt x="164306" y="160734"/>
                </a:lnTo>
                <a:cubicBezTo>
                  <a:pt x="164306" y="154796"/>
                  <a:pt x="169084" y="150019"/>
                  <a:pt x="175023" y="150019"/>
                </a:cubicBezTo>
                <a:cubicBezTo>
                  <a:pt x="180960" y="150019"/>
                  <a:pt x="185738" y="154796"/>
                  <a:pt x="185738" y="160734"/>
                </a:cubicBezTo>
                <a:lnTo>
                  <a:pt x="185738" y="171450"/>
                </a:lnTo>
                <a:lnTo>
                  <a:pt x="214313" y="171450"/>
                </a:lnTo>
                <a:cubicBezTo>
                  <a:pt x="222214" y="171450"/>
                  <a:pt x="228600" y="165064"/>
                  <a:pt x="228600" y="157162"/>
                </a:cubicBezTo>
                <a:close/>
                <a:moveTo>
                  <a:pt x="71438" y="42863"/>
                </a:moveTo>
                <a:lnTo>
                  <a:pt x="71438" y="71437"/>
                </a:lnTo>
                <a:cubicBezTo>
                  <a:pt x="71438" y="79339"/>
                  <a:pt x="65053" y="85725"/>
                  <a:pt x="57150" y="85725"/>
                </a:cubicBezTo>
                <a:cubicBezTo>
                  <a:pt x="49247" y="85725"/>
                  <a:pt x="42863" y="79339"/>
                  <a:pt x="42863" y="71437"/>
                </a:cubicBezTo>
                <a:lnTo>
                  <a:pt x="42863" y="42863"/>
                </a:lnTo>
                <a:cubicBezTo>
                  <a:pt x="42863" y="34961"/>
                  <a:pt x="49247" y="28575"/>
                  <a:pt x="57150" y="28575"/>
                </a:cubicBezTo>
                <a:cubicBezTo>
                  <a:pt x="65053" y="28575"/>
                  <a:pt x="71438" y="34961"/>
                  <a:pt x="71438" y="42863"/>
                </a:cubicBezTo>
                <a:close/>
                <a:moveTo>
                  <a:pt x="128588" y="42863"/>
                </a:moveTo>
                <a:lnTo>
                  <a:pt x="128588" y="71437"/>
                </a:lnTo>
                <a:cubicBezTo>
                  <a:pt x="128588" y="79339"/>
                  <a:pt x="122203" y="85725"/>
                  <a:pt x="114300" y="85725"/>
                </a:cubicBezTo>
                <a:cubicBezTo>
                  <a:pt x="106397" y="85725"/>
                  <a:pt x="100013" y="79339"/>
                  <a:pt x="100013" y="71437"/>
                </a:cubicBezTo>
                <a:lnTo>
                  <a:pt x="100013" y="42863"/>
                </a:lnTo>
                <a:cubicBezTo>
                  <a:pt x="100013" y="34961"/>
                  <a:pt x="106397" y="28575"/>
                  <a:pt x="114300" y="28575"/>
                </a:cubicBezTo>
                <a:cubicBezTo>
                  <a:pt x="122203" y="28575"/>
                  <a:pt x="128588" y="34961"/>
                  <a:pt x="128588" y="42863"/>
                </a:cubicBezTo>
                <a:close/>
                <a:moveTo>
                  <a:pt x="185738" y="42863"/>
                </a:moveTo>
                <a:lnTo>
                  <a:pt x="185738" y="71437"/>
                </a:lnTo>
                <a:cubicBezTo>
                  <a:pt x="185738" y="79339"/>
                  <a:pt x="179353" y="85725"/>
                  <a:pt x="171450" y="85725"/>
                </a:cubicBezTo>
                <a:cubicBezTo>
                  <a:pt x="163547" y="85725"/>
                  <a:pt x="157163" y="79339"/>
                  <a:pt x="157163" y="71437"/>
                </a:cubicBezTo>
                <a:lnTo>
                  <a:pt x="157163" y="42863"/>
                </a:lnTo>
                <a:cubicBezTo>
                  <a:pt x="157163" y="34961"/>
                  <a:pt x="163547" y="28575"/>
                  <a:pt x="171450" y="28575"/>
                </a:cubicBezTo>
                <a:cubicBezTo>
                  <a:pt x="179353" y="28575"/>
                  <a:pt x="185738" y="34961"/>
                  <a:pt x="185738" y="4286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19811" y="1485691"/>
            <a:ext cx="4876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Access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486389" y="1952243"/>
            <a:ext cx="5086255" cy="1161955"/>
          </a:xfrm>
          <a:custGeom>
            <a:avLst/>
            <a:gdLst/>
            <a:ahLst/>
            <a:cxnLst/>
            <a:rect l="l" t="t" r="r" b="b"/>
            <a:pathLst>
              <a:path w="5086255" h="11619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7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38715" y="2190290"/>
            <a:ext cx="4781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Bytes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86340" y="2647438"/>
            <a:ext cx="468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Bytes of memory accessed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80956" y="3580688"/>
            <a:ext cx="11430000" cy="2057400"/>
          </a:xfrm>
          <a:custGeom>
            <a:avLst/>
            <a:gdLst/>
            <a:ahLst/>
            <a:cxnLst/>
            <a:rect l="l" t="t" r="r" b="b"/>
            <a:pathLst>
              <a:path w="11430000" h="20574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981194"/>
                </a:lnTo>
                <a:cubicBezTo>
                  <a:pt x="11430000" y="2023281"/>
                  <a:pt x="11395881" y="2057400"/>
                  <a:pt x="113537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09529" y="3809261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Goal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09529" y="4266335"/>
            <a:ext cx="10972800" cy="1143000"/>
          </a:xfrm>
          <a:custGeom>
            <a:avLst/>
            <a:gdLst/>
            <a:ahLst/>
            <a:cxnLst/>
            <a:rect l="l" t="t" r="r" b="b"/>
            <a:pathLst>
              <a:path w="10972800" h="1143000">
                <a:moveTo>
                  <a:pt x="38096" y="0"/>
                </a:moveTo>
                <a:lnTo>
                  <a:pt x="10934704" y="0"/>
                </a:lnTo>
                <a:cubicBezTo>
                  <a:pt x="10955744" y="0"/>
                  <a:pt x="10972800" y="17056"/>
                  <a:pt x="10972800" y="38096"/>
                </a:cubicBezTo>
                <a:lnTo>
                  <a:pt x="10972800" y="1104904"/>
                </a:lnTo>
                <a:cubicBezTo>
                  <a:pt x="10972800" y="1125944"/>
                  <a:pt x="10955744" y="1143000"/>
                  <a:pt x="109347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2820" y="4456774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Maximize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4245" y="4837654"/>
            <a:ext cx="10763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/ Memory ratio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80956" y="58662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4221802" y="6130151"/>
            <a:ext cx="190500" cy="166688"/>
          </a:xfrm>
          <a:custGeom>
            <a:avLst/>
            <a:gdLst/>
            <a:ahLst/>
            <a:cxnLst/>
            <a:rect l="l" t="t" r="r" b="b"/>
            <a:pathLst>
              <a:path w="190500" h="166688">
                <a:moveTo>
                  <a:pt x="23812" y="11907"/>
                </a:moveTo>
                <a:cubicBezTo>
                  <a:pt x="23812" y="5322"/>
                  <a:pt x="18492" y="0"/>
                  <a:pt x="11906" y="0"/>
                </a:cubicBezTo>
                <a:cubicBezTo>
                  <a:pt x="5321" y="0"/>
                  <a:pt x="0" y="5322"/>
                  <a:pt x="0" y="11907"/>
                </a:cubicBezTo>
                <a:lnTo>
                  <a:pt x="0" y="136921"/>
                </a:lnTo>
                <a:cubicBezTo>
                  <a:pt x="0" y="153368"/>
                  <a:pt x="13320" y="166688"/>
                  <a:pt x="29766" y="166688"/>
                </a:cubicBezTo>
                <a:lnTo>
                  <a:pt x="178594" y="166688"/>
                </a:lnTo>
                <a:cubicBezTo>
                  <a:pt x="185179" y="166688"/>
                  <a:pt x="190500" y="161366"/>
                  <a:pt x="190500" y="154781"/>
                </a:cubicBezTo>
                <a:cubicBezTo>
                  <a:pt x="190500" y="148197"/>
                  <a:pt x="185179" y="142875"/>
                  <a:pt x="178594" y="142875"/>
                </a:cubicBezTo>
                <a:lnTo>
                  <a:pt x="29766" y="142875"/>
                </a:lnTo>
                <a:cubicBezTo>
                  <a:pt x="26491" y="142875"/>
                  <a:pt x="23812" y="140196"/>
                  <a:pt x="23812" y="136921"/>
                </a:cubicBezTo>
                <a:lnTo>
                  <a:pt x="23812" y="11907"/>
                </a:lnTo>
                <a:close/>
                <a:moveTo>
                  <a:pt x="175096" y="44128"/>
                </a:moveTo>
                <a:cubicBezTo>
                  <a:pt x="179747" y="39477"/>
                  <a:pt x="179747" y="31924"/>
                  <a:pt x="175096" y="27273"/>
                </a:cubicBezTo>
                <a:cubicBezTo>
                  <a:pt x="170445" y="22621"/>
                  <a:pt x="162891" y="22621"/>
                  <a:pt x="158242" y="27273"/>
                </a:cubicBezTo>
                <a:lnTo>
                  <a:pt x="119062" y="66489"/>
                </a:lnTo>
                <a:lnTo>
                  <a:pt x="97706" y="45170"/>
                </a:lnTo>
                <a:cubicBezTo>
                  <a:pt x="93055" y="40520"/>
                  <a:pt x="85501" y="40520"/>
                  <a:pt x="80851" y="45170"/>
                </a:cubicBezTo>
                <a:lnTo>
                  <a:pt x="45132" y="80888"/>
                </a:lnTo>
                <a:cubicBezTo>
                  <a:pt x="40481" y="85539"/>
                  <a:pt x="40481" y="93093"/>
                  <a:pt x="45132" y="97743"/>
                </a:cubicBezTo>
                <a:cubicBezTo>
                  <a:pt x="49783" y="102394"/>
                  <a:pt x="57335" y="102394"/>
                  <a:pt x="61987" y="97743"/>
                </a:cubicBezTo>
                <a:lnTo>
                  <a:pt x="89298" y="70433"/>
                </a:lnTo>
                <a:lnTo>
                  <a:pt x="110654" y="91789"/>
                </a:lnTo>
                <a:cubicBezTo>
                  <a:pt x="115305" y="96442"/>
                  <a:pt x="122859" y="96442"/>
                  <a:pt x="127508" y="91789"/>
                </a:cubicBezTo>
                <a:lnTo>
                  <a:pt x="175133" y="4416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9046" y="6056640"/>
            <a:ext cx="108489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           This ratio is known as </a:t>
            </a:r>
            <a:r>
              <a:rPr lang="en-US" sz="18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Arithmetic Intensity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0956" y="670415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4023" y="598559"/>
            <a:ext cx="11629571" cy="362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Arithmetic Intensity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62815" y="1197251"/>
            <a:ext cx="11466286" cy="1632857"/>
          </a:xfrm>
          <a:custGeom>
            <a:avLst/>
            <a:gdLst/>
            <a:ahLst/>
            <a:cxnLst/>
            <a:rect l="l" t="t" r="r" b="b"/>
            <a:pathLst>
              <a:path w="11466286" h="1632857">
                <a:moveTo>
                  <a:pt x="72564" y="0"/>
                </a:moveTo>
                <a:lnTo>
                  <a:pt x="11393722" y="0"/>
                </a:lnTo>
                <a:cubicBezTo>
                  <a:pt x="11433799" y="0"/>
                  <a:pt x="11466286" y="32488"/>
                  <a:pt x="11466286" y="72564"/>
                </a:cubicBezTo>
                <a:lnTo>
                  <a:pt x="11466286" y="1560293"/>
                </a:lnTo>
                <a:cubicBezTo>
                  <a:pt x="11466286" y="1600369"/>
                  <a:pt x="11433799" y="1632857"/>
                  <a:pt x="11393722" y="1632857"/>
                </a:cubicBezTo>
                <a:lnTo>
                  <a:pt x="72564" y="1632857"/>
                </a:lnTo>
                <a:cubicBezTo>
                  <a:pt x="32488" y="1632857"/>
                  <a:pt x="0" y="1600369"/>
                  <a:pt x="0" y="1560293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80504" y="1414944"/>
            <a:ext cx="11139714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Definition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80504" y="1850248"/>
            <a:ext cx="11030857" cy="762000"/>
          </a:xfrm>
          <a:custGeom>
            <a:avLst/>
            <a:gdLst/>
            <a:ahLst/>
            <a:cxnLst/>
            <a:rect l="l" t="t" r="r" b="b"/>
            <a:pathLst>
              <a:path w="11030857" h="762000">
                <a:moveTo>
                  <a:pt x="36286" y="0"/>
                </a:moveTo>
                <a:lnTo>
                  <a:pt x="10994572" y="0"/>
                </a:lnTo>
                <a:cubicBezTo>
                  <a:pt x="11014611" y="0"/>
                  <a:pt x="11030857" y="16246"/>
                  <a:pt x="11030857" y="36286"/>
                </a:cubicBezTo>
                <a:lnTo>
                  <a:pt x="11030857" y="725714"/>
                </a:lnTo>
                <a:cubicBezTo>
                  <a:pt x="11030857" y="745754"/>
                  <a:pt x="11014611" y="762000"/>
                  <a:pt x="10994572" y="762000"/>
                </a:cubicBezTo>
                <a:lnTo>
                  <a:pt x="36286" y="762000"/>
                </a:lnTo>
                <a:cubicBezTo>
                  <a:pt x="16246" y="762000"/>
                  <a:pt x="0" y="745754"/>
                  <a:pt x="0" y="725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30157" y="2067940"/>
            <a:ext cx="10731500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A6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Arithmetic Intensity = FLOPs / Bytes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71841" y="3056530"/>
            <a:ext cx="5569767" cy="1832338"/>
          </a:xfrm>
          <a:custGeom>
            <a:avLst/>
            <a:gdLst/>
            <a:ahLst/>
            <a:cxnLst/>
            <a:rect l="l" t="t" r="r" b="b"/>
            <a:pathLst>
              <a:path w="5569767" h="1832338">
                <a:moveTo>
                  <a:pt x="72579" y="0"/>
                </a:moveTo>
                <a:lnTo>
                  <a:pt x="5497187" y="0"/>
                </a:lnTo>
                <a:cubicBezTo>
                  <a:pt x="5537272" y="0"/>
                  <a:pt x="5569767" y="32495"/>
                  <a:pt x="5569767" y="72579"/>
                </a:cubicBezTo>
                <a:lnTo>
                  <a:pt x="5569767" y="1759759"/>
                </a:lnTo>
                <a:cubicBezTo>
                  <a:pt x="5569767" y="1799844"/>
                  <a:pt x="5537272" y="1832338"/>
                  <a:pt x="5497187" y="1832338"/>
                </a:cubicBezTo>
                <a:lnTo>
                  <a:pt x="72579" y="1832338"/>
                </a:lnTo>
                <a:cubicBezTo>
                  <a:pt x="32495" y="1832338"/>
                  <a:pt x="0" y="1799844"/>
                  <a:pt x="0" y="1759759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F3F4F6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98556" y="3283246"/>
            <a:ext cx="5207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Naive MatMul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98556" y="3682375"/>
            <a:ext cx="5116286" cy="979714"/>
          </a:xfrm>
          <a:custGeom>
            <a:avLst/>
            <a:gdLst/>
            <a:ahLst/>
            <a:cxnLst/>
            <a:rect l="l" t="t" r="r" b="b"/>
            <a:pathLst>
              <a:path w="5116286" h="979714">
                <a:moveTo>
                  <a:pt x="36289" y="0"/>
                </a:moveTo>
                <a:lnTo>
                  <a:pt x="5079997" y="0"/>
                </a:lnTo>
                <a:cubicBezTo>
                  <a:pt x="5100039" y="0"/>
                  <a:pt x="5116286" y="16247"/>
                  <a:pt x="5116286" y="36289"/>
                </a:cubicBezTo>
                <a:lnTo>
                  <a:pt x="5116286" y="943426"/>
                </a:lnTo>
                <a:cubicBezTo>
                  <a:pt x="5116286" y="963466"/>
                  <a:pt x="5100039" y="979714"/>
                  <a:pt x="5079997" y="979714"/>
                </a:cubicBezTo>
                <a:lnTo>
                  <a:pt x="36289" y="979714"/>
                </a:lnTo>
                <a:cubicBezTo>
                  <a:pt x="16247" y="979714"/>
                  <a:pt x="0" y="963466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893" y="3863746"/>
            <a:ext cx="4889500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Low intensity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3643" y="4262810"/>
            <a:ext cx="4826000" cy="2177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Low compute-to-memory ratio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241120" y="3047504"/>
            <a:ext cx="5588000" cy="1850572"/>
          </a:xfrm>
          <a:custGeom>
            <a:avLst/>
            <a:gdLst/>
            <a:ahLst/>
            <a:cxnLst/>
            <a:rect l="l" t="t" r="r" b="b"/>
            <a:pathLst>
              <a:path w="5588000" h="1850572">
                <a:moveTo>
                  <a:pt x="72579" y="0"/>
                </a:moveTo>
                <a:lnTo>
                  <a:pt x="5515421" y="0"/>
                </a:lnTo>
                <a:cubicBezTo>
                  <a:pt x="5555505" y="0"/>
                  <a:pt x="5588000" y="32495"/>
                  <a:pt x="5588000" y="72579"/>
                </a:cubicBezTo>
                <a:lnTo>
                  <a:pt x="5588000" y="1777992"/>
                </a:lnTo>
                <a:cubicBezTo>
                  <a:pt x="5588000" y="1818077"/>
                  <a:pt x="5555505" y="1850572"/>
                  <a:pt x="5515421" y="1850572"/>
                </a:cubicBezTo>
                <a:lnTo>
                  <a:pt x="72579" y="1850572"/>
                </a:lnTo>
                <a:cubicBezTo>
                  <a:pt x="32522" y="1850572"/>
                  <a:pt x="0" y="1818049"/>
                  <a:pt x="0" y="1777992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58809" y="3265192"/>
            <a:ext cx="5243286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Tiled MatMul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458809" y="3664321"/>
            <a:ext cx="5152572" cy="979714"/>
          </a:xfrm>
          <a:custGeom>
            <a:avLst/>
            <a:gdLst/>
            <a:ahLst/>
            <a:cxnLst/>
            <a:rect l="l" t="t" r="r" b="b"/>
            <a:pathLst>
              <a:path w="5152572" h="979714">
                <a:moveTo>
                  <a:pt x="36289" y="0"/>
                </a:moveTo>
                <a:lnTo>
                  <a:pt x="5116283" y="0"/>
                </a:lnTo>
                <a:cubicBezTo>
                  <a:pt x="5136325" y="0"/>
                  <a:pt x="5152572" y="16247"/>
                  <a:pt x="5152572" y="36289"/>
                </a:cubicBezTo>
                <a:lnTo>
                  <a:pt x="5152572" y="943426"/>
                </a:lnTo>
                <a:cubicBezTo>
                  <a:pt x="5152572" y="963466"/>
                  <a:pt x="5136325" y="979714"/>
                  <a:pt x="5116283" y="979714"/>
                </a:cubicBezTo>
                <a:lnTo>
                  <a:pt x="36289" y="979714"/>
                </a:lnTo>
                <a:cubicBezTo>
                  <a:pt x="16247" y="979714"/>
                  <a:pt x="0" y="963466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72145" y="3845697"/>
            <a:ext cx="4925786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High intensity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3895" y="4244755"/>
            <a:ext cx="4862286" cy="2177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High compute-to-memory ratio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362815" y="5115302"/>
            <a:ext cx="11466286" cy="1451428"/>
          </a:xfrm>
          <a:custGeom>
            <a:avLst/>
            <a:gdLst/>
            <a:ahLst/>
            <a:cxnLst/>
            <a:rect l="l" t="t" r="r" b="b"/>
            <a:pathLst>
              <a:path w="11466286" h="1451428">
                <a:moveTo>
                  <a:pt x="72572" y="0"/>
                </a:moveTo>
                <a:lnTo>
                  <a:pt x="11393714" y="0"/>
                </a:lnTo>
                <a:cubicBezTo>
                  <a:pt x="11433793" y="0"/>
                  <a:pt x="11466286" y="32490"/>
                  <a:pt x="11466286" y="72572"/>
                </a:cubicBezTo>
                <a:lnTo>
                  <a:pt x="11466286" y="1378857"/>
                </a:lnTo>
                <a:cubicBezTo>
                  <a:pt x="11466286" y="1418937"/>
                  <a:pt x="11433793" y="1451428"/>
                  <a:pt x="11393714" y="1451428"/>
                </a:cubicBezTo>
                <a:lnTo>
                  <a:pt x="72572" y="1451428"/>
                </a:lnTo>
                <a:cubicBezTo>
                  <a:pt x="32490" y="1451428"/>
                  <a:pt x="0" y="1418937"/>
                  <a:pt x="0" y="1378857"/>
                </a:cubicBezTo>
                <a:lnTo>
                  <a:pt x="0" y="72572"/>
                </a:lnTo>
                <a:cubicBezTo>
                  <a:pt x="0" y="32518"/>
                  <a:pt x="32518" y="0"/>
                  <a:pt x="7257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59126" y="5332990"/>
            <a:ext cx="1084294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598556" y="5695803"/>
            <a:ext cx="11012623" cy="653143"/>
          </a:xfrm>
          <a:custGeom>
            <a:avLst/>
            <a:gdLst/>
            <a:ahLst/>
            <a:cxnLst/>
            <a:rect l="l" t="t" r="r" b="b"/>
            <a:pathLst>
              <a:path w="11012623" h="653143">
                <a:moveTo>
                  <a:pt x="36105" y="0"/>
                </a:moveTo>
                <a:lnTo>
                  <a:pt x="10976334" y="0"/>
                </a:lnTo>
                <a:cubicBezTo>
                  <a:pt x="10996378" y="0"/>
                  <a:pt x="11012623" y="16247"/>
                  <a:pt x="11012623" y="36289"/>
                </a:cubicBezTo>
                <a:lnTo>
                  <a:pt x="11012623" y="616854"/>
                </a:lnTo>
                <a:cubicBezTo>
                  <a:pt x="11012623" y="636896"/>
                  <a:pt x="10996378" y="653143"/>
                  <a:pt x="10976334" y="653143"/>
                </a:cubicBezTo>
                <a:lnTo>
                  <a:pt x="36105" y="653143"/>
                </a:lnTo>
                <a:cubicBezTo>
                  <a:pt x="16165" y="653143"/>
                  <a:pt x="0" y="636977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598556" y="5695803"/>
            <a:ext cx="36105" cy="653143"/>
          </a:xfrm>
          <a:custGeom>
            <a:avLst/>
            <a:gdLst/>
            <a:ahLst/>
            <a:cxnLst/>
            <a:rect l="l" t="t" r="r" b="b"/>
            <a:pathLst>
              <a:path w="36105" h="653143">
                <a:moveTo>
                  <a:pt x="36105" y="0"/>
                </a:moveTo>
                <a:lnTo>
                  <a:pt x="36105" y="0"/>
                </a:lnTo>
                <a:lnTo>
                  <a:pt x="36105" y="653143"/>
                </a:lnTo>
                <a:lnTo>
                  <a:pt x="36105" y="653143"/>
                </a:lnTo>
                <a:cubicBezTo>
                  <a:pt x="16165" y="653143"/>
                  <a:pt x="0" y="636977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43552" y="5877178"/>
            <a:ext cx="10740571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Higher Arithmetic Intensity = Higher Performance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2815" y="6711546"/>
            <a:ext cx="11520714" cy="1451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1034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Introduction to the Roofline Model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4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485691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Roofline Model Description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09529" y="1904777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42820" y="2095216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ceiling limited by Compute or Memory</a:t>
            </a: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80956" y="3047498"/>
            <a:ext cx="11430000" cy="2324100"/>
            <a:chOff x="380956" y="3047498"/>
            <a:chExt cx="11430000" cy="2324100"/>
          </a:xfrm>
        </p:grpSpPr>
        <p:sp>
          <p:nvSpPr>
            <p:cNvPr id="8" name="Freeform 8"/>
            <p:cNvSpPr/>
            <p:nvPr/>
          </p:nvSpPr>
          <p:spPr>
            <a:xfrm>
              <a:off x="380956" y="3047498"/>
              <a:ext cx="11430000" cy="2324100"/>
            </a:xfrm>
            <a:custGeom>
              <a:avLst/>
              <a:gdLst/>
              <a:ahLst/>
              <a:cxnLst/>
              <a:rect l="l" t="t" r="r" b="b"/>
              <a:pathLst>
                <a:path w="11430000" h="2324100">
                  <a:moveTo>
                    <a:pt x="76208" y="0"/>
                  </a:moveTo>
                  <a:lnTo>
                    <a:pt x="11353792" y="0"/>
                  </a:lnTo>
                  <a:cubicBezTo>
                    <a:pt x="11395881" y="0"/>
                    <a:pt x="11430000" y="34119"/>
                    <a:pt x="11430000" y="76208"/>
                  </a:cubicBezTo>
                  <a:lnTo>
                    <a:pt x="11430000" y="2247892"/>
                  </a:lnTo>
                  <a:cubicBezTo>
                    <a:pt x="11430000" y="2289981"/>
                    <a:pt x="11395881" y="2324100"/>
                    <a:pt x="11353792" y="2324100"/>
                  </a:cubicBezTo>
                  <a:lnTo>
                    <a:pt x="76208" y="2324100"/>
                  </a:lnTo>
                  <a:cubicBezTo>
                    <a:pt x="34119" y="2324100"/>
                    <a:pt x="0" y="2289981"/>
                    <a:pt x="0" y="2247892"/>
                  </a:cubicBezTo>
                  <a:lnTo>
                    <a:pt x="0" y="76208"/>
                  </a:lnTo>
                  <a:cubicBezTo>
                    <a:pt x="0" y="34119"/>
                    <a:pt x="34119" y="0"/>
                    <a:pt x="7620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904804" y="3276070"/>
              <a:ext cx="107727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Formula</a:t>
              </a:r>
              <a:endParaRPr lang="en-US" sz="11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8484" y="3695156"/>
              <a:ext cx="10953655" cy="1447800"/>
            </a:xfrm>
            <a:custGeom>
              <a:avLst/>
              <a:gdLst/>
              <a:ahLst/>
              <a:cxnLst/>
              <a:rect l="l" t="t" r="r" b="b"/>
              <a:pathLst>
                <a:path w="10953655" h="1447800">
                  <a:moveTo>
                    <a:pt x="37910" y="0"/>
                  </a:moveTo>
                  <a:lnTo>
                    <a:pt x="10915548" y="0"/>
                  </a:lnTo>
                  <a:cubicBezTo>
                    <a:pt x="10936595" y="0"/>
                    <a:pt x="10953655" y="17061"/>
                    <a:pt x="10953655" y="38106"/>
                  </a:cubicBezTo>
                  <a:lnTo>
                    <a:pt x="10953655" y="1409694"/>
                  </a:lnTo>
                  <a:cubicBezTo>
                    <a:pt x="10953655" y="1430739"/>
                    <a:pt x="10936595" y="1447800"/>
                    <a:pt x="10915548" y="1447800"/>
                  </a:cubicBezTo>
                  <a:lnTo>
                    <a:pt x="37910" y="1447800"/>
                  </a:lnTo>
                  <a:cubicBezTo>
                    <a:pt x="16974" y="1447800"/>
                    <a:pt x="0" y="1430826"/>
                    <a:pt x="0" y="14098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8484" y="3695156"/>
              <a:ext cx="37909" cy="1447800"/>
            </a:xfrm>
            <a:custGeom>
              <a:avLst/>
              <a:gdLst/>
              <a:ahLst/>
              <a:cxnLst/>
              <a:rect l="l" t="t" r="r" b="b"/>
              <a:pathLst>
                <a:path w="37909" h="1447800">
                  <a:moveTo>
                    <a:pt x="37910" y="0"/>
                  </a:moveTo>
                  <a:lnTo>
                    <a:pt x="37910" y="0"/>
                  </a:lnTo>
                  <a:lnTo>
                    <a:pt x="37910" y="1447800"/>
                  </a:lnTo>
                  <a:lnTo>
                    <a:pt x="37910" y="1447800"/>
                  </a:lnTo>
                  <a:cubicBezTo>
                    <a:pt x="16974" y="1447800"/>
                    <a:pt x="0" y="1430826"/>
                    <a:pt x="0" y="14098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9529" y="3695156"/>
              <a:ext cx="11020425" cy="1447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90500" tIns="190500" rIns="190500" bIns="19050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Performance = min(</a:t>
              </a:r>
              <a:endParaRPr lang="en-US" sz="1100"/>
            </a:p>
            <a:p>
              <a:pPr indent="0" algn="l">
                <a:lnSpc>
                  <a:spcPct val="133000"/>
                </a:lnSpc>
              </a:pPr>
              <a:r>
                <a:rPr lang="en-US" sz="14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 Peak,</a:t>
              </a:r>
              <a:endPara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33000"/>
                </a:lnSpc>
              </a:pPr>
              <a:r>
                <a:rPr lang="en-US" sz="14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Bandwidth × Arithmetic Intensity</a:t>
              </a:r>
              <a:endPara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33000"/>
                </a:lnSpc>
              </a:pPr>
              <a:r>
                <a:rPr lang="en-US" sz="14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)</a:t>
              </a:r>
              <a:endPara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399911" y="5600012"/>
            <a:ext cx="5581555" cy="952500"/>
          </a:xfrm>
          <a:custGeom>
            <a:avLst/>
            <a:gdLst/>
            <a:ahLst/>
            <a:cxnLst/>
            <a:rect l="l" t="t" r="r" b="b"/>
            <a:pathLst>
              <a:path w="5581555" h="952500">
                <a:moveTo>
                  <a:pt x="37909" y="0"/>
                </a:moveTo>
                <a:lnTo>
                  <a:pt x="5543455" y="0"/>
                </a:lnTo>
                <a:cubicBezTo>
                  <a:pt x="5564483" y="0"/>
                  <a:pt x="5581555" y="17073"/>
                  <a:pt x="5581555" y="38100"/>
                </a:cubicBezTo>
                <a:lnTo>
                  <a:pt x="5581555" y="914400"/>
                </a:lnTo>
                <a:cubicBezTo>
                  <a:pt x="5581555" y="935427"/>
                  <a:pt x="5564483" y="952500"/>
                  <a:pt x="5543455" y="952500"/>
                </a:cubicBezTo>
                <a:lnTo>
                  <a:pt x="37909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grpSp>
        <p:nvGrpSpPr>
          <p:cNvPr id="14" name="Group 14"/>
          <p:cNvGrpSpPr/>
          <p:nvPr/>
        </p:nvGrpSpPr>
        <p:grpSpPr>
          <a:xfrm>
            <a:off x="399911" y="5600012"/>
            <a:ext cx="5476721" cy="952500"/>
            <a:chOff x="399911" y="5600012"/>
            <a:chExt cx="5476721" cy="952500"/>
          </a:xfrm>
        </p:grpSpPr>
        <p:sp>
          <p:nvSpPr>
            <p:cNvPr id="15" name="Freeform 15"/>
            <p:cNvSpPr/>
            <p:nvPr/>
          </p:nvSpPr>
          <p:spPr>
            <a:xfrm>
              <a:off x="399911" y="5600012"/>
              <a:ext cx="37909" cy="952500"/>
            </a:xfrm>
            <a:custGeom>
              <a:avLst/>
              <a:gdLst/>
              <a:ahLst/>
              <a:cxnLst/>
              <a:rect l="l" t="t" r="r" b="b"/>
              <a:pathLst>
                <a:path w="37909" h="952500">
                  <a:moveTo>
                    <a:pt x="37909" y="0"/>
                  </a:moveTo>
                  <a:lnTo>
                    <a:pt x="37909" y="0"/>
                  </a:lnTo>
                  <a:lnTo>
                    <a:pt x="37909" y="952500"/>
                  </a:lnTo>
                  <a:lnTo>
                    <a:pt x="37909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09307" y="5790451"/>
              <a:ext cx="5267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Memory-Bound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09307" y="6133347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Low Arithmetic Intensity region</a:t>
              </a:r>
              <a:endParaRPr lang="en-US" sz="11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29234" y="5600012"/>
            <a:ext cx="5581555" cy="952500"/>
            <a:chOff x="6229234" y="5600012"/>
            <a:chExt cx="5581555" cy="952500"/>
          </a:xfrm>
        </p:grpSpPr>
        <p:sp>
          <p:nvSpPr>
            <p:cNvPr id="19" name="Freeform 19"/>
            <p:cNvSpPr/>
            <p:nvPr/>
          </p:nvSpPr>
          <p:spPr>
            <a:xfrm>
              <a:off x="6229234" y="5600012"/>
              <a:ext cx="5581555" cy="952500"/>
            </a:xfrm>
            <a:custGeom>
              <a:avLst/>
              <a:gdLst/>
              <a:ahLst/>
              <a:cxnLst/>
              <a:rect l="l" t="t" r="r" b="b"/>
              <a:pathLst>
                <a:path w="5581555" h="952500">
                  <a:moveTo>
                    <a:pt x="37910" y="0"/>
                  </a:moveTo>
                  <a:lnTo>
                    <a:pt x="5543455" y="0"/>
                  </a:lnTo>
                  <a:cubicBezTo>
                    <a:pt x="5564483" y="0"/>
                    <a:pt x="5581555" y="17073"/>
                    <a:pt x="5581555" y="38100"/>
                  </a:cubicBezTo>
                  <a:lnTo>
                    <a:pt x="5581555" y="914400"/>
                  </a:lnTo>
                  <a:cubicBezTo>
                    <a:pt x="5581555" y="935427"/>
                    <a:pt x="5564483" y="952500"/>
                    <a:pt x="5543455" y="952500"/>
                  </a:cubicBezTo>
                  <a:lnTo>
                    <a:pt x="37910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229234" y="5600012"/>
              <a:ext cx="37910" cy="952500"/>
            </a:xfrm>
            <a:custGeom>
              <a:avLst/>
              <a:gdLst/>
              <a:ahLst/>
              <a:cxnLst/>
              <a:rect l="l" t="t" r="r" b="b"/>
              <a:pathLst>
                <a:path w="37910" h="952500">
                  <a:moveTo>
                    <a:pt x="37910" y="0"/>
                  </a:moveTo>
                  <a:lnTo>
                    <a:pt x="37910" y="0"/>
                  </a:lnTo>
                  <a:lnTo>
                    <a:pt x="37910" y="952500"/>
                  </a:lnTo>
                  <a:lnTo>
                    <a:pt x="37910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438630" y="5790451"/>
              <a:ext cx="5267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Compute-Bound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438630" y="6133347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 Arithmetic Intensity region</a:t>
              </a:r>
              <a:endParaRPr lang="en-US" sz="1100"/>
            </a:p>
          </p:txBody>
        </p:sp>
      </p:grpSp>
      <p:sp>
        <p:nvSpPr>
          <p:cNvPr id="23" name="AutoShape 23"/>
          <p:cNvSpPr/>
          <p:nvPr/>
        </p:nvSpPr>
        <p:spPr>
          <a:xfrm>
            <a:off x="380956" y="670474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2341" y="60997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How Tiling Improves Performance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95767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396" y="1486207"/>
            <a:ext cx="11144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Tiling increases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71396" y="1905293"/>
            <a:ext cx="11049000" cy="647700"/>
          </a:xfrm>
          <a:custGeom>
            <a:avLst/>
            <a:gdLst/>
            <a:ahLst/>
            <a:cxnLst/>
            <a:rect l="l" t="t" r="r" b="b"/>
            <a:pathLst>
              <a:path w="11049000" h="647700">
                <a:moveTo>
                  <a:pt x="76203" y="0"/>
                </a:moveTo>
                <a:lnTo>
                  <a:pt x="10972797" y="0"/>
                </a:lnTo>
                <a:cubicBezTo>
                  <a:pt x="11014883" y="0"/>
                  <a:pt x="11049000" y="34117"/>
                  <a:pt x="11049000" y="76203"/>
                </a:cubicBezTo>
                <a:lnTo>
                  <a:pt x="11049000" y="571497"/>
                </a:lnTo>
                <a:cubicBezTo>
                  <a:pt x="11049000" y="613583"/>
                  <a:pt x="11014883" y="647700"/>
                  <a:pt x="10972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52341" y="2057674"/>
            <a:ext cx="108870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Arithmetic Intensity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2933765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76196" y="0"/>
                </a:moveTo>
                <a:lnTo>
                  <a:pt x="5524504" y="0"/>
                </a:lnTo>
                <a:cubicBezTo>
                  <a:pt x="5566587" y="0"/>
                  <a:pt x="5600700" y="34113"/>
                  <a:pt x="5600700" y="76196"/>
                </a:cubicBezTo>
                <a:lnTo>
                  <a:pt x="5600700" y="1257304"/>
                </a:lnTo>
                <a:cubicBezTo>
                  <a:pt x="5600700" y="1299387"/>
                  <a:pt x="5566587" y="1333500"/>
                  <a:pt x="55245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610806" y="3162114"/>
            <a:ext cx="130731" cy="172488"/>
          </a:xfrm>
          <a:custGeom>
            <a:avLst/>
            <a:gdLst/>
            <a:ahLst/>
            <a:cxnLst/>
            <a:rect l="l" t="t" r="r" b="b"/>
            <a:pathLst>
              <a:path w="130731" h="172488">
                <a:moveTo>
                  <a:pt x="57798" y="168302"/>
                </a:moveTo>
                <a:cubicBezTo>
                  <a:pt x="61984" y="172488"/>
                  <a:pt x="68781" y="172488"/>
                  <a:pt x="72967" y="168302"/>
                </a:cubicBezTo>
                <a:lnTo>
                  <a:pt x="126545" y="114724"/>
                </a:lnTo>
                <a:cubicBezTo>
                  <a:pt x="130731" y="110538"/>
                  <a:pt x="130731" y="103741"/>
                  <a:pt x="126545" y="99555"/>
                </a:cubicBezTo>
                <a:cubicBezTo>
                  <a:pt x="122360" y="95369"/>
                  <a:pt x="115562" y="95369"/>
                  <a:pt x="111377" y="99555"/>
                </a:cubicBezTo>
                <a:lnTo>
                  <a:pt x="76081" y="134849"/>
                </a:lnTo>
                <a:lnTo>
                  <a:pt x="76081" y="10716"/>
                </a:lnTo>
                <a:cubicBezTo>
                  <a:pt x="76081" y="4789"/>
                  <a:pt x="71293" y="0"/>
                  <a:pt x="65366" y="0"/>
                </a:cubicBezTo>
                <a:cubicBezTo>
                  <a:pt x="59439" y="0"/>
                  <a:pt x="54649" y="4789"/>
                  <a:pt x="54649" y="10716"/>
                </a:cubicBezTo>
                <a:lnTo>
                  <a:pt x="54649" y="134849"/>
                </a:lnTo>
                <a:lnTo>
                  <a:pt x="19356" y="99555"/>
                </a:lnTo>
                <a:cubicBezTo>
                  <a:pt x="15170" y="95369"/>
                  <a:pt x="8372" y="95369"/>
                  <a:pt x="4186" y="99555"/>
                </a:cubicBezTo>
                <a:cubicBezTo>
                  <a:pt x="0" y="103741"/>
                  <a:pt x="0" y="110538"/>
                  <a:pt x="4186" y="114724"/>
                </a:cubicBezTo>
                <a:lnTo>
                  <a:pt x="57764" y="1683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8096" y="3124205"/>
            <a:ext cx="5038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Reduces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90352" y="3505158"/>
            <a:ext cx="5200555" cy="571500"/>
          </a:xfrm>
          <a:custGeom>
            <a:avLst/>
            <a:gdLst/>
            <a:ahLst/>
            <a:cxnLst/>
            <a:rect l="l" t="t" r="r" b="b"/>
            <a:pathLst>
              <a:path w="5200555" h="571500">
                <a:moveTo>
                  <a:pt x="37910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3"/>
                </a:cubicBezTo>
                <a:lnTo>
                  <a:pt x="5200555" y="533397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590352" y="3505158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1689" y="3657540"/>
            <a:ext cx="4972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bandwidth pressure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210279" y="2933765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76196" y="0"/>
                </a:moveTo>
                <a:lnTo>
                  <a:pt x="5524504" y="0"/>
                </a:lnTo>
                <a:cubicBezTo>
                  <a:pt x="5566587" y="0"/>
                  <a:pt x="5600700" y="34113"/>
                  <a:pt x="5600700" y="76196"/>
                </a:cubicBezTo>
                <a:lnTo>
                  <a:pt x="5600700" y="1257304"/>
                </a:lnTo>
                <a:cubicBezTo>
                  <a:pt x="5600700" y="1299387"/>
                  <a:pt x="5566587" y="1333500"/>
                  <a:pt x="55245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6440129" y="3163755"/>
            <a:ext cx="130731" cy="172488"/>
          </a:xfrm>
          <a:custGeom>
            <a:avLst/>
            <a:gdLst/>
            <a:ahLst/>
            <a:cxnLst/>
            <a:rect l="l" t="t" r="r" b="b"/>
            <a:pathLst>
              <a:path w="130731" h="172488">
                <a:moveTo>
                  <a:pt x="72934" y="4186"/>
                </a:moveTo>
                <a:cubicBezTo>
                  <a:pt x="68748" y="0"/>
                  <a:pt x="61949" y="0"/>
                  <a:pt x="57764" y="4186"/>
                </a:cubicBezTo>
                <a:lnTo>
                  <a:pt x="4186" y="57765"/>
                </a:lnTo>
                <a:cubicBezTo>
                  <a:pt x="0" y="61950"/>
                  <a:pt x="0" y="68747"/>
                  <a:pt x="4186" y="72933"/>
                </a:cubicBezTo>
                <a:cubicBezTo>
                  <a:pt x="8372" y="77119"/>
                  <a:pt x="15170" y="77119"/>
                  <a:pt x="19356" y="72933"/>
                </a:cubicBezTo>
                <a:lnTo>
                  <a:pt x="54649" y="37638"/>
                </a:lnTo>
                <a:lnTo>
                  <a:pt x="54649" y="161772"/>
                </a:lnTo>
                <a:cubicBezTo>
                  <a:pt x="54649" y="167700"/>
                  <a:pt x="59439" y="172487"/>
                  <a:pt x="65366" y="172487"/>
                </a:cubicBezTo>
                <a:cubicBezTo>
                  <a:pt x="71293" y="172487"/>
                  <a:pt x="76081" y="167700"/>
                  <a:pt x="76081" y="161772"/>
                </a:cubicBezTo>
                <a:lnTo>
                  <a:pt x="76081" y="37638"/>
                </a:lnTo>
                <a:lnTo>
                  <a:pt x="111377" y="72933"/>
                </a:lnTo>
                <a:cubicBezTo>
                  <a:pt x="115563" y="77119"/>
                  <a:pt x="122360" y="77119"/>
                  <a:pt x="126545" y="72933"/>
                </a:cubicBezTo>
                <a:cubicBezTo>
                  <a:pt x="130731" y="68747"/>
                  <a:pt x="130731" y="61950"/>
                  <a:pt x="126545" y="57765"/>
                </a:cubicBezTo>
                <a:lnTo>
                  <a:pt x="72967" y="418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67420" y="3124205"/>
            <a:ext cx="5038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Increases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6419675" y="3505158"/>
            <a:ext cx="5200555" cy="571500"/>
          </a:xfrm>
          <a:custGeom>
            <a:avLst/>
            <a:gdLst/>
            <a:ahLst/>
            <a:cxnLst/>
            <a:rect l="l" t="t" r="r" b="b"/>
            <a:pathLst>
              <a:path w="5200555" h="571500">
                <a:moveTo>
                  <a:pt x="37909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3"/>
                </a:cubicBezTo>
                <a:lnTo>
                  <a:pt x="5200555" y="533397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6419675" y="3505158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91013" y="3657540"/>
            <a:ext cx="4972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Cache utilization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80956" y="4457509"/>
            <a:ext cx="11430000" cy="1676400"/>
          </a:xfrm>
          <a:custGeom>
            <a:avLst/>
            <a:gdLst/>
            <a:ahLst/>
            <a:cxnLst/>
            <a:rect l="l" t="t" r="r" b="b"/>
            <a:pathLst>
              <a:path w="11430000" h="16764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00208"/>
                </a:lnTo>
                <a:cubicBezTo>
                  <a:pt x="11430000" y="1642288"/>
                  <a:pt x="11395888" y="1676400"/>
                  <a:pt x="113538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279" y="4686086"/>
            <a:ext cx="10744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Final Result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09529" y="5143160"/>
            <a:ext cx="10972800" cy="762000"/>
          </a:xfrm>
          <a:custGeom>
            <a:avLst/>
            <a:gdLst/>
            <a:ahLst/>
            <a:cxnLst/>
            <a:rect l="l" t="t" r="r" b="b"/>
            <a:pathLst>
              <a:path w="10972800" h="762000">
                <a:moveTo>
                  <a:pt x="38100" y="0"/>
                </a:moveTo>
                <a:lnTo>
                  <a:pt x="10934700" y="0"/>
                </a:lnTo>
                <a:cubicBezTo>
                  <a:pt x="10955727" y="0"/>
                  <a:pt x="10972800" y="17073"/>
                  <a:pt x="10972800" y="38100"/>
                </a:cubicBezTo>
                <a:lnTo>
                  <a:pt x="10972800" y="723900"/>
                </a:lnTo>
                <a:cubicBezTo>
                  <a:pt x="10972800" y="744927"/>
                  <a:pt x="10955727" y="762000"/>
                  <a:pt x="10934700" y="762000"/>
                </a:cubicBezTo>
                <a:lnTo>
                  <a:pt x="38100" y="762000"/>
                </a:lnTo>
                <a:cubicBezTo>
                  <a:pt x="17073" y="762000"/>
                  <a:pt x="0" y="744927"/>
                  <a:pt x="0" y="7239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14245" y="5333595"/>
            <a:ext cx="10763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Performanceimprovement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0956" y="6324605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0468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Tiling in Triton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4"/>
            <a:ext cx="11430000" cy="1600200"/>
          </a:xfrm>
          <a:custGeom>
            <a:avLst/>
            <a:gdLst/>
            <a:ahLst/>
            <a:cxnLst/>
            <a:rect l="l" t="t" r="r" b="b"/>
            <a:pathLst>
              <a:path w="11430000" h="16002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1523997"/>
                </a:lnTo>
                <a:cubicBezTo>
                  <a:pt x="11430000" y="1566083"/>
                  <a:pt x="11395883" y="1600200"/>
                  <a:pt x="11353797" y="1600200"/>
                </a:cubicBezTo>
                <a:lnTo>
                  <a:pt x="76203" y="1600200"/>
                </a:lnTo>
                <a:cubicBezTo>
                  <a:pt x="34117" y="1600200"/>
                  <a:pt x="0" y="1566083"/>
                  <a:pt x="0" y="1523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485695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uses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09529" y="1904777"/>
            <a:ext cx="10972800" cy="723900"/>
          </a:xfrm>
          <a:custGeom>
            <a:avLst/>
            <a:gdLst/>
            <a:ahLst/>
            <a:cxnLst/>
            <a:rect l="l" t="t" r="r" b="b"/>
            <a:pathLst>
              <a:path w="10972800" h="723900">
                <a:moveTo>
                  <a:pt x="76197" y="0"/>
                </a:moveTo>
                <a:lnTo>
                  <a:pt x="10896603" y="0"/>
                </a:lnTo>
                <a:cubicBezTo>
                  <a:pt x="10938657" y="0"/>
                  <a:pt x="10972800" y="34143"/>
                  <a:pt x="10972800" y="76197"/>
                </a:cubicBezTo>
                <a:lnTo>
                  <a:pt x="10972800" y="647703"/>
                </a:lnTo>
                <a:cubicBezTo>
                  <a:pt x="10972800" y="689757"/>
                  <a:pt x="10938657" y="723900"/>
                  <a:pt x="108966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8532" y="2095221"/>
            <a:ext cx="107346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block-based programming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3085635"/>
            <a:ext cx="11430000" cy="1638300"/>
          </a:xfrm>
          <a:custGeom>
            <a:avLst/>
            <a:gdLst/>
            <a:ahLst/>
            <a:cxnLst/>
            <a:rect l="l" t="t" r="r" b="b"/>
            <a:pathLst>
              <a:path w="11430000" h="16383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9529" y="331420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program computes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19007" y="3742766"/>
            <a:ext cx="10953655" cy="742855"/>
          </a:xfrm>
          <a:custGeom>
            <a:avLst/>
            <a:gdLst/>
            <a:ahLst/>
            <a:cxnLst/>
            <a:rect l="l" t="t" r="r" b="b"/>
            <a:pathLst>
              <a:path w="10953655" h="742855">
                <a:moveTo>
                  <a:pt x="38101" y="0"/>
                </a:moveTo>
                <a:lnTo>
                  <a:pt x="10915553" y="0"/>
                </a:lnTo>
                <a:cubicBezTo>
                  <a:pt x="10936597" y="0"/>
                  <a:pt x="10953655" y="17057"/>
                  <a:pt x="10953655" y="38101"/>
                </a:cubicBezTo>
                <a:lnTo>
                  <a:pt x="10953655" y="704753"/>
                </a:lnTo>
                <a:cubicBezTo>
                  <a:pt x="10953655" y="725797"/>
                  <a:pt x="10936597" y="742855"/>
                  <a:pt x="109155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47487" y="3942690"/>
            <a:ext cx="10696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BLOCK_M × BLOCK_N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4952051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620282" y="5207682"/>
            <a:ext cx="216656" cy="193253"/>
          </a:xfrm>
          <a:custGeom>
            <a:avLst/>
            <a:gdLst/>
            <a:ahLst/>
            <a:cxnLst/>
            <a:rect l="l" t="t" r="r" b="b"/>
            <a:pathLst>
              <a:path w="216656" h="193253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3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2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4804" y="5180623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28484" y="5599714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628484" y="5599714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99822" y="5752095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BLOCK_M = 128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191102" y="5599714"/>
            <a:ext cx="5391055" cy="571500"/>
          </a:xfrm>
          <a:custGeom>
            <a:avLst/>
            <a:gdLst/>
            <a:ahLst/>
            <a:cxnLst/>
            <a:rect l="l" t="t" r="r" b="b"/>
            <a:pathLst>
              <a:path w="5391055" h="571500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6191102" y="5599714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62440" y="5752095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BLOCK_N = 128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0956" y="6552140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0933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Multi-dimensional program_id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4"/>
            <a:ext cx="11430000" cy="1714500"/>
          </a:xfrm>
          <a:custGeom>
            <a:avLst/>
            <a:gdLst/>
            <a:ahLst/>
            <a:cxnLst/>
            <a:rect l="l" t="t" r="r" b="b"/>
            <a:pathLst>
              <a:path w="11430000" h="17145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38308"/>
                </a:lnTo>
                <a:cubicBezTo>
                  <a:pt x="11430000" y="1680388"/>
                  <a:pt x="11395888" y="1714500"/>
                  <a:pt x="1135380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48568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Get program ID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1904777"/>
            <a:ext cx="10953655" cy="838200"/>
          </a:xfrm>
          <a:custGeom>
            <a:avLst/>
            <a:gdLst/>
            <a:ahLst/>
            <a:cxnLst/>
            <a:rect l="l" t="t" r="r" b="b"/>
            <a:pathLst>
              <a:path w="10953655" h="838200">
                <a:moveTo>
                  <a:pt x="37910" y="0"/>
                </a:moveTo>
                <a:lnTo>
                  <a:pt x="10915559" y="0"/>
                </a:lnTo>
                <a:cubicBezTo>
                  <a:pt x="10936599" y="0"/>
                  <a:pt x="10953655" y="17056"/>
                  <a:pt x="10953655" y="38096"/>
                </a:cubicBezTo>
                <a:lnTo>
                  <a:pt x="10953655" y="800104"/>
                </a:lnTo>
                <a:cubicBezTo>
                  <a:pt x="10953655" y="821144"/>
                  <a:pt x="10936599" y="838200"/>
                  <a:pt x="10915559" y="838200"/>
                </a:cubicBezTo>
                <a:lnTo>
                  <a:pt x="37910" y="838200"/>
                </a:lnTo>
                <a:cubicBezTo>
                  <a:pt x="16974" y="838200"/>
                  <a:pt x="0" y="821226"/>
                  <a:pt x="0" y="800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28484" y="1904777"/>
            <a:ext cx="37909" cy="838200"/>
          </a:xfrm>
          <a:custGeom>
            <a:avLst/>
            <a:gdLst/>
            <a:ahLst/>
            <a:cxnLst/>
            <a:rect l="l" t="t" r="r" b="b"/>
            <a:pathLst>
              <a:path w="37909" h="838200">
                <a:moveTo>
                  <a:pt x="37910" y="0"/>
                </a:moveTo>
                <a:lnTo>
                  <a:pt x="37910" y="0"/>
                </a:lnTo>
                <a:lnTo>
                  <a:pt x="37910" y="838200"/>
                </a:lnTo>
                <a:lnTo>
                  <a:pt x="37910" y="838200"/>
                </a:lnTo>
                <a:cubicBezTo>
                  <a:pt x="16974" y="838200"/>
                  <a:pt x="0" y="821226"/>
                  <a:pt x="0" y="800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529" y="1904777"/>
            <a:ext cx="11010900" cy="838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pid_m = tl.program_id(0)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pid_n = tl.program_id(1)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80956" y="3199954"/>
            <a:ext cx="11430000" cy="1905000"/>
          </a:xfrm>
          <a:custGeom>
            <a:avLst/>
            <a:gdLst/>
            <a:ahLst/>
            <a:cxnLst/>
            <a:rect l="l" t="t" r="r" b="b"/>
            <a:pathLst>
              <a:path w="11430000" h="1905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529" y="342852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Purpose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09529" y="3847616"/>
            <a:ext cx="10972800" cy="1028700"/>
          </a:xfrm>
          <a:custGeom>
            <a:avLst/>
            <a:gdLst/>
            <a:ahLst/>
            <a:cxnLst/>
            <a:rect l="l" t="t" r="r" b="b"/>
            <a:pathLst>
              <a:path w="10972800" h="10287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2820" y="4038051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Determine tile position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2345" y="4418940"/>
            <a:ext cx="10687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 block index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53332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71396" y="55236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pid_m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396" y="5866563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 ID in the M dimension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6210279" y="53332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00720" y="55236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pid_n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00720" y="5866563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 ID in the N dimension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0956" y="6437961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4758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Tile Indices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409942"/>
            <a:ext cx="11430000" cy="1943100"/>
          </a:xfrm>
          <a:custGeom>
            <a:avLst/>
            <a:gdLst/>
            <a:ahLst/>
            <a:cxnLst/>
            <a:rect l="l" t="t" r="r" b="b"/>
            <a:pathLst>
              <a:path w="11430000" h="1943100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1866892"/>
                </a:lnTo>
                <a:cubicBezTo>
                  <a:pt x="11430000" y="1908980"/>
                  <a:pt x="11395880" y="1943100"/>
                  <a:pt x="113537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638514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offsets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2057605"/>
            <a:ext cx="10953655" cy="1066800"/>
          </a:xfrm>
          <a:custGeom>
            <a:avLst/>
            <a:gdLst/>
            <a:ahLst/>
            <a:cxnLst/>
            <a:rect l="l" t="t" r="r" b="b"/>
            <a:pathLst>
              <a:path w="10953655" h="1066800">
                <a:moveTo>
                  <a:pt x="37910" y="0"/>
                </a:moveTo>
                <a:lnTo>
                  <a:pt x="10915560" y="0"/>
                </a:lnTo>
                <a:cubicBezTo>
                  <a:pt x="10936585" y="0"/>
                  <a:pt x="10953655" y="17070"/>
                  <a:pt x="10953655" y="38095"/>
                </a:cubicBezTo>
                <a:lnTo>
                  <a:pt x="10953655" y="1028705"/>
                </a:lnTo>
                <a:cubicBezTo>
                  <a:pt x="10953655" y="1049730"/>
                  <a:pt x="10936585" y="1066800"/>
                  <a:pt x="10915560" y="1066800"/>
                </a:cubicBezTo>
                <a:lnTo>
                  <a:pt x="37910" y="1066800"/>
                </a:lnTo>
                <a:cubicBezTo>
                  <a:pt x="16974" y="1066800"/>
                  <a:pt x="0" y="1049826"/>
                  <a:pt x="0" y="10288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28484" y="2057605"/>
            <a:ext cx="37909" cy="1066800"/>
          </a:xfrm>
          <a:custGeom>
            <a:avLst/>
            <a:gdLst/>
            <a:ahLst/>
            <a:cxnLst/>
            <a:rect l="l" t="t" r="r" b="b"/>
            <a:pathLst>
              <a:path w="37909" h="1066800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4" y="1066800"/>
                  <a:pt x="0" y="1049826"/>
                  <a:pt x="0" y="10288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529" y="2057605"/>
            <a:ext cx="11010900" cy="106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offs_m = pid_m * BLOCK_M + tl.arange(0, BLOCK_M)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offs_n = pid_n * BLOCK_N + tl.arange(0, BLOCK_N)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80956" y="3581353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529" y="380992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Represents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09529" y="4229016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647697"/>
                </a:lnTo>
                <a:cubicBezTo>
                  <a:pt x="10972800" y="668741"/>
                  <a:pt x="10955741" y="685800"/>
                  <a:pt x="109346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2820" y="4419451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Current tile row/column position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80956" y="53717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71396" y="55621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offs_m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396" y="5905072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 array in M dimension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10279" y="537172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00720" y="55621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offs_n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00720" y="5905072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 array in N dimension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0984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Loop over K Dimension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447921"/>
            <a:ext cx="11430000" cy="1524000"/>
          </a:xfrm>
          <a:custGeom>
            <a:avLst/>
            <a:gdLst/>
            <a:ahLst/>
            <a:cxnLst/>
            <a:rect l="l" t="t" r="r" b="b"/>
            <a:pathLst>
              <a:path w="11430000" h="1524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676493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Core Loop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2095584"/>
            <a:ext cx="10953655" cy="647700"/>
          </a:xfrm>
          <a:custGeom>
            <a:avLst/>
            <a:gdLst/>
            <a:ahLst/>
            <a:cxnLst/>
            <a:rect l="l" t="t" r="r" b="b"/>
            <a:pathLst>
              <a:path w="10953655" h="647700">
                <a:moveTo>
                  <a:pt x="37910" y="0"/>
                </a:moveTo>
                <a:lnTo>
                  <a:pt x="10915559" y="0"/>
                </a:lnTo>
                <a:cubicBezTo>
                  <a:pt x="10936583" y="0"/>
                  <a:pt x="10953655" y="17071"/>
                  <a:pt x="10953655" y="38097"/>
                </a:cubicBezTo>
                <a:lnTo>
                  <a:pt x="10953655" y="609603"/>
                </a:lnTo>
                <a:cubicBezTo>
                  <a:pt x="10953655" y="630643"/>
                  <a:pt x="10936597" y="647700"/>
                  <a:pt x="109155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28484" y="2095584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529" y="2095584"/>
            <a:ext cx="11020425" cy="647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for k in range(0, K, BLOCK_K):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3200316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529" y="3428898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iteration performs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09529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9049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Load Tile A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4317941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27461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Load Tile B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8026353" y="3847979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35872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Accumulate result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80956" y="4876595"/>
            <a:ext cx="11430000" cy="1409700"/>
          </a:xfrm>
          <a:custGeom>
            <a:avLst/>
            <a:gdLst/>
            <a:ahLst/>
            <a:cxnLst/>
            <a:rect l="l" t="t" r="r" b="b"/>
            <a:pathLst>
              <a:path w="11430000" h="1409700">
                <a:moveTo>
                  <a:pt x="76194" y="0"/>
                </a:moveTo>
                <a:lnTo>
                  <a:pt x="11353806" y="0"/>
                </a:lnTo>
                <a:cubicBezTo>
                  <a:pt x="11395859" y="0"/>
                  <a:pt x="11430000" y="34141"/>
                  <a:pt x="11430000" y="76194"/>
                </a:cubicBezTo>
                <a:lnTo>
                  <a:pt x="11430000" y="1333506"/>
                </a:lnTo>
                <a:cubicBezTo>
                  <a:pt x="11430000" y="1375587"/>
                  <a:pt x="11395887" y="1409700"/>
                  <a:pt x="113538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633341" y="5132896"/>
            <a:ext cx="190500" cy="191915"/>
          </a:xfrm>
          <a:custGeom>
            <a:avLst/>
            <a:gdLst/>
            <a:ahLst/>
            <a:cxnLst/>
            <a:rect l="l" t="t" r="r" b="b"/>
            <a:pathLst>
              <a:path w="190500" h="191915">
                <a:moveTo>
                  <a:pt x="178631" y="72144"/>
                </a:moveTo>
                <a:lnTo>
                  <a:pt x="181571" y="72144"/>
                </a:lnTo>
                <a:cubicBezTo>
                  <a:pt x="186519" y="72144"/>
                  <a:pt x="190500" y="68163"/>
                  <a:pt x="190500" y="63215"/>
                </a:cubicBezTo>
                <a:lnTo>
                  <a:pt x="190500" y="9636"/>
                </a:lnTo>
                <a:cubicBezTo>
                  <a:pt x="190500" y="6028"/>
                  <a:pt x="188342" y="2753"/>
                  <a:pt x="184993" y="1378"/>
                </a:cubicBezTo>
                <a:cubicBezTo>
                  <a:pt x="181646" y="0"/>
                  <a:pt x="177811" y="781"/>
                  <a:pt x="175245" y="3310"/>
                </a:cubicBezTo>
                <a:lnTo>
                  <a:pt x="156009" y="22585"/>
                </a:lnTo>
                <a:cubicBezTo>
                  <a:pt x="139526" y="8930"/>
                  <a:pt x="118318" y="707"/>
                  <a:pt x="95250" y="707"/>
                </a:cubicBezTo>
                <a:cubicBezTo>
                  <a:pt x="47253" y="707"/>
                  <a:pt x="7553" y="36204"/>
                  <a:pt x="966" y="82376"/>
                </a:cubicBezTo>
                <a:cubicBezTo>
                  <a:pt x="37" y="88888"/>
                  <a:pt x="4539" y="94916"/>
                  <a:pt x="11050" y="95845"/>
                </a:cubicBezTo>
                <a:cubicBezTo>
                  <a:pt x="17562" y="96776"/>
                  <a:pt x="23589" y="92236"/>
                  <a:pt x="24519" y="85761"/>
                </a:cubicBezTo>
                <a:cubicBezTo>
                  <a:pt x="29468" y="51123"/>
                  <a:pt x="59271" y="24520"/>
                  <a:pt x="95250" y="24520"/>
                </a:cubicBezTo>
                <a:cubicBezTo>
                  <a:pt x="111770" y="24520"/>
                  <a:pt x="126950" y="30101"/>
                  <a:pt x="139043" y="39514"/>
                </a:cubicBezTo>
                <a:lnTo>
                  <a:pt x="121667" y="56891"/>
                </a:lnTo>
                <a:cubicBezTo>
                  <a:pt x="119101" y="59457"/>
                  <a:pt x="118356" y="63289"/>
                  <a:pt x="119732" y="66638"/>
                </a:cubicBezTo>
                <a:cubicBezTo>
                  <a:pt x="121108" y="69986"/>
                  <a:pt x="124383" y="72144"/>
                  <a:pt x="127992" y="72144"/>
                </a:cubicBezTo>
                <a:lnTo>
                  <a:pt x="178631" y="72144"/>
                </a:lnTo>
                <a:close/>
                <a:moveTo>
                  <a:pt x="189570" y="109538"/>
                </a:moveTo>
                <a:cubicBezTo>
                  <a:pt x="190500" y="103026"/>
                  <a:pt x="185961" y="96998"/>
                  <a:pt x="179487" y="96069"/>
                </a:cubicBezTo>
                <a:cubicBezTo>
                  <a:pt x="173013" y="95138"/>
                  <a:pt x="166948" y="99678"/>
                  <a:pt x="166018" y="106153"/>
                </a:cubicBezTo>
                <a:cubicBezTo>
                  <a:pt x="161069" y="140754"/>
                  <a:pt x="131266" y="167356"/>
                  <a:pt x="95287" y="167356"/>
                </a:cubicBezTo>
                <a:cubicBezTo>
                  <a:pt x="78767" y="167356"/>
                  <a:pt x="63588" y="161776"/>
                  <a:pt x="51495" y="152363"/>
                </a:cubicBezTo>
                <a:lnTo>
                  <a:pt x="68833" y="135023"/>
                </a:lnTo>
                <a:cubicBezTo>
                  <a:pt x="71399" y="132457"/>
                  <a:pt x="72144" y="128625"/>
                  <a:pt x="70768" y="125276"/>
                </a:cubicBezTo>
                <a:cubicBezTo>
                  <a:pt x="69392" y="121929"/>
                  <a:pt x="66117" y="119770"/>
                  <a:pt x="62508" y="119770"/>
                </a:cubicBezTo>
                <a:lnTo>
                  <a:pt x="8929" y="119770"/>
                </a:lnTo>
                <a:cubicBezTo>
                  <a:pt x="3981" y="119770"/>
                  <a:pt x="0" y="123751"/>
                  <a:pt x="0" y="128699"/>
                </a:cubicBezTo>
                <a:lnTo>
                  <a:pt x="0" y="182278"/>
                </a:lnTo>
                <a:cubicBezTo>
                  <a:pt x="0" y="185886"/>
                  <a:pt x="2158" y="189161"/>
                  <a:pt x="5507" y="190536"/>
                </a:cubicBezTo>
                <a:cubicBezTo>
                  <a:pt x="8854" y="191914"/>
                  <a:pt x="12689" y="191133"/>
                  <a:pt x="15255" y="188604"/>
                </a:cubicBezTo>
                <a:lnTo>
                  <a:pt x="34527" y="169329"/>
                </a:lnTo>
                <a:cubicBezTo>
                  <a:pt x="50974" y="182984"/>
                  <a:pt x="72182" y="191207"/>
                  <a:pt x="95250" y="191207"/>
                </a:cubicBezTo>
                <a:cubicBezTo>
                  <a:pt x="143247" y="191207"/>
                  <a:pt x="182947" y="155710"/>
                  <a:pt x="189534" y="10953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04804" y="5105167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Loop Characteristics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28484" y="5524258"/>
            <a:ext cx="5391055" cy="533400"/>
          </a:xfrm>
          <a:custGeom>
            <a:avLst/>
            <a:gdLst/>
            <a:ahLst/>
            <a:cxnLst/>
            <a:rect l="l" t="t" r="r" b="b"/>
            <a:pathLst>
              <a:path w="5391055" h="533400">
                <a:moveTo>
                  <a:pt x="37910" y="0"/>
                </a:moveTo>
                <a:lnTo>
                  <a:pt x="5352953" y="0"/>
                </a:lnTo>
                <a:cubicBezTo>
                  <a:pt x="5373997" y="0"/>
                  <a:pt x="5391055" y="17057"/>
                  <a:pt x="5391055" y="38101"/>
                </a:cubicBezTo>
                <a:lnTo>
                  <a:pt x="5391055" y="495299"/>
                </a:lnTo>
                <a:cubicBezTo>
                  <a:pt x="5391055" y="516343"/>
                  <a:pt x="5373997" y="533400"/>
                  <a:pt x="5352953" y="533400"/>
                </a:cubicBez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628484" y="5524258"/>
            <a:ext cx="37909" cy="533400"/>
          </a:xfrm>
          <a:custGeom>
            <a:avLst/>
            <a:gdLst/>
            <a:ahLst/>
            <a:cxnLst/>
            <a:rect l="l" t="t" r="r" b="b"/>
            <a:pathLst>
              <a:path w="37909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99822" y="5676640"/>
            <a:ext cx="5143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Step size is BLOCK_K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6191102" y="5524258"/>
            <a:ext cx="5391055" cy="533400"/>
          </a:xfrm>
          <a:custGeom>
            <a:avLst/>
            <a:gdLst/>
            <a:ahLst/>
            <a:cxnLst/>
            <a:rect l="l" t="t" r="r" b="b"/>
            <a:pathLst>
              <a:path w="5391055" h="533400">
                <a:moveTo>
                  <a:pt x="37910" y="0"/>
                </a:moveTo>
                <a:lnTo>
                  <a:pt x="5352953" y="0"/>
                </a:lnTo>
                <a:cubicBezTo>
                  <a:pt x="5373997" y="0"/>
                  <a:pt x="5391055" y="17057"/>
                  <a:pt x="5391055" y="38101"/>
                </a:cubicBezTo>
                <a:lnTo>
                  <a:pt x="5391055" y="495299"/>
                </a:lnTo>
                <a:cubicBezTo>
                  <a:pt x="5391055" y="516343"/>
                  <a:pt x="5373997" y="533400"/>
                  <a:pt x="5352953" y="533400"/>
                </a:cubicBez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6191102" y="5524258"/>
            <a:ext cx="37910" cy="533400"/>
          </a:xfrm>
          <a:custGeom>
            <a:avLst/>
            <a:gdLst/>
            <a:ahLst/>
            <a:cxnLst/>
            <a:rect l="l" t="t" r="r" b="b"/>
            <a:pathLst>
              <a:path w="37910" h="53340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62440" y="5676640"/>
            <a:ext cx="5143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Covers the entire K dimension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59035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Local Accumulation (Accumulator)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257114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48568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Use an accumulator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1904777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28484" y="1904777"/>
            <a:ext cx="37909" cy="609600"/>
          </a:xfrm>
          <a:custGeom>
            <a:avLst/>
            <a:gdLst/>
            <a:ahLst/>
            <a:cxnLst/>
            <a:rect l="l" t="t" r="r" b="b"/>
            <a:pathLst>
              <a:path w="37909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529" y="1904777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 = tl.zeros((BLOCK_M, BLOCK_N))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971372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529" y="3199944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Update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28484" y="3619035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628484" y="3619035"/>
            <a:ext cx="37909" cy="609600"/>
          </a:xfrm>
          <a:custGeom>
            <a:avLst/>
            <a:gdLst/>
            <a:ahLst/>
            <a:cxnLst/>
            <a:rect l="l" t="t" r="r" b="b"/>
            <a:pathLst>
              <a:path w="37909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529" y="3619035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 += tl.dot(a, b)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4685640"/>
            <a:ext cx="11430000" cy="1905000"/>
          </a:xfrm>
          <a:custGeom>
            <a:avLst/>
            <a:gdLst/>
            <a:ahLst/>
            <a:cxnLst/>
            <a:rect l="l" t="t" r="r" b="b"/>
            <a:pathLst>
              <a:path w="11430000" h="1905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04804" y="4914212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Advantages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09529" y="5333302"/>
            <a:ext cx="10972800" cy="1028700"/>
          </a:xfrm>
          <a:custGeom>
            <a:avLst/>
            <a:gdLst/>
            <a:ahLst/>
            <a:cxnLst/>
            <a:rect l="l" t="t" r="r" b="b"/>
            <a:pathLst>
              <a:path w="10972800" h="10287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2820" y="5523737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Avoids frequent writes to Global Memory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57107" y="5904626"/>
            <a:ext cx="10677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Reduces memory access count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3813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 Back to Global Memory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90845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61941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After computation completes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09529" y="2038508"/>
            <a:ext cx="10972800" cy="685800"/>
          </a:xfrm>
          <a:custGeom>
            <a:avLst/>
            <a:gdLst/>
            <a:ahLst/>
            <a:cxnLst/>
            <a:rect l="l" t="t" r="r" b="b"/>
            <a:pathLst>
              <a:path w="10972800" h="685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42820" y="2228943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 back results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3181220"/>
            <a:ext cx="11430000" cy="1485900"/>
          </a:xfrm>
          <a:custGeom>
            <a:avLst/>
            <a:gdLst/>
            <a:ahLst/>
            <a:cxnLst/>
            <a:rect l="l" t="t" r="r" b="b"/>
            <a:pathLst>
              <a:path w="11430000" h="14859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9529" y="3409792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28484" y="3828883"/>
            <a:ext cx="10953655" cy="609600"/>
          </a:xfrm>
          <a:custGeom>
            <a:avLst/>
            <a:gdLst/>
            <a:ahLst/>
            <a:cxnLst/>
            <a:rect l="l" t="t" r="r" b="b"/>
            <a:pathLst>
              <a:path w="10953655" h="609600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628484" y="3828883"/>
            <a:ext cx="37909" cy="609600"/>
          </a:xfrm>
          <a:custGeom>
            <a:avLst/>
            <a:gdLst/>
            <a:ahLst/>
            <a:cxnLst/>
            <a:rect l="l" t="t" r="r" b="b"/>
            <a:pathLst>
              <a:path w="37909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09529" y="3828883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90500" tIns="190500" rIns="190500" bIns="19050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tl.store(C_ptr, acc)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80956" y="4895487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4804" y="5124059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Characteristics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09529" y="5543150"/>
            <a:ext cx="5410200" cy="571500"/>
          </a:xfrm>
          <a:custGeom>
            <a:avLst/>
            <a:gdLst/>
            <a:ahLst/>
            <a:cxnLst/>
            <a:rect l="l" t="t" r="r" b="b"/>
            <a:pathLst>
              <a:path w="5410200" h="571500">
                <a:moveTo>
                  <a:pt x="38103" y="0"/>
                </a:moveTo>
                <a:lnTo>
                  <a:pt x="5372097" y="0"/>
                </a:lnTo>
                <a:cubicBezTo>
                  <a:pt x="5393141" y="0"/>
                  <a:pt x="5410200" y="17059"/>
                  <a:pt x="5410200" y="38103"/>
                </a:cubicBezTo>
                <a:lnTo>
                  <a:pt x="5410200" y="533397"/>
                </a:lnTo>
                <a:cubicBezTo>
                  <a:pt x="5410200" y="554441"/>
                  <a:pt x="5393141" y="571500"/>
                  <a:pt x="53720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4286" y="569553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Written only once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6172147" y="5543150"/>
            <a:ext cx="5410200" cy="571500"/>
          </a:xfrm>
          <a:custGeom>
            <a:avLst/>
            <a:gdLst/>
            <a:ahLst/>
            <a:cxnLst/>
            <a:rect l="l" t="t" r="r" b="b"/>
            <a:pathLst>
              <a:path w="5410200" h="571500">
                <a:moveTo>
                  <a:pt x="38103" y="0"/>
                </a:moveTo>
                <a:lnTo>
                  <a:pt x="5372097" y="0"/>
                </a:lnTo>
                <a:cubicBezTo>
                  <a:pt x="5393141" y="0"/>
                  <a:pt x="5410200" y="17059"/>
                  <a:pt x="5410200" y="38103"/>
                </a:cubicBezTo>
                <a:lnTo>
                  <a:pt x="5410200" y="533397"/>
                </a:lnTo>
                <a:cubicBezTo>
                  <a:pt x="5410200" y="554441"/>
                  <a:pt x="5393141" y="571500"/>
                  <a:pt x="53720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76904" y="569553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Reduces memory accesses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141" y="61926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Memory Limits and Streaming Computation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657471"/>
            <a:ext cx="5562600" cy="2438400"/>
          </a:xfrm>
          <a:custGeom>
            <a:avLst/>
            <a:gdLst/>
            <a:ahLst/>
            <a:cxnLst/>
            <a:rect l="l" t="t" r="r" b="b"/>
            <a:pathLst>
              <a:path w="5562600" h="24384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2362200"/>
                </a:lnTo>
                <a:cubicBezTo>
                  <a:pt x="5562600" y="2404256"/>
                  <a:pt x="5528456" y="2438400"/>
                  <a:pt x="5486400" y="2438400"/>
                </a:cubicBezTo>
                <a:lnTo>
                  <a:pt x="76200" y="2438400"/>
                </a:lnTo>
                <a:cubicBezTo>
                  <a:pt x="34144" y="2438400"/>
                  <a:pt x="0" y="2404256"/>
                  <a:pt x="0" y="2362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895480"/>
            <a:ext cx="4905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2305134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628484" y="2305134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99822" y="2457515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Large matrices cannot be fully loaded at once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09529" y="2990859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838197"/>
                </a:lnTo>
                <a:cubicBezTo>
                  <a:pt x="5105400" y="859241"/>
                  <a:pt x="5088341" y="876300"/>
                  <a:pt x="5067297" y="876300"/>
                </a:cubicBezTo>
                <a:lnTo>
                  <a:pt x="38103" y="876300"/>
                </a:lnTo>
                <a:cubicBezTo>
                  <a:pt x="17059" y="876300"/>
                  <a:pt x="0" y="859241"/>
                  <a:pt x="0" y="8381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1911" y="3143241"/>
            <a:ext cx="4876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Example: 4096 × 4096 matrix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1911" y="3448003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Requires 64MB+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4286101"/>
            <a:ext cx="5562600" cy="1485900"/>
          </a:xfrm>
          <a:custGeom>
            <a:avLst/>
            <a:gdLst/>
            <a:ahLst/>
            <a:cxnLst/>
            <a:rect l="l" t="t" r="r" b="b"/>
            <a:pathLst>
              <a:path w="5562600" h="14859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409703"/>
                </a:lnTo>
                <a:cubicBezTo>
                  <a:pt x="5562600" y="1451785"/>
                  <a:pt x="5528485" y="1485900"/>
                  <a:pt x="54864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529" y="4514673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Solution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09529" y="4933764"/>
            <a:ext cx="5105400" cy="609600"/>
          </a:xfrm>
          <a:custGeom>
            <a:avLst/>
            <a:gdLst/>
            <a:ahLst/>
            <a:cxnLst/>
            <a:rect l="l" t="t" r="r" b="b"/>
            <a:pathLst>
              <a:path w="5105400" h="609600">
                <a:moveTo>
                  <a:pt x="38100" y="0"/>
                </a:moveTo>
                <a:lnTo>
                  <a:pt x="5067300" y="0"/>
                </a:lnTo>
                <a:cubicBezTo>
                  <a:pt x="5088327" y="0"/>
                  <a:pt x="5105400" y="17073"/>
                  <a:pt x="5105400" y="38100"/>
                </a:cubicBezTo>
                <a:lnTo>
                  <a:pt x="5105400" y="571500"/>
                </a:lnTo>
                <a:cubicBezTo>
                  <a:pt x="5105400" y="592527"/>
                  <a:pt x="5088327" y="609600"/>
                  <a:pt x="5067300" y="609600"/>
                </a:cubicBezTo>
                <a:lnTo>
                  <a:pt x="38100" y="609600"/>
                </a:lnTo>
                <a:cubicBezTo>
                  <a:pt x="17073" y="609600"/>
                  <a:pt x="0" y="592527"/>
                  <a:pt x="0" y="5715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04761" y="5086145"/>
            <a:ext cx="4914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Chunk</a:t>
            </a: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</a:t>
            </a:r>
            <a:r>
              <a:rPr lang="en-US" sz="18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processing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48338" y="1886043"/>
            <a:ext cx="5562600" cy="2819400"/>
          </a:xfrm>
          <a:custGeom>
            <a:avLst/>
            <a:gdLst/>
            <a:ahLst/>
            <a:cxnLst/>
            <a:rect l="l" t="t" r="r" b="b"/>
            <a:pathLst>
              <a:path w="5562600" h="28194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2743192"/>
                </a:lnTo>
                <a:cubicBezTo>
                  <a:pt x="5562600" y="2785280"/>
                  <a:pt x="5528480" y="2819400"/>
                  <a:pt x="548639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6500724" y="2166864"/>
            <a:ext cx="190500" cy="142875"/>
          </a:xfrm>
          <a:custGeom>
            <a:avLst/>
            <a:gdLst/>
            <a:ahLst/>
            <a:cxnLst/>
            <a:rect l="l" t="t" r="r" b="b"/>
            <a:pathLst>
              <a:path w="190500" h="142875">
                <a:moveTo>
                  <a:pt x="0" y="11906"/>
                </a:moveTo>
                <a:cubicBezTo>
                  <a:pt x="0" y="5320"/>
                  <a:pt x="5321" y="0"/>
                  <a:pt x="11906" y="0"/>
                </a:cubicBezTo>
                <a:lnTo>
                  <a:pt x="154781" y="0"/>
                </a:lnTo>
                <a:cubicBezTo>
                  <a:pt x="161367" y="0"/>
                  <a:pt x="166687" y="5320"/>
                  <a:pt x="166687" y="11906"/>
                </a:cubicBezTo>
                <a:cubicBezTo>
                  <a:pt x="166687" y="18491"/>
                  <a:pt x="161367" y="23812"/>
                  <a:pt x="154781" y="23812"/>
                </a:cubicBezTo>
                <a:lnTo>
                  <a:pt x="11906" y="23812"/>
                </a:lnTo>
                <a:cubicBezTo>
                  <a:pt x="5321" y="23812"/>
                  <a:pt x="0" y="18491"/>
                  <a:pt x="0" y="11906"/>
                </a:cubicBezTo>
                <a:close/>
                <a:moveTo>
                  <a:pt x="23812" y="71437"/>
                </a:moveTo>
                <a:cubicBezTo>
                  <a:pt x="23812" y="64851"/>
                  <a:pt x="29133" y="59531"/>
                  <a:pt x="35719" y="59531"/>
                </a:cubicBezTo>
                <a:lnTo>
                  <a:pt x="178594" y="59531"/>
                </a:lnTo>
                <a:cubicBezTo>
                  <a:pt x="185179" y="59531"/>
                  <a:pt x="190500" y="64851"/>
                  <a:pt x="190500" y="71437"/>
                </a:cubicBezTo>
                <a:cubicBezTo>
                  <a:pt x="190500" y="78023"/>
                  <a:pt x="185179" y="83343"/>
                  <a:pt x="178594" y="83343"/>
                </a:cubicBezTo>
                <a:lnTo>
                  <a:pt x="35719" y="83343"/>
                </a:lnTo>
                <a:cubicBezTo>
                  <a:pt x="29133" y="83343"/>
                  <a:pt x="23812" y="78023"/>
                  <a:pt x="23812" y="71437"/>
                </a:cubicBezTo>
                <a:close/>
                <a:moveTo>
                  <a:pt x="166687" y="130968"/>
                </a:moveTo>
                <a:cubicBezTo>
                  <a:pt x="166687" y="137554"/>
                  <a:pt x="161367" y="142874"/>
                  <a:pt x="154781" y="142874"/>
                </a:cubicBezTo>
                <a:lnTo>
                  <a:pt x="11906" y="142874"/>
                </a:lnTo>
                <a:cubicBezTo>
                  <a:pt x="5321" y="142874"/>
                  <a:pt x="0" y="137554"/>
                  <a:pt x="0" y="130968"/>
                </a:cubicBezTo>
                <a:cubicBezTo>
                  <a:pt x="0" y="124383"/>
                  <a:pt x="5321" y="119062"/>
                  <a:pt x="11906" y="119062"/>
                </a:cubicBezTo>
                <a:lnTo>
                  <a:pt x="154781" y="119062"/>
                </a:lnTo>
                <a:cubicBezTo>
                  <a:pt x="161367" y="119062"/>
                  <a:pt x="166687" y="124383"/>
                  <a:pt x="166687" y="13096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772186" y="2114624"/>
            <a:ext cx="4905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Streaming Computation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495866" y="2533706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6495866" y="2533706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67204" y="2686087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block by block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495866" y="3219431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6495866" y="3219431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67204" y="3371813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block by block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6495866" y="3905148"/>
            <a:ext cx="5086255" cy="571500"/>
          </a:xfrm>
          <a:custGeom>
            <a:avLst/>
            <a:gdLst/>
            <a:ahLst/>
            <a:cxnLst/>
            <a:rect l="l" t="t" r="r" b="b"/>
            <a:pathLst>
              <a:path w="5086255" h="571500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6495866" y="3905148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67204" y="4057529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 back block by block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248338" y="4895636"/>
            <a:ext cx="5562600" cy="647700"/>
          </a:xfrm>
          <a:custGeom>
            <a:avLst/>
            <a:gdLst/>
            <a:ahLst/>
            <a:cxnLst/>
            <a:rect l="l" t="t" r="r" b="b"/>
            <a:pathLst>
              <a:path w="5562600" h="6477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571497"/>
                </a:lnTo>
                <a:cubicBezTo>
                  <a:pt x="5562600" y="613583"/>
                  <a:pt x="5528483" y="647700"/>
                  <a:pt x="54863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95916" y="5086071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Known as: Streaming computation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80956" y="6324609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9391" y="58096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MatMul Kernel Example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352485"/>
            <a:ext cx="11267980" cy="4953000"/>
          </a:xfrm>
          <a:custGeom>
            <a:avLst/>
            <a:gdLst/>
            <a:ahLst/>
            <a:cxnLst/>
            <a:rect l="l" t="t" r="r" b="b"/>
            <a:pathLst>
              <a:path w="11267980" h="4953000">
                <a:moveTo>
                  <a:pt x="37909" y="0"/>
                </a:moveTo>
                <a:lnTo>
                  <a:pt x="11229892" y="0"/>
                </a:lnTo>
                <a:cubicBezTo>
                  <a:pt x="11250927" y="0"/>
                  <a:pt x="11267980" y="17054"/>
                  <a:pt x="11267980" y="38089"/>
                </a:cubicBezTo>
                <a:lnTo>
                  <a:pt x="11267980" y="4914911"/>
                </a:lnTo>
                <a:cubicBezTo>
                  <a:pt x="11267980" y="4935946"/>
                  <a:pt x="11250927" y="4953000"/>
                  <a:pt x="11229892" y="4953000"/>
                </a:cubicBez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99911" y="1352485"/>
            <a:ext cx="37909" cy="4953000"/>
          </a:xfrm>
          <a:custGeom>
            <a:avLst/>
            <a:gdLst/>
            <a:ahLst/>
            <a:cxnLst/>
            <a:rect l="l" t="t" r="r" b="b"/>
            <a:pathLst>
              <a:path w="37909" h="4953000">
                <a:moveTo>
                  <a:pt x="37909" y="0"/>
                </a:moveTo>
                <a:lnTo>
                  <a:pt x="37909" y="0"/>
                </a:lnTo>
                <a:lnTo>
                  <a:pt x="37909" y="4953000"/>
                </a:ln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0956" y="1352485"/>
            <a:ext cx="11325225" cy="495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52400" tIns="152400" rIns="152400" bIns="15240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@triton.jit</a:t>
            </a:r>
            <a:endParaRPr lang="en-US" sz="1100"/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def matmul_kernel(A, B, C,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M, N, K,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BLOCK_M: tl.constexpr,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BLOCK_N: tl.constexpr,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BLOCK_K: tl.constexpr):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pid_m = tl.program_id(0)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pid_n = tl.program_id(1)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 = tl.zeros((BLOCK_M, BLOCK_N))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for k in range(0, K, BLOCK_K):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 = tl.load(...)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 = tl.load(...)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 += tl.dot(a, b)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tl.store(C, acc)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5528" y="62855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Section Summary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437821" y="1466663"/>
            <a:ext cx="11410855" cy="3695105"/>
            <a:chOff x="437821" y="1466663"/>
            <a:chExt cx="11410855" cy="3695105"/>
          </a:xfrm>
        </p:grpSpPr>
        <p:sp>
          <p:nvSpPr>
            <p:cNvPr id="4" name="Freeform 4"/>
            <p:cNvSpPr/>
            <p:nvPr/>
          </p:nvSpPr>
          <p:spPr>
            <a:xfrm>
              <a:off x="437821" y="1466663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437821" y="1466663"/>
              <a:ext cx="37909" cy="1104900"/>
            </a:xfrm>
            <a:custGeom>
              <a:avLst/>
              <a:gdLst/>
              <a:ahLst/>
              <a:cxnLst/>
              <a:rect l="l" t="t" r="r" b="b"/>
              <a:pathLst>
                <a:path w="37909" h="110490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647217" y="165710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604354" y="1657107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142422" y="1714192"/>
              <a:ext cx="2947996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Why Naive MatMul is Slow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142496" y="2152314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Repeated Global Memory reads, memory bandwidth bottleneck</a:t>
              </a:r>
              <a:endParaRPr lang="en-US" sz="11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48041" y="1466663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48041" y="1466663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457437" y="165710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414575" y="1657107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952642" y="1714192"/>
              <a:ext cx="2571847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Tiling Principle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952716" y="2152314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Data reuse, block-based computation, reduced memory access</a:t>
              </a:r>
              <a:endParaRPr lang="en-US" sz="11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37821" y="2761766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437821" y="2761766"/>
              <a:ext cx="37909" cy="1104900"/>
            </a:xfrm>
            <a:custGeom>
              <a:avLst/>
              <a:gdLst/>
              <a:ahLst/>
              <a:cxnLst/>
              <a:rect l="l" t="t" r="r" b="b"/>
              <a:pathLst>
                <a:path w="37909" h="110490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7217" y="295221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04354" y="2952210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142422" y="3009295"/>
              <a:ext cx="299999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Arithmetic Intensity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142496" y="3447417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Compute-to-memory ratio, key performance metric</a:t>
              </a:r>
              <a:endParaRPr lang="en-US" sz="11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248041" y="2761766"/>
              <a:ext cx="5600605" cy="1104900"/>
            </a:xfrm>
            <a:custGeom>
              <a:avLst/>
              <a:gdLst/>
              <a:ahLst/>
              <a:cxnLst/>
              <a:rect l="l" t="t" r="r" b="b"/>
              <a:pathLst>
                <a:path w="5600605" h="1104900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248041" y="2761766"/>
              <a:ext cx="37910" cy="1104900"/>
            </a:xfrm>
            <a:custGeom>
              <a:avLst/>
              <a:gdLst/>
              <a:ahLst/>
              <a:cxnLst/>
              <a:rect l="l" t="t" r="r" b="b"/>
              <a:pathLst>
                <a:path w="37910" h="110490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457437" y="295221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414575" y="2952210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4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952642" y="3009295"/>
              <a:ext cx="293392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Roofline Model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6952716" y="3447417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Performance ceiling analysis model</a:t>
              </a:r>
              <a:endParaRPr lang="en-US" sz="1100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37821" y="4056868"/>
              <a:ext cx="11410855" cy="1104900"/>
            </a:xfrm>
            <a:custGeom>
              <a:avLst/>
              <a:gdLst/>
              <a:ahLst/>
              <a:cxnLst/>
              <a:rect l="l" t="t" r="r" b="b"/>
              <a:pathLst>
                <a:path w="11410855" h="1104900">
                  <a:moveTo>
                    <a:pt x="37910" y="0"/>
                  </a:moveTo>
                  <a:lnTo>
                    <a:pt x="11334650" y="0"/>
                  </a:lnTo>
                  <a:cubicBezTo>
                    <a:pt x="11376737" y="0"/>
                    <a:pt x="11410855" y="34119"/>
                    <a:pt x="11410855" y="76205"/>
                  </a:cubicBezTo>
                  <a:lnTo>
                    <a:pt x="11410855" y="1028695"/>
                  </a:lnTo>
                  <a:cubicBezTo>
                    <a:pt x="11410855" y="1070781"/>
                    <a:pt x="11376737" y="1104900"/>
                    <a:pt x="11334650" y="1104900"/>
                  </a:cubicBezTo>
                  <a:lnTo>
                    <a:pt x="37910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37821" y="4056868"/>
              <a:ext cx="37909" cy="1104900"/>
            </a:xfrm>
            <a:custGeom>
              <a:avLst/>
              <a:gdLst/>
              <a:ahLst/>
              <a:cxnLst/>
              <a:rect l="l" t="t" r="r" b="b"/>
              <a:pathLst>
                <a:path w="37909" h="110490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47217" y="42473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04354" y="4247312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5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1142422" y="4304397"/>
              <a:ext cx="340503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 Tiled MatMul Implementation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142496" y="4742510"/>
              <a:ext cx="10591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Block-based programming, program_id, accumulator, Streaming</a:t>
              </a:r>
              <a:endParaRPr lang="en-US" sz="1100"/>
            </a:p>
          </p:txBody>
        </p:sp>
      </p:grp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4952</Words>
  <Application>WPS 演示</Application>
  <PresentationFormat>宽屏</PresentationFormat>
  <Paragraphs>526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MiSans</vt:lpstr>
      <vt:lpstr>Arial Unicode MS</vt:lpstr>
      <vt:lpstr>BatangChe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53</cp:revision>
  <dcterms:created xsi:type="dcterms:W3CDTF">2026-04-14T06:08:00Z</dcterms:created>
  <dcterms:modified xsi:type="dcterms:W3CDTF">2026-05-27T11:18:13Z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