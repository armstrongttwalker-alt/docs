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23"/>
  </p:notesMasterIdLst>
  <p:handoutMasterIdLst>
    <p:handoutMasterId r:id="rId24"/>
  </p:handoutMasterIdLst>
  <p:sldIdLst>
    <p:sldId id="256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22" r:id="rId20"/>
    <p:sldId id="323" r:id="rId21"/>
    <p:sldId id="324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模块二：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Flash Attention I - IO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感知与分块计算核心目标： 解释“空间换时间”的哲学，重点在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Tiling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技术。封面： 速度之源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——IO Aware</a:t>
            </a:r>
            <a:r>
              <a:rPr lang="en-US" sz="1200" b="0" i="0" u="none" strike="noStrike">
                <a:solidFill>
                  <a:srgbClr val="000000"/>
                </a:solidFill>
              </a:rPr>
              <a:t>（访存感知）的设计哲学。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存储层级科普：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HBM</a:t>
            </a:r>
            <a:r>
              <a:rPr lang="en-US" sz="1200" b="0" i="0" u="none" strike="noStrike">
                <a:solidFill>
                  <a:srgbClr val="000000"/>
                </a:solidFill>
              </a:rPr>
              <a:t>（显存）与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SRAM</a:t>
            </a:r>
            <a:r>
              <a:rPr lang="en-US" sz="1200" b="0" i="0" u="none" strike="noStrike">
                <a:solidFill>
                  <a:srgbClr val="000000"/>
                </a:solidFill>
              </a:rPr>
              <a:t>（高速缓存）的速度差（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10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倍级差距）。问题的根源： 标准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Attention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HBM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上的往返跑（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Intermediate Matrices</a:t>
            </a:r>
            <a:r>
              <a:rPr lang="en-US" sz="1200" b="0" i="0" u="none" strike="noStrike">
                <a:solidFill>
                  <a:srgbClr val="000000"/>
                </a:solidFill>
              </a:rPr>
              <a:t>）。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Flash Attention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核心思想： 不求快，但求“少动”。分块（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Tiling</a:t>
            </a:r>
            <a:r>
              <a:rPr lang="en-US" sz="1200" b="0" i="0" u="none" strike="noStrike">
                <a:solidFill>
                  <a:srgbClr val="000000"/>
                </a:solidFill>
              </a:rPr>
              <a:t>）概念：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把大矩阵切成能塞进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SRAM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的小方块。动态演示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en-US" sz="1200" b="0" i="0" u="none" strike="noStrike">
                <a:solidFill>
                  <a:srgbClr val="000000"/>
                </a:solidFill>
              </a:rPr>
              <a:t>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Q</a:t>
            </a:r>
            <a:r>
              <a:rPr lang="en-US" sz="1200" b="0" i="0" u="none" strike="noStrike">
                <a:solidFill>
                  <a:srgbClr val="000000"/>
                </a:solidFill>
              </a:rPr>
              <a:t>、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</a:t>
            </a:r>
            <a:r>
              <a:rPr lang="en-US" sz="1200" b="0" i="0" u="none" strike="noStrike">
                <a:solidFill>
                  <a:srgbClr val="000000"/>
                </a:solidFill>
              </a:rPr>
              <a:t>、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的分块加载过程。内存访问对比图： 传统方式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vs. Flash Attention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的访存次数定量分析。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 Fusion</a:t>
            </a:r>
            <a:r>
              <a:rPr lang="en-US" sz="1200" b="0" i="0" u="none" strike="noStrike">
                <a:solidFill>
                  <a:srgbClr val="000000"/>
                </a:solidFill>
              </a:rPr>
              <a:t>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解释如何将多个算子合并成一个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CUDA Kernel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SRAM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的调度艺术： 如何管理有限的缓存空间。前向传播的实现： 如何在不存储完整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$QK^T$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的情况下计算结果。性能基准： 展示在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A100/H100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上的吞吐量提升。总结：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IO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感知是现代深度学习算子优化的基石。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1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分块技术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(Tiling)</a:t>
            </a:r>
            <a:r>
              <a:rPr lang="en-US" sz="1200" b="1" i="0" u="none" strike="noStrike">
                <a:solidFill>
                  <a:srgbClr val="000000"/>
                </a:solidFill>
              </a:rPr>
              <a:t>：化整为零的艺术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为什么要分块？ 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SRAM</a:t>
            </a:r>
            <a:r>
              <a:rPr lang="en-US" sz="1200" b="0" i="0" u="none" strike="noStrike">
                <a:solidFill>
                  <a:srgbClr val="000000"/>
                </a:solidFill>
              </a:rPr>
              <a:t>（如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A100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L1/Shared Memory</a:t>
            </a:r>
            <a:r>
              <a:rPr lang="en-US" sz="1200" b="0" i="0" u="none" strike="noStrike">
                <a:solidFill>
                  <a:srgbClr val="000000"/>
                </a:solidFill>
              </a:rPr>
              <a:t>）虽然极快，但容量极小（通常只有几百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KB</a:t>
            </a:r>
            <a:r>
              <a:rPr lang="en-US" sz="1200" b="0" i="0" u="none" strike="noStrike">
                <a:solidFill>
                  <a:srgbClr val="000000"/>
                </a:solidFill>
              </a:rPr>
              <a:t>）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传统的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$N \times N$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矩阵（如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$N=4096$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时）远超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SRAM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容量，必须将其切成能塞进缓存的小块（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Tiles</a:t>
            </a:r>
            <a:r>
              <a:rPr lang="en-US" sz="1200" b="0" i="0" u="none" strike="noStrike">
                <a:solidFill>
                  <a:srgbClr val="000000"/>
                </a:solidFill>
              </a:rPr>
              <a:t>）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如何操作？ 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对输入矩阵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$Q, K, V$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进行纵向或横向切分 。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通过外层和内层循环，逐块将数据从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HBM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加载到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SRAM 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计算收益 ：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SRAM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内部完成局部点积和部分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累加，无需将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$N \times N$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的中间结果写回缓慢的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HBM 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基于观察，避免在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HBM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中读写注意力矩阵对于提升注意力机制的时钟速度至关重要。为了减少读写操作，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FA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通过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Tiling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分块执行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约简（因为读写完整的注意力矩阵非常耗费资源），通过重新计算避免存储用于反向传播的大型中间注意力矩阵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实现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tiling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方法的主要障碍是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</a:t>
            </a:r>
            <a:r>
              <a:rPr lang="en-US" sz="1200" b="0" i="0" u="none" strike="noStrike">
                <a:solidFill>
                  <a:srgbClr val="000000"/>
                </a:solidFill>
              </a:rPr>
              <a:t>。具体来说，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将所有得分列耦合在一起。以下是计算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第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个输出的方法。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z_i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是第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个得分（键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查询点积），输出是第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个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token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的概率，我们稍后会用它来加权值向量（再次强调，我假设你知道注意力机制）。看到分母了吗？这就是问题所在。要计算输入序列中第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个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token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对序列中其他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token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的关注程度，你需要在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SRAM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中准备好所有这些得分（这里用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z_j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表示）。但需要提醒的是：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SRAM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的容量非常有限。你无法加载所有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token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</a:t>
            </a:r>
            <a:r>
              <a:rPr lang="en-US" sz="1200" b="0" i="0" u="none" strike="noStrike">
                <a:solidFill>
                  <a:srgbClr val="000000"/>
                </a:solidFill>
              </a:rPr>
              <a:t>（序列长度）可以是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1000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个，甚至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100,000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个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token</a:t>
            </a:r>
            <a:r>
              <a:rPr lang="en-US" sz="1200" b="0" i="0" u="none" strike="noStrike">
                <a:solidFill>
                  <a:srgbClr val="000000"/>
                </a:solidFill>
              </a:rPr>
              <a:t>。因此，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N²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会迅速膨胀。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所以，诀窍就在这里：我们可以将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计算拆分成更小的块，最终仍然得到完全相同的结果。主要公式如下：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的部分计算（我们将迭代计算得到正确的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值）。我们可以只取前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个分数（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x_1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到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x_B</a:t>
            </a:r>
            <a:r>
              <a:rPr lang="en-US" sz="1200" b="0" i="0" u="none" strike="noStrike">
                <a:solidFill>
                  <a:srgbClr val="000000"/>
                </a:solidFill>
              </a:rPr>
              <a:t>），并计算它们的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值。这些数字至少目前是错误的。但请耐心等待，通过迭代，我们将“收敛”到正确的结果。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m(x)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的目的仅仅是为了避免数值不稳定性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步骤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en-US" sz="1200" b="0" i="0" u="none" strike="noStrike">
                <a:solidFill>
                  <a:srgbClr val="000000"/>
                </a:solidFill>
              </a:rPr>
              <a:t>：计算行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列块大小。为什么是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ceil(M/4d)</a:t>
            </a:r>
            <a:r>
              <a:rPr lang="en-US" sz="1200" b="0" i="0" u="none" strike="noStrike">
                <a:solidFill>
                  <a:srgbClr val="000000"/>
                </a:solidFill>
              </a:rPr>
              <a:t>？因为查询、键和值向量都是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d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维的，我们还需要将它们组合成输出的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维向量。因此，这个大小基本上允许我们用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</a:t>
            </a:r>
            <a:r>
              <a:rPr lang="en-US" sz="1200" b="0" i="0" u="none" strike="noStrike">
                <a:solidFill>
                  <a:srgbClr val="000000"/>
                </a:solidFill>
              </a:rPr>
              <a:t>、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</a:t>
            </a:r>
            <a:r>
              <a:rPr lang="en-US" sz="1200" b="0" i="0" u="none" strike="noStrike">
                <a:solidFill>
                  <a:srgbClr val="000000"/>
                </a:solidFill>
              </a:rPr>
              <a:t>、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向量最大化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SRAM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容量。至于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B_r</a:t>
            </a:r>
            <a:r>
              <a:rPr lang="en-US" sz="1200" b="0" i="0" u="none" strike="noStrike">
                <a:solidFill>
                  <a:srgbClr val="000000"/>
                </a:solidFill>
              </a:rPr>
              <a:t>，我不太清楚他们为什么要对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d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进行取最小值操作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We don't want B_r to be larger than d since we want B_c * B_r &lt;= M / 4 (we store a few matrices of size B_c * B_r on SRAM).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为了保证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块的行数不会超过其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头维度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d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太多，从而优化 </a:t>
            </a: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矩阵乘法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(MatMul)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的效率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步骤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r>
              <a:rPr lang="en-US" sz="1200" b="0" i="0" u="none" strike="noStrike">
                <a:solidFill>
                  <a:srgbClr val="000000"/>
                </a:solidFill>
              </a:rPr>
              <a:t>：我们将输出矩阵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O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初始化为全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r>
              <a:rPr lang="en-US" sz="1200" b="0" i="0" u="none" strike="noStrike">
                <a:solidFill>
                  <a:srgbClr val="000000"/>
                </a:solidFill>
              </a:rPr>
              <a:t>。它将充当累加器，因此该值为初始值。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</a:t>
            </a:r>
            <a:r>
              <a:rPr lang="en-US" sz="1200" b="0" i="0" u="none" strike="noStrike">
                <a:solidFill>
                  <a:srgbClr val="000000"/>
                </a:solidFill>
              </a:rPr>
              <a:t>（记住：它的目的是保存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softmax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的累积分母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——exp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分数之和）也初始化为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-inf</a:t>
            </a:r>
            <a:r>
              <a:rPr lang="en-US" sz="1200" b="0" i="0" u="none" strike="noStrike">
                <a:solidFill>
                  <a:srgbClr val="000000"/>
                </a:solidFill>
              </a:rPr>
              <a:t>，因为我们将对其进行最大值运算，所以无论第一个块的最大值是多少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——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它肯定大于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-inf——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因此这是自然的初始值。步骤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r>
            <a:r>
              <a:rPr lang="en-US" sz="1200" b="0" i="0" u="none" strike="noStrike">
                <a:solidFill>
                  <a:srgbClr val="000000"/>
                </a:solidFill>
              </a:rPr>
              <a:t>：我们使用步骤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1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中的块大小将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</a:t>
            </a:r>
            <a:r>
              <a:rPr lang="en-US" sz="1200" b="0" i="0" u="none" strike="noStrike">
                <a:solidFill>
                  <a:srgbClr val="000000"/>
                </a:solidFill>
              </a:rPr>
              <a:t>、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拆分成块。另见上图。步骤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</a:t>
            </a:r>
            <a:r>
              <a:rPr lang="en-US" sz="1200" b="0" i="0" u="none" strike="noStrike">
                <a:solidFill>
                  <a:srgbClr val="000000"/>
                </a:solidFill>
              </a:rPr>
              <a:t>：同样地，将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O</a:t>
            </a:r>
            <a:r>
              <a:rPr lang="en-US" sz="1200" b="0" i="0" u="none" strike="noStrike">
                <a:solidFill>
                  <a:srgbClr val="000000"/>
                </a:solidFill>
              </a:rPr>
              <a:t>、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</a:t>
            </a:r>
            <a:r>
              <a:rPr lang="en-US" sz="1200" b="0" i="0" u="none" strike="noStrike">
                <a:solidFill>
                  <a:srgbClr val="000000"/>
                </a:solidFill>
              </a:rPr>
              <a:t>、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拆分成块（块大小与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相同）。步骤 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</a:t>
            </a:r>
            <a:r>
              <a:rPr lang="en-US" sz="1200" b="0" i="0" u="none" strike="noStrike">
                <a:solidFill>
                  <a:srgbClr val="000000"/>
                </a:solidFill>
              </a:rPr>
              <a:t>：让我们开始跨列循环，即跨键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值向量循环（上图中的外层循环）。</a:t>
            </a:r>
            <a:b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</a:br>
            <a:r>
              <a:rPr 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步骤 </a:t>
            </a:r>
            <a:r>
              <a:rPr lang="en-US" sz="12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</a:t>
            </a:r>
            <a:r>
              <a:rPr lang="en-US" sz="1200" b="0" i="0" u="none" strike="noStrike">
                <a:solidFill>
                  <a:srgbClr val="3C404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让我们将 </a:t>
            </a:r>
            <a:r>
              <a:rPr lang="en-US" sz="1200" b="0" i="0" u="none" strike="noStrike">
                <a:solidFill>
                  <a:srgbClr val="3C40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K_j </a:t>
            </a:r>
            <a:r>
              <a:rPr lang="en-US" sz="1200" b="0" i="0" u="none" strike="noStrike">
                <a:solidFill>
                  <a:srgbClr val="3C404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 </a:t>
            </a:r>
            <a:r>
              <a:rPr lang="en-US" sz="1200" b="0" i="0" u="none" strike="noStrike">
                <a:solidFill>
                  <a:srgbClr val="3C40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V_j </a:t>
            </a:r>
            <a:r>
              <a:rPr lang="en-US" sz="1200" b="0" i="0" u="none" strike="noStrike">
                <a:solidFill>
                  <a:srgbClr val="3C404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块从 </a:t>
            </a:r>
            <a:r>
              <a:rPr lang="en-US" sz="1200" b="0" i="0" u="none" strike="noStrike">
                <a:solidFill>
                  <a:srgbClr val="3C40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HBM </a:t>
            </a:r>
            <a:r>
              <a:rPr lang="en-US" sz="1200" b="0" i="0" u="none" strike="noStrike">
                <a:solidFill>
                  <a:srgbClr val="3C404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加载到 </a:t>
            </a:r>
            <a:r>
              <a:rPr lang="en-US" sz="1200" b="0" i="0" u="none" strike="noStrike">
                <a:solidFill>
                  <a:srgbClr val="3C40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SRAM </a:t>
            </a:r>
            <a:r>
              <a:rPr lang="en-US" sz="1200" b="0" i="0" u="none" strike="noStrike">
                <a:solidFill>
                  <a:srgbClr val="3C404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中。记住，由于我们构建块大小的方式，目前仍有 </a:t>
            </a:r>
            <a:r>
              <a:rPr lang="en-US" sz="1200" b="0" i="0" u="none" strike="noStrike">
                <a:solidFill>
                  <a:srgbClr val="3C40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50% </a:t>
            </a:r>
            <a:r>
              <a:rPr lang="en-US" sz="1200" b="0" i="0" u="none" strike="noStrike">
                <a:solidFill>
                  <a:srgbClr val="3C404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 </a:t>
            </a:r>
            <a:r>
              <a:rPr lang="en-US" sz="1200" b="0" i="0" u="none" strike="noStrike">
                <a:solidFill>
                  <a:srgbClr val="3C40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SRAM </a:t>
            </a:r>
            <a:r>
              <a:rPr lang="en-US" sz="1200" b="0" i="0" u="none" strike="noStrike">
                <a:solidFill>
                  <a:srgbClr val="3C404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空间未被占用（专用于 </a:t>
            </a:r>
            <a:r>
              <a:rPr lang="en-US" sz="1200" b="0" i="0" u="none" strike="noStrike">
                <a:solidFill>
                  <a:srgbClr val="3C40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 </a:t>
            </a:r>
            <a:r>
              <a:rPr lang="en-US" sz="1200" b="0" i="0" u="none" strike="noStrike">
                <a:solidFill>
                  <a:srgbClr val="3C404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 </a:t>
            </a:r>
            <a:r>
              <a:rPr lang="en-US" sz="1200" b="0" i="0" u="none" strike="noStrike">
                <a:solidFill>
                  <a:srgbClr val="3C40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</a:t>
            </a:r>
            <a:r>
              <a:rPr lang="en-US" sz="1200" b="0" i="0" u="none" strike="noStrike">
                <a:solidFill>
                  <a:srgbClr val="3C4043"/>
                </a:solidFill>
              </a:rPr>
              <a:t>）。步骤</a:t>
            </a:r>
            <a:r>
              <a:rPr lang="en-US" sz="1200" b="0" i="0" u="none" strike="noStrike">
                <a:solidFill>
                  <a:srgbClr val="3C40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7</a:t>
            </a:r>
            <a:r>
              <a:rPr lang="en-US" sz="1200" b="0" i="0" u="none" strike="noStrike">
                <a:solidFill>
                  <a:srgbClr val="3C4043"/>
                </a:solidFill>
              </a:rPr>
              <a:t>：开始跨行（即跨查询向量）的内循环。步骤</a:t>
            </a:r>
            <a:r>
              <a:rPr lang="en-US" sz="1200" b="0" i="0" u="none" strike="noStrike">
                <a:solidFill>
                  <a:srgbClr val="3C40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8</a:t>
            </a:r>
            <a:r>
              <a:rPr lang="en-US" sz="1200" b="0" i="0" u="none" strike="noStrike">
                <a:solidFill>
                  <a:srgbClr val="3C4043"/>
                </a:solidFill>
              </a:rPr>
              <a:t>：将</a:t>
            </a:r>
            <a:r>
              <a:rPr lang="en-US" sz="1200" b="0" i="0" u="none" strike="noStrike">
                <a:solidFill>
                  <a:srgbClr val="3C40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Q_i (B_r x d) </a:t>
            </a:r>
            <a:r>
              <a:rPr lang="en-US" sz="1200" b="0" i="0" u="none" strike="noStrike">
                <a:solidFill>
                  <a:srgbClr val="3C404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 </a:t>
            </a:r>
            <a:r>
              <a:rPr lang="en-US" sz="1200" b="0" i="0" u="none" strike="noStrike">
                <a:solidFill>
                  <a:srgbClr val="3C40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O_i (B_r x d) </a:t>
            </a:r>
            <a:r>
              <a:rPr lang="en-US" sz="1200" b="0" i="0" u="none" strike="noStrike">
                <a:solidFill>
                  <a:srgbClr val="3C404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块以及 </a:t>
            </a:r>
            <a:r>
              <a:rPr lang="en-US" sz="1200" b="0" i="0" u="none" strike="noStrike">
                <a:solidFill>
                  <a:srgbClr val="3C40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l_i (B_r) </a:t>
            </a:r>
            <a:r>
              <a:rPr lang="en-US" sz="1200" b="0" i="0" u="none" strike="noStrike">
                <a:solidFill>
                  <a:srgbClr val="3C404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 </a:t>
            </a:r>
            <a:r>
              <a:rPr lang="en-US" sz="1200" b="0" i="0" u="none" strike="noStrike">
                <a:solidFill>
                  <a:srgbClr val="3C40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m_i (B_r) </a:t>
            </a:r>
            <a:r>
              <a:rPr lang="en-US" sz="1200" b="0" i="0" u="none" strike="noStrike">
                <a:solidFill>
                  <a:srgbClr val="3C404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加载到 </a:t>
            </a:r>
            <a:r>
              <a:rPr lang="en-US" sz="1200" b="0" i="0" u="none" strike="noStrike">
                <a:solidFill>
                  <a:srgbClr val="3C40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SRAM </a:t>
            </a:r>
            <a:r>
              <a:rPr lang="en-US" sz="1200" b="0" i="0" u="none" strike="noStrike">
                <a:solidFill>
                  <a:srgbClr val="3C404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中。当我们计算块大小时，只够容纳 </a:t>
            </a:r>
            <a:r>
              <a:rPr lang="en-US" sz="1200" b="0" i="0" u="none" strike="noStrike">
                <a:solidFill>
                  <a:srgbClr val="3C40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K_j</a:t>
            </a:r>
            <a:r>
              <a:rPr lang="en-US" sz="1200" b="0" i="0" u="none" strike="noStrike">
                <a:solidFill>
                  <a:srgbClr val="3C4043"/>
                </a:solidFill>
              </a:rPr>
              <a:t>、</a:t>
            </a:r>
            <a:r>
              <a:rPr lang="en-US" sz="1200" b="0" i="0" u="none" strike="noStrike">
                <a:solidFill>
                  <a:srgbClr val="3C40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V_j</a:t>
            </a:r>
            <a:r>
              <a:rPr lang="en-US" sz="1200" b="0" i="0" u="none" strike="noStrike">
                <a:solidFill>
                  <a:srgbClr val="3C4043"/>
                </a:solidFill>
              </a:rPr>
              <a:t>、</a:t>
            </a:r>
            <a:r>
              <a:rPr lang="en-US" sz="1200" b="0" i="0" u="none" strike="noStrike">
                <a:solidFill>
                  <a:srgbClr val="3C40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Q_i </a:t>
            </a:r>
            <a:r>
              <a:rPr lang="en-US" sz="1200" b="0" i="0" u="none" strike="noStrike">
                <a:solidFill>
                  <a:srgbClr val="3C404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 </a:t>
            </a:r>
            <a:r>
              <a:rPr lang="en-US" sz="1200" b="0" i="0" u="none" strike="noStrike">
                <a:solidFill>
                  <a:srgbClr val="3C40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O_i</a:t>
            </a:r>
            <a:r>
              <a:rPr lang="en-US" sz="1200" b="0" i="0" u="none" strike="noStrike">
                <a:solidFill>
                  <a:srgbClr val="3C4043"/>
                </a:solidFill>
              </a:rPr>
              <a:t>，那么</a:t>
            </a:r>
            <a:r>
              <a:rPr lang="en-US" sz="1200" b="0" i="0" u="none" strike="noStrike">
                <a:solidFill>
                  <a:srgbClr val="3C40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l_i </a:t>
            </a:r>
            <a:r>
              <a:rPr lang="en-US" sz="1200" b="0" i="0" u="none" strike="noStrike">
                <a:solidFill>
                  <a:srgbClr val="3C404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 </a:t>
            </a:r>
            <a:r>
              <a:rPr lang="en-US" sz="1200" b="0" i="0" u="none" strike="noStrike">
                <a:solidFill>
                  <a:srgbClr val="3C40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m_i </a:t>
            </a:r>
            <a:r>
              <a:rPr lang="en-US" sz="1200" b="0" i="0" u="none" strike="noStrike">
                <a:solidFill>
                  <a:srgbClr val="3C404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如何放入 </a:t>
            </a:r>
            <a:r>
              <a:rPr lang="en-US" sz="1200" b="0" i="0" u="none" strike="noStrike">
                <a:solidFill>
                  <a:srgbClr val="3C40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SRAM</a:t>
            </a:r>
            <a:r>
              <a:rPr lang="en-US" sz="1200" b="0" i="0" u="none" strike="noStrike">
                <a:solidFill>
                  <a:srgbClr val="3C4043"/>
                </a:solidFill>
              </a:rPr>
              <a:t>（包括所有中间变量）中呢？寄存器</a:t>
            </a: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3C404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步骤 </a:t>
            </a:r>
            <a:r>
              <a:rPr lang="en-US" sz="1200" b="1" i="0" u="none" strike="noStrike">
                <a:solidFill>
                  <a:srgbClr val="3C40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9</a:t>
            </a:r>
            <a:r>
              <a:rPr lang="en-US" sz="1200" b="0" i="0" u="none" strike="noStrike">
                <a:solidFill>
                  <a:srgbClr val="3C404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及之后的就是我们刚刚提到的计算过程了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3C4043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38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37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5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34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33.png"/><Relationship Id="rId9" Type="http://schemas.openxmlformats.org/officeDocument/2006/relationships/hyperlink" Target="https://space.bilibili.com/3546791834290849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400" b="0" i="0" u="none" strike="noStrike" spc="0">
                <a:solidFill>
                  <a:srgbClr val="262626">
                    <a:alpha val="100000"/>
                  </a:srgbClr>
                </a:solidFill>
                <a:latin typeface="Chinese Quote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400" b="0" i="0" u="none" strike="noStrike">
                <a:solidFill>
                  <a:srgbClr val="262626"/>
                </a:solidFill>
                <a:latin typeface="Chinese Quote"/>
                <a:ea typeface="Chinese Quote"/>
                <a:cs typeface="Chinese Quote"/>
                <a:sym typeface="Chinese Quote"/>
              </a:rPr>
              <a:t>Lecture 11: Flash Attention Implementation I (IO-Aware)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Flash Attention: Tiling Computation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Tiling: Breaking the large Q, K, V matrices into smaller blocks (Tiles) that fit entirely into SRAM, eliminating the need to store the massive intermediate Attention matrix.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Recomputation: Avoiding the storage of the S and P matrices during the forward pass; instead, re-calculating them during the backward pass to save memory.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41404" y="3428856"/>
            <a:ext cx="6363580" cy="314117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Memory Hierarchy Explained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Speed Disparity: HBM vs. SRAM (10x Factor)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 example: A100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Memory / HBM2e: 40/80 GB     1.5-2 TB/s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L2 Cache: 40 MB     ~5 TB/s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L1 Cache / Shared Memory: 192 KB/SM      19 TB/s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73677" y="3092451"/>
            <a:ext cx="5953125" cy="36290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Root Problem of Attention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Excessive HBM Round-trips (Memory-Bound)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Mechanism: Data repeatedly "shuttles" between HBM and SRAM.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Problem: Standard Attention writes QK to HBM, only to read them back immediately for the Softmax step.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Impact: The system spends more time moving data than actually computing, hitting the "Memory Wall.“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Quadratic Memory Footprint (Memory Capacity)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Mechanism: Intermediate matrices S and P scale at O(</a:t>
            </a:r>
            <a:r>
              <a:rPr lang="en-US" sz="2000" b="0" i="1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n²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 complexity.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Problem: Storing the full Attention Map requires an exponential amount of memory as sequence length increases.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Impact: Doubling the sequence length N results in a 4x increase in memory usage, leading to frequent OOM errors during long-context tasks.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40257" y="1082339"/>
            <a:ext cx="4151743" cy="2346661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19574" y="3608388"/>
            <a:ext cx="2593107" cy="24622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04454" y="3685310"/>
            <a:ext cx="7288220" cy="2853604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Idea of Flash Attention: Less movement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Less Movement, More Speed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Design Philosophy: Optimize Data Movement, Not Just Computation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Two Technical Pillars: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Tiling: Breaking down large tasks into smaller blocks that fit the SRAM capacity.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Recomputation: Instead of storing intermediate activation values during the forward pass, they are recalculated during the backward pass to save memory space.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Tiling Concept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Why Tiling?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SRAM (e.g., L1/Shared Memory in A100) is extremely fast but has very limited capacity (typically a few hundred KB).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Traditional N x N matrices (e.g., when N=4096) far exceed SRAM capacity and must be partitioned into "tiles" that can fit into the cache.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it Works?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Input matrices Q, K, and V are partitioned into blocks (tiles).Using nested loops, these blocks are loaded from HBM to SRAM piece by piece for local computation.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Performance Gain: Partial dot-products and Softmax accumulations are completed entirely within SRAM. This eliminates the need to write N x N intermediate results back to the slow HBM.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36124" y="1144587"/>
            <a:ext cx="3224258" cy="3113712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789425" y="4403120"/>
            <a:ext cx="3317656" cy="162902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Dynamic Demo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process of loading tiled blocks.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23873" y="1980407"/>
            <a:ext cx="7620000" cy="428625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Access Comparison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Standard Attention vs. Flash Attention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79765" y="1842945"/>
            <a:ext cx="8672944" cy="487853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 Fusion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Standard attention launch separate kernels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Each launch clears the SRAM and writes results back to HBM, causing massive I/O waste.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Flash attention fuse all logic into one highly optimized kernel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SRAM-Centric Execution: Perform tiled loading, dot-product, online softmax, and weighted sum within a single loop.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59225" y="3524449"/>
            <a:ext cx="5780699" cy="3299328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02506" y="3429000"/>
            <a:ext cx="3078087" cy="3394777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SRAM Scheduling: Tiling &amp; Memory Efficiency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Scheduling Strategy: Tiling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Partitioning: Q is split by rows; K and V are split by columns.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Dual-Loop Execution: 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Outer Loop: Loads a block of K and V into SRAM.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Inner Loop: Loads a block of Q, performs dot products, and updates the output.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Result: The intermediate Attention Matrix is computed and consumed entirely within SRAM, never touching HBM.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077073" y="4087090"/>
            <a:ext cx="2634385" cy="263438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r="45666" b="10817"/>
          <a:stretch>
            <a:fillRect/>
          </a:stretch>
        </p:blipFill>
        <p:spPr>
          <a:xfrm>
            <a:off x="938404" y="3925533"/>
            <a:ext cx="4796753" cy="279594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83261" y="2823923"/>
            <a:ext cx="4004830" cy="3971732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Forward Pass Implementation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Tiling enables computation without storing the N x N matrix.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Outer Loop (Loop over K, V blocks): Divide K and V matrices into column blocks and load them into SRAM.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Inner Loop (Loop over Q blocks): Divide Q into row blocks. For each Q</a:t>
            </a:r>
            <a:r>
              <a:rPr lang="en-US" sz="2000" b="0" i="1" u="none" strike="noStrike" baseline="-250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 perform the computation.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On-chip Computation: Compute local attention scores in SRAM and immediately apply weighted summation with V.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Write-back: Only the final output matrix O (size N x d) is written back to HBM, completely bypassing the O(</a:t>
            </a:r>
            <a:r>
              <a:rPr lang="en-US" sz="2000" b="0" i="1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n²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 intermediate storage.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r="45666" b="10817"/>
          <a:stretch>
            <a:fillRect/>
          </a:stretch>
        </p:blipFill>
        <p:spPr>
          <a:xfrm>
            <a:off x="4004831" y="4530837"/>
            <a:ext cx="3758287" cy="219063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Performance Benchmarks &amp; Throughput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pic>
        <p:nvPicPr>
          <p:cNvPr id="5" name="Picture 5"/>
          <p:cNvPicPr>
            <a:picLocks noGrp="1" noChangeAspect="1"/>
          </p:cNvPicPr>
          <p:nvPr>
            <p:ph type="body" sz="quarter" idx="9"/>
          </p:nvPr>
        </p:nvPicPr>
        <p:blipFill>
          <a:blip r:embed="rId2"/>
          <a:srcRect/>
          <a:stretch>
            <a:fillRect/>
          </a:stretch>
        </p:blipFill>
        <p:spPr>
          <a:xfrm>
            <a:off x="222250" y="1344295"/>
            <a:ext cx="6612255" cy="462661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297287" y="2416507"/>
            <a:ext cx="4894713" cy="235749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Challenge: The Global Dependency of Softmax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Why can’t we directly compute Softmax on individual blocks?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Problem Description:</a:t>
            </a:r>
          </a:p>
          <a:p>
            <a:pPr marL="596900" lvl="1" indent="-254000" algn="l">
              <a:lnSpc>
                <a:spcPct val="100000"/>
              </a:lnSpc>
              <a:spcBef>
                <a:spcPts val="1200"/>
              </a:spcBef>
              <a:spcAft>
                <a:spcPts val="1800"/>
              </a:spcAft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Definition: 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Tiling Dilemma: Softmax requires the Global Maximum (m) for numerical stability and the Global Sum (L) for normalization.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Conflict: When processing the first block, we don't know the maximum value or the sum of the remaining blocks. Standard logic suggests we must scan the entire row first.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Transition Question: How can we compute or "predict" the correct Softmax output while only seeing a partial chunk of data?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513534" y="2295798"/>
            <a:ext cx="2674993" cy="71469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Review of Safe Softmax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Necessity of Safe Softmax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Preventing numerical overflow by subtracting the maximum value.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Overflow Risk: Direct calculation of e</a:t>
            </a:r>
            <a:r>
              <a:rPr lang="en-US" sz="2000" b="0" i="0" u="none" strike="noStrike" baseline="300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xi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can lead to numerical overflow (Floating Point Overflow) when x</a:t>
            </a:r>
            <a:r>
              <a:rPr lang="en-US" sz="2000" b="0" i="0" u="none" strike="noStrike" baseline="-250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is large (e.g., x</a:t>
            </a:r>
            <a:r>
              <a:rPr lang="en-US" sz="2000" b="0" i="0" u="none" strike="noStrike" baseline="-250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= 1000).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Solution: Subtract the maximum value m = max(x</a:t>
            </a:r>
            <a:r>
              <a:rPr lang="en-US" sz="2000" b="0" i="0" u="none" strike="noStrike" baseline="-250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 from each element in the vector before exponentiation.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76037" y="3882144"/>
            <a:ext cx="2867237" cy="76605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02542" y="3832877"/>
            <a:ext cx="3032615" cy="98521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Online Softmax Algorithm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Online Softmax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 = [x</a:t>
            </a:r>
            <a:r>
              <a:rPr lang="en-US" sz="2000" b="0" i="0" u="none" strike="noStrike" baseline="-250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​, x</a:t>
            </a:r>
            <a:r>
              <a:rPr lang="en-US" sz="2000" b="0" i="0" u="none" strike="noStrike" baseline="-250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 ,x</a:t>
            </a:r>
            <a:r>
              <a:rPr lang="en-US" sz="2000" b="0" i="0" u="none" strike="noStrike" baseline="-250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​,x</a:t>
            </a:r>
            <a:r>
              <a:rPr lang="en-US" sz="2000" b="0" i="0" u="none" strike="noStrike" baseline="-250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​], V=[v</a:t>
            </a:r>
            <a:r>
              <a:rPr lang="en-US" sz="2000" b="0" i="0" u="none" strike="noStrike" baseline="-250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​, v</a:t>
            </a:r>
            <a:r>
              <a:rPr lang="en-US" sz="2000" b="0" i="0" u="none" strike="noStrike" baseline="-250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 v</a:t>
            </a:r>
            <a:r>
              <a:rPr lang="en-US" sz="2000" b="0" i="0" u="none" strike="noStrike" baseline="-250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  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​,v</a:t>
            </a:r>
            <a:r>
              <a:rPr lang="en-US" sz="2000" b="0" i="0" u="none" strike="noStrike" baseline="-250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​]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Milakov, Maxim, and Natalia Gimelshein. "Online normalizer calculation for softmax." arXiv preprint arXiv:1805.02867 (2018).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365130" y="1203648"/>
            <a:ext cx="1832709" cy="778097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00545" y="1960504"/>
            <a:ext cx="9650503" cy="85889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96166" y="2618272"/>
            <a:ext cx="8941452" cy="1484281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499801" y="4815500"/>
            <a:ext cx="4660302" cy="80927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23432" y="5494280"/>
            <a:ext cx="2543653" cy="85889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005789" y="5624773"/>
            <a:ext cx="5514647" cy="67251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Formula Derivation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23873" y="1323977"/>
            <a:ext cx="7558016" cy="442143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61160" y="1737955"/>
            <a:ext cx="3930840" cy="3796068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1747</Words>
  <Application>Microsoft Office PowerPoint</Application>
  <PresentationFormat>宽屏</PresentationFormat>
  <Paragraphs>134</Paragraphs>
  <Slides>20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Chinese Quote</vt:lpstr>
      <vt:lpstr>Noto Sans SC</vt:lpstr>
      <vt:lpstr>Pretendard</vt:lpstr>
      <vt:lpstr>等线</vt:lpstr>
      <vt:lpstr>微软雅黑</vt:lpstr>
      <vt:lpstr>Arial</vt:lpstr>
      <vt:lpstr>Calibri</vt:lpstr>
      <vt:lpstr>Calibri Light</vt:lpstr>
      <vt:lpstr>Garamond</vt:lpstr>
      <vt:lpstr>Montserrat SemiBold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13</cp:revision>
  <dcterms:created xsi:type="dcterms:W3CDTF">2026-04-17T05:07:00Z</dcterms:created>
  <dcterms:modified xsi:type="dcterms:W3CDTF">2026-05-27T10:17:35Z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C79E56846FEAA2CF55BFE1693E6D39DC_42</vt:lpwstr>
  </property>
  <property fmtid="{D5CDD505-2E9C-101B-9397-08002B2CF9AE}" pid="3" name="KSOProductBuildVer">
    <vt:lpwstr>2052-12.1.0.21915</vt:lpwstr>
  </property>
</Properties>
</file>