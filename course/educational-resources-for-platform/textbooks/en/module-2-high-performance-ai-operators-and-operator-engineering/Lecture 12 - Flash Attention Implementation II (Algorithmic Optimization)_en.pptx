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256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模块三：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II -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算法优化与数学技巧核心目标： 解决“在线计算”的数学难题，特别是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的拆解。封面： 算法炼金术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——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在线性算法中重构注意力。挑战：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的全局依赖： 为什么不能直接对分块求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</a:t>
            </a:r>
            <a:r>
              <a:rPr lang="en-US" sz="1200" b="0" i="0" u="none" strike="noStrike">
                <a:solidFill>
                  <a:srgbClr val="000000"/>
                </a:solidFill>
              </a:rPr>
              <a:t>？数学魔法：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Safe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复习： 防止数值溢出的减去最大值操作。在线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算法： 介绍如何通过更新局部最大值和累加和来计算全局结果。公式推导（科普版）： 增量更新的直观解释。避免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Materialization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解释为什么不再需要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</a:rPr>
              <a:t>实例化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</a:rPr>
              <a:t>完整的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$N \times N$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矩阵。处理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Masking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在分块计算中如何优雅地处理因果掩码（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Causal Mask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Dropout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的处理： 使用随机数种子（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Seed</a:t>
            </a:r>
            <a:r>
              <a:rPr lang="en-US" sz="1200" b="0" i="0" u="none" strike="noStrike">
                <a:solidFill>
                  <a:srgbClr val="000000"/>
                </a:solidFill>
              </a:rPr>
              <a:t>）在反向传播中重构，而非存储。反向传播优化：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重算（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Recomputation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）策略，用计算换取空间。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的演进： 更简单的算子分解与工作负载平衡。对长文本模型的影响：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128K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甚至更长上下文的可能性。未来展望： 算子优化与硬件协同设计的趋势。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解释为什么不再需要存储完整的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$N \times N$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矩阵，以及这对显存的意义。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标题：避免显存实例化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(Avoiding Materialization)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传统做法的弊端：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在标准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中，必须在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</a:t>
            </a:r>
            <a:r>
              <a:rPr lang="en-US" sz="1200" b="0" i="0" u="none" strike="noStrike">
                <a:solidFill>
                  <a:srgbClr val="000000"/>
                </a:solidFill>
              </a:rPr>
              <a:t>（显存）中完整生成并存储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$N \times N$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的注意力评分矩阵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$S$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和概率矩阵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$P$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对于长文本（如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$N=64K$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），该矩阵会占据巨大的空间，直接导致显存溢出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(OOM)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的突破：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计算即弃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(Compute-on-the-fly)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利用分块（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）技术，注意力分数在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中计算后立即与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$V$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块相乘并累加到输出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$O$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 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内存复杂度：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从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$O(N^2)$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降低到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$O(N)$</a:t>
            </a:r>
            <a:r>
              <a:rPr lang="en-US" sz="1200" b="0" i="0" u="none" strike="noStrike">
                <a:solidFill>
                  <a:srgbClr val="000000"/>
                </a:solidFill>
              </a:rPr>
              <a:t>。中间的大矩阵从未在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中“真正存在”过 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结论：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这种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</a:rPr>
              <a:t>不落地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</a:rPr>
              <a:t>的计算方式，打破了显存容量对序列长度的物理限制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分块计算中的掩码处理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(Handling Masking)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核心目标：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介绍如何在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Tiling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过程中优雅地处理因果掩码（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Causal Mask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标题：分块计算中的掩码处理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(Handling Masking)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挑战：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因果掩码通常是一个下三角矩阵，在分块计算时，如何判断某个块是否需要加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Mask</a:t>
            </a:r>
            <a:r>
              <a:rPr lang="en-US" sz="1200" b="0" i="0" u="none" strike="noStrike">
                <a:solidFill>
                  <a:srgbClr val="000000"/>
                </a:solidFill>
              </a:rPr>
              <a:t>？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优化策略：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全掩码块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(Fully Masked)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直接跳过计算，节省算力。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部分掩码块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(Partially Masked)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仅对块内的下三角区域进行掩码处理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无掩码块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(Unmasked)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全速执行常规矩阵乘法。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优势：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通过识别分块与掩码矩阵的相对位置，进一步减少了不必要的计算开销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打破瓶颈：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由于内存占用降至线性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$O(N)$</a:t>
            </a:r>
            <a:r>
              <a:rPr lang="en-US" sz="1200" b="0" i="0" u="none" strike="noStrike">
                <a:solidFill>
                  <a:srgbClr val="000000"/>
                </a:solidFill>
              </a:rPr>
              <a:t>，模型不再受限于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$N^2$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的显存增长 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支持从传统的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2K/4K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上下文跨越到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128K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甚至更长 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实际应用案例：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使得在大模型上进行全书阅读、多文档分析和超长视频理解成为可能 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性能总结：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在相同硬件（如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A100/H100</a:t>
            </a:r>
            <a:r>
              <a:rPr lang="en-US" sz="1200" b="0" i="0" u="none" strike="noStrike">
                <a:solidFill>
                  <a:srgbClr val="000000"/>
                </a:solidFill>
              </a:rPr>
              <a:t>）上，处理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128K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序列的速度提升可达数倍 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在现代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上（例如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A100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），专门用于矩阵乘法的计算单元（如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Tensor Cores</a:t>
            </a:r>
            <a:r>
              <a:rPr lang="en-US" sz="1200" b="0" i="0" u="none" strike="noStrike">
                <a:solidFill>
                  <a:srgbClr val="000000"/>
                </a:solidFill>
              </a:rPr>
              <a:t>）极大地加速了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运算。相比之下，非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运算（如指数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exp()</a:t>
            </a:r>
            <a:r>
              <a:rPr lang="en-US" sz="1200" b="0" i="0" u="none" strike="noStrike">
                <a:solidFill>
                  <a:srgbClr val="000000"/>
                </a:solidFill>
              </a:rPr>
              <a:t>、加法、缩放、比较等）的理论吞吐量要低得多。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性能差距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以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A100 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为例，其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FP16/BF16 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的最大理论吞吐量约为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312 TFLOPs/s</a:t>
            </a:r>
            <a:r>
              <a:rPr lang="en-US" sz="1200" b="0" i="0" u="none" strike="noStrike">
                <a:solidFill>
                  <a:srgbClr val="000000"/>
                </a:solidFill>
              </a:rPr>
              <a:t>，而非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FP32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吞吐量仅为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19.5 TFLOPs/s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成本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这意味着一个非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FLOP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的计算成本可能比一个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FLOP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高出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16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FlashAttention-2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通过改写（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tweak</a:t>
            </a:r>
            <a:r>
              <a:rPr lang="en-US" sz="1200" b="0" i="0" u="none" strike="noStrike">
                <a:solidFill>
                  <a:srgbClr val="000000"/>
                </a:solidFill>
              </a:rPr>
              <a:t>）在线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技巧的实现来达成目的，而不改变最终计算结果：减少重标定（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Rescaling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）操作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在线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需要在每次迭代中根据新的最大值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(max(m(i),m))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来更新和重标定中间结果。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调整了在线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的实现方式，以减少进行重标定操作的次数，从而减少了相应的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exp()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和缩放操作。优化边界检查和因果掩码（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Causal Masking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）操作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在执行因果掩码时，需要在循环内进行多次边界检查（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语句）和掩码操作。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对这些操作进行了更精简的重写，将它们与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步骤更好地融合，减少了单独的非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FLOPs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优化点（第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3-6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行）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FA1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中，外层循环通常是对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$K, V$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进行遍历，内层循环遍历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$Q$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变化</a:t>
            </a:r>
            <a:r>
              <a:rPr lang="en-US" sz="1200" b="0" i="0" u="none" strike="noStrike">
                <a:solidFill>
                  <a:srgbClr val="000000"/>
                </a:solidFill>
              </a:rPr>
              <a:t>：将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$Q$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放在了外层循环（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 3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$K, V$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放在内层循环（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 6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优化点（第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9-10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行）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减少非矩阵乘法（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Non-Matmul</a:t>
            </a:r>
            <a:r>
              <a:rPr lang="en-US" sz="1200" b="0" i="0" u="none" strike="noStrike">
                <a:solidFill>
                  <a:srgbClr val="000000"/>
                </a:solidFill>
              </a:rPr>
              <a:t>）操作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重新排列了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归一化的数学形式。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原理</a:t>
            </a:r>
            <a:r>
              <a:rPr lang="en-US" sz="1200" b="0" i="0" u="none" strike="noStrike">
                <a:solidFill>
                  <a:srgbClr val="000000"/>
                </a:solidFill>
              </a:rPr>
              <a:t>：在更新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$O_i^{(j)}$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时，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减少了不必要的指数运算和缩放因子的重复计算。这使得算法更接近于纯粹的矩阵乘法，从而能更有效地利用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Cores</a:t>
            </a:r>
            <a:r>
              <a:rPr lang="en-US" sz="1200" b="0" i="0" u="none" strike="noStrike">
                <a:solidFill>
                  <a:srgbClr val="000000"/>
                </a:solidFill>
              </a:rPr>
              <a:t>（正如您前一张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PPT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提到的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TFLOPs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差异）。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消除原子加锁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减少同步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(Reduced Synchronization)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优化点（第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5-8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行）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变化</a:t>
            </a:r>
            <a:r>
              <a:rPr lang="en-US" sz="1200" b="0" i="0" u="none" strike="noStrike">
                <a:solidFill>
                  <a:srgbClr val="000000"/>
                </a:solidFill>
              </a:rPr>
              <a:t>：外层循环是对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$K, V$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的块进行遍历（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 5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），内层循环是对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$Q$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的块进行遍历（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 8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内存访问与重计算优化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优化点（第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行与第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行）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 4</a:t>
            </a:r>
            <a:r>
              <a:rPr lang="en-US" sz="1200" b="0" i="0" u="none" strike="noStrike">
                <a:solidFill>
                  <a:srgbClr val="000000"/>
                </a:solidFill>
              </a:rPr>
              <a:t>：提前在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中计算并存储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$D$</a:t>
            </a:r>
            <a:r>
              <a:rPr lang="en-US" sz="1200" b="0" i="0" u="none" strike="noStrike">
                <a:solidFill>
                  <a:srgbClr val="000000"/>
                </a:solidFill>
              </a:rPr>
              <a:t>（即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$rowsum(dO \circ O)$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 14</a:t>
            </a:r>
            <a:r>
              <a:rPr lang="en-US" sz="1200" b="0" i="0" u="none" strike="noStrike">
                <a:solidFill>
                  <a:srgbClr val="000000"/>
                </a:solidFill>
              </a:rPr>
              <a:t>：在计算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$dS_i^{(j)}$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时，利用预存的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$D$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和重新计算的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$P$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块，避免了在一代中复杂的、跨块的重计算开销。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在现代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上（例如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A100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），专门用于矩阵乘法的计算单元（如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Tensor Cores</a:t>
            </a:r>
            <a:r>
              <a:rPr lang="en-US" sz="1200" b="0" i="0" u="none" strike="noStrike">
                <a:solidFill>
                  <a:srgbClr val="000000"/>
                </a:solidFill>
              </a:rPr>
              <a:t>）极大地加速了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运算。相比之下，非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运算（如指数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exp()</a:t>
            </a:r>
            <a:r>
              <a:rPr lang="en-US" sz="1200" b="0" i="0" u="none" strike="noStrike">
                <a:solidFill>
                  <a:srgbClr val="000000"/>
                </a:solidFill>
              </a:rPr>
              <a:t>、加法、缩放、比较等）的理论吞吐量要低得多。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性能差距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以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A100 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为例，其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FP16/BF16 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的最大理论吞吐量约为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312 TFLOPs/s</a:t>
            </a:r>
            <a:r>
              <a:rPr lang="en-US" sz="1200" b="0" i="0" u="none" strike="noStrike">
                <a:solidFill>
                  <a:srgbClr val="000000"/>
                </a:solidFill>
              </a:rPr>
              <a:t>，而非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FP32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吞吐量仅为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19.5 TFLOPs/s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成本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这意味着一个非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FLOP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的计算成本可能比一个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FLOP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高出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16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FlashAttention-2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通过改写（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tweak</a:t>
            </a:r>
            <a:r>
              <a:rPr lang="en-US" sz="1200" b="0" i="0" u="none" strike="noStrike">
                <a:solidFill>
                  <a:srgbClr val="000000"/>
                </a:solidFill>
              </a:rPr>
              <a:t>）在线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技巧的实现来达成目的，而不改变最终计算结果：减少重标定（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Rescaling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）操作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在线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需要在每次迭代中根据新的最大值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(max(m(i),m))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来更新和重标定中间结果。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调整了在线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的实现方式，以减少进行重标定操作的次数，从而减少了相应的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exp()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和缩放操作。优化边界检查和因果掩码（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Causal Masking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）操作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在执行因果掩码时，需要在循环内进行多次边界检查（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语句）和掩码操作。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对这些操作进行了更精简的重写，将它们与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步骤更好地融合，减少了单独的非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FLOPs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更好的并行性（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级并行）解决的问题原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仅在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Batch Size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数量维度上进行并行（一个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处理一个注意力头）。当序列很长，但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Batch Size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或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数量较小（如推理场景或某些长文本训练）时，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(Streaming Multiprocessors)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可能没有被充分利用，导致低占用率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(low-occupancy)</a:t>
            </a:r>
            <a:r>
              <a:rPr lang="en-US" sz="1200" b="0" i="0" u="none" strike="noStrike">
                <a:solidFill>
                  <a:srgbClr val="000000"/>
                </a:solidFill>
              </a:rPr>
              <a:t>。具体的优化序列长度维度并行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增加了在序列长度维度上的并行。现在，一个注意力头的计算任务可以被分解并分配给多个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Blocks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Warp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间的工作分区和通信解决的问题在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上，一个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个线程组成一个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Warp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Warps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之间需要通过 共享内存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(Shared Memory)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进行通信和同步，这会带来额外的延迟和开销。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 1.0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的设计导致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内的不同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Warps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之间需要频繁通信。具体的优化重新分配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Q,K,V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循环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FA2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调整了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核心计算中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Q,K,V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块的内外层循环顺序和工作分配，使得同一个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内的不同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Warps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之间不再需要互相通信。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FA3 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深度异步执行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异步加载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采用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异步张量核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(Asynchronous Tensor Cores, ATC)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编程范式。使用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Warp/Thread Cooperative Groups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和异步内存指令。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计算与通信彻底重叠</a:t>
            </a:r>
            <a:r>
              <a:rPr lang="en-US" sz="1200" b="0" i="0" u="none" strike="noStrike">
                <a:solidFill>
                  <a:srgbClr val="000000"/>
                </a:solidFill>
              </a:rPr>
              <a:t>：计算当前块时，异步加载下一个块的数据，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完全隐藏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访问延迟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原生低精度加速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: FP8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支持首次在内核级别 原生支持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位浮点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(FP8)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数据格式的注意力计算。硬件加速充分利用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Hopper/Blackwell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架构的专用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矩阵乘法 单元。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增强的分块和负载均衡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更精细的调度进一步优化了 分块大小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(Tiling Size)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的选择逻辑和 多头注意力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(MHA)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的任务分配策略。减少长尾延迟有效避免某些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由于数据加载或计算量不均导致的空闲等待。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Streaming Multiprocessor (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流式多处理器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FA3 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深度异步执行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异步加载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采用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异步张量核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(Asynchronous Tensor Cores, ATC)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编程范式。使用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Warp/Thread Cooperative Groups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和异步内存指令。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计算与通信彻底重叠</a:t>
            </a:r>
            <a:r>
              <a:rPr lang="en-US" sz="1200" b="0" i="0" u="none" strike="noStrike">
                <a:solidFill>
                  <a:srgbClr val="000000"/>
                </a:solidFill>
              </a:rPr>
              <a:t>：计算当前块时，异步加载下一个块的数据，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完全隐藏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访问延迟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原生低精度加速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: FP8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支持首次在内核级别 原生支持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位浮点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(FP8)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数据格式的注意力计算。硬件加速充分利用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Hopper/Blackwell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架构的专用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矩阵乘法 单元。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增强的分块和负载均衡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更精细的调度进一步优化了 分块大小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(Tiling Size)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的选择逻辑和 多头注意力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(MHA)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的任务分配策略。减少长尾延迟有效避免某些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由于数据加载或计算量不均导致的空闲等待。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Streaming Multiprocessor (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流式多处理器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二次复杂度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Self-Attention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的计算复杂度与输入序列长度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成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O(L2)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关系。序列越长，计算量爆炸式增长。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矩阵乘法密集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核心操作是大量的矩阵乘法（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</a:t>
            </a:r>
            <a:r>
              <a:rPr lang="en-US" sz="1200" b="0" i="0" u="none" strike="noStrike">
                <a:solidFill>
                  <a:srgbClr val="000000"/>
                </a:solidFill>
              </a:rPr>
              <a:t>×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KT </a:t>
            </a:r>
            <a:r>
              <a:rPr lang="en-US" sz="1200" b="0" i="0" u="none" strike="noStrike">
                <a:solidFill>
                  <a:srgbClr val="000000"/>
                </a:solidFill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</a:t>
            </a:r>
            <a:r>
              <a:rPr lang="en-US" sz="1200" b="0" i="0" u="none" strike="noStrike">
                <a:solidFill>
                  <a:srgbClr val="000000"/>
                </a:solidFill>
              </a:rPr>
              <a:t>×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）。需要极高的并行度和吞吐量。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内存带宽瓶颈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Q,K,V </a:t>
            </a:r>
            <a:r>
              <a:rPr lang="en-US" sz="1200" b="0" i="0" u="none" strike="noStrike">
                <a:solidFill>
                  <a:srgbClr val="000000"/>
                </a:solidFill>
              </a:rPr>
              <a:t>矩阵的反复加载和中间注意力矩阵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的生成，对片外存储带宽要求极高。限制了加速器的实际性能。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Softmax/LayerNorm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包含指数函数和除法等非线性操作。难以在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FPGA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上进行高效、低功耗的定点实现。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软硬件协同优化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(Algorithm-Hardware Co-design)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本研究的核心思想是通过同时调整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算法结构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硬件架构</a:t>
            </a:r>
            <a:r>
              <a:rPr lang="en-US" sz="1200" b="0" i="0" u="none" strike="noStrike">
                <a:solidFill>
                  <a:srgbClr val="000000"/>
                </a:solidFill>
              </a:rPr>
              <a:t>，实现效率的最大化。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算法优化：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FPGA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友好型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极致量化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(Low-Bit Quantization):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将传统的浮点运算（如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FP32</a:t>
            </a:r>
            <a:r>
              <a:rPr lang="en-US" sz="1200" b="0" i="0" u="none" strike="noStrike">
                <a:solidFill>
                  <a:srgbClr val="000000"/>
                </a:solidFill>
              </a:rPr>
              <a:t>）量化到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低位定点</a:t>
            </a:r>
            <a:r>
              <a:rPr lang="en-US" sz="1200" b="0" i="0" u="none" strike="noStrike">
                <a:solidFill>
                  <a:srgbClr val="000000"/>
                </a:solidFill>
              </a:rPr>
              <a:t>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INT8/INT4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），显著减少计算资源（查找表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LUT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DSP</a:t>
            </a:r>
            <a:r>
              <a:rPr lang="en-US" sz="1200" b="0" i="0" u="none" strike="noStrike">
                <a:solidFill>
                  <a:srgbClr val="000000"/>
                </a:solidFill>
              </a:rPr>
              <a:t>）和内存带宽需求。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结构化稀疏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剪枝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(Structured Sparsity):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利用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矩阵的稀疏性，在算法层面去除不重要的连接，从而减少实际的计算量。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近似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(Approximated Softmax):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使用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Piecewise Linear Approximation (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分段线性近似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或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Taylor Series Expansion (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泰勒级数展开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等方法替换精确的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计算，简化硬件实现。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硬件优化：定制化并行架构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数据流重排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(Optimized Dataflow):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设计专有的数据流（如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列重用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片上缓存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），最大化数据重用，减少片外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DRAM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访问。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定制化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阵列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(Customized Processing Elements, PE):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采用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脉动阵列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(Systolic Array)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架构，为低位定点乘法和加法定制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</a:t>
            </a:r>
            <a:r>
              <a:rPr lang="en-US" sz="1200" b="0" i="0" u="none" strike="noStrike">
                <a:solidFill>
                  <a:srgbClr val="000000"/>
                </a:solidFill>
              </a:rPr>
              <a:t>，实现超高并行度。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结构化剪枝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(Algorithm Side):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提出一种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面向硬件的结构化剪枝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方法，确保剪枝后的权重矩阵保持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规则形状</a:t>
            </a:r>
            <a:r>
              <a:rPr lang="en-US" sz="1200" b="0" i="0" u="none" strike="noStrike">
                <a:solidFill>
                  <a:srgbClr val="000000"/>
                </a:solidFill>
              </a:rPr>
              <a:t>（如规则的矩形块或行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列），从根本上消除不规则性。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将原始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权重矩阵中的非关键单元、行或列进行剔除，但保留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规则的、可硬件映射的结构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基于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多头注意力头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(Multi-Head)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或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矩阵分块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(Block-level)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进行剪枝。例如，直接移除对模型贡献最小的整个注意力头，或移除权重矩阵中不重要的、连续的行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列块，以确保剩余的矩阵部分依然是标准的、可预测的矩形。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硬件层面：加速器架构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(FPGA Accelerator)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采用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可重配置的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 (Processing Element)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阵列</a:t>
            </a:r>
            <a:r>
              <a:rPr lang="en-US" sz="1200" b="0" i="0" u="none" strike="noStrike">
                <a:solidFill>
                  <a:srgbClr val="000000"/>
                </a:solidFill>
              </a:rPr>
              <a:t>，其尺寸和连接专门针对剪枝后的规则权重块进行优化。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阵列通过空间并行性（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Spatial Parallelism</a:t>
            </a:r>
            <a:r>
              <a:rPr lang="en-US" sz="1200" b="0" i="0" u="none" strike="noStrike">
                <a:solidFill>
                  <a:srgbClr val="000000"/>
                </a:solidFill>
              </a:rPr>
              <a:t>）同时处理多个矩阵元素，从而实现高吞吐量。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数据流和存储优化：片上缓存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(BRAM)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精心设计数据排布和访问模式，最大化输入特征、权重和中间结果的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片上重用</a:t>
            </a:r>
            <a:r>
              <a:rPr lang="en-US" sz="1200" b="0" i="0" u="none" strike="noStrike">
                <a:solidFill>
                  <a:srgbClr val="000000"/>
                </a:solidFill>
              </a:rPr>
              <a:t>，大幅减少对片外内存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(DRAM)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的访问次数。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低位量化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(Quantization)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结合低位精度（如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INT8</a:t>
            </a:r>
            <a:r>
              <a:rPr lang="en-US" sz="1200" b="0" i="0" u="none" strike="noStrike">
                <a:solidFill>
                  <a:srgbClr val="000000"/>
                </a:solidFill>
              </a:rPr>
              <a:t>）优化，进一步减少数据移动量和存储需求，同时利用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FPGA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DSP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资源高效执行定点运算。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流式数据流加速器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(Streaming Dataflow Accelerators)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这种架构的核心特点是流式执行模型和数据流执行。它将计算图中的操作流水线化，数据像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</a:t>
            </a:r>
            <a:r>
              <a:rPr lang="en-US" sz="1200" b="0" i="0" u="none" strike="noStrike">
                <a:solidFill>
                  <a:srgbClr val="000000"/>
                </a:solidFill>
              </a:rPr>
              <a:t>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”</a:t>
            </a:r>
            <a:r>
              <a:rPr lang="en-US" sz="1200" b="0" i="0" u="none" strike="noStrike">
                <a:solidFill>
                  <a:srgbClr val="000000"/>
                </a:solidFill>
              </a:rPr>
              <a:t>一样经过计算单元，旨在最大化并行度并减少数据在片外内存（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Off-chip Memory</a:t>
            </a:r>
            <a:r>
              <a:rPr lang="en-US" sz="1200" b="0" i="0" u="none" strike="noStrike">
                <a:solidFill>
                  <a:srgbClr val="000000"/>
                </a:solidFill>
              </a:rPr>
              <a:t>）间的移动。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朴素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SDPA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实现：线性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O(N)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中间内存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在传统的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O(N2)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内存模型中，需要完整地存储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 </a:t>
            </a:r>
            <a:r>
              <a:rPr lang="en-US" sz="1200" b="0" i="0" u="none" strike="noStrike">
                <a:solidFill>
                  <a:srgbClr val="000000"/>
                </a:solidFill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 </a:t>
            </a:r>
            <a:r>
              <a:rPr lang="en-US" sz="1200" b="0" i="0" u="none" strike="noStrike">
                <a:solidFill>
                  <a:srgbClr val="000000"/>
                </a:solidFill>
              </a:rPr>
              <a:t>矩阵。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当将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SDPA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算法映射到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流式数据流加速器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上时，研究人员发现，由于其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流式执行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操作可分解性</a:t>
            </a:r>
            <a:r>
              <a:rPr lang="en-US" sz="1200" b="0" i="0" u="none" strike="noStrike">
                <a:solidFill>
                  <a:srgbClr val="000000"/>
                </a:solidFill>
              </a:rPr>
              <a:t>，即使是朴素的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SDPA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算法，其内存复杂度也能得到改善。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关键观察：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SDPA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算法可以分解为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行级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(Row-wise)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操作</a:t>
            </a:r>
            <a:r>
              <a:rPr lang="en-US" sz="1200" b="0" i="0" u="none" strike="noStrike">
                <a:solidFill>
                  <a:srgbClr val="000000"/>
                </a:solidFill>
              </a:rPr>
              <a:t>。计算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Query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矩阵中的某一行的注意力输出时，只需要该行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qi​ </a:t>
            </a:r>
            <a:r>
              <a:rPr lang="en-US" sz="1200" b="0" i="0" u="none" strike="noStrike">
                <a:solidFill>
                  <a:srgbClr val="000000"/>
                </a:solidFill>
              </a:rPr>
              <a:t>与所有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KT </a:t>
            </a:r>
            <a:r>
              <a:rPr lang="en-US" sz="1200" b="0" i="0" u="none" strike="noStrike">
                <a:solidFill>
                  <a:srgbClr val="000000"/>
                </a:solidFill>
              </a:rPr>
              <a:t>进行点积，计算出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si​</a:t>
            </a:r>
            <a:r>
              <a:rPr lang="en-US" sz="1200" b="0" i="0" u="none" strike="noStrike">
                <a:solidFill>
                  <a:srgbClr val="000000"/>
                </a:solidFill>
              </a:rPr>
              <a:t>，然后对其应用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得到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pi​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朴素实现的挑战：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尽管是行级操作，但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的计算需要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归一化项（分母）</a:t>
            </a:r>
            <a:r>
              <a:rPr lang="en-US" sz="1200" b="0" i="0" u="none" strike="noStrike">
                <a:solidFill>
                  <a:srgbClr val="000000"/>
                </a:solidFill>
              </a:rPr>
              <a:t>，即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∑j​esij​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609600" lvl="1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在计算出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sij​ </a:t>
            </a:r>
            <a:r>
              <a:rPr lang="en-US" sz="1200" b="0" i="0" u="none" strike="noStrike">
                <a:solidFill>
                  <a:srgbClr val="000000"/>
                </a:solidFill>
              </a:rPr>
              <a:t>后，需要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暂时存储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这一行所有的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sij​ </a:t>
            </a:r>
            <a:r>
              <a:rPr lang="en-US" sz="1200" b="0" i="0" u="none" strike="noStrike">
                <a:solidFill>
                  <a:srgbClr val="000000"/>
                </a:solidFill>
              </a:rPr>
              <a:t>元素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(O(N)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个元素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r>
              <a:rPr lang="en-US" sz="1200" b="0" i="0" u="none" strike="noStrike">
                <a:solidFill>
                  <a:srgbClr val="000000"/>
                </a:solidFill>
              </a:rPr>
              <a:t>，直到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整行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计算完毕，才能计算出分母，然后进行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归一化。</a:t>
            </a:r>
          </a:p>
          <a:p>
            <a:pPr marL="152400" indent="-152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结果：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在流式架构下，朴素实现需要为每行存储一个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 </a:t>
            </a:r>
            <a:r>
              <a:rPr lang="en-US" sz="1200" b="0" i="0" u="none" strike="noStrike">
                <a:solidFill>
                  <a:srgbClr val="000000"/>
                </a:solidFill>
              </a:rPr>
              <a:t>长度的中间结果，因此中间内存复杂度降低到了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线性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O(N)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优化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SDPA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实现：常数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O(1)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中间内存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相同，使用在线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的方法，增量计算分母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朴素算法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严格按照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SDPA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公式流程执行，先算出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 </a:t>
            </a:r>
            <a:r>
              <a:rPr lang="en-US" sz="1200" b="0" i="0" u="none" strike="noStrike">
                <a:solidFill>
                  <a:srgbClr val="000000"/>
                </a:solidFill>
              </a:rPr>
              <a:t>矩阵，再计算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分母，然后归一化。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O(N)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线性内存</a:t>
            </a:r>
            <a:r>
              <a:rPr lang="en-US" sz="1200" b="0" i="0" u="none" strike="noStrike">
                <a:solidFill>
                  <a:srgbClr val="000000"/>
                </a:solidFill>
              </a:rPr>
              <a:t>：必须存储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整行分子</a:t>
            </a:r>
            <a:r>
              <a:rPr lang="en-US" sz="1200" b="0" i="0" u="none" strike="noStrike">
                <a:solidFill>
                  <a:srgbClr val="000000"/>
                </a:solidFill>
              </a:rPr>
              <a:t>，等待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的分母（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(N)</a:t>
            </a:r>
            <a:r>
              <a:rPr lang="en-US" sz="1200" b="0" i="0" u="none" strike="noStrike">
                <a:solidFill>
                  <a:srgbClr val="000000"/>
                </a:solidFill>
              </a:rPr>
              <a:t>）计算完成。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(b)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重排序除法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归一化的除法操作后移，尝试融合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PV </a:t>
            </a:r>
            <a:r>
              <a:rPr lang="en-US" sz="1200" b="0" i="0" u="none" strike="noStrike">
                <a:solidFill>
                  <a:srgbClr val="000000"/>
                </a:solidFill>
              </a:rPr>
              <a:t>乘法，以优化数据流。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O(N)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线性内存</a:t>
            </a:r>
            <a:r>
              <a:rPr lang="en-US" sz="1200" b="0" i="0" u="none" strike="noStrike">
                <a:solidFill>
                  <a:srgbClr val="000000"/>
                </a:solidFill>
              </a:rPr>
              <a:t>：本质上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仍需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(N)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来计算分母，因此仍然需要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存储一整行中间结果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内存无消耗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使用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Scan (N→∞)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模式实现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增量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在线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</a:t>
            </a:r>
            <a:r>
              <a:rPr lang="en-US" sz="1200" b="0" i="0" u="none" strike="noStrike">
                <a:solidFill>
                  <a:srgbClr val="000000"/>
                </a:solidFill>
              </a:rPr>
              <a:t>，实时更新分母和最大值。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O(1)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常数内存</a:t>
            </a:r>
            <a:r>
              <a:rPr lang="en-US" sz="1200" b="0" i="0" u="none" strike="noStrike">
                <a:solidFill>
                  <a:srgbClr val="000000"/>
                </a:solidFill>
              </a:rPr>
              <a:t>：彻底消除对整行中间结果的依赖，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数据流经即可完成计算</a:t>
            </a:r>
            <a:r>
              <a:rPr lang="en-US" sz="1200" b="0" i="0" u="none" strike="noStrike">
                <a:solidFill>
                  <a:srgbClr val="000000"/>
                </a:solidFill>
              </a:rPr>
              <a:t>，仅需存储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常数状态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解决核心瓶颈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(Addressing the Bottleneck):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针对大型语言模型（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LLMs</a:t>
            </a:r>
            <a:r>
              <a:rPr lang="en-US" sz="1200" b="0" i="0" u="none" strike="noStrike">
                <a:solidFill>
                  <a:srgbClr val="000000"/>
                </a:solidFill>
              </a:rPr>
              <a:t>）在长上下文（如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128K</a:t>
            </a:r>
            <a:r>
              <a:rPr lang="en-US" sz="1200" b="0" i="0" u="none" strike="noStrike">
                <a:solidFill>
                  <a:srgbClr val="000000"/>
                </a:solidFill>
              </a:rPr>
              <a:t>）推理时，自注意力（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Self-Attention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）计算成为主要延迟瓶颈的问题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核心推测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验证机制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(Speculation-Verification Mechanism):1</a:t>
            </a:r>
            <a:r>
              <a:rPr lang="en-US" sz="1200" b="0" i="0" u="none" strike="noStrike">
                <a:solidFill>
                  <a:srgbClr val="000000"/>
                </a:solidFill>
              </a:rPr>
              <a:t>、利用一个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低成本、低延迟的近似函数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Aapprox​ </a:t>
            </a:r>
            <a:r>
              <a:rPr lang="en-US" sz="1200" b="0" i="0" u="none" strike="noStrike">
                <a:solidFill>
                  <a:srgbClr val="000000"/>
                </a:solidFill>
              </a:rPr>
              <a:t>来快速预测当前层的自注意力输出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A~i​</a:t>
            </a:r>
            <a:r>
              <a:rPr lang="en-US" sz="1200" b="0" i="0" u="none" strike="noStrike">
                <a:solidFill>
                  <a:srgbClr val="000000"/>
                </a:solidFill>
              </a:rPr>
              <a:t>。例如，论文中采用了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 Sink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等近似技术，它只关注最老和最新的少数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</a:t>
            </a:r>
            <a:r>
              <a:rPr lang="en-US" sz="1200" b="0" i="0" u="none" strike="noStrike">
                <a:solidFill>
                  <a:srgbClr val="000000"/>
                </a:solidFill>
              </a:rPr>
              <a:t>，避免了整个长上下文的昂贵计算。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1200" b="0" i="0" u="none" strike="noStrike">
                <a:solidFill>
                  <a:srgbClr val="000000"/>
                </a:solidFill>
              </a:rPr>
              <a:t>、两个计算路径同时启动：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1.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精确路径：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在主计算设备上，开始执行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精确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的自注意力计算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Ai​</a:t>
            </a:r>
            <a:r>
              <a:rPr lang="en-US" sz="1200" b="0" i="0" u="none" strike="noStrike">
                <a:solidFill>
                  <a:srgbClr val="000000"/>
                </a:solidFill>
              </a:rPr>
              <a:t>。这通常需要较长时间。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2.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推测路径：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在另一个设备或线程上，将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A~i​ </a:t>
            </a:r>
            <a:r>
              <a:rPr lang="en-US" sz="1200" b="0" i="0" u="none" strike="noStrike">
                <a:solidFill>
                  <a:srgbClr val="000000"/>
                </a:solidFill>
              </a:rPr>
              <a:t>输入到后续的非注意力计算（如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LayerNorm, FFN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等），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提前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开始后续操作。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验证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(Verification)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当精确的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Ai​ </a:t>
            </a:r>
            <a:r>
              <a:rPr lang="en-US" sz="1200" b="0" i="0" u="none" strike="noStrike">
                <a:solidFill>
                  <a:srgbClr val="000000"/>
                </a:solidFill>
              </a:rPr>
              <a:t>计算完成后，它会与推测出的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A~i​ </a:t>
            </a:r>
            <a:r>
              <a:rPr lang="en-US" sz="1200" b="0" i="0" u="none" strike="noStrike">
                <a:solidFill>
                  <a:srgbClr val="000000"/>
                </a:solidFill>
              </a:rPr>
              <a:t>进行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低成本的比较验证</a:t>
            </a:r>
            <a:r>
              <a:rPr lang="en-US" sz="1200" b="0" i="0" u="none" strike="noStrike">
                <a:solidFill>
                  <a:srgbClr val="000000"/>
                </a:solidFill>
              </a:rPr>
              <a:t>。验证成功的标准是两者之差是否在一个可接受的阈值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λ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之内。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提交或回滚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(Commit or Rollback)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提交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(Commit)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如果验证成功，则表明推测路径的提前计算是有效的。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丢弃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精确路径上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Ai​ </a:t>
            </a:r>
            <a:r>
              <a:rPr lang="en-US" sz="1200" b="0" i="0" u="none" strike="noStrike">
                <a:solidFill>
                  <a:srgbClr val="000000"/>
                </a:solidFill>
              </a:rPr>
              <a:t>之后的重复计算，采用推测路径的结果。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延迟得以隐藏。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回滚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(Rollback)</a:t>
            </a:r>
            <a:r>
              <a:rPr lang="en-US" sz="1200" b="1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如果验证失败，推测路径提前计算的结果被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丢弃</a:t>
            </a:r>
            <a:r>
              <a:rPr lang="en-US" sz="1200" b="0" i="0" u="none" strike="noStrike">
                <a:solidFill>
                  <a:srgbClr val="000000"/>
                </a:solidFill>
              </a:rPr>
              <a:t>。使用精确的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Ai​</a:t>
            </a:r>
            <a:r>
              <a:rPr lang="en-US" sz="1200" b="0" i="0" u="none" strike="noStrike">
                <a:solidFill>
                  <a:srgbClr val="000000"/>
                </a:solidFill>
              </a:rPr>
              <a:t>，重新计算后续的非注意力操作。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延迟增加，但精度得到保证。</a:t>
            </a:r>
          </a:p>
          <a:p>
            <a:pPr indent="0" algn="l">
              <a:lnSpc>
                <a:spcPct val="100000"/>
              </a:lnSpc>
            </a:pPr>
            <a:endParaRPr lang="en-US" sz="1200" b="1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显著性能提升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(Significant Speedup):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128K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上下文长度下，实现了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高达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的注意力延迟开销减少，并将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端到端解码延迟提高了高达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1.65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3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及更高版本的持续演进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深度异步执行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(Deep Asynchronous Execution)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：针对 H100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等新架构，实现数据加载与计算的完美重叠，彻底消除流水线气泡。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原生低精度加速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：支持 FP8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INT8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格式，在不损失精度的前提下，将推理吞吐量提升至新高度。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定制化硬件加速器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(FPGA/ASIC)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算法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硬件协同设计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：针对注意力机制设计定制化处理单元 (PE)，优化数据流架构。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低位量化与结构化剪枝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：结合 INT4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量化与稀疏化技术，通过“硬件感知”的压缩手段进一步降低功耗。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流式处理架构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(Streaming Dataflow)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$O(1)$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中间内存占用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：通过将 SDPA（缩放点积注意力）分解为行向操作，实现常数级的存储需求。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在线增量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：支持超长序列的实时流式推断。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核心主题：从优化工具到大模型基础设施的变革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注意力级投机计算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(Attention-Level Speculation)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预测与验证机制</a:t>
            </a:r>
            <a:r>
              <a:rPr lang="en-US" sz="1200" b="0" i="0" u="none" strike="noStrike">
                <a:solidFill>
                  <a:srgbClr val="000000"/>
                </a:solidFill>
              </a:rPr>
              <a:t>：通过预测当前层的注意力输出，实现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Self-Attention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与后续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FFN/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残差连接的并行执行。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计算重叠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(Overlapping)</a:t>
            </a:r>
            <a:r>
              <a:rPr lang="en-US" sz="1200" b="0" i="0" u="none" strike="noStrike">
                <a:solidFill>
                  <a:srgbClr val="000000"/>
                </a:solidFill>
              </a:rPr>
              <a:t>：利用低成本验证机制，在保证结果精确性的同时，大幅压缩整体推理延迟。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支撑“无限长度”的上下文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线性内存复杂度的胜利</a:t>
            </a:r>
            <a:r>
              <a:rPr lang="en-US" sz="1200" b="0" i="0" u="none" strike="noStrike">
                <a:solidFill>
                  <a:srgbClr val="000000"/>
                </a:solidFill>
              </a:rPr>
              <a:t>：内存占用从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$O(N^2)$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降至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$O(N)$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后，大模型将能原生支持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甚至更长的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序列。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多模态大爆发</a:t>
            </a:r>
            <a:r>
              <a:rPr lang="en-US" sz="1200" b="0" i="0" u="none" strike="noStrike">
                <a:solidFill>
                  <a:srgbClr val="000000"/>
                </a:solidFill>
              </a:rPr>
              <a:t>：赋能整本书阅读、超长视频流理解及复杂多文档联合分析。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IO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感知哲学的普适化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通用算子优化基石</a:t>
            </a:r>
            <a:r>
              <a:rPr lang="en-US" sz="1200" b="0" i="0" u="none" strike="noStrike">
                <a:solidFill>
                  <a:srgbClr val="000000"/>
                </a:solidFill>
              </a:rPr>
              <a:t>：将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Flash 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“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IO-Aware”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设计理念推广至所有深度学习算子（如卷积、归一化等）。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结论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不仅仅是一个算子优化，它是迈向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更高效、更智能、更长记忆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的人工智能时代的必经之路。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7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4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space.bilibili.com/354679183429084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900" b="0" i="0" u="none" strike="noStrike" spc="0">
                <a:solidFill>
                  <a:srgbClr val="262626">
                    <a:alpha val="100000"/>
                  </a:srgbClr>
                </a:solidFill>
                <a:latin typeface="Chinese Quote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4900" b="0" i="0" u="none" strike="noStrike">
                <a:solidFill>
                  <a:srgbClr val="262626"/>
                </a:solidFill>
                <a:latin typeface="Chinese Quote"/>
                <a:ea typeface="Chinese Quote"/>
                <a:cs typeface="Chinese Quote"/>
                <a:sym typeface="Chinese Quote"/>
              </a:rPr>
              <a:t>Lecture 12: Flash Attention Implementation II </a:t>
            </a:r>
            <a:br>
              <a:rPr lang="en-US" sz="4900" b="0" i="0" u="none" strike="noStrike">
                <a:solidFill>
                  <a:srgbClr val="262626"/>
                </a:solidFill>
                <a:latin typeface="Chinese Quote"/>
                <a:ea typeface="Chinese Quote"/>
                <a:cs typeface="Chinese Quote"/>
                <a:sym typeface="Chinese Quote"/>
              </a:rPr>
            </a:br>
            <a:r>
              <a:rPr lang="en-US" sz="4900" b="0" i="0" u="none" strike="noStrike">
                <a:solidFill>
                  <a:srgbClr val="262626"/>
                </a:solidFill>
                <a:latin typeface="Chinese Quote"/>
                <a:ea typeface="Chinese Quote"/>
                <a:cs typeface="Chinese Quote"/>
                <a:sym typeface="Chinese Quote"/>
              </a:rPr>
              <a:t>(Algorithmic Optimization)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Avoiding Materialization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Pitfall of Standard Attention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Standard implementations must materialize and store the full N x N attention score matrix (S) and probability matrix (P) in HBM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long sequences this matrix consumes massive space, leading to Out-of-Memory errors.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Flash Attention Breakthrough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Compute-on-the-fly: By using Tiling, attention scores are computed in SRAM and immediately multiplied by the V blocks to accumulate into the output O.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Complexity: Reduced from O(</a:t>
            </a:r>
            <a:r>
              <a:rPr lang="en-US" sz="20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n²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to O(N). The massive intermediate matrix never "exists" as a whole in HBM.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Handling Masking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Challenge: Causal masks are typically lower-triangular. How do we determine if a specific block needs masking during tiling?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Strategy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Fully Masked Blocks: These blocks are skipped entirely, saving significant computation.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Partially Masked Blocks: Only the lower-triangular portion within the block is processed with mask values.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Unmasked Blocks: Standard matrix multiplication (GEMM) is executed at full speed.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Benefit: By identifying the relative position of blocks within the mask, FlashAttention further reduces unnecessary computational overhead.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4" y="4675190"/>
            <a:ext cx="4619834" cy="20462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Impact on Long-Context Models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Breaking the Bottleneck: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Since memory usage scales linearly O(N), models are no longer constrained by the N</a:t>
            </a:r>
            <a:r>
              <a:rPr lang="en-US" sz="2000" b="0" i="0" u="none" strike="noStrike" baseline="30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memory wall.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Enables a leap from traditional 2K/4K contexts to 128K, 1M, or even longer sequences.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Real-World Applications: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Empowers Large Language Models (LLMs) to perform full-book reading, multi-document analysis, and ultra-long video understanding.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Summary: On the same hardware (e.g., A100/H100), the speed for processing 128K sequences is increased by several orders of magnitude.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Evolution to Flash Attention 2 (1/2)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Algorithmic Refinement: Reducing Non-Matmul Overhead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GPUs are highly optimized for Matrix Multiplication (Matmul) via Tensor Cores, but they are significantly slower at "element-wise" operations like Softmax, Exp, and Dropout.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Matmul 312 TFLOPs/s, Non-Matmul 19.5 TFLOPs/s (A100)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mathematically reformulates the attention algorithm to reduce the number of non-matmul floating-point operations (FLOPs).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2329" y="3532000"/>
            <a:ext cx="5626070" cy="3326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46854" y="3256625"/>
            <a:ext cx="4959927" cy="366689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741404" y="4509655"/>
            <a:ext cx="4557960" cy="547254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7550" y="5343309"/>
            <a:ext cx="5243760" cy="547254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81489" y="4624107"/>
            <a:ext cx="2506201" cy="453583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88415" y="4383462"/>
            <a:ext cx="4733929" cy="240646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46854" y="5818909"/>
            <a:ext cx="2901055" cy="162444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Evolution to Flash Attention 2 (2/2)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Enhanced Parallelism (Thread Block Level)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introduces parallelism across the Sequence Length dimension.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FA2 can now split the sequence into blocks and distribute them across multiple Thread Blocks.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Optimized Work Partitioning and Communication Between Warps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FA2, the partitioning is redesigned so that each warp handles a distinct slice of the computation.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29869" y="3775141"/>
            <a:ext cx="7465966" cy="26512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2220" y="3934691"/>
            <a:ext cx="3672009" cy="20386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Evolution to Flash Attention 3 (1/2)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Asynchronous Execution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leverages H100’s Tensor Memory Accelerator (TMA).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Compute-IO Decoupling: As shown in the diagram, WGMMA (Asynchronous Matrix Multiply) and Softmax operations run on separate pipelines.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Ping-pong Buffering: While one Warp Group calculates the current block, the TMA is already fetching the next block in the background, effectively "hiding" the latency of data movement.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13302" y="5097801"/>
            <a:ext cx="7375233" cy="16236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7358" y="3685210"/>
            <a:ext cx="7551177" cy="15491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Evolution to Flash Attention 3 (2/2)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Native Low-Precision Acceleration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FA3 is built for the FP8 era, doubling throughput compared to FP16.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Enhanced Tiling &amp; Load Balancing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FA3 optimizes task distribution across SMs, ensuring that even with non-symmetric matrix shapes, all compute units finish their work simultaneously, maximizing hardware utilization.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8364" y="2133599"/>
            <a:ext cx="6096000" cy="180539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 on FPGA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Algorithm-Hardware Co-design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Low-Bit Quantization (INT8/INT4)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Structured Sparsity/Pruning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Approximated Softmax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Optimization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Optimized Dataflow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Customized Processing Elements (PEs)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Zhang, Xinyi, et al. "Algorithm-hardware co-design of attention mechanism on FPGA devices." ACM Transactions on Embedded Computing Systems (TECS) 20.5s (2021): 1-24.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Structured Pruning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FPGA Accelerator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449" y="1942137"/>
            <a:ext cx="4707418" cy="154899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3863" y="4109287"/>
            <a:ext cx="5542858" cy="202199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 on Streaming Dataflow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Naive SDPA Implementation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Linear O(N) Intermediate Memory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Decompose SDPA into row-wise operations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Optimized SDPA Implementation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Constant O(1) Intermediate Memory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Online/incremental Softmax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Sohn, Gina, Nathan Zhang, and Kunle Olukotun. "Implementing and optimizing the scaled dot-product attention on streaming dataflow." arXiv preprint arXiv:2404.16629 (2024).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1120" y="4013314"/>
            <a:ext cx="2629184" cy="216730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41213" y="1286481"/>
            <a:ext cx="6304412" cy="383329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Attention-Level Speculation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Speculation-Verification Mechanism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parallelize and overlap the time-consuming Self-Attention computation with the subsequent FFN and Residual Connections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Predict the self-attention output for the current layer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Parallel Execute Exact Path and Speculative Path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Low-cost comparative verification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Commit or Rollback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Cai, Jack, et al. "Attention-Level Speculation." (2025).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51645" y="1236059"/>
            <a:ext cx="3994390" cy="516889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Future Outlook: Hardware Algorithm Co-Design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850519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Evolution of Flash Attention (Towards FA3 &amp; Beyond)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Async Execution: Overlapping data movement with compute (H100 optimization).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Low-Precision Support: Native FP8/INT8 for extreme inference throughput.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Specialized Hardware Accelerators (FPGA/ASIC)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FPGA/ASIC Integration: Dedicated PEs for Attention dataflow.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Hardware-Aware Compression: Merging structured pruning with INT4 quantization.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Streaming Dataflow Optimization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Constant O(1) Memory: Row-wise decomposition for infinite sequences.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Incremental Softmax: Enabling real-time, streaming LLM inference.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63396" y="1132554"/>
            <a:ext cx="2479964" cy="247996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63946" y="3917176"/>
            <a:ext cx="2562657" cy="243885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Future Outlook: Paradigm Shifts in LLM Infra.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Attention-Level Speculation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Parallel Execution: Overlapping Attention with FFN/Residual layers.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Speculate &amp; Verify: "Commit or Rollback" strategy to slash latency.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Empowering Ultra-Long Context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Linear Scaling (O(N)): Breaking the O(N</a:t>
            </a:r>
            <a:r>
              <a:rPr lang="en-US" sz="2000" b="0" i="0" u="none" strike="noStrike" baseline="30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memory wall for 1M+ tokens.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Multimodal Expansion: Processing full books and HD video in a single pass.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Universal "IO-Aware" Philosophy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Beyond Attention: Applying IO-awareness to all DL operators (Conv, Norm).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New Standard: Shifting from "Compute-Centric" to "Memory-Centric" design.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3080</Words>
  <Application>Microsoft Office PowerPoint</Application>
  <PresentationFormat>宽屏</PresentationFormat>
  <Paragraphs>286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Chinese Quote</vt:lpstr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