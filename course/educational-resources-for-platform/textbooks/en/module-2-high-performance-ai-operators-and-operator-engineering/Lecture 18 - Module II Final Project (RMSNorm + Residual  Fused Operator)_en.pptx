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13"/>
  </p:notesMasterIdLst>
  <p:handoutMasterIdLst>
    <p:handoutMasterId r:id="rId14"/>
  </p:handoutMasterIdLst>
  <p:sldIdLst>
    <p:sldId id="256" r:id="rId4"/>
    <p:sldId id="446" r:id="rId5"/>
    <p:sldId id="447" r:id="rId6"/>
    <p:sldId id="448" r:id="rId7"/>
    <p:sldId id="449" r:id="rId8"/>
    <p:sldId id="450" r:id="rId9"/>
    <p:sldId id="322" r:id="rId10"/>
    <p:sldId id="323" r:id="rId11"/>
    <p:sldId id="32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/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/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/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  <a:endParaRPr lang="en-US" sz="1600" b="0" i="0" u="none" strike="noStrike">
              <a:solidFill>
                <a:srgbClr val="FFFFFF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/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/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/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/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3.png"/><Relationship Id="rId11" Type="http://schemas.openxmlformats.org/officeDocument/2006/relationships/image" Target="../media/image12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18</a:t>
            </a:r>
            <a:r>
              <a:rPr lang="en-US" sz="4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II Final Project</a:t>
            </a:r>
            <a:b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(RMSNorm + Residual  Fused Operator)</a:t>
            </a:r>
            <a:endParaRPr lang="en-US" sz="4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/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/>
                <a:gridCol w="3369945"/>
                <a:gridCol w="1627505"/>
                <a:gridCol w="5566410"/>
              </a:tblGrid>
              <a:tr h="53911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79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795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77216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 anchor="t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Background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RMSNorm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Root Mean Square Normalization) and Residual Connection (Residual Connection) are core components of modern large language models (e.g., the  LLaMA  series). Fusing both into a single  Kernel  can significantly reduce  HBM  accesses, a classic operator fusion scenario. Students must implement a high-performance fused operator, with performance target of reaching  FlagGems  of the  90%  benchmark implementation or above.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Objectives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Using  Triton  to implement  Add + RMSNorm Fused  Kernel, supporting  float32  and  bfloat16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Support arbitrary  [M, N]  input (N  is the normalization dimension, typical values:  4096/8192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Correctness: maximum absolute error vs.  PyTorch  step-by-step computation  &lt; 2e-5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float32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en-US" sz="1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Performance: on target shape  [4096, 4096]  achieve  FlagGems  of the reference implementation throughput 90%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Support backward pass  Kernel (gradient computation)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Implementation Requirements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Forward Operator Specification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342900" lvl="1" indent="0" algn="l">
              <a:lnSpc>
                <a:spcPct val="100000"/>
              </a:lnSpc>
              <a:spcBef>
                <a:spcPts val="750"/>
              </a:spcBef>
            </a:p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Key Optimization Points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 Kernel  completes addition and normalization with only one HBM read/write HBM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 Triton 's  tl.rsqrt  to compute  RMS 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Handle  N  misalignment with  Mask  loading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 bfloat16, accumulate internally in  float32  before conversion (precision guarantee)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Performance Analysis Report (Must Include)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Nsight Compute 's  Roofline  Analysis Chart: showing the operator's  Arithmetic Intensity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Throughput comparison across different  BLOCK_SIZE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（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64/128/256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overhead comparison with non-fused (step-by-step) implementation Kernel Launch 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637405" y="1323975"/>
          <a:ext cx="7398385" cy="10972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398385"/>
              </a:tblGrid>
              <a:tr h="365760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def fused_add_rms_norm(x, residual, weight, eps=1e-6):</a:t>
                      </a:r>
                      <a:endParaRPr lang="en-US" sz="1100"/>
                    </a:p>
                  </a:txBody>
                  <a:tcPr marL="114300" marR="114300" marT="76200" marB="762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365760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# x, residual: [M, N]  weight: [N]</a:t>
                      </a:r>
                      <a:endParaRPr lang="en-US" sz="1100"/>
                    </a:p>
                  </a:txBody>
                  <a:tcPr marL="114300" marR="114300" marT="76200" marB="762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  <a:tr h="365760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1A5276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    # Returns (normed_output, updated_residual)</a:t>
                      </a:r>
                      <a:endParaRPr lang="en-US" sz="1100"/>
                    </a:p>
                  </a:txBody>
                  <a:tcPr marL="114300" marR="114300" marT="76200" marB="762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Requirements and Grading Criteria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AutoShape 3"/>
          <p:cNvSpPr/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</a:p>
        </p:txBody>
      </p:sp>
      <p:sp>
        <p:nvSpPr>
          <p:cNvPr id="4" name="AutoShape 4"/>
          <p:cNvSpPr/>
          <p:nvPr>
            <p:ph type="body" sz="quarter" idx="8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Checklist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fused_rms_norm.py: complete  Kernel  code with correctness tests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benchmark.py: reproducible performance benchmark script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report.pdf: no more than  6  pages, including design decisions, NSC  analysis results, and performance comparison charts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grad_kernel.py: backward pass implementation and gradient verification code</a:t>
            </a:r>
            <a:endParaRPr lang="en-US" sz="18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Grading Criteria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704340" y="3997325"/>
          <a:ext cx="9023985" cy="21799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92425"/>
                <a:gridCol w="1735455"/>
                <a:gridCol w="4396105"/>
              </a:tblGrid>
              <a:tr h="381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Assessment Dimension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Score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Grading Criteria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Correctness (float32/bf16）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Both data types pass precision verification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9410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(Throughput)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≥90%  benchmark for full score; 75%-90%  scores 20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Optimization Analysis Report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Roofline  chart, Block Size  analysis, fusion gain quantification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9410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Engineering Quality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Complete comments, clear interfaces, no hard-coding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</a:tr>
              <a:tr h="360045"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Advanced: Backward Pass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  pts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 gradients with numerical verification</a:t>
                      </a:r>
                      <a:endParaRPr lang="en-US" sz="1100"/>
                    </a:p>
                  </a:txBody>
                  <a:tcPr marL="76200" marR="50800" marT="50800" marB="50800" anchor="t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/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3586</Words>
  <Application>WPS 演示</Application>
  <PresentationFormat/>
  <Paragraphs>179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Chinese Quote</vt:lpstr>
      <vt:lpstr>等线</vt:lpstr>
      <vt:lpstr>Helvetica Neue</vt:lpstr>
      <vt:lpstr>Arial Unicode MS</vt:lpstr>
      <vt:lpstr>BatangChe</vt:lpstr>
      <vt:lpstr>Helvetica</vt:lpstr>
      <vt:lpstr>Bahnschrift</vt:lpstr>
      <vt:lpstr>Ebrima</vt:lpstr>
      <vt:lpstr>DejaVu Math TeX Gyre</vt:lpstr>
      <vt:lpstr>Courier New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14</cp:revision>
  <dcterms:created xsi:type="dcterms:W3CDTF">2026-04-17T05:07:00Z</dcterms:created>
  <dcterms:modified xsi:type="dcterms:W3CDTF">2026-05-27T11:14:43Z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D8BB9B5CC9744A23A1EFAED986191F9A_13</vt:lpwstr>
  </property>
  <property fmtid="{D5CDD505-2E9C-101B-9397-08002B2CF9AE}" pid="3" name="KSOProductBuildVer">
    <vt:lpwstr>2052-12.1.0.21915</vt:lpwstr>
  </property>
</Properties>
</file>