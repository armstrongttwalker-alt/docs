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8"/>
  </p:notesMasterIdLst>
  <p:handoutMasterIdLst>
    <p:handoutMasterId r:id="rId29"/>
  </p:handoutMasterIdLst>
  <p:sldIdLst>
    <p:sldId id="256" r:id="rId3"/>
    <p:sldId id="362" r:id="rId4"/>
    <p:sldId id="363" r:id="rId5"/>
    <p:sldId id="364" r:id="rId6"/>
    <p:sldId id="365" r:id="rId7"/>
    <p:sldId id="366" r:id="rId8"/>
    <p:sldId id="367" r:id="rId9"/>
    <p:sldId id="368" r:id="rId10"/>
    <p:sldId id="369" r:id="rId11"/>
    <p:sldId id="370" r:id="rId12"/>
    <p:sldId id="371" r:id="rId13"/>
    <p:sldId id="372" r:id="rId14"/>
    <p:sldId id="373" r:id="rId15"/>
    <p:sldId id="374" r:id="rId16"/>
    <p:sldId id="375" r:id="rId17"/>
    <p:sldId id="376" r:id="rId18"/>
    <p:sldId id="377" r:id="rId19"/>
    <p:sldId id="378" r:id="rId20"/>
    <p:sldId id="379" r:id="rId21"/>
    <p:sldId id="380" r:id="rId22"/>
    <p:sldId id="381" r:id="rId23"/>
    <p:sldId id="382" r:id="rId24"/>
    <p:sldId id="322" r:id="rId25"/>
    <p:sldId id="323" r:id="rId26"/>
    <p:sldId id="324"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34.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Layout" Target="../slideLayouts/slideLayout17.xml"/><Relationship Id="rId6" Type="http://schemas.openxmlformats.org/officeDocument/2006/relationships/image" Target="../media/image31.png"/><Relationship Id="rId11" Type="http://schemas.openxmlformats.org/officeDocument/2006/relationships/hyperlink" Target="https://flagos.io/Home" TargetMode="External"/><Relationship Id="rId5" Type="http://schemas.openxmlformats.org/officeDocument/2006/relationships/image" Target="../media/image30.png"/><Relationship Id="rId10" Type="http://schemas.openxmlformats.org/officeDocument/2006/relationships/hyperlink" Target="https://www.zhihu.com/people/95-22-20-18/posts" TargetMode="External"/><Relationship Id="rId4" Type="http://schemas.openxmlformats.org/officeDocument/2006/relationships/image" Target="../media/image29.png"/><Relationship Id="rId9" Type="http://schemas.openxmlformats.org/officeDocument/2006/relationships/hyperlink" Target="https://space.bilibili.com/3546791834290849"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14: Normalization and Activation Functions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Basic Analysis of Operator Optimization</a:t>
            </a: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Element-wise and Reduction Operations</a:t>
            </a: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core metrics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17000"/>
              </a:lnSpc>
              <a:defRPr sz="2400" b="0" i="0" u="none" strike="noStrike" spc="0">
                <a:solidFill>
                  <a:srgbClr val="404040">
                    <a:alpha val="100000"/>
                  </a:srgbClr>
                </a:solidFill>
                <a:latin typeface="Calibri" panose="020F0502020204030204"/>
              </a:defRPr>
            </a:lvl1pPr>
          </a:lstStyle>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Compute Power (FLOPS):</a:t>
            </a:r>
          </a:p>
          <a:p>
            <a:pPr marL="596900" lvl="1"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Refers to the number of floating-point operations a GPU can perform per second.</a:t>
            </a:r>
          </a:p>
          <a:p>
            <a:pPr marL="596900" lvl="1"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Thanks to more computing cores and higher clock frequencies, computing power is growing very rapidly.</a:t>
            </a:r>
          </a:p>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Bandwidth:</a:t>
            </a:r>
          </a:p>
          <a:p>
            <a:pPr marL="596900" lvl="1"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Refers to the total amount of data a GPU can read from or write to its global memory per second.</a:t>
            </a:r>
          </a:p>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growth rate of memory bandwidth lags far behind that of computing power, leading to the "Memory Wall" problem: GPU computing cores are often idle while waiting for data from slow memory.</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Roofline Model</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The Roofline Model is an intuitive performance prediction model that analyzes the performance ceiling of specific operators on given hardware.</a:t>
            </a:r>
          </a:p>
        </p:txBody>
      </p:sp>
      <p:pic>
        <p:nvPicPr>
          <p:cNvPr id="6" name="Picture 6"/>
          <p:cNvPicPr>
            <a:picLocks noChangeAspect="1"/>
          </p:cNvPicPr>
          <p:nvPr/>
        </p:nvPicPr>
        <p:blipFill>
          <a:blip r:embed="rId2"/>
          <a:srcRect/>
          <a:stretch>
            <a:fillRect/>
          </a:stretch>
        </p:blipFill>
        <p:spPr>
          <a:xfrm>
            <a:off x="1163955" y="2463165"/>
            <a:ext cx="4998720" cy="311340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234430" y="3429000"/>
            <a:ext cx="5384800" cy="10922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Type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Compute-bound: Operator's computational load far exceeds data read/write operations. Examples include large matrix multiplication or multi-channel convolution. Performance depends mainly on GPU computational power.</a:t>
            </a:r>
          </a:p>
          <a:p>
            <a:pPr indent="0" algn="l">
              <a:lnSpc>
                <a:spcPct val="150000"/>
              </a:lnSpc>
              <a:spcBef>
                <a:spcPts val="1500"/>
              </a:spcBef>
            </a:pPr>
            <a:endParaRPr sz="2000"/>
          </a:p>
          <a:p>
            <a:pPr indent="0" algn="l">
              <a:lnSpc>
                <a:spcPct val="150000"/>
              </a:lnSpc>
              <a:spcBef>
                <a:spcPts val="1500"/>
              </a:spcBef>
            </a:pPr>
            <a:endParaRPr sz="2000"/>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Memory-bound: Operator's read and write operations far exceed the computational volume. For example, element-wise operations such as ReLU, Add, BatchNorm, and Dropout. Their performance mainly constrained by the memory bandwidth.</a:t>
            </a: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2827020" y="2487930"/>
            <a:ext cx="4438650" cy="101282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1916430" y="5092065"/>
            <a:ext cx="5125085" cy="1085215"/>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7767320" y="2645410"/>
            <a:ext cx="1537335" cy="855345"/>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7767320" y="5259705"/>
            <a:ext cx="1649095" cy="91757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Basic Analysis of Operator Optimization</a:t>
            </a: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Element-wise and Reduction operations</a:t>
            </a: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Element-wise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6" name="Picture 6"/>
          <p:cNvPicPr>
            <a:picLocks noChangeAspect="1"/>
          </p:cNvPicPr>
          <p:nvPr/>
        </p:nvPicPr>
        <p:blipFill>
          <a:blip r:embed="rId2"/>
          <a:srcRect/>
          <a:stretch>
            <a:fillRect/>
          </a:stretch>
        </p:blipFill>
        <p:spPr>
          <a:xfrm>
            <a:off x="5255260" y="4222115"/>
            <a:ext cx="5391150" cy="1545590"/>
          </a:xfrm>
          <a:prstGeom prst="rect">
            <a:avLst/>
          </a:prstGeom>
          <a:ln w="12700">
            <a:noFill/>
            <a:prstDash val="solid"/>
          </a:ln>
        </p:spPr>
      </p:pic>
      <p:sp>
        <p:nvSpPr>
          <p:cNvPr id="7" name="AutoShape 7"/>
          <p:cNvSpPr/>
          <p:nvPr/>
        </p:nvSpPr>
        <p:spPr>
          <a:xfrm>
            <a:off x="5027930" y="2449830"/>
            <a:ext cx="6447790" cy="1343660"/>
          </a:xfrm>
          <a:prstGeom prst="rect">
            <a:avLst/>
          </a:prstGeom>
          <a:noFill/>
          <a:ln w="12700">
            <a:noFill/>
            <a:prstDash val="solid"/>
          </a:ln>
        </p:spPr>
        <p:txBody>
          <a:bodyPr vert="horz" wrap="square" lIns="91440" tIns="45720" rIns="91440" bIns="45720" rtlCol="0" anchor="t">
            <a:noAutofit/>
          </a:bodyPr>
          <a:lstStyle/>
          <a:p>
            <a:pPr marL="254000" indent="-2540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Parallelism: Since there are no dependencies between each computational branch f(x), it can be distributed across thousands of threads for concurrent execution.</a:t>
            </a:r>
            <a:endParaRPr lang="en-US" sz="1000"/>
          </a:p>
          <a:p>
            <a:pPr marL="254000" indent="-2540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GPU Friendly: Perfect Match for SIMD Execution Model</a:t>
            </a:r>
          </a:p>
        </p:txBody>
      </p:sp>
      <p:sp>
        <p:nvSpPr>
          <p:cNvPr id="8" name="AutoShape 8"/>
          <p:cNvSpPr/>
          <p:nvPr/>
        </p:nvSpPr>
        <p:spPr>
          <a:xfrm>
            <a:off x="977900" y="1378585"/>
            <a:ext cx="9987915" cy="50228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logic: Apply the same transformation independently to each element in the set without interference between elements</a:t>
            </a:r>
          </a:p>
        </p:txBody>
      </p:sp>
      <p:pic>
        <p:nvPicPr>
          <p:cNvPr id="9" name="Picture 9"/>
          <p:cNvPicPr>
            <a:picLocks noChangeAspect="1"/>
          </p:cNvPicPr>
          <p:nvPr/>
        </p:nvPicPr>
        <p:blipFill>
          <a:blip r:embed="rId3"/>
          <a:srcRect/>
          <a:stretch>
            <a:fillRect/>
          </a:stretch>
        </p:blipFill>
        <p:spPr>
          <a:xfrm>
            <a:off x="1184275" y="2327275"/>
            <a:ext cx="3491230" cy="351345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nvPicPr>
        <p:blipFill>
          <a:blip r:embed="rId2"/>
          <a:srcRect/>
          <a:stretch>
            <a:fillRect/>
          </a:stretch>
        </p:blipFill>
        <p:spPr>
          <a:xfrm>
            <a:off x="1285240" y="3256915"/>
            <a:ext cx="6134735" cy="2855595"/>
          </a:xfrm>
          <a:prstGeom prst="rect">
            <a:avLst/>
          </a:prstGeom>
          <a:ln w="12700">
            <a:noFill/>
            <a:prstDash val="solid"/>
          </a:ln>
        </p:spPr>
      </p:pic>
      <p:sp>
        <p:nvSpPr>
          <p:cNvPr id="6" name="AutoShape 6"/>
          <p:cNvSpPr/>
          <p:nvPr/>
        </p:nvSpPr>
        <p:spPr>
          <a:xfrm>
            <a:off x="800100" y="1216660"/>
            <a:ext cx="10725150" cy="1572260"/>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logic: Combines multiple elements of a sequence into fewer results through a binary operation (e.g., Max)</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Data flow: Each elements calculation depends on the cumulative result of the previous element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Element-wise vs Reduction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859155" y="1299210"/>
            <a:ext cx="10725150" cy="11068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Difference Comparison</a:t>
            </a:r>
            <a:endParaRPr lang="en-US" sz="1100"/>
          </a:p>
        </p:txBody>
      </p:sp>
      <p:graphicFrame>
        <p:nvGraphicFramePr>
          <p:cNvPr id="6" name="Table 6"/>
          <p:cNvGraphicFramePr>
            <a:graphicFrameLocks noGrp="1"/>
          </p:cNvGraphicFramePr>
          <p:nvPr/>
        </p:nvGraphicFramePr>
        <p:xfrm>
          <a:off x="605790" y="2123440"/>
          <a:ext cx="11195685" cy="3753485"/>
        </p:xfrm>
        <a:graphic>
          <a:graphicData uri="http://schemas.openxmlformats.org/drawingml/2006/table">
            <a:tbl>
              <a:tblPr>
                <a:effectLst/>
              </a:tblPr>
              <a:tblGrid>
                <a:gridCol w="1883410">
                  <a:extLst>
                    <a:ext uri="{9D8B030D-6E8A-4147-A177-3AD203B41FA5}">
                      <a16:colId xmlns:a16="http://schemas.microsoft.com/office/drawing/2014/main" val="20000"/>
                    </a:ext>
                  </a:extLst>
                </a:gridCol>
                <a:gridCol w="3315970">
                  <a:extLst>
                    <a:ext uri="{9D8B030D-6E8A-4147-A177-3AD203B41FA5}">
                      <a16:colId xmlns:a16="http://schemas.microsoft.com/office/drawing/2014/main" val="20001"/>
                    </a:ext>
                  </a:extLst>
                </a:gridCol>
                <a:gridCol w="5996305">
                  <a:extLst>
                    <a:ext uri="{9D8B030D-6E8A-4147-A177-3AD203B41FA5}">
                      <a16:colId xmlns:a16="http://schemas.microsoft.com/office/drawing/2014/main" val="20002"/>
                    </a:ext>
                  </a:extLst>
                </a:gridCol>
              </a:tblGrid>
              <a:tr h="711200">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characteristic</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Element-wise</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Reduce (Tree)</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10000"/>
                  </a:ext>
                </a:extLst>
              </a:tr>
              <a:tr h="712470">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Calculation mode</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N ----&gt; N</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N ----&gt; 1</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extLst>
                  <a:ext uri="{0D108BD9-81ED-4DB2-BD59-A6C34878D82A}">
                    <a16:rowId xmlns:a16="http://schemas.microsoft.com/office/drawing/2014/main" val="10001"/>
                  </a:ext>
                </a:extLst>
              </a:tr>
              <a:tr h="906145">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Thread communication</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Threads are completely independent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Data must be exchanged through Shuffle or Shared Memory</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10002"/>
                  </a:ext>
                </a:extLst>
              </a:tr>
              <a:tr h="712470">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function</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Standard operators (+, -, *)</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tl.sum, tl.max, tl.reduce</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extLst>
                  <a:ext uri="{0D108BD9-81ED-4DB2-BD59-A6C34878D82A}">
                    <a16:rowId xmlns:a16="http://schemas.microsoft.com/office/drawing/2014/main" val="10003"/>
                  </a:ext>
                </a:extLst>
              </a:tr>
              <a:tr h="711200">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typical algorithm</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ReLU, Vector Add, Dropout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LayerNorm, Softmax, Dot Product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Review: GPU Memory Hierarchy</a:t>
            </a: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 level: Threads are organized into Blocks, which are assigned to the SM for execution.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visibility: Global Memory is visible to all threads, while Shared Memory is visible only to threads within the same Block.</a:t>
            </a:r>
          </a:p>
        </p:txBody>
      </p:sp>
      <p:pic>
        <p:nvPicPr>
          <p:cNvPr id="5" name="Picture 5"/>
          <p:cNvPicPr>
            <a:picLocks noChangeAspect="1"/>
          </p:cNvPicPr>
          <p:nvPr/>
        </p:nvPicPr>
        <p:blipFill>
          <a:blip r:embed="rId2"/>
          <a:srcRect/>
          <a:stretch>
            <a:fillRect/>
          </a:stretch>
        </p:blipFill>
        <p:spPr>
          <a:xfrm>
            <a:off x="3167380" y="2943860"/>
            <a:ext cx="5048250" cy="2270125"/>
          </a:xfrm>
          <a:prstGeom prst="rect">
            <a:avLst/>
          </a:prstGeom>
          <a:ln w="12700">
            <a:noFill/>
            <a:prstDash val="solid"/>
          </a:ln>
        </p:spPr>
      </p:pic>
      <p:graphicFrame>
        <p:nvGraphicFramePr>
          <p:cNvPr id="6" name="Table 6"/>
          <p:cNvGraphicFramePr>
            <a:graphicFrameLocks noGrp="1"/>
          </p:cNvGraphicFramePr>
          <p:nvPr/>
        </p:nvGraphicFramePr>
        <p:xfrm>
          <a:off x="1548130" y="5267325"/>
          <a:ext cx="8732520" cy="897890"/>
        </p:xfrm>
        <a:graphic>
          <a:graphicData uri="http://schemas.openxmlformats.org/drawingml/2006/table">
            <a:tbl>
              <a:tblPr>
                <a:effectLst/>
              </a:tblPr>
              <a:tblGrid>
                <a:gridCol w="2183130">
                  <a:extLst>
                    <a:ext uri="{9D8B030D-6E8A-4147-A177-3AD203B41FA5}">
                      <a16:colId xmlns:a16="http://schemas.microsoft.com/office/drawing/2014/main" val="20000"/>
                    </a:ext>
                  </a:extLst>
                </a:gridCol>
                <a:gridCol w="2183130">
                  <a:extLst>
                    <a:ext uri="{9D8B030D-6E8A-4147-A177-3AD203B41FA5}">
                      <a16:colId xmlns:a16="http://schemas.microsoft.com/office/drawing/2014/main" val="20001"/>
                    </a:ext>
                  </a:extLst>
                </a:gridCol>
                <a:gridCol w="2183130">
                  <a:extLst>
                    <a:ext uri="{9D8B030D-6E8A-4147-A177-3AD203B41FA5}">
                      <a16:colId xmlns:a16="http://schemas.microsoft.com/office/drawing/2014/main" val="20002"/>
                    </a:ext>
                  </a:extLst>
                </a:gridCol>
                <a:gridCol w="2183130">
                  <a:extLst>
                    <a:ext uri="{9D8B030D-6E8A-4147-A177-3AD203B41FA5}">
                      <a16:colId xmlns:a16="http://schemas.microsoft.com/office/drawing/2014/main" val="20003"/>
                    </a:ext>
                  </a:extLst>
                </a:gridCol>
              </a:tblGrid>
              <a:tr h="448945">
                <a:tc>
                  <a:txBody>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Register</a:t>
                      </a:r>
                      <a:endParaRPr lang="en-US" sz="1100"/>
                    </a:p>
                  </a:txBody>
                  <a:tcPr>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Shared Memory</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L2 Cache</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HBM</a:t>
                      </a:r>
                      <a:endParaRPr lang="en-US" sz="1100"/>
                    </a:p>
                  </a:txBody>
                  <a:tcPr>
                    <a:lnL w="12700" cap="flat" cmpd="sng" algn="ctr">
                      <a:solidFill>
                        <a:srgbClr val="DAE3F3"/>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extLst>
                  <a:ext uri="{0D108BD9-81ED-4DB2-BD59-A6C34878D82A}">
                    <a16:rowId xmlns:a16="http://schemas.microsoft.com/office/drawing/2014/main" val="10000"/>
                  </a:ext>
                </a:extLst>
              </a:tr>
              <a:tr h="448945">
                <a:tc>
                  <a:txBody>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64 KB 130TB/s</a:t>
                      </a:r>
                      <a:endParaRPr lang="en-US" sz="1100"/>
                    </a:p>
                  </a:txBody>
                  <a:tcPr>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227 KB 33 TB/s</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50MB 12TB/s</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80GB 3TB/s</a:t>
                      </a:r>
                      <a:endParaRPr lang="en-US" sz="1100"/>
                    </a:p>
                  </a:txBody>
                  <a:tcPr>
                    <a:lnL w="12700" cap="flat" cmpd="sng" algn="ctr">
                      <a:solidFill>
                        <a:srgbClr val="DAE3F3"/>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Competition in Reduction Process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a basic reduction: suppose the value in global memory is 3, and both threads want to increment it by 1.</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Scenario 1:</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1 reads value 3, adds 1, and writes 4 back to global memory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2 reads value 4 and writes 5 back to global memory</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Situation 2:</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1 reads value 3</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2 reads value 3</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Both threads operate on 3 and write the result 4 back to global memory</a:t>
            </a:r>
          </a:p>
        </p:txBody>
      </p:sp>
      <p:pic>
        <p:nvPicPr>
          <p:cNvPr id="6" name="Picture 6"/>
          <p:cNvPicPr>
            <a:picLocks noChangeAspect="1"/>
          </p:cNvPicPr>
          <p:nvPr/>
        </p:nvPicPr>
        <p:blipFill>
          <a:blip r:embed="rId2"/>
          <a:srcRect/>
          <a:stretch>
            <a:fillRect/>
          </a:stretch>
        </p:blipFill>
        <p:spPr>
          <a:xfrm>
            <a:off x="7404735" y="2038350"/>
            <a:ext cx="723900" cy="64770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7526020" y="3976370"/>
            <a:ext cx="602615" cy="78295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Solution: Atomic Operations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741680" y="1313815"/>
            <a:ext cx="10741660" cy="168211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logic: Ensure this memory location is not accessed by other operations during execution</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Although atomicAdd guarantees correct results, its performance is generally poor and is only suitable for sparse access.</a:t>
            </a:r>
          </a:p>
        </p:txBody>
      </p:sp>
      <p:pic>
        <p:nvPicPr>
          <p:cNvPr id="6" name="Picture 6"/>
          <p:cNvPicPr>
            <a:picLocks noChangeAspect="1"/>
          </p:cNvPicPr>
          <p:nvPr/>
        </p:nvPicPr>
        <p:blipFill>
          <a:blip r:embed="rId2"/>
          <a:srcRect/>
          <a:stretch>
            <a:fillRect/>
          </a:stretch>
        </p:blipFill>
        <p:spPr>
          <a:xfrm>
            <a:off x="1426210" y="3265170"/>
            <a:ext cx="4141470" cy="288480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848475" y="4091305"/>
            <a:ext cx="1476375" cy="152654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Performance Bottleneck of Atomic Operations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741680" y="1408430"/>
            <a:ext cx="9624060" cy="1963420"/>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Serialization occurs: The GPUs originally powerful parallel processing capability degrades to single-core serial performance.</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Higher instruction overhead: Atomic operations require locking the memory location at the lower level to prevent the entire read-modify-write process from being interrupted by other Workers.</a:t>
            </a: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837565" y="3766185"/>
            <a:ext cx="5876290" cy="22606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Reduction Parallelism</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741680" y="1381125"/>
            <a:ext cx="10593070" cy="122364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the operation satisfies the associative property (e.g., a + (b + c) = (a + b) + c), it can be parallelized using a tree structure.</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First, different Workers compute local reduction results, which are then combined by the Combiner function.</a:t>
            </a:r>
          </a:p>
        </p:txBody>
      </p:sp>
      <p:pic>
        <p:nvPicPr>
          <p:cNvPr id="6" name="Picture 6"/>
          <p:cNvPicPr>
            <a:picLocks noChangeAspect="1"/>
          </p:cNvPicPr>
          <p:nvPr/>
        </p:nvPicPr>
        <p:blipFill>
          <a:blip r:embed="rId2"/>
          <a:srcRect/>
          <a:stretch>
            <a:fillRect/>
          </a:stretch>
        </p:blipFill>
        <p:spPr>
          <a:xfrm>
            <a:off x="1012825" y="3225800"/>
            <a:ext cx="6087745" cy="2833370"/>
          </a:xfrm>
          <a:prstGeom prst="rect">
            <a:avLst/>
          </a:prstGeom>
          <a:ln w="12700">
            <a:noFill/>
            <a:prstDash val="solid"/>
          </a:ln>
        </p:spPr>
      </p:pic>
      <p:sp>
        <p:nvSpPr>
          <p:cNvPr id="7" name="AutoShape 7"/>
          <p:cNvSpPr/>
          <p:nvPr/>
        </p:nvSpPr>
        <p:spPr>
          <a:xfrm>
            <a:off x="8025702" y="4035044"/>
            <a:ext cx="683637" cy="3581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1" u="none" strike="noStrike">
                <a:solidFill>
                  <a:srgbClr val="000000"/>
                </a:solidFill>
                <a:latin typeface="DejaVu Math TeX Gyre" panose="02000503000000000000"/>
                <a:ea typeface="DejaVu Math TeX Gyre" panose="02000503000000000000"/>
                <a:cs typeface="DejaVu Math TeX Gyre" panose="02000503000000000000"/>
                <a:sym typeface="DejaVu Math TeX Gyre" panose="02000503000000000000"/>
              </a:rPr>
              <a:t>O(N)</a:t>
            </a:r>
            <a:endParaRPr lang="en-US" sz="1100"/>
          </a:p>
        </p:txBody>
      </p:sp>
      <p:sp>
        <p:nvSpPr>
          <p:cNvPr id="8" name="AutoShape 8"/>
          <p:cNvSpPr/>
          <p:nvPr/>
        </p:nvSpPr>
        <p:spPr>
          <a:xfrm>
            <a:off x="7938707" y="5082159"/>
            <a:ext cx="1015524" cy="3581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1" u="none" strike="noStrike">
                <a:solidFill>
                  <a:srgbClr val="000000"/>
                </a:solidFill>
                <a:latin typeface="DejaVu Math TeX Gyre" panose="02000503000000000000"/>
                <a:ea typeface="DejaVu Math TeX Gyre" panose="02000503000000000000"/>
                <a:cs typeface="DejaVu Math TeX Gyre" panose="02000503000000000000"/>
                <a:sym typeface="DejaVu Math TeX Gyre" panose="02000503000000000000"/>
              </a:rPr>
              <a:t>O(logN)</a:t>
            </a:r>
            <a:endParaRPr lang="en-US" sz="1100"/>
          </a:p>
        </p:txBody>
      </p:sp>
      <p:sp>
        <p:nvSpPr>
          <p:cNvPr id="9" name="AutoShape 9"/>
          <p:cNvSpPr/>
          <p:nvPr/>
        </p:nvSpPr>
        <p:spPr>
          <a:xfrm>
            <a:off x="8343265" y="4479925"/>
            <a:ext cx="172085" cy="524510"/>
          </a:xfrm>
          <a:prstGeom prst="downArrow">
            <a:avLst>
              <a:gd name="adj1" fmla="val 50000"/>
              <a:gd name="adj2" fmla="val 50000"/>
            </a:avLst>
          </a:prstGeom>
          <a:solidFill>
            <a:srgbClr val="A5A5A5">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reduced objective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Objective: Achieve optimal peak GPU performance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Bottleneck: Memory Access Bottleneck</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Very low arithmetic intensity, with only one operation (e.g., addition) per loaded element</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Ratio: 1 FLOP per Element</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Conclusion: The optimization objective of reduction is to maximize bandwidth utilization</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example: vector addition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878840" y="1386840"/>
            <a:ext cx="9850120" cy="1102360"/>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This is the simplest parallel mode: each thread processes one or more independent data points without needing to communicate with each other.</a:t>
            </a:r>
            <a:endParaRPr lang="en-US" sz="1100"/>
          </a:p>
        </p:txBody>
      </p:sp>
      <p:pic>
        <p:nvPicPr>
          <p:cNvPr id="6" name="Picture 6"/>
          <p:cNvPicPr>
            <a:picLocks noChangeAspect="1"/>
          </p:cNvPicPr>
          <p:nvPr/>
        </p:nvPicPr>
        <p:blipFill>
          <a:blip r:embed="rId2"/>
          <a:srcRect/>
          <a:stretch>
            <a:fillRect/>
          </a:stretch>
        </p:blipFill>
        <p:spPr>
          <a:xfrm>
            <a:off x="1764665" y="2712720"/>
            <a:ext cx="7940675" cy="36322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example: Sum</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2"/>
          <a:srcRect/>
          <a:stretch>
            <a:fillRect/>
          </a:stretch>
        </p:blipFill>
        <p:spPr>
          <a:xfrm>
            <a:off x="1326931" y="2931872"/>
            <a:ext cx="8496737" cy="3187864"/>
          </a:xfrm>
          <a:prstGeom prst="rect">
            <a:avLst/>
          </a:prstGeom>
        </p:spPr>
      </p:pic>
      <p:sp>
        <p:nvSpPr>
          <p:cNvPr id="6" name="AutoShape 6"/>
          <p:cNvSpPr/>
          <p:nvPr/>
        </p:nvSpPr>
        <p:spPr>
          <a:xfrm>
            <a:off x="878840" y="1386840"/>
            <a:ext cx="10301605" cy="94805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is relatively more complex and requires a tree-like parallel structure. However, Triton abstracts the underlying tree-based exchange logic and encapsulates it within the tl.sum function, enabling direct invocation.</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reduction of massive data</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Question: How do different threads operate on separate SMs and share intermediate results?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ideal global synchronization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CUDA supports Global Barrier:</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All blocks sync automatically after the first round of reduction</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Continue the recursive reduction until a single value is obtained</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doesnt CUDA support global synchronization on the device side?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hardware cost is prohibitively high: over 80 SMs,and if each supports multiple resident blocks, global synchronization requires massive hardware logic.</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Deadlock risk: If the number of blocks initiated by the programmer exceeds the GPUs concurrent execution capacity (SM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number of resident blocks per SM), some blocks may be suspended. If running blocks wait for synchronization from suspended blocks, a deadlock may occur.</a:t>
            </a: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Solution: Kernel Decomposition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Since synchronization cannot be performed within the Kernel, we can achieve it by terminating the Kernel. The end of the Launch process naturally serves as a global synchronization point.</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Multi-level reduction: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Level 0: Launch a large number of Blocks, each reducing a portion of the data, and write the results to global memory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Level 1: Start a small number of Blocks and read the Level 0 results for secondary reduction</a:t>
            </a: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1932305" y="4163060"/>
            <a:ext cx="7903845" cy="21101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activation function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Introduces nonlinear capabilities to neural networks, enabling the model to fit complex function mappings.</a:t>
            </a:r>
          </a:p>
        </p:txBody>
      </p:sp>
      <p:pic>
        <p:nvPicPr>
          <p:cNvPr id="6" name="Picture 6"/>
          <p:cNvPicPr>
            <a:picLocks noChangeAspect="1"/>
          </p:cNvPicPr>
          <p:nvPr/>
        </p:nvPicPr>
        <p:blipFill>
          <a:blip r:embed="rId2"/>
          <a:srcRect/>
          <a:stretch>
            <a:fillRect/>
          </a:stretch>
        </p:blipFill>
        <p:spPr>
          <a:xfrm>
            <a:off x="945515" y="2223770"/>
            <a:ext cx="4269105" cy="3513455"/>
          </a:xfrm>
          <a:prstGeom prst="rect">
            <a:avLst/>
          </a:prstGeom>
          <a:ln w="12700">
            <a:noFill/>
            <a:prstDash val="solid"/>
          </a:ln>
        </p:spPr>
      </p:pic>
      <p:sp>
        <p:nvSpPr>
          <p:cNvPr id="7" name="AutoShape 7"/>
          <p:cNvSpPr/>
          <p:nvPr/>
        </p:nvSpPr>
        <p:spPr>
          <a:xfrm>
            <a:off x="5527040" y="2720340"/>
            <a:ext cx="5198745" cy="60261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formula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pic>
        <p:nvPicPr>
          <p:cNvPr id="8" name="Picture 8"/>
          <p:cNvPicPr>
            <a:picLocks noChangeAspect="1"/>
          </p:cNvPicPr>
          <p:nvPr/>
        </p:nvPicPr>
        <p:blipFill>
          <a:blip r:embed="rId3"/>
          <a:srcRect/>
          <a:stretch>
            <a:fillRect/>
          </a:stretch>
        </p:blipFill>
        <p:spPr>
          <a:xfrm>
            <a:off x="7212965" y="3230880"/>
            <a:ext cx="3512820" cy="563880"/>
          </a:xfrm>
          <a:prstGeom prst="rect">
            <a:avLst/>
          </a:prstGeom>
          <a:ln w="12700">
            <a:noFill/>
            <a:prstDash val="solid"/>
          </a:ln>
        </p:spPr>
      </p:pic>
      <p:sp>
        <p:nvSpPr>
          <p:cNvPr id="9" name="AutoShape 9"/>
          <p:cNvSpPr/>
          <p:nvPr/>
        </p:nvSpPr>
        <p:spPr>
          <a:xfrm>
            <a:off x="5532755" y="2117725"/>
            <a:ext cx="11277600" cy="60261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Take GELU as an example</a:t>
            </a:r>
            <a:endParaRPr lang="en-US" sz="1100"/>
          </a:p>
        </p:txBody>
      </p:sp>
      <p:sp>
        <p:nvSpPr>
          <p:cNvPr id="10" name="AutoShape 10"/>
          <p:cNvSpPr/>
          <p:nvPr/>
        </p:nvSpPr>
        <p:spPr>
          <a:xfrm>
            <a:off x="5412740" y="3794760"/>
            <a:ext cx="6388100" cy="1522095"/>
          </a:xfrm>
          <a:prstGeom prst="rect">
            <a:avLst/>
          </a:prstGeom>
          <a:noFill/>
          <a:ln w="12700">
            <a:noFill/>
            <a:prstDash val="solid"/>
          </a:ln>
        </p:spPr>
        <p:txBody>
          <a:bodyPr vert="horz" wrap="square" lIns="91440" tIns="45720" rIns="91440" bIns="45720" rtlCol="0" anchor="t">
            <a:noAutofit/>
          </a:bodyPr>
          <a:lstStyle/>
          <a:p>
            <a:pPr marL="254000" indent="-254000" algn="l">
              <a:lnSpc>
                <a:spcPct val="125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Due to the inclusion of transcendental functions, the computational intensity is high. When executed independently, it is constrained by memory bandwidth. However, when integrated with GEMM, the complex erf calculations significantly reduce kernel latency.</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LayerNorm</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LayerNorm is a core component of modern neural networks like Transformers, whose core idea is to normalize all features of a single sample.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Formula: For the input x, the output y is</a:t>
            </a: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dependencies: Calculating mean and variance requires traversing the entire row of data, which is essentially a Reduction operation.</a:t>
            </a:r>
          </a:p>
        </p:txBody>
      </p:sp>
      <p:pic>
        <p:nvPicPr>
          <p:cNvPr id="6" name="Picture 6"/>
          <p:cNvPicPr>
            <a:picLocks noChangeAspect="1"/>
          </p:cNvPicPr>
          <p:nvPr/>
        </p:nvPicPr>
        <p:blipFill>
          <a:blip r:embed="rId2"/>
          <a:srcRect/>
          <a:stretch>
            <a:fillRect/>
          </a:stretch>
        </p:blipFill>
        <p:spPr>
          <a:xfrm>
            <a:off x="3996690" y="3042285"/>
            <a:ext cx="3619500" cy="9398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1243</Words>
  <Application>Microsoft Office PowerPoint</Application>
  <PresentationFormat>宽屏</PresentationFormat>
  <Paragraphs>148</Paragraphs>
  <Slides>25</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25</vt:i4>
      </vt:variant>
    </vt:vector>
  </HeadingPairs>
  <TitlesOfParts>
    <vt:vector size="37" baseType="lpstr">
      <vt:lpstr>Noto Sans SC</vt:lpstr>
      <vt:lpstr>Pretendard</vt:lpstr>
      <vt:lpstr>微软雅黑</vt:lpstr>
      <vt:lpstr>Arial</vt:lpstr>
      <vt:lpstr>Calibri</vt:lpstr>
      <vt:lpstr>Calibri Light</vt:lpstr>
      <vt:lpstr>DejaVu Math TeX Gyre</vt:lpstr>
      <vt:lpstr>Ebrima</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13</cp:revision>
  <dcterms:created xsi:type="dcterms:W3CDTF">2026-04-17T05:07:00Z</dcterms:created>
  <dcterms:modified xsi:type="dcterms:W3CDTF">2026-05-27T10:17:43Z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C79E56846FEAA2CF55BFE1693E6D39DC_42</vt:lpwstr>
  </property>
  <property fmtid="{D5CDD505-2E9C-101B-9397-08002B2CF9AE}" pid="3" name="KSOProductBuildVer">
    <vt:lpwstr>2052-12.1.0.21915</vt:lpwstr>
  </property>
</Properties>
</file>