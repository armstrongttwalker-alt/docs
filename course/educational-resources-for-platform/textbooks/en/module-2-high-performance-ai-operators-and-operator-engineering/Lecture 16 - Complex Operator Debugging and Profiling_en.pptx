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Lst>
  <p:notesMasterIdLst>
    <p:notesMasterId r:id="rId27"/>
  </p:notesMasterIdLst>
  <p:handoutMasterIdLst>
    <p:handoutMasterId r:id="rId28"/>
  </p:handoutMasterIdLst>
  <p:sldIdLst>
    <p:sldId id="256" r:id="rId3"/>
    <p:sldId id="407" r:id="rId4"/>
    <p:sldId id="408" r:id="rId5"/>
    <p:sldId id="409" r:id="rId6"/>
    <p:sldId id="410" r:id="rId7"/>
    <p:sldId id="411" r:id="rId8"/>
    <p:sldId id="412" r:id="rId9"/>
    <p:sldId id="413" r:id="rId10"/>
    <p:sldId id="414" r:id="rId11"/>
    <p:sldId id="415" r:id="rId12"/>
    <p:sldId id="416" r:id="rId13"/>
    <p:sldId id="417" r:id="rId14"/>
    <p:sldId id="418" r:id="rId15"/>
    <p:sldId id="419" r:id="rId16"/>
    <p:sldId id="420" r:id="rId17"/>
    <p:sldId id="421" r:id="rId18"/>
    <p:sldId id="422" r:id="rId19"/>
    <p:sldId id="423" r:id="rId20"/>
    <p:sldId id="424" r:id="rId21"/>
    <p:sldId id="425" r:id="rId22"/>
    <p:sldId id="426" r:id="rId23"/>
    <p:sldId id="322" r:id="rId24"/>
    <p:sldId id="323" r:id="rId25"/>
    <p:sldId id="324"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0" d="100"/>
          <a:sy n="90" d="100"/>
        </p:scale>
        <p:origin x="63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https://developer.download.nvidia.cn/video/gputechconf/gtc/2019/presentation/s9345-cuda-kernel-profiling-using-nvidia-nsight-compute.pdf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https://www.slideshare.net/slideshow/profiling-deep-learning-network-using-nvidia-nsight-systems/170158704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https://developer.download.nvidia.cn/video/gputechconf/gtc/2019/presentation/s9345-cuda-kernel-profiling-using-nvidia-nsight-compute.pdf</a:t>
            </a:r>
          </a:p>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endParaR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4"/>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5"/>
            <a:srcRect l="13229" t="29812" r="10430" b="29795"/>
            <a:stretch>
              <a:fillRect/>
            </a:stretch>
          </p:blipFill>
          <p:spPr>
            <a:xfrm>
              <a:off x="10527164" y="158476"/>
              <a:ext cx="1274701" cy="547850"/>
            </a:xfrm>
            <a:prstGeom prst="rect">
              <a:avLst/>
            </a:prstGeom>
            <a:ln w="12700">
              <a:noFill/>
              <a:prstDash val="solid"/>
            </a:ln>
          </p:spPr>
        </p:pic>
      </p:gr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hyperlink" Target="https://developer.nvidia.com/nsight-systems/get-started"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hyperlink" Target="https://docs.nvidia.com/nsight-compute/ProfilingGuide/index.html" TargetMode="External"/><Relationship Id="rId4" Type="http://schemas.openxmlformats.org/officeDocument/2006/relationships/hyperlink" Target="https://docs.nvidia.com/nsight-systems/index.html"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8" Type="http://schemas.openxmlformats.org/officeDocument/2006/relationships/hyperlink" Target="https://github.com/flagos-ai" TargetMode="External"/><Relationship Id="rId13" Type="http://schemas.openxmlformats.org/officeDocument/2006/relationships/image" Target="../media/image28.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27.jpeg"/><Relationship Id="rId2" Type="http://schemas.openxmlformats.org/officeDocument/2006/relationships/image" Target="../media/image21.png"/><Relationship Id="rId1" Type="http://schemas.openxmlformats.org/officeDocument/2006/relationships/slideLayout" Target="../slideLayouts/slideLayout17.xml"/><Relationship Id="rId6" Type="http://schemas.openxmlformats.org/officeDocument/2006/relationships/image" Target="../media/image25.png"/><Relationship Id="rId11" Type="http://schemas.openxmlformats.org/officeDocument/2006/relationships/hyperlink" Target="https://flagos.io/Home" TargetMode="External"/><Relationship Id="rId5" Type="http://schemas.openxmlformats.org/officeDocument/2006/relationships/image" Target="../media/image24.png"/><Relationship Id="rId10" Type="http://schemas.openxmlformats.org/officeDocument/2006/relationships/hyperlink" Target="https://www.zhihu.com/people/95-22-20-18/posts" TargetMode="External"/><Relationship Id="rId4" Type="http://schemas.openxmlformats.org/officeDocument/2006/relationships/image" Target="../media/image23.png"/><Relationship Id="rId9" Type="http://schemas.openxmlformats.org/officeDocument/2006/relationships/hyperlink" Target="https://space.bilibili.com/3546791834290849"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9.jpeg"/><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2"/>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16: Complex Operator Debugging and Profiling</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Ebrima" panose="02000000000000000000"/>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Overview</a:t>
            </a: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Nsight System</a:t>
            </a: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Nsight Compute</a:t>
            </a:r>
          </a:p>
          <a:p>
            <a:pPr marL="355600" indent="-355600" algn="l">
              <a:lnSpc>
                <a:spcPct val="100000"/>
              </a:lnSpc>
              <a:spcBef>
                <a:spcPts val="3000"/>
              </a:spcBef>
              <a:buClr>
                <a:srgbClr val="404040"/>
              </a:buClr>
              <a:buChar char="•"/>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Case Study</a:t>
            </a:r>
          </a:p>
        </p:txBody>
      </p:sp>
      <p:sp>
        <p:nvSpPr>
          <p:cNvPr id="3" name="AutoShape 3"/>
          <p:cNvSpPr>
            <a:spLocks noGrp="1"/>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Developer Tools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https://developer.nvidia.com/tools-overview</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tools are a powerful set of libraries, SDKs, and developer tools spanning across desktop and mobile targets that enable developers to build, debug, profile, and develop software that utilizes the latest accelerated computing hardware.</a:t>
            </a:r>
          </a:p>
        </p:txBody>
      </p:sp>
      <p:pic>
        <p:nvPicPr>
          <p:cNvPr id="6" name="Picture 6"/>
          <p:cNvPicPr>
            <a:picLocks noChangeAspect="1"/>
          </p:cNvPicPr>
          <p:nvPr/>
        </p:nvPicPr>
        <p:blipFill>
          <a:blip r:embed="rId2"/>
          <a:srcRect/>
          <a:stretch>
            <a:fillRect/>
          </a:stretch>
        </p:blipFill>
        <p:spPr>
          <a:xfrm>
            <a:off x="1749425" y="2889885"/>
            <a:ext cx="8817610" cy="353631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Product Family (for CUDA Profiling)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graphicFrame>
        <p:nvGraphicFramePr>
          <p:cNvPr id="6" name="Table 6"/>
          <p:cNvGraphicFramePr>
            <a:graphicFrameLocks noGrp="1"/>
          </p:cNvGraphicFramePr>
          <p:nvPr/>
        </p:nvGraphicFramePr>
        <p:xfrm>
          <a:off x="669656" y="1511176"/>
          <a:ext cx="10852688" cy="3987098"/>
        </p:xfrm>
        <a:graphic>
          <a:graphicData uri="http://schemas.openxmlformats.org/drawingml/2006/table">
            <a:tbl>
              <a:tblPr>
                <a:effectLst/>
              </a:tblPr>
              <a:tblGrid>
                <a:gridCol w="2204173">
                  <a:extLst>
                    <a:ext uri="{9D8B030D-6E8A-4147-A177-3AD203B41FA5}">
                      <a16:colId xmlns:a16="http://schemas.microsoft.com/office/drawing/2014/main" val="20000"/>
                    </a:ext>
                  </a:extLst>
                </a:gridCol>
                <a:gridCol w="2066306">
                  <a:extLst>
                    <a:ext uri="{9D8B030D-6E8A-4147-A177-3AD203B41FA5}">
                      <a16:colId xmlns:a16="http://schemas.microsoft.com/office/drawing/2014/main" val="20001"/>
                    </a:ext>
                  </a:extLst>
                </a:gridCol>
                <a:gridCol w="3503221">
                  <a:extLst>
                    <a:ext uri="{9D8B030D-6E8A-4147-A177-3AD203B41FA5}">
                      <a16:colId xmlns:a16="http://schemas.microsoft.com/office/drawing/2014/main" val="20002"/>
                    </a:ext>
                  </a:extLst>
                </a:gridCol>
                <a:gridCol w="3078988">
                  <a:extLst>
                    <a:ext uri="{9D8B030D-6E8A-4147-A177-3AD203B41FA5}">
                      <a16:colId xmlns:a16="http://schemas.microsoft.com/office/drawing/2014/main" val="20003"/>
                    </a:ext>
                  </a:extLst>
                </a:gridCol>
              </a:tblGrid>
              <a:tr h="468951">
                <a:tc>
                  <a:txBody>
                    <a:bodyPr/>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Tool Name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Analysis Level</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Primary Features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2000" b="0" i="0" u="none" strike="noStrike">
                          <a:solidFill>
                            <a:srgbClr val="FFFFFF"/>
                          </a:solidFill>
                          <a:latin typeface="Arial" panose="020B0604020202020204"/>
                          <a:ea typeface="Arial" panose="020B0604020202020204"/>
                          <a:cs typeface="Arial" panose="020B0604020202020204"/>
                          <a:sym typeface="Arial" panose="020B0604020202020204"/>
                        </a:rPr>
                        <a:t>Typical Use Cases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extLst>
                  <a:ext uri="{0D108BD9-81ED-4DB2-BD59-A6C34878D82A}">
                    <a16:rowId xmlns:a16="http://schemas.microsoft.com/office/drawing/2014/main" val="10000"/>
                  </a:ext>
                </a:extLst>
              </a:tr>
              <a:tr h="1550762">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Nsight Systems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System-level</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Cross CPU/GPU timeline analysis, API tracing, multi-process tracking</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Low GPU utilization, multi-GPU load imbalance, CPU-GPU coordination issues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extLst>
                  <a:ext uri="{0D108BD9-81ED-4DB2-BD59-A6C34878D82A}">
                    <a16:rowId xmlns:a16="http://schemas.microsoft.com/office/drawing/2014/main" val="10001"/>
                  </a:ext>
                </a:extLst>
              </a:tr>
              <a:tr h="1967385">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Nsight Compute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Kernel-level</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CUDA kernel microarchitecture analysis, instruction-level performance metrics, optimization recommendations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Kernel performance bottleneck analysis, memory access optimization, register usage tuning</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extLst>
                  <a:ext uri="{0D108BD9-81ED-4DB2-BD59-A6C34878D82A}">
                    <a16:rowId xmlns:a16="http://schemas.microsoft.com/office/drawing/2014/main" val="1000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Optimization Workflow for CUDA Applications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1"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Nsight Systems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System-wide application algorithm tuning</a:t>
            </a:r>
          </a:p>
          <a:p>
            <a:pPr marL="304800" indent="-304800" algn="l">
              <a:lnSpc>
                <a:spcPct val="100000"/>
              </a:lnSpc>
              <a:spcBef>
                <a:spcPts val="1500"/>
              </a:spcBef>
              <a:buClr>
                <a:srgbClr val="404040"/>
              </a:buClr>
              <a:buChar char="•"/>
            </a:pPr>
            <a:r>
              <a:rPr lang="en-US" sz="2400" b="1" i="0" u="none" strike="noStrike">
                <a:solidFill>
                  <a:srgbClr val="404040"/>
                </a:solidFill>
                <a:latin typeface="Calibri" panose="020F0502020204030204"/>
                <a:ea typeface="Calibri" panose="020F0502020204030204"/>
                <a:cs typeface="Calibri" panose="020F0502020204030204"/>
                <a:sym typeface="Calibri" panose="020F0502020204030204"/>
              </a:rPr>
              <a:t>Nsight Compute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Debug/optimize specific CUDA kernel</a:t>
            </a:r>
          </a:p>
        </p:txBody>
      </p:sp>
      <p:pic>
        <p:nvPicPr>
          <p:cNvPr id="6" name="Picture 6"/>
          <p:cNvPicPr>
            <a:picLocks noChangeAspect="1"/>
          </p:cNvPicPr>
          <p:nvPr/>
        </p:nvPicPr>
        <p:blipFill>
          <a:blip r:embed="rId2"/>
          <a:srcRect/>
          <a:stretch>
            <a:fillRect/>
          </a:stretch>
        </p:blipFill>
        <p:spPr>
          <a:xfrm>
            <a:off x="348279" y="2980706"/>
            <a:ext cx="11495442" cy="2327688"/>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https://developer.nvidia.com/nsight-systems</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Systems is a system-wide performance analysis tool designed to:</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Visualize an application’s algorithms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Identify the largest opportunities to optimize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Tune to scale efficiently across any quantity or size of CPUs and GPUs</a:t>
            </a:r>
          </a:p>
        </p:txBody>
      </p:sp>
      <p:pic>
        <p:nvPicPr>
          <p:cNvPr id="6" name="Picture 6"/>
          <p:cNvPicPr>
            <a:picLocks noChangeAspect="1"/>
          </p:cNvPicPr>
          <p:nvPr/>
        </p:nvPicPr>
        <p:blipFill>
          <a:blip r:embed="rId2"/>
          <a:srcRect/>
          <a:stretch>
            <a:fillRect/>
          </a:stretch>
        </p:blipFill>
        <p:spPr>
          <a:xfrm>
            <a:off x="9091765" y="3750469"/>
            <a:ext cx="2071040" cy="205645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 - Features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https://developer.nvidia.com/nsight-systems/get-started</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View system-wide application behavior across CPUs and GPUs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CPU cores utilization, process &amp; thread activities, thread backtraces, CPU performance metrics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workload trace, GPU context switch trace.</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SOC traces (hypervisor, memory bandwidth, accelerators)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OS Event Trace (ftrace, ETW)</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Investigate CPU-GPU interactions and bubbles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Compute &amp; AI APIs: CUDA API, CUDA libraries trace, Bidirectional correlation of API and GPU workload.</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Graphics &amp; Rendering: OpenGL API, Vulkan API, etc.</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Workflow &amp; Resource Analysis: User annotations API trace, Identify GPU idle and sparse usage</a:t>
            </a: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6" name="Picture 6"/>
          <p:cNvPicPr>
            <a:picLocks noChangeAspect="1"/>
          </p:cNvPicPr>
          <p:nvPr/>
        </p:nvPicPr>
        <p:blipFill>
          <a:blip r:embed="rId3"/>
          <a:srcRect/>
          <a:stretch>
            <a:fillRect/>
          </a:stretch>
        </p:blipFill>
        <p:spPr>
          <a:xfrm>
            <a:off x="594247" y="1132763"/>
            <a:ext cx="9987506" cy="5638242"/>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Systems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NVTX: A profiling API that annotates performance timelines with custom event markers</a:t>
            </a:r>
          </a:p>
        </p:txBody>
      </p:sp>
      <p:pic>
        <p:nvPicPr>
          <p:cNvPr id="6" name="Picture 6"/>
          <p:cNvPicPr>
            <a:picLocks noChangeAspect="1"/>
          </p:cNvPicPr>
          <p:nvPr/>
        </p:nvPicPr>
        <p:blipFill>
          <a:blip r:embed="rId3"/>
          <a:srcRect/>
          <a:stretch>
            <a:fillRect/>
          </a:stretch>
        </p:blipFill>
        <p:spPr>
          <a:xfrm>
            <a:off x="4792377" y="1323975"/>
            <a:ext cx="7137375" cy="4435557"/>
          </a:xfrm>
          <a:prstGeom prst="rect">
            <a:avLst/>
          </a:prstGeom>
          <a:ln w="12700">
            <a:noFill/>
            <a:prstDash val="solid"/>
          </a:ln>
        </p:spPr>
      </p:pic>
      <p:pic>
        <p:nvPicPr>
          <p:cNvPr id="7" name="Picture 7"/>
          <p:cNvPicPr>
            <a:picLocks noChangeAspect="1"/>
          </p:cNvPicPr>
          <p:nvPr/>
        </p:nvPicPr>
        <p:blipFill>
          <a:blip r:embed="rId4"/>
          <a:srcRect/>
          <a:stretch>
            <a:fillRect/>
          </a:stretch>
        </p:blipFill>
        <p:spPr>
          <a:xfrm>
            <a:off x="639999" y="3892972"/>
            <a:ext cx="3715618" cy="7822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Compute</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https://developer.nvidia.com/nsight-compute</a:t>
            </a:r>
          </a:p>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https://docs.nvidia.com/nsight-compute/ProfilingGuide/index.html</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Nsight™ Compute is an interactive profiler for CUDA® and NVIDIA OptiX™ that provides detailed performance metrics and API debugging via a user interface and command-line tool.</a:t>
            </a:r>
          </a:p>
        </p:txBody>
      </p:sp>
      <p:pic>
        <p:nvPicPr>
          <p:cNvPr id="6" name="Picture 6"/>
          <p:cNvPicPr>
            <a:picLocks noChangeAspect="1"/>
          </p:cNvPicPr>
          <p:nvPr/>
        </p:nvPicPr>
        <p:blipFill>
          <a:blip r:embed="rId2"/>
          <a:srcRect/>
          <a:stretch>
            <a:fillRect/>
          </a:stretch>
        </p:blipFill>
        <p:spPr>
          <a:xfrm>
            <a:off x="2094896" y="3016332"/>
            <a:ext cx="8135553" cy="297062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NVIDIA Nsight Compute - Features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https://developer.download.nvidia.cn/video/gputechconf/gtc/2019/presentation/s9345-cuda-kernel-profiling-using-nvidia-nsight-compute.pdf</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18490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Interactive CUDA API debugging and kernel profiling</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Graphical profile report</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Comparison of multiple kernel reports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Fully Customizable (Reports and Analysis Rules)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Command Line, Standalone, IDE Integration</a:t>
            </a:r>
          </a:p>
        </p:txBody>
      </p:sp>
      <p:pic>
        <p:nvPicPr>
          <p:cNvPr id="6" name="Picture 6"/>
          <p:cNvPicPr>
            <a:picLocks noChangeAspect="1"/>
          </p:cNvPicPr>
          <p:nvPr/>
        </p:nvPicPr>
        <p:blipFill>
          <a:blip r:embed="rId3"/>
          <a:srcRect/>
          <a:stretch>
            <a:fillRect/>
          </a:stretch>
        </p:blipFill>
        <p:spPr>
          <a:xfrm>
            <a:off x="8075930" y="981710"/>
            <a:ext cx="3725545" cy="519557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algn="l"/>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endParaRPr/>
          </a:p>
        </p:txBody>
      </p:sp>
      <p:pic>
        <p:nvPicPr>
          <p:cNvPr id="6" name="Picture 6"/>
          <p:cNvPicPr>
            <a:picLocks noChangeAspect="1"/>
          </p:cNvPicPr>
          <p:nvPr/>
        </p:nvPicPr>
        <p:blipFill>
          <a:blip r:embed="rId3"/>
          <a:srcRect/>
          <a:stretch>
            <a:fillRect/>
          </a:stretch>
        </p:blipFill>
        <p:spPr>
          <a:xfrm>
            <a:off x="1" y="127524"/>
            <a:ext cx="12191999" cy="6593952"/>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Key Metrics for Warp-Level Analysis</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https://developer.download.nvidia.cn/video/gputechconf/gtc/2019/presentation/s9345-cuda-kernel-profiling-using-nvidia-nsight-compute.pdf</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Scheduler Statistics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tracks active and eligible warps per cycle to evaluate instruction issue efficiency and latency-hiding performance.</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 State Statistics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profiles warp stall cycles to identify the specific hardware bottlenecks delaying instruction execution.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Occupancy</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Nsight Compute compares actual versus theoretical active warps to assess overall GPU resource utilization and workload balance.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 Vector Averaging &amp; Matrix Multiply</a:t>
            </a: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https://developer.nvidia.com/blog/analysis-driven-optimization-preparing-for-analysis-with-nvidia-nsight-compute-part-1/</a:t>
            </a: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Some highlights:</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OpenMP</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Initial port</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 Design</a:t>
            </a: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a:t>
            </a:r>
          </a:p>
        </p:txBody>
      </p:sp>
      <p:pic>
        <p:nvPicPr>
          <p:cNvPr id="6" name="Picture 6"/>
          <p:cNvPicPr>
            <a:picLocks noChangeAspect="1"/>
          </p:cNvPicPr>
          <p:nvPr/>
        </p:nvPicPr>
        <p:blipFill>
          <a:blip r:embed="rId3"/>
          <a:srcRect/>
          <a:stretch>
            <a:fillRect/>
          </a:stretch>
        </p:blipFill>
        <p:spPr>
          <a:xfrm>
            <a:off x="5052695" y="1323975"/>
            <a:ext cx="7139305" cy="5053330"/>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1: Maximizing Grid Size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Issue: Indicates kernel grid too small to utilize device resources efficiently.</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Action: Distribute work across N blocks instead of a single block (&lt;&lt;&lt;N, L&gt;&gt;&gt;).</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Result: Drops execution time from 2.92s to 0.0789s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252763" y="3451723"/>
            <a:ext cx="11686526" cy="2595557"/>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2: Global Memory Coalescing</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Issue: Reveals LSU queue full; shows 8:1 ratio of actual to ideal L2 transactions (uncoalesced access).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Action: Implement warp-stride and block-stride loops for contiguous memory reads.</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Result: Improves execution time to 0.0216s.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247417" y="3539828"/>
            <a:ext cx="11697219" cy="263709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3: Shared Memory Pressure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Issue: Shows high shared memory usage; pinpoints warp stalls caused by sweep reduction.</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Action: Replace shared memory operations with two-stage warp-shuffle reduction (__shfl_down_sync).</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Result: Decreases execution time further to 0.0126s.</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2632623" y="3688316"/>
            <a:ext cx="6926805" cy="3169632"/>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Iteration 4: Overcoming Memory Latency</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Issue: Identifies Stall Long Scoreboard as primary bottleneck (46.1%), indicating L1TEX data dependency.</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Action: Split into two kernels: custom vector averaging and highly optimized cuBLAS SGEMM for matrix multiplication.</a:t>
            </a: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Result: Reaches 0.0055s execution time (nearly 100x speedup over CPU OpenMP)</a:t>
            </a: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1389503" y="3780052"/>
            <a:ext cx="9192650" cy="3077896"/>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Estimation of Optimization Space</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Bound by hardware bandwidth</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~823 GB/s achieved throughput </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Near-optimal global loading </a:t>
            </a: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Require algorithmic redesign</a:t>
            </a: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p>
        </p:txBody>
      </p:sp>
      <p:pic>
        <p:nvPicPr>
          <p:cNvPr id="6" name="Picture 6"/>
          <p:cNvPicPr>
            <a:picLocks noChangeAspect="1"/>
          </p:cNvPicPr>
          <p:nvPr/>
        </p:nvPicPr>
        <p:blipFill>
          <a:blip r:embed="rId3"/>
          <a:srcRect/>
          <a:stretch>
            <a:fillRect/>
          </a:stretch>
        </p:blipFill>
        <p:spPr>
          <a:xfrm>
            <a:off x="5357495" y="1457960"/>
            <a:ext cx="6834505" cy="471868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References</a:t>
            </a: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endParaRPr/>
          </a:p>
        </p:txBody>
      </p:sp>
      <p:sp>
        <p:nvSpPr>
          <p:cNvPr id="4" name="AutoShape 4"/>
          <p:cNvSpPr>
            <a:spLocks noGrp="1"/>
          </p:cNvSpPr>
          <p:nvPr>
            <p:ph type="body" sz="quarter" idx="8" hasCustomPrompt="1"/>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eveloper.nvidia.com/nsight-systems/get-started"/>
              </a:rPr>
              <a:t>Get Started With Nsight Systems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3" tooltip="https://developer.nvidia.com/nsight-systems/get-started"/>
              </a:rPr>
              <a:t>Getting Started with Nsight Compute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4" tooltip="https://docs.nvidia.com/nsight-systems/index.html"/>
              </a:rPr>
              <a:t>Nsight Systems Documentation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5" tooltip="https://docs.nvidia.com/nsight-compute/ProfilingGuide/index.html"/>
              </a:rPr>
              <a:t>Nsight Compute profiling guide</a:t>
            </a:r>
          </a:p>
        </p:txBody>
      </p:sp>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p>
        </p:txBody>
      </p:sp>
      <p:pic>
        <p:nvPicPr>
          <p:cNvPr id="3" name="Picture 3"/>
          <p:cNvPicPr>
            <a:picLocks noChangeAspect="1"/>
          </p:cNvPicPr>
          <p:nvPr/>
        </p:nvPicPr>
        <p:blipFill>
          <a:blip r:embed="rId2"/>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7"/>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1" tooltip="https://flagos.io/Home"/>
              </a:rPr>
              <a:t>https://flagos.io/Home</a:t>
            </a:r>
            <a:endParaRPr lang="en-US" sz="1100"/>
          </a:p>
        </p:txBody>
      </p:sp>
      <p:pic>
        <p:nvPicPr>
          <p:cNvPr id="18" name="Picture 18"/>
          <p:cNvPicPr>
            <a:picLocks noChangeAspect="1"/>
          </p:cNvPicPr>
          <p:nvPr/>
        </p:nvPicPr>
        <p:blipFill>
          <a:blip r:embed="rId12"/>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3"/>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xmlns:p14="http://schemas.microsoft.com/office/powerpoint/2010/main">
    <mc:Choice Requires="p14">
      <p:transition spd="slow">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2"/>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3"/>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4"/>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992</Words>
  <Application>Microsoft Office PowerPoint</Application>
  <PresentationFormat>宽屏</PresentationFormat>
  <Paragraphs>162</Paragraphs>
  <Slides>24</Slides>
  <Notes>12</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Noto Sans SC</vt:lpstr>
      <vt:lpstr>Pretendard</vt:lpstr>
      <vt:lpstr>微软雅黑</vt:lpstr>
      <vt:lpstr>Arial</vt:lpstr>
      <vt:lpstr>Calibri</vt:lpstr>
      <vt:lpstr>Calibri Light</vt:lpstr>
      <vt:lpstr>Ebrima</vt:lpstr>
      <vt:lpstr>Garamond</vt:lpstr>
      <vt:lpstr>Montserrat SemiBold</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Xiang Li</cp:lastModifiedBy>
  <cp:revision>13</cp:revision>
  <dcterms:created xsi:type="dcterms:W3CDTF">2026-04-17T05:07:00Z</dcterms:created>
  <dcterms:modified xsi:type="dcterms:W3CDTF">2026-05-27T10:17:48Z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C79E56846FEAA2CF55BFE1693E6D39DC_42</vt:lpwstr>
  </property>
  <property fmtid="{D5CDD505-2E9C-101B-9397-08002B2CF9AE}" pid="3" name="KSOProductBuildVer">
    <vt:lpwstr>2052-12.1.0.21915</vt:lpwstr>
  </property>
</Properties>
</file>