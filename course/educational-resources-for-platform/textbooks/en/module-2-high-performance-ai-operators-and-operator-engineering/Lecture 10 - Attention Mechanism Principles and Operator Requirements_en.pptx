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35"/>
  </p:notesMasterIdLst>
  <p:handoutMasterIdLst>
    <p:handoutMasterId r:id="rId36"/>
  </p:handoutMasterIdLst>
  <p:sldIdLst>
    <p:sldId id="256" r:id="rId3"/>
    <p:sldId id="257" r:id="rId4"/>
    <p:sldId id="28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322" r:id="rId32"/>
    <p:sldId id="323" r:id="rId33"/>
    <p:sldId id="324"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模块一：</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Background -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与注意力机制的挑战核心目标： 让听众理解为什么传统的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会成为大模型的瓶颈。封面： 序幕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的范式转移。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的心脏： 简述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架构及其在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2026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年的应用现状。什么是“注意力”： 直观比喻（图书馆检索系统）。</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矩阵的诞生： 形象化解释查询（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Key</a:t>
            </a:r>
            <a:r>
              <a:rPr lang="en-US" sz="1200" b="0" i="0" u="none" strike="noStrike">
                <a:solidFill>
                  <a:srgbClr val="000000"/>
                </a:solidFill>
              </a:rPr>
              <a:t>）与值（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Value</a:t>
            </a:r>
            <a:r>
              <a:rPr lang="en-US" sz="1200" b="0" i="0" u="none" strike="noStrike">
                <a:solidFill>
                  <a:srgbClr val="000000"/>
                </a:solidFill>
              </a:rPr>
              <a:t>）。计算流水线：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详细拆解</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$Attention(Q, K, V) = \text{softmax}(\frac{QK^T}{\sqrt{d_k}})V$</a:t>
            </a:r>
            <a:r>
              <a:rPr lang="en-US" sz="1200" b="0" i="0" u="none" strike="noStrike">
                <a:solidFill>
                  <a:srgbClr val="000000"/>
                </a:solidFill>
              </a:rPr>
              <a:t>。二次方复杂度魔咒：</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为什么序列翻倍，计算量和显存会翻四倍？算子需求分析：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矩阵乘法（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GEMM</a:t>
            </a:r>
            <a:r>
              <a:rPr lang="en-US" sz="1200" b="0" i="0" u="none" strike="noStrike">
                <a:solidFill>
                  <a:srgbClr val="000000"/>
                </a:solidFill>
              </a:rPr>
              <a:t>）与逐元素操作（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Dropout</a:t>
            </a:r>
            <a:r>
              <a:rPr lang="en-US" sz="1200" b="0" i="0" u="none" strike="noStrike">
                <a:solidFill>
                  <a:srgbClr val="000000"/>
                </a:solidFill>
              </a:rPr>
              <a:t>）。内存墙问题：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简单引入计算密集型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vs.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访存密集型任务。数据流向图： 展示标准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显存中的频繁读写。痛点总结： 显存溢出（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OOM</a:t>
            </a:r>
            <a:r>
              <a:rPr lang="en-US" sz="1200" b="0" i="0" u="none" strike="noStrike">
                <a:solidFill>
                  <a:srgbClr val="000000"/>
                </a:solidFill>
              </a:rPr>
              <a:t>）与长文本处理的限制。过渡页：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寻求突破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我们真的需要存储那个巨大的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矩阵吗？</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循环神经网络（</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1" i="0" u="none" strike="noStrike">
                <a:solidFill>
                  <a:srgbClr val="000000"/>
                </a:solidFill>
              </a:rPr>
              <a:t>）</a:t>
            </a:r>
            <a:r>
              <a:rPr lang="en-US" sz="1200" b="0" i="0" u="none" strike="noStrike">
                <a:solidFill>
                  <a:srgbClr val="000000"/>
                </a:solidFill>
              </a:rPr>
              <a:t>、长短期记忆网络（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门控循环单元（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a:solidFill>
                  <a:srgbClr val="000000"/>
                </a:solidFill>
              </a:rPr>
              <a:t>）的模型在自然语言处理（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a:solidFill>
                  <a:srgbClr val="000000"/>
                </a:solidFill>
              </a:rPr>
              <a:t>）领域曾占据举足轻重的地位。</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：最早可追溯至</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20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世纪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80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年代，是最早用于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的序列模型之一。</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Hochreiter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Schmidhuber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1997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则由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Cho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等人于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2014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年提出。它们作为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的变体，旨在通过引入额外的“门控机制”来捕捉短期和长期记忆，从而有效解决</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问题并更出色地处理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长期依赖关系</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由于这些模型能够处理序列数据并随时间推移保留上下文信息，它们一度成为机器翻译、情感分析和文本生成等各类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任务的首选解决方案。</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虽然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仍然是解决众多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挑战时不可或缺的主流工具，但其底层数学原理也带来了一系列局限性。</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长程依赖困境：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这些模型在处理长程依赖（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long-range dependencies</a:t>
            </a:r>
            <a:r>
              <a:rPr lang="en-US" sz="1200" b="0" i="0" u="none" strike="noStrike">
                <a:solidFill>
                  <a:srgbClr val="000000"/>
                </a:solidFill>
              </a:rPr>
              <a:t>）时显得力不从心，难以捕获序列中远距离元素之间的信息。</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梯度消失（</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vanishing gradient</a:t>
            </a:r>
            <a:r>
              <a:rPr lang="en-US" sz="1200" b="0" i="0" u="none" strike="noStrike">
                <a:solidFill>
                  <a:srgbClr val="000000"/>
                </a:solidFill>
              </a:rPr>
              <a:t>）现象阻碍了模型在长序列中进行学习或传播梯度的能力，这不仅拖慢了训练进度，也限制了模型有效建模复杂关系的能力。</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长序列处理瓶颈：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面对长序列时，模型的局限性愈发明显。随着输入序列的增长，编码器生成的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固定尺寸表示（</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fixed-size representation</a:t>
            </a:r>
            <a:r>
              <a:rPr lang="en-US" sz="1200" b="1" i="0" u="none" strike="noStrike">
                <a:solidFill>
                  <a:srgbClr val="000000"/>
                </a:solidFill>
              </a:rPr>
              <a:t>）不足以保留所有必要的上下文信息，从而导致信息丢失和性能下降（这也被称为信息瓶颈</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生成挑战：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因此，利用传统的固定尺寸上下文向量来生成长序列变得极具挑战性。</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模型最初是在论文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Is All You Need》</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中提出的，其在特定任务上的表现超越了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Google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神经网络机器翻译（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GNMT）模型。然而，其最大的优势在于它非常适合</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处理。</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从将模型视为一个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单独的黑箱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开始，在机器翻译的应用中，这个模型会接收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一种语言的句子作为输入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，然后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输出另一种语言的翻译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拆开这个黑盒，我们会看到一个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encoding component）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解码组件（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decoding component）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，以及它们之间的连接。</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编码组件是由一</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叠（</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stack）编码器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构成的（论文中将六个编码器堆叠在一起</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这个数字六并非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magic number，当然可以尝试其他的安排）。解码组件也是由</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相同数量</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的解码器堆叠而成的。</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注意力机制的实际应用示例</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假设我们想将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计算机科学系</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哲学系</a:t>
            </a:r>
            <a:r>
              <a:rPr lang="en-US" sz="1200" b="0" i="0" u="none" strike="noStrike">
                <a:solidFill>
                  <a:srgbClr val="000000"/>
                </a:solidFill>
              </a:rPr>
              <a:t>（两个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）转换为模型可以理解的向量，并且数据库中有四门学科（四个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键值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Key-Value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对）：英语、社会学、数学和物理。</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接下来，我们需要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a:solidFill>
                  <a:srgbClr val="000000"/>
                </a:solidFill>
              </a:rPr>
              <a:t>（值）的向量。在这里，我设置</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dv​=3</a:t>
            </a:r>
            <a:r>
              <a:rPr lang="en-US" sz="1200" b="1" i="0" u="none" strike="noStrike">
                <a:solidFill>
                  <a:srgbClr val="000000"/>
                </a:solidFill>
              </a:rPr>
              <a:t>，其中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 </a:t>
            </a:r>
            <a:r>
              <a:rPr lang="en-US" sz="1200" b="1" i="0" u="none" strike="noStrike">
                <a:solidFill>
                  <a:srgbClr val="000000"/>
                </a:solidFill>
              </a:rPr>
              <a:t>中的三个值代表记忆力、语言能力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逻辑推理能力</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注：在现实中，我们无法知道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rPr>
              <a:t>矩阵的列代表什么，模型会自行找出它们应该代表的特征。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学科，要取得好成绩，所需的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记忆力、语言能力和逻辑推理能力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英语：</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语言能力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(12.0)</a:t>
            </a:r>
            <a:r>
              <a:rPr lang="en-US" sz="1200" b="0" i="0" u="none" strike="noStrike">
                <a:solidFill>
                  <a:srgbClr val="000000"/>
                </a:solidFill>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(13.0)</a:t>
            </a:r>
            <a:r>
              <a:rPr lang="en-US" sz="1200" b="0" i="0" u="none" strike="noStrike">
                <a:solidFill>
                  <a:srgbClr val="000000"/>
                </a:solidFill>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社会学：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(11.0)</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要在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系取得好成绩，所需的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记忆力、语言能力和逻辑推理能力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得分（根据学科重要性加权平均）分别是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计算机科学系：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强调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(10.1)</a:t>
            </a:r>
            <a:r>
              <a:rPr lang="en-US" sz="1200" b="0" i="0" u="none" strike="noStrike">
                <a:solidFill>
                  <a:srgbClr val="000000"/>
                </a:solidFill>
              </a:rPr>
              <a:t>，记忆力和语言能力得分较低。</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哲学系：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强调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(8.3)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和语言能力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(8.7)</a:t>
            </a:r>
            <a:r>
              <a:rPr lang="en-US" sz="1200" b="0" i="0" u="none" strike="noStrike">
                <a:solidFill>
                  <a:srgbClr val="000000"/>
                </a:solidFill>
              </a:rPr>
              <a:t>，逻辑推理得分相对最低。</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加载输入数据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(Load)</a:t>
            </a:r>
            <a:r>
              <a:rPr lang="en-US" sz="1200" b="0" i="0" u="none" strike="noStrike">
                <a:solidFill>
                  <a:srgbClr val="000000"/>
                </a:solidFill>
              </a:rPr>
              <a:t>，把</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计算注意力分数矩阵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1: MatMul &amp; Scale</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结果矩阵大小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的大小是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rPr>
              <a:t>。这是瓶颈的根源。如果序列长度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N=4096</a:t>
            </a:r>
            <a:r>
              <a:rPr lang="en-US" sz="1200" b="0" i="0" u="none" strike="noStrike">
                <a:solidFill>
                  <a:srgbClr val="000000"/>
                </a:solidFill>
              </a:rPr>
              <a:t>，矩阵大小为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16,777,216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个元素。</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写入注意力分数矩阵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中间结果回写）</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必须将完整的、巨大的中间结果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 </a:t>
            </a:r>
            <a:r>
              <a:rPr lang="en-US" sz="1200" b="0" i="0" u="none" strike="noStrike">
                <a:solidFill>
                  <a:srgbClr val="000000"/>
                </a:solidFill>
              </a:rPr>
              <a:t>从计算核心写回慢速的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应用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2: Softmax</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执行逐行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运算，得到归一化的注意力权重矩阵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Sw</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写入注意力权重矩阵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Sw </a:t>
            </a:r>
            <a:r>
              <a:rPr lang="en-US" sz="1200" b="0" i="0" u="none" strike="noStrike">
                <a:solidFill>
                  <a:srgbClr val="000000"/>
                </a:solidFill>
              </a:rPr>
              <a:t>（瓶颈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中间结果回写）</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必须将完整的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矩阵写回慢速的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计算最终输出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3: MatMul</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执行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的矩阵乘法，得到最终的输出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a:t>
            </a:r>
            <a:r>
              <a:rPr lang="en-US" sz="1200" b="0" i="0" u="none" strike="noStrike">
                <a:solidFill>
                  <a:srgbClr val="000000"/>
                </a:solidFill>
              </a:rPr>
              <a:t>。将最终输出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 </a:t>
            </a:r>
            <a:r>
              <a:rPr lang="en-US" sz="1200" b="0" i="0" u="none" strike="noStrike">
                <a:solidFill>
                  <a:srgbClr val="000000"/>
                </a:solidFill>
              </a:rPr>
              <a:t>写回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p>
          <a:p>
            <a:pPr indent="0" algn="l">
              <a:lnSpc>
                <a:spcPct val="100000"/>
              </a:lnSpc>
            </a:pP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编码器在结构上都是相同的（但它们不共享权重）。每个编码器都分解为两个子层（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sub-layers</a:t>
            </a:r>
            <a:r>
              <a:rPr lang="en-US" sz="1200" b="0" i="0" u="none" strike="noStrike">
                <a:solidFill>
                  <a:srgbClr val="000000"/>
                </a:solidFill>
              </a:rPr>
              <a:t>）：多头自注意力机制（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 Self-Attention Mechanism</a:t>
            </a:r>
            <a:r>
              <a:rPr lang="en-US" sz="1200" b="0" i="0" u="none" strike="noStrike">
                <a:solidFill>
                  <a:srgbClr val="000000"/>
                </a:solidFill>
              </a:rPr>
              <a:t>）这个子层帮助编码器在处理特定词语时，能够权衡输入句子中所有其他词语的重要性。简单的前馈网络（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Simple, Position-wise Feed-Forward Network</a:t>
            </a:r>
            <a:r>
              <a:rPr lang="en-US" sz="1200" b="0" i="0" u="none" strike="noStrike">
                <a:solidFill>
                  <a:srgbClr val="000000"/>
                </a:solidFill>
              </a:rPr>
              <a:t>）这是一个标准的全连接前馈网络，它独立地应用于序列中的每个位置（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position</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Decoder</a:t>
            </a:r>
            <a:r>
              <a:rPr lang="en-US" sz="1200" b="0" i="0" u="none" strike="noStrike">
                <a:solidFill>
                  <a:srgbClr val="000000"/>
                </a:solidFill>
              </a:rPr>
              <a:t>）也包含这两个层，但在它们之间还有一个注意力层，这个层帮助解码器聚焦于输入句子中的相关部分（类似于注意力机制在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seq2seq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模型中所起的作用）。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既然我们已经了解了模型的主要组成部分，现在让我们开始关注各种</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张量</a:t>
            </a:r>
            <a:r>
              <a:rPr lang="en-US" sz="1200" b="0" i="0" u="none" strike="noStrike">
                <a:solidFill>
                  <a:srgbClr val="000000"/>
                </a:solidFill>
              </a:rPr>
              <a:t>，以及它们如何在这些组件之间流动，从而将一个经过训练的模型的输入转化为输出。</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正如一般的自然语言处理（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a:solidFill>
                  <a:srgbClr val="000000"/>
                </a:solidFill>
              </a:rPr>
              <a:t>）应用一样，我们首先使用嵌入算法（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embedding algorithm</a:t>
            </a:r>
            <a:r>
              <a:rPr lang="en-US" sz="1200" b="0" i="0" u="none" strike="noStrike">
                <a:solidFill>
                  <a:srgbClr val="000000"/>
                </a:solidFill>
              </a:rPr>
              <a:t>）将每个输入词语转换成一个向量。</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每个词语都被嵌入到一个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的向量中。嵌入操作</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只发生在最底部的编码器</a:t>
            </a:r>
            <a:r>
              <a:rPr lang="en-US" sz="1200" b="0" i="0" u="none" strike="noStrike">
                <a:solidFill>
                  <a:srgbClr val="000000"/>
                </a:solidFill>
              </a:rPr>
              <a:t>。所有编码器共有的抽象特性是：它们接收一个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的向量列表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最底部的编码器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a:solidFill>
                  <a:srgbClr val="000000"/>
                </a:solidFill>
              </a:rPr>
              <a:t>。在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其他编码器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中，这个列表是紧邻</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下方编码器的输出</a:t>
            </a:r>
            <a:r>
              <a:rPr lang="en-US" sz="1200" b="0" i="0" u="none" strike="noStrike">
                <a:solidFill>
                  <a:srgbClr val="000000"/>
                </a:solidFill>
              </a:rPr>
              <a:t>。这个列表的大小是一个我们可以设置的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超参数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它基本上就是我们训练数据集中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最长句子的长度</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在将输入序列中的词语嵌入后，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会流经编码器的两个层。</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在这里，我们开始看到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的一个关键特性：</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每个位置的词语都沿着自己在编码器中的路径流动</a:t>
            </a:r>
            <a:r>
              <a:rPr lang="en-US" sz="1200" b="0" i="0" u="none" strike="noStrike">
                <a:solidFill>
                  <a:srgbClr val="000000"/>
                </a:solidFill>
              </a:rPr>
              <a:t>。</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中，这些路径之间存在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依赖关系</a:t>
            </a:r>
            <a:r>
              <a:rPr lang="en-US" sz="1200" b="0" i="0" u="none" strike="noStrike">
                <a:solidFill>
                  <a:srgbClr val="000000"/>
                </a:solidFill>
              </a:rPr>
              <a:t>（即相互影响）。</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没有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这些依赖关系，因此当数据流经前馈层时，各个路径可以</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并行执行</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正如我们前面提到的，一个编码器接收一个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向量列表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作为输入。它通过以下步骤处理这个列表：</a:t>
            </a: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将这些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 layer</a:t>
            </a:r>
            <a:r>
              <a:rPr lang="en-US" sz="1200" b="0" i="0" u="none" strike="noStrike">
                <a:solidFill>
                  <a:srgbClr val="000000"/>
                </a:solidFill>
              </a:rPr>
              <a:t>）。</a:t>
            </a: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接着输入到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前馈神经网</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向量输入到**“自注意力”层（</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络（</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feed-forward neural network</a:t>
            </a:r>
            <a:r>
              <a:rPr lang="en-US" sz="1200" b="1" i="0" u="none" strike="noStrike">
                <a:solidFill>
                  <a:srgbClr val="000000"/>
                </a:solidFill>
              </a:rPr>
              <a:t>）</a:t>
            </a:r>
            <a:r>
              <a:rPr lang="en-US" sz="1200" b="0" i="0" u="none" strike="noStrike">
                <a:solidFill>
                  <a:srgbClr val="000000"/>
                </a:solidFill>
              </a:rPr>
              <a:t>。</a:t>
            </a: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然后将最终输出向上传递给</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下一个编码器</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这个过程在编码器堆栈中重复进行，直到最顶层的编码器输出最终的编码结果，供解码器使用。</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不要被我随口说出的“自注意力”（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rPr>
              <a:t>）这个词所迷惑，好像它是一个人人都应熟悉的概念。</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假设下面这句话是我们想要翻译的输入句：</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animal didn't cross the street because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was too tired”</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在这个句子中，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1" i="0" u="none" strike="noStrike">
                <a:solidFill>
                  <a:srgbClr val="000000"/>
                </a:solidFill>
              </a:rPr>
              <a:t>（它）指代的是什么？它指的是街道（</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street</a:t>
            </a:r>
            <a:r>
              <a:rPr lang="en-US" sz="1200" b="1" i="0" u="none" strike="noStrike">
                <a:solidFill>
                  <a:srgbClr val="000000"/>
                </a:solidFill>
              </a:rPr>
              <a:t>）还是动物（</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1" i="0" u="none" strike="noStrike">
                <a:solidFill>
                  <a:srgbClr val="000000"/>
                </a:solidFill>
              </a:rPr>
              <a:t>）</a:t>
            </a:r>
            <a:r>
              <a:rPr lang="en-US" sz="1200" b="0" i="0" u="none" strike="noStrike">
                <a:solidFill>
                  <a:srgbClr val="000000"/>
                </a:solidFill>
              </a:rPr>
              <a:t>？对人类来说，这是一个简单的问题，但对算法来说却并非如此。</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允许模型将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联系起来。</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a:solidFill>
                  <a:srgbClr val="000000"/>
                </a:solidFill>
              </a:rPr>
              <a:t>（即输入序列中的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a:t>
            </a:r>
            <a:r>
              <a:rPr lang="en-US" sz="1200" b="0" i="0" u="none" strike="noStrike">
                <a:solidFill>
                  <a:srgbClr val="000000"/>
                </a:solidFill>
              </a:rPr>
              <a:t>）时，自注意力机制允许它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查看输入序列中的其他位置</a:t>
            </a:r>
            <a:r>
              <a:rPr lang="en-US" sz="1200" b="0" i="0" u="none" strike="noStrike">
                <a:solidFill>
                  <a:srgbClr val="000000"/>
                </a:solidFill>
              </a:rPr>
              <a:t>，以寻找有助于对当前词语进行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更好编码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的线索。</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如果您熟悉循环神经网络（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），可以想象</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维护一个隐藏状态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是如何让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将它处理过的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先前词语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向量的表示</a:t>
            </a:r>
            <a:r>
              <a:rPr lang="en-US" sz="1200" b="0" i="0" u="none" strike="noStrike">
                <a:solidFill>
                  <a:srgbClr val="000000"/>
                </a:solidFill>
              </a:rPr>
              <a:t>，融入到它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当前正在处理的词语</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就是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用来将对其他相关词语的“理解”</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到我们当前正在处理的词语中的方法。</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比如，当我们正在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a:t>
            </a:r>
            <a:r>
              <a:rPr lang="en-US" sz="1200" b="0" i="0" u="none" strike="noStrike">
                <a:solidFill>
                  <a:srgbClr val="000000"/>
                </a:solidFill>
              </a:rPr>
              <a:t>（堆栈中最上面的编码器）中编码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这个词时，注意力机制的一部分就</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聚焦</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上，并将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的一部分表示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的编码中。</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计算自注意力机制的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是从编码器的每个输入向量（在本例中，即每个词的嵌入向量）创建三个新的向量：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 Vector, Q</a:t>
            </a:r>
            <a:r>
              <a:rPr lang="en-US" sz="1200" b="1" i="0" u="none" strike="noStrike">
                <a:solidFill>
                  <a:srgbClr val="000000"/>
                </a:solidFill>
              </a:rPr>
              <a:t>）</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 Vector, K</a:t>
            </a:r>
            <a:r>
              <a:rPr lang="en-US" sz="1200" b="1" i="0" u="none" strike="noStrike">
                <a:solidFill>
                  <a:srgbClr val="000000"/>
                </a:solidFill>
              </a:rPr>
              <a:t>）和值向量（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Vector, V</a:t>
            </a:r>
            <a:r>
              <a:rPr lang="en-US" sz="1200" b="1" i="0" u="none" strike="noStrike">
                <a:solidFill>
                  <a:srgbClr val="000000"/>
                </a:solidFill>
              </a:rPr>
              <a:t>）</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这些向量是通过将词嵌入向量分别乘以三个在训练过程中学习到的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a:solidFill>
                  <a:srgbClr val="000000"/>
                </a:solidFill>
              </a:rPr>
              <a:t>来创建的。</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WQK=Embedding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WKV=Embedding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WV</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向量维度</a:t>
            </a:r>
            <a:r>
              <a:rPr lang="en-US" sz="1200" b="0" i="0" u="none" strike="noStrike">
                <a:solidFill>
                  <a:srgbClr val="000000"/>
                </a:solidFill>
              </a:rPr>
              <a:t>：请注意，这些新的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向量的维度（在论文中是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64</a:t>
            </a:r>
            <a:r>
              <a:rPr lang="en-US" sz="1200" b="0" i="0" u="none" strike="noStrike">
                <a:solidFill>
                  <a:srgbClr val="000000"/>
                </a:solidFill>
              </a:rPr>
              <a:t>）小于嵌入向量的维度（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a:solidFill>
                  <a:srgbClr val="000000"/>
                </a:solidFill>
              </a:rPr>
              <a:t>）。它们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并非必须</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更小，这是一种架构选择，主要是为了保持多头注意力（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 Attention</a:t>
            </a:r>
            <a:r>
              <a:rPr lang="en-US" sz="1200" b="0" i="0" u="none" strike="noStrike">
                <a:solidFill>
                  <a:srgbClr val="000000"/>
                </a:solidFill>
              </a:rPr>
              <a:t>）的计算复杂度（大致）恒定。</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抽象作用</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是用于计算和思考注意力机制的抽象概念。</a:t>
            </a: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a:solidFill>
                  <a:srgbClr val="000000"/>
                </a:solidFill>
              </a:rPr>
              <a:t>（查询）</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词语，用于向其他所有词语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提问</a:t>
            </a:r>
            <a:r>
              <a:rPr lang="en-US" sz="1200" b="0" i="0" u="none" strike="noStrike">
                <a:solidFill>
                  <a:srgbClr val="000000"/>
                </a:solidFill>
              </a:rPr>
              <a:t>（查询）：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我们应该关注你多少？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a:solidFill>
                  <a:srgbClr val="000000"/>
                </a:solidFill>
              </a:rPr>
              <a:t>（键）</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词语，用于回答查询：“我的信息是什么？我有多重要？”</a:t>
            </a: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a:solidFill>
                  <a:srgbClr val="000000"/>
                </a:solidFill>
              </a:rPr>
              <a:t>（值）</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词语的实际内容，用于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加权求和</a:t>
            </a:r>
            <a:r>
              <a:rPr lang="en-US" sz="1200" b="0" i="0" u="none" strike="noStrike">
                <a:solidFill>
                  <a:srgbClr val="000000"/>
                </a:solidFill>
              </a:rPr>
              <a:t>，形成最终的输出。</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a:solidFill>
                  <a:srgbClr val="000000"/>
                </a:solidFill>
              </a:rPr>
              <a:t>）</a:t>
            </a:r>
            <a:r>
              <a:rPr lang="en-US" sz="1200" b="0" i="0" u="none" strike="noStrike">
                <a:solidFill>
                  <a:srgbClr val="000000"/>
                </a:solidFill>
              </a:rPr>
              <a:t>。假设我们正在为示例中的第一个词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“Thinking”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计算自注意力。我们需要用这个词来衡量（评分）输入句子中的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所有其他词</a:t>
            </a:r>
            <a:r>
              <a:rPr lang="en-US" sz="1200" b="0" i="0" u="none" strike="noStrike">
                <a:solidFill>
                  <a:srgbClr val="000000"/>
                </a:solidFill>
              </a:rPr>
              <a:t>。这个得分决定了在编码某个位置的词时，应该对输入句子的其他部分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给予多少关注</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得分是通过计算**查询向量（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q1​</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相应词的键向量（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ki​</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点积（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dot product</a:t>
            </a:r>
            <a:r>
              <a:rPr lang="en-US" sz="1200" b="0" i="0" u="none" strike="noStrike">
                <a:solidFill>
                  <a:srgbClr val="000000"/>
                </a:solidFill>
              </a:rPr>
              <a:t>）来计算的。</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对于位置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的词，第一个得分是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q1​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k1​ </a:t>
            </a:r>
            <a:r>
              <a:rPr lang="en-US" sz="1200" b="0" i="0" u="none" strike="noStrike">
                <a:solidFill>
                  <a:srgbClr val="000000"/>
                </a:solidFill>
              </a:rPr>
              <a:t>的点积。第二个得分是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q1​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k2​ </a:t>
            </a:r>
            <a:r>
              <a:rPr lang="en-US" sz="1200" b="0" i="0" u="none" strike="noStrike">
                <a:solidFill>
                  <a:srgbClr val="000000"/>
                </a:solidFill>
              </a:rPr>
              <a:t>的点积，依此类推。</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将得分除以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dk​ </a:t>
            </a:r>
            <a:r>
              <a:rPr lang="en-US" sz="1200" b="0" i="0" u="none" strike="noStrike">
                <a:solidFill>
                  <a:srgbClr val="000000"/>
                </a:solidFill>
              </a:rPr>
              <a:t>是键向量的维度，论文中是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64</a:t>
            </a:r>
            <a:r>
              <a:rPr lang="en-US" sz="1200" b="0" i="0" u="none" strike="noStrike">
                <a:solidFill>
                  <a:srgbClr val="000000"/>
                </a:solidFill>
              </a:rPr>
              <a:t>，因此除以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64​=8</a:t>
            </a:r>
            <a:r>
              <a:rPr lang="en-US" sz="1200" b="0" i="0" u="none" strike="noStrike">
                <a:solidFill>
                  <a:srgbClr val="000000"/>
                </a:solidFill>
              </a:rPr>
              <a:t>）。这个缩放（</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scaling</a:t>
            </a:r>
            <a:r>
              <a:rPr lang="en-US" sz="1200" b="0" i="0" u="none" strike="noStrike">
                <a:solidFill>
                  <a:srgbClr val="000000"/>
                </a:solidFill>
              </a:rPr>
              <a:t>）操作有助于防止点积结果过大，从而保持梯度更稳定。</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将结果通过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这些分数，使它们都变为正值，并且</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总和为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第五步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是将每个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Vector</a:t>
            </a:r>
            <a:r>
              <a:rPr lang="en-US" sz="1200" b="1" i="0" u="none" strike="noStrike">
                <a:solidFill>
                  <a:srgbClr val="000000"/>
                </a:solidFill>
              </a:rPr>
              <a:t>）乘以对应的</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分数（为求和做准备）。直观地讲，这个操作旨在保留</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我们希望关注的词语的值，同时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弱化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不相关词语的影响（例如，将不相关词语的值乘以像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0.001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这样微小的数字）。</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第六步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求和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这些加权后的值向量。这个最终得到的向量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a:solidFill>
                  <a:srgbClr val="000000"/>
                </a:solidFill>
              </a:rPr>
              <a:t>就是自注意力层在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该位置</a:t>
            </a:r>
            <a:r>
              <a:rPr lang="en-US" sz="1200" b="0" i="0" u="none" strike="noStrike">
                <a:solidFill>
                  <a:srgbClr val="000000"/>
                </a:solidFill>
              </a:rPr>
              <a:t>（第一个词）的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a:solidFill>
                  <a:srgbClr val="000000"/>
                </a:solidFill>
              </a:rPr>
              <a:t>。</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自注意力机制的矩阵计算</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 Matrix, Q</a:t>
            </a:r>
            <a:r>
              <a:rPr lang="en-US" sz="1200" b="1" i="0" u="none" strike="noStrike">
                <a:solidFill>
                  <a:srgbClr val="000000"/>
                </a:solidFill>
              </a:rPr>
              <a:t>）</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 Matrix, K</a:t>
            </a:r>
            <a:r>
              <a:rPr lang="en-US" sz="1200" b="1" i="0" u="none" strike="noStrike">
                <a:solidFill>
                  <a:srgbClr val="000000"/>
                </a:solidFill>
              </a:rPr>
              <a:t>）和值矩阵（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Matrix, V</a:t>
            </a:r>
            <a:r>
              <a:rPr lang="en-US" sz="1200" b="1" i="0" u="none" strike="noStrike">
                <a:solidFill>
                  <a:srgbClr val="000000"/>
                </a:solidFill>
              </a:rPr>
              <a:t>）</a:t>
            </a:r>
            <a:r>
              <a:rPr lang="en-US" sz="1200" b="0" i="0" u="none" strike="noStrike">
                <a:solidFill>
                  <a:srgbClr val="000000"/>
                </a:solidFill>
              </a:rPr>
              <a:t>。我们通过将所有的词嵌入向量打包成一个矩阵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，然后将其乘以我们训练好的权重矩阵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a:solidFill>
                  <a:srgbClr val="000000"/>
                </a:solidFill>
              </a:rPr>
              <a:t>来完成。</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a:solidFill>
                  <a:srgbClr val="000000"/>
                </a:solidFill>
              </a:rPr>
              <a:t>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都对应输入句子中的一个词语的嵌入向量。</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论文通过增加一个名为**“多头”（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multi-headed</a:t>
            </a:r>
            <a:r>
              <a:rPr lang="en-US" sz="1200" b="0" i="0" u="none" strike="noStrike">
                <a:solidFill>
                  <a:srgbClr val="000000"/>
                </a:solidFill>
              </a:rPr>
              <a:t>）注意力的机制，进一步改进了自注意力层。这从两个方面提升了注意力层的性能：</a:t>
            </a:r>
          </a:p>
          <a:p>
            <a:pPr marL="152400" indent="-152400" algn="l">
              <a:lnSpc>
                <a:spcPct val="100000"/>
              </a:lnSpc>
              <a:buClr>
                <a:srgbClr val="000000"/>
              </a:buClr>
              <a:buFont typeface="+mj-lt"/>
              <a:buAutoNum type="arabicPeriod"/>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扩展模型关注不同位置的能力：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是的，在上面的例子中，</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a:solidFill>
                  <a:srgbClr val="000000"/>
                </a:solidFill>
              </a:rPr>
              <a:t>向量包含了一点其他所有编码的信息，但它可能主要还是受它自身词语的支配。如果我们正在翻译一个像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animal didn’t cross the street because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was too tired”</a:t>
            </a:r>
            <a:r>
              <a:rPr lang="en-US" sz="1200" b="0" i="0" u="none" strike="noStrike">
                <a:solidFill>
                  <a:srgbClr val="000000"/>
                </a:solidFill>
              </a:rPr>
              <a:t>（这个动物没有穿过街道，因为它太累了）这样的句子，知道</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指代哪个词语（是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rPr>
              <a:t>）会非常有用。</a:t>
            </a:r>
          </a:p>
          <a:p>
            <a:pPr marL="152400" indent="-152400" algn="l">
              <a:lnSpc>
                <a:spcPct val="100000"/>
              </a:lnSpc>
              <a:buClr>
                <a:srgbClr val="000000"/>
              </a:buClr>
              <a:buFont typeface="+mj-lt"/>
              <a:buAutoNum type="arabicPeriod"/>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赋予注意力层多个“表示子空间”（</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representation subspaces</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正如我们接下来会看到的，通过多头注意力，我们拥有的不仅仅是一组，而是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Key</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Value</a:t>
            </a:r>
            <a:r>
              <a:rPr lang="en-US" sz="1200" b="0" i="0" u="none" strike="noStrike">
                <a:solidFill>
                  <a:srgbClr val="000000"/>
                </a:solidFill>
              </a:rPr>
              <a:t>）权重矩阵（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注意力头，因此每个编码器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解码器最终有八组）。</a:t>
            </a:r>
          </a:p>
          <a:p>
            <a:pPr marL="609600" lvl="1"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每一组都是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随机初始化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p>
          <a:p>
            <a:pPr marL="609600" lvl="1"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经过训练后，每一组都被用来将输入嵌入（或来自下层编码器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不同的表示子空间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在多头注意力机制中，我们为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都维护了独立的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WV </a:t>
            </a:r>
            <a:r>
              <a:rPr lang="en-US" sz="1200" b="0" i="0" u="none" strike="noStrike">
                <a:solidFill>
                  <a:srgbClr val="000000"/>
                </a:solidFill>
              </a:rPr>
              <a:t>权重矩阵，从而得到不同的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rPr>
              <a:t>矩阵。像之前一样，我们将输入矩阵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a:solidFill>
                  <a:srgbClr val="000000"/>
                </a:solidFill>
              </a:rPr>
              <a:t>乘以这些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WQ/WK/WV </a:t>
            </a:r>
            <a:r>
              <a:rPr lang="en-US" sz="1200" b="0" i="0" u="none" strike="noStrike">
                <a:solidFill>
                  <a:srgbClr val="000000"/>
                </a:solidFill>
              </a:rPr>
              <a:t>矩阵来生成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a:solidFill>
                  <a:srgbClr val="000000"/>
                </a:solidFill>
              </a:rPr>
              <a:t>矩阵。</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如果我们将前面概述的自注意力计算重复进行八次，每次都使用不同的权重矩阵，我们最终会得到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八个不同的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Z </a:t>
            </a:r>
            <a:r>
              <a:rPr lang="en-US" sz="1200" b="1" i="0" u="none" strike="noStrike">
                <a:solidFill>
                  <a:srgbClr val="000000"/>
                </a:solidFill>
              </a:rPr>
              <a:t>矩阵</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Z0​ </a:t>
            </a:r>
            <a:r>
              <a:rPr lang="en-US" sz="1200" b="0" i="0" u="none" strike="noStrike">
                <a:solidFill>
                  <a:srgbClr val="000000"/>
                </a:solidFill>
              </a:rPr>
              <a:t>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Z7​</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这给我们带来了一个挑战：</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不期望八个矩阵作为输入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它期望的是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一个矩阵</a:t>
            </a:r>
            <a:r>
              <a:rPr lang="en-US" sz="1200" b="0" i="0" u="none" strike="noStrike">
                <a:solidFill>
                  <a:srgbClr val="000000"/>
                </a:solidFill>
              </a:rPr>
              <a:t>（每个词语对应一个向量）。所以我们需要一种方法将这八个矩阵</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浓缩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成一个单一的矩阵。</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如何整合多头输出？</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我们如何做到这一点呢？</a:t>
            </a: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我们将这八个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 </a:t>
            </a:r>
            <a:r>
              <a:rPr lang="en-US" sz="1200" b="0" i="0" u="none" strike="noStrike">
                <a:solidFill>
                  <a:srgbClr val="000000"/>
                </a:solidFill>
              </a:rPr>
              <a:t>矩阵拼接（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Concatenate</a:t>
            </a:r>
            <a:r>
              <a:rPr lang="en-US" sz="1200" b="0" i="0" u="none" strike="noStrike">
                <a:solidFill>
                  <a:srgbClr val="000000"/>
                </a:solidFill>
              </a:rPr>
              <a:t>）起来。</a:t>
            </a: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然后，我们将拼接后的巨大矩阵乘以一个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额外的权重矩阵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WO</a:t>
            </a:r>
            <a:r>
              <a:rPr lang="en-US" sz="1200" b="0" i="0" u="none" strike="noStrike">
                <a:solidFill>
                  <a:srgbClr val="000000"/>
                </a:solidFill>
              </a:rPr>
              <a:t>。</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既然我们已经讨论了注意力头，让我们重新审视之前的例子，看看当我们编码句子中的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这个词时，不同的注意力头都在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关注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当我们编码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主要关注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a:solidFill>
                  <a:srgbClr val="000000"/>
                </a:solidFill>
              </a:rPr>
              <a:t>，而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另一个注意力头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则关注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从某种意义上说，模型对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这个词的表示同时融入了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的部分表示。</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然而，如果我们将所有注意力头都加入到画面中，事情可能会变得更难解释：</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到目前为止，我们所描述的模型缺少一种方法来解释输入序列中词语的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顺序</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为了解决这个问题，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会向每个输入词嵌入</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添加一个向量</a:t>
            </a:r>
            <a:r>
              <a:rPr lang="en-US" sz="1200" b="0" i="0" u="none" strike="noStrike">
                <a:solidFill>
                  <a:srgbClr val="000000"/>
                </a:solidFill>
              </a:rPr>
              <a:t>。这些向量遵循一个模型可以学习的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特定模式</a:t>
            </a:r>
            <a:r>
              <a:rPr lang="en-US" sz="1200" b="0" i="0" u="none" strike="noStrike">
                <a:solidFill>
                  <a:srgbClr val="000000"/>
                </a:solidFill>
              </a:rPr>
              <a:t>，这有助于模型确定每个词语的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a:t>
            </a:r>
            <a:r>
              <a:rPr lang="en-US" sz="1200" b="0" i="0" u="none" strike="noStrike">
                <a:solidFill>
                  <a:srgbClr val="000000"/>
                </a:solidFill>
              </a:rPr>
              <a:t>，或序列中不同词语之间的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距离</a:t>
            </a:r>
            <a:r>
              <a:rPr lang="en-US" sz="1200" b="0" i="0" u="none" strike="noStrike">
                <a:solidFill>
                  <a:srgbClr val="000000"/>
                </a:solidFill>
              </a:rPr>
              <a:t>。其直觉是，一旦这些嵌入向量被投影到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a:solidFill>
                  <a:srgbClr val="000000"/>
                </a:solidFill>
              </a:rPr>
              <a:t>向量中并在点积注意力中进行计算时，添加这些位置值就能提供</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有意义的距离信息</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为了让模型感知词语的顺序，我们添加了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位置编码向量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这些向量的值遵循一个特定的模式。</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如果我们假设嵌入向量的维度为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rPr>
              <a:t>，那么实际的位置编码向量看起来会像这样：</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一个玩具示例：维度为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的位置编码。</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那么，这个模式可能是什么样的呢？</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在下图中，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都对应一个位置编码向量。因此，第一行就是我们要添加到输入序列中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第一个词的嵌入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上的向量。每一行包含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每个值都在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之间。我们对其进行了颜色编码，以便图案清晰可见。</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一个真实示例：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个词语（行）和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维度（列）的位置编码。</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您可以看到它似乎在中间被分成了两半。这是因为左半部分的值是由一个函数（使用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正弦函数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sine</a:t>
            </a:r>
            <a:r>
              <a:rPr lang="en-US" sz="1200" b="0" i="0" u="none" strike="noStrike">
                <a:solidFill>
                  <a:srgbClr val="000000"/>
                </a:solidFill>
              </a:rPr>
              <a:t>）生成的，右半部分是由另一个函数（使用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余弦函数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cosine</a:t>
            </a:r>
            <a:r>
              <a:rPr lang="en-US" sz="1200" b="0" i="0" u="none" strike="noStrike">
                <a:solidFill>
                  <a:srgbClr val="000000"/>
                </a:solidFill>
              </a:rPr>
              <a:t>）生成的。然后将它们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拼接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起来，形成每个位置编码向量。</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这不是唯一可能的位置编码方法，但它的优点是能够</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扩展到未见过的序列长度</a:t>
            </a:r>
            <a:r>
              <a:rPr lang="en-US" sz="1200" b="0" i="0" u="none" strike="noStrike">
                <a:solidFill>
                  <a:srgbClr val="000000"/>
                </a:solidFill>
              </a:rPr>
              <a:t>（例如，如果我们的训练模型被要求翻译一个比我们训练集中任何句子都长的句子）。</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2020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7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月更新：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上图所示的位置编码来自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Tensor2Tensor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实现。论文中展示的方法略有不同，它不是直接拼接，而是将两个信号</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交织</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在一起。下图展示了交织后的样子。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在继续之前，我们需要提及编码器架构中的一个细节：每个编码器中的每个子层（自注意力层、前馈网络层）都有一个**残差连接（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residual connection</a:t>
            </a:r>
            <a:r>
              <a:rPr lang="en-US" sz="1200" b="0" i="0" u="none" strike="noStrike">
                <a:solidFill>
                  <a:srgbClr val="000000"/>
                </a:solidFill>
              </a:rPr>
              <a:t>）环绕，并且紧接着是一个层归一化（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layer-normalization</a:t>
            </a:r>
            <a:r>
              <a:rPr lang="en-US" sz="1200" b="0" i="0" u="none" strike="noStrike">
                <a:solidFill>
                  <a:srgbClr val="000000"/>
                </a:solidFill>
              </a:rPr>
              <a:t>）步骤</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残差连接的目的是将子层的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）直接添加到子层的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Sublayer(x)</a:t>
            </a:r>
            <a:r>
              <a:rPr lang="en-US" sz="1200" b="0" i="0" u="none" strike="noStrike">
                <a:solidFill>
                  <a:srgbClr val="000000"/>
                </a:solidFill>
              </a:rPr>
              <a:t>）上，以帮助缓解深度神经网络中的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0" i="0" u="none" strike="noStrike">
                <a:solidFill>
                  <a:srgbClr val="000000"/>
                </a:solidFill>
              </a:rPr>
              <a:t>，并加速训练。</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数学上表示为：</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Output=LayerNorm(x+Sublayer(x))</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这个机制同样适用于解码器的子层。如果我们考虑一个由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个堆叠的解码器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组成的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模型，它的结构大致如下所示：</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这种设计是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能够有效地堆叠多层并进行深度学习的关键。</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既然我们已经涵盖了编码器侧的大部分概念，我们基本上也了解了解码器组件是如何工作的。但让我们来看看它们是如何协同工作的。</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编码器首先处理输入序列。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最顶层编码器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的输出随后被转化为一组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注意力向量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a:solidFill>
                  <a:srgbClr val="000000"/>
                </a:solidFill>
              </a:rPr>
              <a:t>（键）和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a:t>
            </a:r>
            <a:r>
              <a:rPr lang="en-US" sz="1200" b="1" i="0" u="none" strike="noStrike">
                <a:solidFill>
                  <a:srgbClr val="000000"/>
                </a:solidFill>
              </a:rPr>
              <a:t>（值）。这些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K </a:t>
            </a:r>
            <a:r>
              <a:rPr lang="en-US" sz="1200" b="1" i="0" u="none" strike="noStrike">
                <a:solidFill>
                  <a:srgbClr val="000000"/>
                </a:solidFill>
              </a:rPr>
              <a:t>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 </a:t>
            </a:r>
            <a:r>
              <a:rPr lang="en-US" sz="1200" b="1" i="0" u="none" strike="noStrike">
                <a:solidFill>
                  <a:srgbClr val="000000"/>
                </a:solidFill>
              </a:rPr>
              <a:t>将被每个解码器在其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encoder-decoder attention</a:t>
            </a:r>
            <a:r>
              <a:rPr lang="en-US" sz="1200" b="1" i="0" u="none" strike="noStrike">
                <a:solidFill>
                  <a:srgbClr val="000000"/>
                </a:solidFill>
              </a:rPr>
              <a:t>）层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中使用，帮助解码器聚焦于输入序列中的适当位置：</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完成编码阶段后，我们开始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解码阶段</a:t>
            </a:r>
            <a:r>
              <a:rPr lang="en-US" sz="1200" b="0" i="0" u="none" strike="noStrike">
                <a:solidFill>
                  <a:srgbClr val="000000"/>
                </a:solidFill>
              </a:rPr>
              <a:t>。解码阶段的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都会输出输出序列中的一个元素（在本例中是英文翻译句子的一个词）。</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解码过程的第一步，需要一个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起始标记</a:t>
            </a:r>
            <a:r>
              <a:rPr lang="en-US" sz="1200" b="0" i="0" u="none" strike="noStrike">
                <a:solidFill>
                  <a:srgbClr val="000000"/>
                </a:solidFill>
              </a:rPr>
              <a:t>，通常是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[BOS]</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Begin of Sequence</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以下步骤会重复进行，直到达到一个特殊的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&lt;eos&gt;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end of sentence</a:t>
            </a:r>
            <a:r>
              <a:rPr lang="en-US" sz="1200" b="0" i="0" u="none" strike="noStrike">
                <a:solidFill>
                  <a:srgbClr val="000000"/>
                </a:solidFill>
              </a:rPr>
              <a:t>，句子结束）符号，表明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解码器已完成其输出。</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循环与反馈：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每一步的输出都会在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下一个时间步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被馈送到最底层的解码器，然后解码器们像编码器一样，将它们的解码结果向上传播。</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就像我们对编码器输入所做的那样，我们也会对这些解码器输入进行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a:solidFill>
                  <a:srgbClr val="000000"/>
                </a:solidFill>
              </a:rPr>
              <a:t>，并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添加位置编码</a:t>
            </a:r>
            <a:r>
              <a:rPr lang="en-US" sz="1200" b="0" i="0" u="none" strike="noStrike">
                <a:solidFill>
                  <a:srgbClr val="000000"/>
                </a:solidFill>
              </a:rPr>
              <a:t>，以指示每个词的位置。</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解码器中的自注意力层与编码器中的工作方式略有不同：</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遮盖自注意力（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Masked Self-Attention</a:t>
            </a:r>
            <a:r>
              <a:rPr lang="en-US" sz="1200" b="1"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在解码器中，自注意力层</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只允许关注输出序列中较早的位置</a:t>
            </a:r>
            <a:r>
              <a:rPr lang="en-US" sz="1200" b="0" i="0" u="none" strike="noStrike">
                <a:solidFill>
                  <a:srgbClr val="000000"/>
                </a:solidFill>
              </a:rPr>
              <a:t>（即已生成的词语）。这是通过在自注意力计算的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步骤之前，对</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未来的位置进行遮盖</a:t>
            </a:r>
            <a:r>
              <a:rPr lang="en-US" sz="1200" b="0" i="0" u="none" strike="noStrike">
                <a:solidFill>
                  <a:srgbClr val="000000"/>
                </a:solidFill>
              </a:rPr>
              <a:t>（将其设置为负无穷大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-inf</a:t>
            </a:r>
            <a:r>
              <a:rPr lang="en-US" sz="1200" b="0" i="0" u="none" strike="noStrike">
                <a:solidFill>
                  <a:srgbClr val="000000"/>
                </a:solidFill>
              </a:rPr>
              <a:t>）来实现的。</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目的：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确保模型的预测只依赖于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已知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的输出，防止模型“偷看”到它应该预测的词语。</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Encoder-Decoder Attention</a:t>
            </a:r>
            <a:r>
              <a:rPr lang="en-US" sz="1200" b="1"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的工作方式就像多头自注意力一样，但其数据的来源是：</a:t>
            </a:r>
          </a:p>
          <a:p>
            <a:pPr marL="152400"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Queries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来自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它下面的那个解码器层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a:t>
            </a:r>
          </a:p>
          <a:p>
            <a:pPr marL="152400"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 </a:t>
            </a:r>
            <a:r>
              <a:rPr lang="en-US" sz="1200" b="1" i="0" u="none" strike="noStrike">
                <a:solidFill>
                  <a:srgbClr val="000000"/>
                </a:solidFill>
              </a:rPr>
              <a:t>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来自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编码器堆栈的最终输出</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最终的线性层和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解码器堆栈的最终输出是一个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浮点数向量</a:t>
            </a:r>
            <a:r>
              <a:rPr lang="en-US" sz="1200" b="0" i="0" u="none" strike="noStrike">
                <a:solidFill>
                  <a:srgbClr val="000000"/>
                </a:solidFill>
              </a:rPr>
              <a:t>。我们如何将这个向量转换成一个实际的词语呢？这就是最终的线性层（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Final Linear Layer</a:t>
            </a:r>
            <a:r>
              <a:rPr lang="en-US" sz="1200" b="0" i="0" u="none" strike="noStrike">
                <a:solidFill>
                  <a:srgbClr val="000000"/>
                </a:solidFill>
              </a:rPr>
              <a:t>）和紧随其后的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(Linear Layer)</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线性层是一个简单的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全连接神经网络</a:t>
            </a:r>
            <a:r>
              <a:rPr lang="en-US" sz="1200" b="0" i="0" u="none" strike="noStrike">
                <a:solidFill>
                  <a:srgbClr val="000000"/>
                </a:solidFill>
              </a:rPr>
              <a:t>，它的作用是将解码器堆栈产生的向量，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projects</a:t>
            </a:r>
            <a:r>
              <a:rPr lang="en-US" sz="1200" b="1" i="0" u="none" strike="noStrike">
                <a:solidFill>
                  <a:srgbClr val="000000"/>
                </a:solidFill>
              </a:rPr>
              <a:t>）到一个大得多</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的向量，我们称之为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对数几率向量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logits vector</a:t>
            </a:r>
            <a:r>
              <a:rPr lang="en-US" sz="1200" b="1" i="0" u="none" strike="noStrike">
                <a:solidFill>
                  <a:srgbClr val="000000"/>
                </a:solidFill>
              </a:rPr>
              <a:t>）</a:t>
            </a:r>
            <a:r>
              <a:rPr lang="en-US" sz="1200" b="0" i="0" u="none" strike="noStrike">
                <a:solidFill>
                  <a:srgbClr val="000000"/>
                </a:solidFill>
              </a:rPr>
              <a:t>。</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假设我们的模型从训练数据集中学习了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独一无二的英语词汇（即模型的“输出词汇表”）。</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对数几率向量</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的宽度就会是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个单元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每个单元都对应一个唯一词语的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a:solidFill>
                  <a:srgbClr val="000000"/>
                </a:solidFill>
              </a:rPr>
              <a:t>）</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我们就是这样来解释模型经过线性层后的输出。</a:t>
            </a: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Layer)</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层接着将这些</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转换成</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probabilities</a:t>
            </a:r>
            <a:r>
              <a:rPr lang="en-US" sz="1200" b="1" i="0" u="none" strike="noStrike">
                <a:solidFill>
                  <a:srgbClr val="000000"/>
                </a:solidFill>
              </a:rPr>
              <a:t>）</a:t>
            </a:r>
            <a:r>
              <a:rPr lang="en-US" sz="1200" b="0" i="0" u="none" strike="noStrike">
                <a:solidFill>
                  <a:srgbClr val="000000"/>
                </a:solidFill>
              </a:rPr>
              <a:t>：</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所有概率值都是正数。</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所有概率值加起来等于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仅解码器模型背后的核心思想是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自回归（</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Autoregression</a:t>
            </a:r>
            <a:r>
              <a:rPr lang="en-US" sz="1200" b="1" i="0" u="none" strike="noStrike">
                <a:solidFill>
                  <a:srgbClr val="000000"/>
                </a:solidFill>
              </a:rPr>
              <a:t>）</a:t>
            </a:r>
            <a:r>
              <a:rPr lang="en-US" sz="1200" b="0" i="0" u="none" strike="noStrike">
                <a:solidFill>
                  <a:srgbClr val="000000"/>
                </a:solidFill>
              </a:rPr>
              <a:t>。这意味着它们通过根据序列中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之前的所有内容</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来**预测下一个词元（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）进行学习。</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这种训练目标极其简单，但它的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可扩展性</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却非常出色：</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通用任务：</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预测下一个词元的任务适用于任何类型的文本</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小说、代码、对话、文章或指令。</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无限数据：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仅解码器模型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不需要特殊的并行数据集</a:t>
            </a:r>
            <a:r>
              <a:rPr lang="en-US" sz="1200" b="0" i="0" u="none" strike="noStrike">
                <a:solidFill>
                  <a:srgbClr val="000000"/>
                </a:solidFill>
              </a:rPr>
              <a:t>（例如用于翻译的句子对），它可以直接在互联网、书籍和代码库中找到的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海量未标记文本</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上进行训练。</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与使用方式一致：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这与人类使用大型语言模型（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a:t>
            </a:r>
            <a:r>
              <a:rPr lang="en-US" sz="1200" b="0" i="0" u="none" strike="noStrike">
                <a:solidFill>
                  <a:srgbClr val="000000"/>
                </a:solidFill>
              </a:rPr>
              <a:t>）的交互方式相匹配。你给出一个提示（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prompt</a:t>
            </a:r>
            <a:r>
              <a:rPr lang="en-US" sz="1200" b="0" i="0" u="none" strike="noStrike">
                <a:solidFill>
                  <a:srgbClr val="000000"/>
                </a:solidFill>
              </a:rPr>
              <a:t>），模型就会以一种感觉自然且上下文感知的方式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继续文本</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简洁性与效率</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单一训练目标：</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预测下一个词元（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无需平行数据集：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平行数据集昂贵且稀缺。</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高效扩展能力：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可高效地扩展至数万亿词元。</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完美匹配生成式任务</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适用场景：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聊天机器人、代码助手、故事创作和总结等都依赖于文本的连续生成。</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直接支持生成：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自回归（</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Autoregression</a:t>
            </a:r>
            <a:r>
              <a:rPr lang="en-US" sz="1200" b="0" i="0" u="none" strike="noStrike">
                <a:solidFill>
                  <a:srgbClr val="000000"/>
                </a:solidFill>
              </a:rPr>
              <a:t>）直接支持这些生成式应用场景。</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灵活性与涌现能力</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广泛训练带来的通用性：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由于仅有解码器（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decoder-only</a:t>
            </a:r>
            <a:r>
              <a:rPr lang="en-US" sz="1200" b="0" i="0" u="none" strike="noStrike">
                <a:solidFill>
                  <a:srgbClr val="000000"/>
                </a:solidFill>
              </a:rPr>
              <a:t>）的模型是在广泛的文本接续任务上训练的，它们展现出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涌现的泛化能力</a:t>
            </a:r>
            <a:r>
              <a:rPr lang="en-US" sz="1200" b="0" i="0" u="none" strike="noStrike">
                <a:solidFill>
                  <a:srgbClr val="000000"/>
                </a:solidFill>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零样本能力：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无需明确训练，它们就能执行摘要、问答和推理等任务。</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可扩展性与行业验证</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成功案例：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GPT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LLaMA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Mistral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等一些最成功的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大型语言模型</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LLMs</a:t>
            </a:r>
            <a:r>
              <a:rPr lang="en-US" sz="1200" b="0" i="0" u="none" strike="noStrike">
                <a:solidFill>
                  <a:srgbClr val="000000"/>
                </a:solidFill>
              </a:rPr>
              <a:t>）都是仅有解码器架构。</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行业默认标准：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它们的优势地位已将这种架构确立为行业的默认选择。</a:t>
            </a:r>
          </a:p>
          <a:p>
            <a:pPr indent="0" algn="l">
              <a:lnSpc>
                <a:spcPct val="100000"/>
              </a:lnSpc>
            </a:pP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特性编码器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解码器模型仅有解码器模型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训练数据</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需要成对的输入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输出数据集可使用原始、未标记的文本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编码器创建表示，解码器输出单一堆栈预测下一个词元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最佳用例</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翻译、摘要、结构化转换聊天、问答、故事生成、编程、推理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效率</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更复杂、更难扩展更简单、更容易扩展到数万亿词元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行业示例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T5</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BARTGPT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LLaMA</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Mistral</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rPr>
              <a:t>）的灵活性是以沉重代价为交换的：其复杂度随输入序列长度呈</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平方级增长</a:t>
            </a:r>
            <a:r>
              <a:rPr lang="en-US" sz="1200" b="0" i="0" u="none" strike="noStrike">
                <a:solidFill>
                  <a:srgbClr val="000000"/>
                </a:solidFill>
              </a:rPr>
              <a:t>。每一个标记（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）都必须与其它所有标记进行比对。对于短文本（几千个标记）来说，这尚且可以应付；但对于长文档或代码库，注意力运算的数量会呈爆炸式增长。一篇关于效率的文章指出，处理一份</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100,000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字的文档大约需要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亿次注意力计算。随着上下文窗口的扩大，注意力机制带来的计算、内存带宽和能源成本将变得高昂到令人望而却步。</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除了计算和内存等物理层面，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还面临着概念层面的瓶颈。自注意力机制固然强大，但它并不能替代真正的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记忆能力</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拥有两种记忆：一种是其权重中的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参数化记忆</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parametric memory</a:t>
            </a:r>
            <a:r>
              <a:rPr lang="en-US" sz="1200" b="0" i="0" u="none" strike="noStrike">
                <a:solidFill>
                  <a:srgbClr val="000000"/>
                </a:solidFill>
              </a:rPr>
              <a:t>），编码了来自训练阶段的通用知识；另一种是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上下文窗口</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context window</a:t>
            </a:r>
            <a:r>
              <a:rPr lang="en-US" sz="1200" b="0" i="0" u="none" strike="noStrike">
                <a:solidFill>
                  <a:srgbClr val="000000"/>
                </a:solidFill>
              </a:rPr>
              <a:t>），用于保存当前的标记序列。任何超出这一窗口的信息对模型而言都是不可见的。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128K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标记的上下文窗口听起来很大，但对于一本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页的书籍或长达数小时的会议记录而言，这仍然只是海量信息中的一小部分。而注意力的平方级成本意味着，将窗口扩展到数百万标记在目前看来依然是不切实际的。</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此外，当缺乏相关信息时，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往往会产生“</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幻觉</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hallucinate</a:t>
            </a:r>
            <a:r>
              <a:rPr lang="en-US" sz="1200" b="0" i="0" u="none" strike="noStrike">
                <a:solidFill>
                  <a:srgbClr val="000000"/>
                </a:solidFill>
              </a:rPr>
              <a:t>）。如果答案既没有编码在权重中，也没有出现在上下文中，模型就会生成看似合理、实则错误的事实。之所以出现这种情况，是因为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缺乏显式的机制来验证其输出或咨询外部来源。现代聊天机器人本质上是拥有</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短时工作记忆、却无持久存储的“统计鹦鹉”</a:t>
            </a:r>
            <a:r>
              <a:rPr lang="en-US" sz="1200" b="0" i="0" u="none" strike="noStrike">
                <a:solidFill>
                  <a:srgbClr val="000000"/>
                </a:solidFill>
              </a:rPr>
              <a:t>。这限制了它们在需要实时知识、审计追踪或长周期历史推理等领域的可靠性。</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hyperlink" Target="https://authors.library.caltech.edu/40408/1/391.pdf" TargetMode="External"/><Relationship Id="rId4" Type="http://schemas.openxmlformats.org/officeDocument/2006/relationships/hyperlink" Target="https://www.frontiersin.org/articles/10.3389/fncom.2020.00029/ful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21.png"/><Relationship Id="rId11" Type="http://schemas.openxmlformats.org/officeDocument/2006/relationships/image" Target="../media/image17.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47.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51.GIF"/></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70.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69.jpeg"/><Relationship Id="rId2" Type="http://schemas.openxmlformats.org/officeDocument/2006/relationships/image" Target="../media/image63.png"/><Relationship Id="rId1" Type="http://schemas.openxmlformats.org/officeDocument/2006/relationships/slideLayout" Target="../slideLayouts/slideLayout17.xml"/><Relationship Id="rId6" Type="http://schemas.openxmlformats.org/officeDocument/2006/relationships/image" Target="../media/image67.png"/><Relationship Id="rId11" Type="http://schemas.openxmlformats.org/officeDocument/2006/relationships/hyperlink" Target="https://flagos.io/Home" TargetMode="External"/><Relationship Id="rId5" Type="http://schemas.openxmlformats.org/officeDocument/2006/relationships/image" Target="../media/image66.png"/><Relationship Id="rId10" Type="http://schemas.openxmlformats.org/officeDocument/2006/relationships/hyperlink" Target="https://www.zhihu.com/people/95-22-20-18/posts" TargetMode="External"/><Relationship Id="rId4" Type="http://schemas.openxmlformats.org/officeDocument/2006/relationships/image" Target="../media/image65.png"/><Relationship Id="rId9" Type="http://schemas.openxmlformats.org/officeDocument/2006/relationships/hyperlink" Target="https://space.bilibili.com/3546791834290849"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1.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900" b="0" i="0" u="none" strike="noStrike" spc="0">
                <a:solidFill>
                  <a:srgbClr val="262626">
                    <a:alpha val="100000"/>
                  </a:srgbClr>
                </a:solidFill>
                <a:latin typeface="Chinese Quote"/>
              </a:defRPr>
            </a:lvl1pPr>
          </a:lstStyle>
          <a:p>
            <a:pPr indent="0" algn="ctr">
              <a:lnSpc>
                <a:spcPct val="100000"/>
              </a:lnSpc>
              <a:spcBef>
                <a:spcPts val="1500"/>
              </a:spcBef>
            </a:pPr>
            <a:r>
              <a:rPr lang="en-US" sz="4900" b="0" i="0" u="none" strike="noStrike">
                <a:solidFill>
                  <a:srgbClr val="262626"/>
                </a:solidFill>
                <a:latin typeface="Chinese Quote"/>
                <a:ea typeface="Chinese Quote"/>
                <a:cs typeface="Chinese Quote"/>
                <a:sym typeface="Chinese Quote"/>
              </a:rPr>
              <a:t>Lecture 10: Attention Mechanism</a:t>
            </a:r>
            <a:br>
              <a:rPr lang="en-US" sz="4900" b="0" i="0" u="none" strike="noStrike">
                <a:solidFill>
                  <a:srgbClr val="262626"/>
                </a:solidFill>
                <a:latin typeface="Chinese Quote"/>
                <a:ea typeface="Chinese Quote"/>
                <a:cs typeface="Chinese Quote"/>
                <a:sym typeface="Chinese Quote"/>
              </a:rPr>
            </a:br>
            <a:r>
              <a:rPr lang="en-US" sz="4900" b="0" i="0" u="none" strike="noStrike">
                <a:solidFill>
                  <a:srgbClr val="262626"/>
                </a:solidFill>
                <a:latin typeface="Chinese Quote"/>
                <a:ea typeface="Chinese Quote"/>
                <a:cs typeface="Chinese Quote"/>
                <a:sym typeface="Chinese Quote"/>
              </a:rPr>
              <a:t>Principles and Operator Requirements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6"/>
          </p:nvPr>
        </p:nvSpPr>
        <p:spPr/>
        <p:txBody>
          <a:bodyPr/>
          <a:lstStyle/>
          <a:p>
            <a:endParaRPr lang="zh-CN" altLang="en-US"/>
          </a:p>
        </p:txBody>
      </p:sp>
      <p:sp>
        <p:nvSpPr>
          <p:cNvPr id="3" name="文本占位符 2"/>
          <p:cNvSpPr>
            <a:spLocks noGrp="1"/>
          </p:cNvSpPr>
          <p:nvPr>
            <p:ph type="body" sz="quarter" idx="7"/>
          </p:nvPr>
        </p:nvSpPr>
        <p:spPr/>
        <p:txBody>
          <a:bodyPr/>
          <a:lstStyle/>
          <a:p>
            <a:r>
              <a:rPr lang="en-US" altLang="zh-CN"/>
              <a:t>https://aclanthology.org/2021.emnlp-main.446/</a:t>
            </a:r>
          </a:p>
        </p:txBody>
      </p:sp>
      <p:sp>
        <p:nvSpPr>
          <p:cNvPr id="4" name="文本占位符 3"/>
          <p:cNvSpPr>
            <a:spLocks noGrp="1"/>
          </p:cNvSpPr>
          <p:nvPr>
            <p:ph type="body" sz="quarter" idx="8"/>
          </p:nvPr>
        </p:nvSpPr>
        <p:spPr/>
        <p:txBody>
          <a:bodyPr/>
          <a:lstStyle/>
          <a:p>
            <a:endParaRPr lang="zh-CN" altLang="en-US"/>
          </a:p>
        </p:txBody>
      </p:sp>
      <p:sp>
        <p:nvSpPr>
          <p:cNvPr id="5" name="文本占位符 4"/>
          <p:cNvSpPr>
            <a:spLocks noGrp="1"/>
          </p:cNvSpPr>
          <p:nvPr>
            <p:ph type="body" sz="quarter" idx="9"/>
          </p:nvPr>
        </p:nvSpPr>
        <p:spPr/>
        <p:txBody>
          <a:bodyPr/>
          <a:lstStyle/>
          <a:p>
            <a:endParaRPr lang="zh-CN" altLang="en-US"/>
          </a:p>
        </p:txBody>
      </p:sp>
      <p:pic>
        <p:nvPicPr>
          <p:cNvPr id="6" name="图片 5"/>
          <p:cNvPicPr>
            <a:picLocks noChangeAspect="1"/>
          </p:cNvPicPr>
          <p:nvPr/>
        </p:nvPicPr>
        <p:blipFill>
          <a:blip r:embed="rId2"/>
          <a:stretch>
            <a:fillRect/>
          </a:stretch>
        </p:blipFill>
        <p:spPr>
          <a:xfrm>
            <a:off x="523875" y="1187450"/>
            <a:ext cx="11367135" cy="4989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1020538" y="3331744"/>
            <a:ext cx="7643512" cy="3389732"/>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From RNN to Transformer</a:t>
            </a: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1980s – RNN (Serial Order: a parallel distrmuted processing approach)</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1997 – LSTM (Long Short Term Memory)</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2014 – GRU (Neural Machine Translation by Jointly Learning to Align and Translate)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2017 – Transformer (Attention is All Your Need)</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Brief Overview of the Transformer Architecture</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Vaswani, Ashish, et al. "Attention is all you need." Advances in neural information processing systems 30 (2017). </a:t>
            </a: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https://jalammar.github.io/illustrated-transformer/</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High-Level Look</a:t>
            </a: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798345" y="1858493"/>
            <a:ext cx="4936812" cy="1073917"/>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527319" y="3123832"/>
            <a:ext cx="4375458" cy="2762416"/>
          </a:xfrm>
          <a:prstGeom prst="rect">
            <a:avLst/>
          </a:prstGeom>
          <a:ln w="12700">
            <a:noFill/>
            <a:prstDash val="solid"/>
          </a:ln>
        </p:spPr>
      </p:pic>
      <p:pic>
        <p:nvPicPr>
          <p:cNvPr id="8" name="Picture 8"/>
          <p:cNvPicPr>
            <a:picLocks noChangeAspect="1"/>
          </p:cNvPicPr>
          <p:nvPr/>
        </p:nvPicPr>
        <p:blipFill>
          <a:blip r:embed="rId5"/>
          <a:srcRect/>
          <a:stretch>
            <a:fillRect/>
          </a:stretch>
        </p:blipFill>
        <p:spPr>
          <a:xfrm>
            <a:off x="6009629" y="1494430"/>
            <a:ext cx="5930002" cy="417520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87581" y="2184823"/>
            <a:ext cx="1000000" cy="733333"/>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(1/4)</a:t>
            </a: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a widely investigated concept that has often been studied in conjunction with arousal, alertness, and engagement with one’s surroundings. </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7" name="Picture 7"/>
          <p:cNvPicPr>
            <a:picLocks noChangeAspect="1"/>
          </p:cNvPicPr>
          <p:nvPr/>
        </p:nvPicPr>
        <p:blipFill>
          <a:blip r:embed="rId3"/>
          <a:srcRect/>
          <a:stretch>
            <a:fillRect/>
          </a:stretch>
        </p:blipFill>
        <p:spPr>
          <a:xfrm>
            <a:off x="8021657" y="3306385"/>
            <a:ext cx="4020417" cy="2870578"/>
          </a:xfrm>
          <a:prstGeom prst="rect">
            <a:avLst/>
          </a:prstGeom>
          <a:ln w="12700">
            <a:noFill/>
            <a:prstDash val="solid"/>
          </a:ln>
        </p:spPr>
      </p:pic>
      <p:sp>
        <p:nvSpPr>
          <p:cNvPr id="8" name="AutoShape 8"/>
          <p:cNvSpPr/>
          <p:nvPr/>
        </p:nvSpPr>
        <p:spPr>
          <a:xfrm>
            <a:off x="949776" y="2287345"/>
            <a:ext cx="9573492" cy="92333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In its most generic form, attention could be described as merely an overall level of alertness or ability to engage with surroundings.</a:t>
            </a:r>
            <a:endParaRPr lang="en-US" sz="1100"/>
          </a:p>
          <a:p>
            <a:pPr indent="0" algn="r">
              <a:lnSpc>
                <a:spcPct val="100000"/>
              </a:lnSpc>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800" b="0" i="1" u="none" strike="noStrike">
                <a:solidFill>
                  <a:srgbClr val="428BCA"/>
                </a:solidFill>
                <a:latin typeface="Helvetica Neue" panose="02000503000000020004"/>
                <a:ea typeface="Helvetica Neue" panose="02000503000000020004"/>
                <a:cs typeface="Helvetica Neue" panose="02000503000000020004"/>
                <a:sym typeface="Helvetica Neue" panose="02000503000000020004"/>
                <a:hlinkClick r:id="rId4" tooltip="https://www.frontiersin.org/articles/10.3389/fncom.2020.00029/full"/>
              </a:rPr>
              <a:t>Attention in Psychology, Neuroscience, and Machine Learning</a:t>
            </a: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2020.</a:t>
            </a:r>
          </a:p>
        </p:txBody>
      </p:sp>
      <p:pic>
        <p:nvPicPr>
          <p:cNvPr id="9" name="Picture 9"/>
          <p:cNvPicPr>
            <a:picLocks noChangeAspect="1"/>
          </p:cNvPicPr>
          <p:nvPr/>
        </p:nvPicPr>
        <p:blipFill>
          <a:blip r:embed="rId2"/>
          <a:srcRect/>
          <a:stretch>
            <a:fillRect/>
          </a:stretch>
        </p:blipFill>
        <p:spPr>
          <a:xfrm>
            <a:off x="73726" y="3141663"/>
            <a:ext cx="1000000" cy="733333"/>
          </a:xfrm>
          <a:prstGeom prst="rect">
            <a:avLst/>
          </a:prstGeom>
          <a:ln w="12700">
            <a:noFill/>
            <a:prstDash val="solid"/>
          </a:ln>
        </p:spPr>
      </p:pic>
      <p:sp>
        <p:nvSpPr>
          <p:cNvPr id="10" name="AutoShape 10"/>
          <p:cNvSpPr/>
          <p:nvPr/>
        </p:nvSpPr>
        <p:spPr>
          <a:xfrm>
            <a:off x="942975" y="3314641"/>
            <a:ext cx="6962776" cy="2585323"/>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Neurons at the earliest stages are tuned to simple visual attributes such as intensity contrast, colour opponency, orientation, direction and velocity of motion, or stereo disparity at several spatial scales. Neuronal tuning becomes increasingly more specialized with the progression from low-level to high-level visual areas, such that higher-level visual areas include neurons that respond only to corners or junctions, shape-from-shading cues or views of specific real-world objects.</a:t>
            </a:r>
            <a:endParaRPr lang="en-US" sz="1100"/>
          </a:p>
          <a:p>
            <a:pPr indent="0" algn="r">
              <a:lnSpc>
                <a:spcPct val="100000"/>
              </a:lnSpc>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800" b="0" i="1" u="none" strike="noStrike">
                <a:solidFill>
                  <a:srgbClr val="428BCA"/>
                </a:solidFill>
                <a:latin typeface="Helvetica Neue" panose="02000503000000020004"/>
                <a:ea typeface="Helvetica Neue" panose="02000503000000020004"/>
                <a:cs typeface="Helvetica Neue" panose="02000503000000020004"/>
                <a:sym typeface="Helvetica Neue" panose="02000503000000020004"/>
                <a:hlinkClick r:id="rId5" tooltip="https://authors.library.caltech.edu/40408/1/391.pdf"/>
              </a:rPr>
              <a:t>Computational Modelling of Visual Attention</a:t>
            </a: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2001.</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(2/4)</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Bahdanau Attention (2014) – The Rise of Attention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 "Jointly Learning to Align and Translate" for Neural Machine Translation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Luong Attention (2015) – Improving Efficiency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 "Global Attention," simplifying and refining Bahdanau’s approach</a:t>
            </a:r>
          </a:p>
        </p:txBody>
      </p:sp>
      <p:pic>
        <p:nvPicPr>
          <p:cNvPr id="6" name="Picture 6"/>
          <p:cNvPicPr>
            <a:picLocks noChangeAspect="1"/>
          </p:cNvPicPr>
          <p:nvPr/>
        </p:nvPicPr>
        <p:blipFill>
          <a:blip r:embed="rId2"/>
          <a:srcRect/>
          <a:stretch>
            <a:fillRect/>
          </a:stretch>
        </p:blipFill>
        <p:spPr>
          <a:xfrm>
            <a:off x="302201" y="3607742"/>
            <a:ext cx="5696817" cy="2760642"/>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231182" y="3581985"/>
            <a:ext cx="5338127" cy="2684672"/>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(3/4)</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Transformer (2017) – Attention Is All You Need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dispense with Recurrence (RNN) and Convolutions (CNN) entirely, relying solely on Attention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Multi-Head Attention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Sparse Attention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714375" y="4479426"/>
            <a:ext cx="3220436" cy="2238969"/>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4393139" y="4586472"/>
            <a:ext cx="3850198" cy="2024875"/>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8703183" y="4555606"/>
            <a:ext cx="3098292" cy="2086605"/>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4017938" y="2495787"/>
            <a:ext cx="7090209" cy="172292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(4/4)</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https://medium.com/@funcry/in-depth-understanding-of-attention-mechanism-part-ii-scaled-dot-product-attention-and-its-7743804e610e</a:t>
            </a: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7" name="Picture 7"/>
          <p:cNvPicPr>
            <a:picLocks noChangeAspect="1"/>
          </p:cNvPicPr>
          <p:nvPr/>
        </p:nvPicPr>
        <p:blipFill>
          <a:blip r:embed="rId3"/>
          <a:srcRect/>
          <a:stretch>
            <a:fillRect/>
          </a:stretch>
        </p:blipFill>
        <p:spPr>
          <a:xfrm>
            <a:off x="1144990" y="1924641"/>
            <a:ext cx="3897858" cy="540132"/>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2796295" y="2656195"/>
            <a:ext cx="1046331" cy="659157"/>
          </a:xfrm>
          <a:prstGeom prst="rect">
            <a:avLst/>
          </a:prstGeom>
          <a:ln w="12700">
            <a:noFill/>
            <a:prstDash val="solid"/>
          </a:ln>
        </p:spPr>
      </p:pic>
      <p:pic>
        <p:nvPicPr>
          <p:cNvPr id="9" name="Picture 9"/>
          <p:cNvPicPr>
            <a:picLocks noChangeAspect="1"/>
          </p:cNvPicPr>
          <p:nvPr/>
        </p:nvPicPr>
        <p:blipFill>
          <a:blip r:embed="rId3"/>
          <a:srcRect l="53793" r="22986"/>
          <a:stretch>
            <a:fillRect/>
          </a:stretch>
        </p:blipFill>
        <p:spPr>
          <a:xfrm>
            <a:off x="1464857" y="2656195"/>
            <a:ext cx="924353" cy="551619"/>
          </a:xfrm>
          <a:prstGeom prst="rect">
            <a:avLst/>
          </a:prstGeom>
          <a:ln w="12700">
            <a:noFill/>
            <a:prstDash val="solid"/>
          </a:ln>
        </p:spPr>
      </p:pic>
      <p:grpSp>
        <p:nvGrpSpPr>
          <p:cNvPr id="10" name="Group 10"/>
          <p:cNvGrpSpPr/>
          <p:nvPr/>
        </p:nvGrpSpPr>
        <p:grpSpPr>
          <a:xfrm>
            <a:off x="2463804" y="2782247"/>
            <a:ext cx="237244" cy="276999"/>
            <a:chOff x="2463804" y="2782247"/>
            <a:chExt cx="237244" cy="276999"/>
          </a:xfrm>
        </p:grpSpPr>
        <p:pic>
          <p:nvPicPr>
            <p:cNvPr id="11" name="Picture 11"/>
            <p:cNvPicPr>
              <a:picLocks noChangeAspect="1"/>
            </p:cNvPicPr>
            <p:nvPr/>
          </p:nvPicPr>
          <p:blipFill>
            <a:blip r:embed="rId5"/>
            <a:stretch>
              <a:fillRect/>
            </a:stretch>
          </p:blipFill>
          <p:spPr>
            <a:xfrm>
              <a:off x="2463804" y="2782247"/>
              <a:ext cx="237244" cy="276999"/>
            </a:xfrm>
            <a:prstGeom prst="rect">
              <a:avLst/>
            </a:prstGeom>
            <a:ln w="25400">
              <a:noFill/>
              <a:prstDash val="solid"/>
            </a:ln>
          </p:spPr>
        </p:pic>
        <p:sp>
          <p:nvSpPr>
            <p:cNvPr id="12" name="AutoShape 12"/>
            <p:cNvSpPr/>
            <p:nvPr/>
          </p:nvSpPr>
          <p:spPr>
            <a:xfrm>
              <a:off x="2463804" y="2782247"/>
              <a:ext cx="237244" cy="276999"/>
            </a:xfrm>
            <a:prstGeom prst="rect">
              <a:avLst/>
            </a:prstGeom>
            <a:noFill/>
            <a:ln w="254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1F2329"/>
                  </a:solidFill>
                  <a:latin typeface="Arial" panose="020B0604020202020204"/>
                  <a:ea typeface="Arial" panose="020B0604020202020204"/>
                  <a:cs typeface="Arial" panose="020B0604020202020204"/>
                  <a:sym typeface="Arial" panose="020B0604020202020204"/>
                </a:rPr>
                <a:t> </a:t>
              </a:r>
              <a:endParaRPr lang="en-US" sz="1100"/>
            </a:p>
          </p:txBody>
        </p:sp>
      </p:grpSp>
      <p:pic>
        <p:nvPicPr>
          <p:cNvPr id="13" name="Picture 13"/>
          <p:cNvPicPr>
            <a:picLocks noChangeAspect="1"/>
          </p:cNvPicPr>
          <p:nvPr/>
        </p:nvPicPr>
        <p:blipFill>
          <a:blip r:embed="rId6"/>
          <a:srcRect/>
          <a:stretch>
            <a:fillRect/>
          </a:stretch>
        </p:blipFill>
        <p:spPr>
          <a:xfrm>
            <a:off x="1436875" y="4698696"/>
            <a:ext cx="3314087" cy="659156"/>
          </a:xfrm>
          <a:prstGeom prst="rect">
            <a:avLst/>
          </a:prstGeom>
          <a:ln w="12700">
            <a:noFill/>
            <a:prstDash val="solid"/>
          </a:ln>
        </p:spPr>
      </p:pic>
      <p:pic>
        <p:nvPicPr>
          <p:cNvPr id="14" name="Picture 14"/>
          <p:cNvPicPr>
            <a:picLocks noChangeAspect="1"/>
          </p:cNvPicPr>
          <p:nvPr/>
        </p:nvPicPr>
        <p:blipFill>
          <a:blip r:embed="rId7"/>
          <a:srcRect/>
          <a:stretch>
            <a:fillRect/>
          </a:stretch>
        </p:blipFill>
        <p:spPr>
          <a:xfrm>
            <a:off x="6022769" y="3750470"/>
            <a:ext cx="1497836" cy="838788"/>
          </a:xfrm>
          <a:prstGeom prst="rect">
            <a:avLst/>
          </a:prstGeom>
          <a:ln w="12700">
            <a:noFill/>
            <a:prstDash val="solid"/>
          </a:ln>
        </p:spPr>
      </p:pic>
      <p:pic>
        <p:nvPicPr>
          <p:cNvPr id="15" name="Picture 15"/>
          <p:cNvPicPr>
            <a:picLocks noChangeAspect="1"/>
          </p:cNvPicPr>
          <p:nvPr/>
        </p:nvPicPr>
        <p:blipFill>
          <a:blip r:embed="rId8"/>
          <a:srcRect/>
          <a:stretch>
            <a:fillRect/>
          </a:stretch>
        </p:blipFill>
        <p:spPr>
          <a:xfrm>
            <a:off x="2153735" y="3776289"/>
            <a:ext cx="2444429" cy="907931"/>
          </a:xfrm>
          <a:prstGeom prst="rect">
            <a:avLst/>
          </a:prstGeom>
          <a:ln w="12700">
            <a:noFill/>
            <a:prstDash val="solid"/>
          </a:ln>
        </p:spPr>
      </p:pic>
      <p:pic>
        <p:nvPicPr>
          <p:cNvPr id="16" name="Picture 16"/>
          <p:cNvPicPr>
            <a:picLocks noChangeAspect="1"/>
          </p:cNvPicPr>
          <p:nvPr/>
        </p:nvPicPr>
        <p:blipFill>
          <a:blip r:embed="rId9"/>
          <a:srcRect/>
          <a:stretch>
            <a:fillRect/>
          </a:stretch>
        </p:blipFill>
        <p:spPr>
          <a:xfrm>
            <a:off x="5423825" y="4725186"/>
            <a:ext cx="5959852" cy="808837"/>
          </a:xfrm>
          <a:prstGeom prst="rect">
            <a:avLst/>
          </a:prstGeom>
          <a:ln w="12700">
            <a:noFill/>
            <a:prstDash val="solid"/>
          </a:ln>
        </p:spPr>
      </p:pic>
      <p:pic>
        <p:nvPicPr>
          <p:cNvPr id="17" name="Picture 17"/>
          <p:cNvPicPr>
            <a:picLocks noChangeAspect="1"/>
          </p:cNvPicPr>
          <p:nvPr/>
        </p:nvPicPr>
        <p:blipFill>
          <a:blip r:embed="rId10"/>
          <a:srcRect/>
          <a:stretch>
            <a:fillRect/>
          </a:stretch>
        </p:blipFill>
        <p:spPr>
          <a:xfrm>
            <a:off x="2261118" y="5471468"/>
            <a:ext cx="2078585" cy="884883"/>
          </a:xfrm>
          <a:prstGeom prst="rect">
            <a:avLst/>
          </a:prstGeom>
          <a:ln w="12700">
            <a:noFill/>
            <a:prstDash val="solid"/>
          </a:ln>
        </p:spPr>
      </p:pic>
      <p:pic>
        <p:nvPicPr>
          <p:cNvPr id="18" name="Picture 18"/>
          <p:cNvPicPr>
            <a:picLocks noChangeAspect="1"/>
          </p:cNvPicPr>
          <p:nvPr/>
        </p:nvPicPr>
        <p:blipFill>
          <a:blip r:embed="rId11"/>
          <a:srcRect/>
          <a:stretch>
            <a:fillRect/>
          </a:stretch>
        </p:blipFill>
        <p:spPr>
          <a:xfrm>
            <a:off x="5793901" y="1113550"/>
            <a:ext cx="6270127" cy="152364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(1/3)</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Encoder</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Multi-Head Self-Attention Mechanism</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Simple, Position-wise Feed-Forward Network</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Masked Self-Attention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Encoder-Decoder Attention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Feed-Forward Network</a:t>
            </a:r>
          </a:p>
        </p:txBody>
      </p:sp>
      <p:pic>
        <p:nvPicPr>
          <p:cNvPr id="7" name="Picture 7"/>
          <p:cNvPicPr>
            <a:picLocks noChangeAspect="1"/>
          </p:cNvPicPr>
          <p:nvPr/>
        </p:nvPicPr>
        <p:blipFill>
          <a:blip r:embed="rId3"/>
          <a:srcRect/>
          <a:stretch>
            <a:fillRect/>
          </a:stretch>
        </p:blipFill>
        <p:spPr>
          <a:xfrm>
            <a:off x="1029128" y="3120022"/>
            <a:ext cx="4464096" cy="2187820"/>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5981704" y="3718825"/>
            <a:ext cx="6001935" cy="183373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(2/3)</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Encoding Flow</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Dependent paths in self-attention layer</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Interdependent paths in feed-forward layer</a:t>
            </a:r>
          </a:p>
        </p:txBody>
      </p:sp>
      <p:pic>
        <p:nvPicPr>
          <p:cNvPr id="7" name="Picture 7"/>
          <p:cNvPicPr>
            <a:picLocks noChangeAspect="1"/>
          </p:cNvPicPr>
          <p:nvPr/>
        </p:nvPicPr>
        <p:blipFill>
          <a:blip r:embed="rId3"/>
          <a:srcRect/>
          <a:stretch>
            <a:fillRect/>
          </a:stretch>
        </p:blipFill>
        <p:spPr>
          <a:xfrm>
            <a:off x="876975" y="1962301"/>
            <a:ext cx="4950619" cy="683505"/>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92349" y="2789538"/>
            <a:ext cx="5289355" cy="3434047"/>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6288563" y="2852436"/>
            <a:ext cx="5434644" cy="3414222"/>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(3/3)</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at a High Level</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p>
        </p:txBody>
      </p:sp>
      <p:pic>
        <p:nvPicPr>
          <p:cNvPr id="6" name="Picture 6"/>
          <p:cNvPicPr>
            <a:picLocks noChangeAspect="1"/>
          </p:cNvPicPr>
          <p:nvPr/>
        </p:nvPicPr>
        <p:blipFill>
          <a:blip r:embed="rId3"/>
          <a:srcRect/>
          <a:stretch>
            <a:fillRect/>
          </a:stretch>
        </p:blipFill>
        <p:spPr>
          <a:xfrm>
            <a:off x="1760466" y="2213386"/>
            <a:ext cx="4080775" cy="379261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(1/2)</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as Information Retrieval</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Triplets: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token is transformed into three vectors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(Q): “What am I looking for?”</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(K): “What information do I contain?”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(V): “What is the actual content I offer?”</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Mechanism:</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Similarity: Compute the compatibility between the Query of the current token and the Keys of all other tokens.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Weights: Pass the scores through a Softmax function to get attention weights.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Output: The final representation is a weighted sum of the Values.</a:t>
            </a:r>
          </a:p>
        </p:txBody>
      </p:sp>
      <p:pic>
        <p:nvPicPr>
          <p:cNvPr id="6" name="Picture 6"/>
          <p:cNvPicPr>
            <a:picLocks noChangeAspect="1"/>
          </p:cNvPicPr>
          <p:nvPr/>
        </p:nvPicPr>
        <p:blipFill>
          <a:blip r:embed="rId2"/>
          <a:srcRect/>
          <a:stretch>
            <a:fillRect/>
          </a:stretch>
        </p:blipFill>
        <p:spPr>
          <a:xfrm>
            <a:off x="6162673" y="1132554"/>
            <a:ext cx="5771277" cy="110057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415482" y="2546513"/>
            <a:ext cx="4838131" cy="117566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(2/2)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Create Query, Key and Value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current token’s “question”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all others about relevance.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identifying information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answer the “question.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content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be passed through (weighted) to the output.</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p>
        </p:txBody>
      </p:sp>
      <p:pic>
        <p:nvPicPr>
          <p:cNvPr id="7" name="Picture 7"/>
          <p:cNvPicPr>
            <a:picLocks noChangeAspect="1"/>
          </p:cNvPicPr>
          <p:nvPr/>
        </p:nvPicPr>
        <p:blipFill>
          <a:blip r:embed="rId3"/>
          <a:srcRect/>
          <a:stretch>
            <a:fillRect/>
          </a:stretch>
        </p:blipFill>
        <p:spPr>
          <a:xfrm>
            <a:off x="1030469" y="4018047"/>
            <a:ext cx="4556252" cy="2717076"/>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670099" y="1951583"/>
            <a:ext cx="4671572" cy="478354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Pipeline of </a:t>
            </a:r>
            <a:r>
              <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rPr>
              <a:t>Attention(Q, K, V)</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222222">
                    <a:alpha val="100000"/>
                  </a:srgbClr>
                </a:solidFill>
                <a:latin typeface="Helvetica"/>
              </a:defRPr>
            </a:lvl1pPr>
          </a:lstStyle>
          <a:p>
            <a:pPr marL="304800" indent="-304800" algn="l">
              <a:lnSpc>
                <a:spcPct val="100000"/>
              </a:lnSpc>
              <a:spcBef>
                <a:spcPts val="1500"/>
              </a:spcBef>
              <a:buClr>
                <a:srgbClr val="222222"/>
              </a:buClr>
              <a:buChar char="•"/>
            </a:pPr>
            <a:r>
              <a:rPr lang="en-US" sz="2400" b="0" i="0" u="none" strike="noStrike">
                <a:solidFill>
                  <a:srgbClr val="222222"/>
                </a:solidFill>
                <a:latin typeface="Helvetica"/>
                <a:ea typeface="Helvetica"/>
                <a:cs typeface="Helvetica"/>
                <a:sym typeface="Helvetica"/>
              </a:rPr>
              <a:t>Calculate Query, Key, and Value matrices</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p>
        </p:txBody>
      </p:sp>
      <p:pic>
        <p:nvPicPr>
          <p:cNvPr id="7" name="Picture 7"/>
          <p:cNvPicPr>
            <a:picLocks noChangeAspect="1"/>
          </p:cNvPicPr>
          <p:nvPr/>
        </p:nvPicPr>
        <p:blipFill>
          <a:blip r:embed="rId3"/>
          <a:srcRect/>
          <a:stretch>
            <a:fillRect/>
          </a:stretch>
        </p:blipFill>
        <p:spPr>
          <a:xfrm>
            <a:off x="1014095" y="2135505"/>
            <a:ext cx="3653155" cy="4220845"/>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663734" y="2975212"/>
            <a:ext cx="4810906" cy="2238089"/>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(1/2)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Multi-Headed Attention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Expands the model’s ability to focus on different positions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Gives the attention layer multiple “representation subspaces”</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Condense these matrixs down into a single matrix</a:t>
            </a:r>
          </a:p>
        </p:txBody>
      </p:sp>
      <p:pic>
        <p:nvPicPr>
          <p:cNvPr id="7" name="Picture 7"/>
          <p:cNvPicPr>
            <a:picLocks noChangeAspect="1"/>
          </p:cNvPicPr>
          <p:nvPr/>
        </p:nvPicPr>
        <p:blipFill>
          <a:blip r:embed="rId3"/>
          <a:srcRect/>
          <a:stretch>
            <a:fillRect/>
          </a:stretch>
        </p:blipFill>
        <p:spPr>
          <a:xfrm>
            <a:off x="1033855" y="3253324"/>
            <a:ext cx="4571212" cy="3013334"/>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939887" y="2066935"/>
            <a:ext cx="4031104" cy="1912596"/>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6620812" y="3965520"/>
            <a:ext cx="4433875" cy="2508197"/>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(2/2)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Overview of Multi-Headed Attention</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p>
        </p:txBody>
      </p:sp>
      <p:pic>
        <p:nvPicPr>
          <p:cNvPr id="7" name="Picture 7"/>
          <p:cNvPicPr>
            <a:picLocks noChangeAspect="1"/>
          </p:cNvPicPr>
          <p:nvPr/>
        </p:nvPicPr>
        <p:blipFill>
          <a:blip r:embed="rId3"/>
          <a:srcRect/>
          <a:stretch>
            <a:fillRect/>
          </a:stretch>
        </p:blipFill>
        <p:spPr>
          <a:xfrm>
            <a:off x="92060" y="2552132"/>
            <a:ext cx="6070613" cy="3398292"/>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9170350" y="2870107"/>
            <a:ext cx="2807068" cy="2557843"/>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6157511" y="2895363"/>
            <a:ext cx="3012839" cy="2507329"/>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(1/2)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Positional encoding vectors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values of which follow a specific pattern</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Dimensionality of 4</a:t>
            </a:r>
          </a:p>
        </p:txBody>
      </p:sp>
      <p:pic>
        <p:nvPicPr>
          <p:cNvPr id="7" name="Picture 7"/>
          <p:cNvPicPr>
            <a:picLocks noChangeAspect="1"/>
          </p:cNvPicPr>
          <p:nvPr/>
        </p:nvPicPr>
        <p:blipFill>
          <a:blip r:embed="rId3"/>
          <a:srcRect/>
          <a:stretch>
            <a:fillRect/>
          </a:stretch>
        </p:blipFill>
        <p:spPr>
          <a:xfrm>
            <a:off x="599373" y="2702257"/>
            <a:ext cx="5610924" cy="3077893"/>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328600" y="3056343"/>
            <a:ext cx="5514247" cy="145424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(2/2)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Tensor2Tensor implementation </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real example of positional encoding for 20 words (rows) with an embedding size of 512 (columns)</a:t>
            </a: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https://github.com/jalammar/jalammar.github.io/blob/master/notebookes/transformer/transformer_positional_encoding_graph.ipynb</a:t>
            </a: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7" name="Picture 7"/>
          <p:cNvPicPr>
            <a:picLocks noChangeAspect="1"/>
          </p:cNvPicPr>
          <p:nvPr/>
        </p:nvPicPr>
        <p:blipFill>
          <a:blip r:embed="rId3"/>
          <a:srcRect/>
          <a:stretch>
            <a:fillRect/>
          </a:stretch>
        </p:blipFill>
        <p:spPr>
          <a:xfrm>
            <a:off x="874579" y="2887046"/>
            <a:ext cx="4431223" cy="3289918"/>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326628" y="1414782"/>
            <a:ext cx="3761905" cy="819048"/>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6219822" y="2515862"/>
            <a:ext cx="5809617" cy="34430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Residuals</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Residual Connections and Layer Normalization</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of a Transformer of 2 stacked encoders and decoders</a:t>
            </a:r>
          </a:p>
        </p:txBody>
      </p:sp>
      <p:pic>
        <p:nvPicPr>
          <p:cNvPr id="7" name="Picture 7"/>
          <p:cNvPicPr>
            <a:picLocks noChangeAspect="1"/>
          </p:cNvPicPr>
          <p:nvPr/>
        </p:nvPicPr>
        <p:blipFill>
          <a:blip r:embed="rId3"/>
          <a:srcRect/>
          <a:stretch>
            <a:fillRect/>
          </a:stretch>
        </p:blipFill>
        <p:spPr>
          <a:xfrm>
            <a:off x="962021" y="2176388"/>
            <a:ext cx="4508957" cy="4003751"/>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5603870" y="2371724"/>
            <a:ext cx="6588130" cy="3738249"/>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Decoder</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Begin of Decode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starting token: typically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[BOS]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(Begin of Sequence)</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Repeat the process until a special symbol</a:t>
            </a:r>
          </a:p>
        </p:txBody>
      </p:sp>
      <p:pic>
        <p:nvPicPr>
          <p:cNvPr id="7" name="Picture 7"/>
          <p:cNvPicPr>
            <a:picLocks noChangeAspect="1"/>
          </p:cNvPicPr>
          <p:nvPr/>
        </p:nvPicPr>
        <p:blipFill>
          <a:blip r:embed="rId3"/>
          <a:srcRect/>
          <a:stretch>
            <a:fillRect/>
          </a:stretch>
        </p:blipFill>
        <p:spPr>
          <a:xfrm>
            <a:off x="390526" y="2622857"/>
            <a:ext cx="5591177" cy="3071507"/>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6096000" y="2405368"/>
            <a:ext cx="5987078" cy="328899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Final Linear and Softmax Layer</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7" name="Picture 7"/>
          <p:cNvPicPr>
            <a:picLocks noChangeAspect="1"/>
          </p:cNvPicPr>
          <p:nvPr/>
        </p:nvPicPr>
        <p:blipFill>
          <a:blip r:embed="rId3"/>
          <a:srcRect/>
          <a:stretch>
            <a:fillRect/>
          </a:stretch>
        </p:blipFill>
        <p:spPr>
          <a:xfrm>
            <a:off x="523872" y="1323977"/>
            <a:ext cx="7771037" cy="4771689"/>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 Decoder-only</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Decoder-Only: Built for Autoregression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Predicting the next token in a sequence based on everything that came before it.</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Simplicity and Efficiency</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One training objective: predict the next token.</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 need for parallel datasets, which are expensive and scarce.</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Can be scaled across trillions of tokens efficiently.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Perfect Match for Generative Tasks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and Emergent Abilities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Scalability and Industry Validation</a:t>
            </a: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https://www.c-sharpcorner.com/article/llms-why-modern-llms-like-gpt-are-decoder-only/</a:t>
            </a: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Decoder-Only vs Encoder-Decoder</a:t>
            </a:r>
          </a:p>
        </p:txBody>
      </p:sp>
      <p:pic>
        <p:nvPicPr>
          <p:cNvPr id="7" name="Picture 7"/>
          <p:cNvPicPr>
            <a:picLocks noChangeAspect="1"/>
          </p:cNvPicPr>
          <p:nvPr/>
        </p:nvPicPr>
        <p:blipFill>
          <a:blip r:embed="rId3"/>
          <a:srcRect/>
          <a:stretch>
            <a:fillRect/>
          </a:stretch>
        </p:blipFill>
        <p:spPr>
          <a:xfrm>
            <a:off x="6353886" y="2293936"/>
            <a:ext cx="5596622" cy="2913068"/>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(1/2)</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transformer self-attention, we compute attention scores between all pairs of tokens: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Q is an (n,d) matrix (for n tokens, each with dimension 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K is an (n,d) matrix.</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 form an n x n attention score matrix QK^T.</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 then multiply by Value V, which is (n,d) matrix.</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This requires on the order of n² d operations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 n grows, the quadratic term dominates.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6896535" y="2545541"/>
            <a:ext cx="4672012" cy="301576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(2/2)</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1. Compute Attention Scores</a:t>
            </a:r>
          </a:p>
          <a:p>
            <a:pPr marL="596900" lvl="1" indent="-254000" algn="l">
              <a:lnSpc>
                <a:spcPct val="100000"/>
              </a:lnSpc>
              <a:spcBef>
                <a:spcPts val="750"/>
              </a:spcBef>
              <a:buClr>
                <a:srgbClr val="404040"/>
              </a:buClr>
              <a:buChar char="•"/>
            </a:pP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QK^T⇒ (n,d) </a:t>
            </a:r>
            <a:r>
              <a:rPr lang="en-US" sz="2000" b="0" i="1"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(d,n) =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(n,n)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cost: about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O(n⋅d⋅n)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O(n² 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This yields an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score matrix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(basically all pairs of tokens).</a:t>
            </a: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2. Multiply by Values, V</a:t>
            </a:r>
          </a:p>
          <a:p>
            <a:pPr marL="596900" lvl="1" indent="-254000" algn="l">
              <a:lnSpc>
                <a:spcPct val="100000"/>
              </a:lnSpc>
              <a:spcBef>
                <a:spcPts val="750"/>
              </a:spcBef>
              <a:buClr>
                <a:srgbClr val="404040"/>
              </a:buClr>
              <a:buChar char="•"/>
            </a:pP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score matrix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(n,n) </a:t>
            </a:r>
            <a:r>
              <a:rPr lang="en-US" sz="2000" b="0" i="1"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(n, d) =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(n, 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cost again: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O(n⋅n⋅d)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Hence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each forward pass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of a single-head attention block is about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it’s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multi-head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with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h</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heads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each head uses dimension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d/h</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but we do it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h</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times. Summed together, it’s again </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Problem</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expensive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Self‑attention’s flexibility comes at a steep cost: its complexity grows quadratically with the length of the input sequence.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Where transformers hit the wall</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KV Cache Explosion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Bandwidth Bottleneck</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all your need until you need memory</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7752921" y="1132554"/>
            <a:ext cx="4048553" cy="2209800"/>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7752921" y="3471198"/>
            <a:ext cx="4381173" cy="297577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880291" y="1538365"/>
            <a:ext cx="6217659" cy="2774032"/>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(1/2)</a:t>
            </a: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1: Computing the Attention Scores (S = QK^T / √d)</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2: Applying Softmax (P = softmax(S))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7" name="Picture 7"/>
          <p:cNvPicPr>
            <a:picLocks noChangeAspect="1"/>
          </p:cNvPicPr>
          <p:nvPr/>
        </p:nvPicPr>
        <p:blipFill>
          <a:blip r:embed="rId3"/>
          <a:srcRect/>
          <a:stretch>
            <a:fillRect/>
          </a:stretch>
        </p:blipFill>
        <p:spPr>
          <a:xfrm>
            <a:off x="880291" y="4491785"/>
            <a:ext cx="5026303" cy="1582677"/>
          </a:xfrm>
          <a:prstGeom prst="rect">
            <a:avLst/>
          </a:prstGeom>
          <a:ln w="12700">
            <a:noFill/>
            <a:prstDash val="solid"/>
          </a:ln>
        </p:spPr>
      </p:pic>
      <p:sp>
        <p:nvSpPr>
          <p:cNvPr id="8" name="AutoShape 8"/>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For example:</a:t>
            </a:r>
            <a:endParaRPr lang="en-US" sz="1100"/>
          </a:p>
          <a:p>
            <a:pPr indent="0" algn="l">
              <a:lnSpc>
                <a:spcPct val="100000"/>
              </a:lnSpc>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N = 4096, d = 128, FP16</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(2/2)</a:t>
            </a: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3: Computing the Output (O = PV)</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Total HBM Traffic:</a:t>
            </a: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7" name="Picture 7"/>
          <p:cNvPicPr>
            <a:picLocks noChangeAspect="1"/>
          </p:cNvPicPr>
          <p:nvPr/>
        </p:nvPicPr>
        <p:blipFill>
          <a:blip r:embed="rId3"/>
          <a:srcRect/>
          <a:stretch>
            <a:fillRect/>
          </a:stretch>
        </p:blipFill>
        <p:spPr>
          <a:xfrm>
            <a:off x="1152958" y="1740131"/>
            <a:ext cx="5296333" cy="2362979"/>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996891" y="4644457"/>
            <a:ext cx="6429145" cy="1779134"/>
          </a:xfrm>
          <a:prstGeom prst="rect">
            <a:avLst/>
          </a:prstGeom>
          <a:ln w="12700">
            <a:noFill/>
            <a:prstDash val="solid"/>
          </a:ln>
        </p:spPr>
      </p:pic>
      <p:sp>
        <p:nvSpPr>
          <p:cNvPr id="9" name="AutoShape 9"/>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For example:</a:t>
            </a:r>
            <a:endParaRPr lang="en-US" sz="1100"/>
          </a:p>
          <a:p>
            <a:pPr indent="0" algn="l">
              <a:lnSpc>
                <a:spcPct val="100000"/>
              </a:lnSpc>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N = 4096, d = 128, FP16</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of Standard Attention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Standard Attention complexity is O(</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Pain Points: Memory consumption scales quadratically with sequence length n, leading to frequent Out-of-Memory errors during long-context processing.</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Crucial Question: Do we truly need to materialize and store that massive N x N attention matrix?</a:t>
            </a:r>
          </a:p>
        </p:txBody>
      </p:sp>
      <p:pic>
        <p:nvPicPr>
          <p:cNvPr id="6" name="Picture 6"/>
          <p:cNvPicPr>
            <a:picLocks noChangeAspect="1"/>
          </p:cNvPicPr>
          <p:nvPr/>
        </p:nvPicPr>
        <p:blipFill>
          <a:blip r:embed="rId2"/>
          <a:srcRect/>
          <a:stretch>
            <a:fillRect/>
          </a:stretch>
        </p:blipFill>
        <p:spPr>
          <a:xfrm>
            <a:off x="1011381" y="3562143"/>
            <a:ext cx="5701146" cy="297677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3825</Words>
  <Application>Microsoft Office PowerPoint</Application>
  <PresentationFormat>宽屏</PresentationFormat>
  <Paragraphs>415</Paragraphs>
  <Slides>32</Slides>
  <Notes>21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32</vt:i4>
      </vt:variant>
    </vt:vector>
  </HeadingPairs>
  <TitlesOfParts>
    <vt:vector size="46" baseType="lpstr">
      <vt:lpstr>Chinese Quote</vt:lpstr>
      <vt:lpstr>Helvetica Neue</vt:lpstr>
      <vt:lpstr>Noto Sans SC</vt:lpstr>
      <vt:lpstr>Pretendard</vt:lpstr>
      <vt:lpstr>等线</vt:lpstr>
      <vt:lpstr>微软雅黑</vt:lpstr>
      <vt:lpstr>Arial</vt:lpstr>
      <vt:lpstr>Calibri</vt:lpstr>
      <vt:lpstr>Calibri Light</vt:lpstr>
      <vt:lpstr>Garamond</vt:lpstr>
      <vt:lpstr>Helvetica</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13</cp:revision>
  <dcterms:created xsi:type="dcterms:W3CDTF">2026-04-17T05:07:00Z</dcterms:created>
  <dcterms:modified xsi:type="dcterms:W3CDTF">2026-05-27T10:17:32Z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2052-12.1.0.21915</vt:lpwstr>
  </property>
</Properties>
</file>