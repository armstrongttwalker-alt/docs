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31"/>
  </p:notesMasterIdLst>
  <p:handoutMasterIdLst>
    <p:handoutMasterId r:id="rId32"/>
  </p:handoutMasterIdLst>
  <p:sldIdLst>
    <p:sldId id="256" r:id="rId3"/>
    <p:sldId id="383" r:id="rId4"/>
    <p:sldId id="384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97" r:id="rId18"/>
    <p:sldId id="398" r:id="rId19"/>
    <p:sldId id="399" r:id="rId20"/>
    <p:sldId id="400" r:id="rId21"/>
    <p:sldId id="401" r:id="rId22"/>
    <p:sldId id="402" r:id="rId23"/>
    <p:sldId id="403" r:id="rId24"/>
    <p:sldId id="404" r:id="rId25"/>
    <p:sldId id="405" r:id="rId26"/>
    <p:sldId id="406" r:id="rId27"/>
    <p:sldId id="322" r:id="rId28"/>
    <p:sldId id="323" r:id="rId29"/>
    <p:sldId id="324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35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4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2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31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30.png"/><Relationship Id="rId9" Type="http://schemas.openxmlformats.org/officeDocument/2006/relationships/hyperlink" Target="https://space.bilibili.com/3546791834290849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15: Operator Fusion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Ebrima" panose="02000000000000000000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Operator Fusion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Example: Fused Softmax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Lifecycle of Operators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Frame layer: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graph normalization: Break down high-level composite operators in deep neural networks (e.g., TransformerBlock) into fine-grained primitives (MatMul, Softmax, LayerNorm), and establish standardized IR frameworks (e.g., MLIR, XLA HLO).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Calculate the tensor lifecycle through data stream analysis and determine the parallel strategy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Convert the optimized compute graph Lowering into device-specific code and insert necessary synchronization primitives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71625" y="4149090"/>
            <a:ext cx="3073400" cy="213106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76010" y="3747770"/>
            <a:ext cx="3783330" cy="253238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Lifecycle of Operators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Runtime layer: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Prepare parameters for each operator (device pointer, shared memory size, Stream ID, and other context)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Initiate Kernel Launch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 layer 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reads data from Global Memory---&gt; compute unit processes---&gt; writes back to Global Memory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60065" y="4037330"/>
            <a:ext cx="5466080" cy="213995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 Launch Optimization: CUDA Graph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Record a series of GPU operations (Kernels, Memcpys) as a static topology diagram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Capture the execution sequence, parameters, video memory addresses, and scheduling paths of all kernels during the phase.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During the replay phase, the CPU only needs to issue a single ultra-lightweight instruction to trigger the entire graphs automatic transfer on the GPU.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6310" y="4015105"/>
            <a:ext cx="4911725" cy="16891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3763" r="3764"/>
          <a:stretch>
            <a:fillRect/>
          </a:stretch>
        </p:blipFill>
        <p:spPr>
          <a:xfrm>
            <a:off x="6106160" y="3867785"/>
            <a:ext cx="5332730" cy="19831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914400" y="3388360"/>
            <a:ext cx="2438400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minimal GPU kernel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06160" y="3387090"/>
            <a:ext cx="3650615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general-purpose GPU kernel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transfer between operators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Default mode: Conv results must be written back to global video memory, then Scale reads them out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Operator fusion: Element-wise operations can seamlessly integrate with other operators, significantly reducing both memory access and kernel startup overhead.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38630" y="4667250"/>
            <a:ext cx="8534400" cy="12192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09825" y="2087245"/>
            <a:ext cx="7863205" cy="142748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Operator Fusion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Definition: A technique that merges multiple independent operators (or kernels) in a computational graph into a single operator for execution.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Typical scenarios in deep learning: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Vertical Fusion: Conv + Bias + ReLU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Horizontal Fusion: Merge multiple GEMMs with the same input but different parameters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Reduction Fusion: Mean + Var + Scale in LayerNorm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Advantages of Operator Fusion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 memory bandwidth usage: Eliminate read and write operations on global memory for intermediate results. Data remains in registers or shared memory.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 Kernel Launch overhead: Minimize the number of handshakes between CPU and GPU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Enhance cache utilization: Data is continuously accessed in SRAM for higher efficiency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Increase computational density: Boost the instruction stream per task to better mask memory latency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Problems of Operator Fusion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contradiction-Register pressure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total number of registers in a GPU SM is fixed (for example, A100 has 256KB per SM).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Single-threading requires more intermediate states → Single-threading registers ↑ → Each thread block occupies registers ↑ → Concurrent thread blocks decrease → Reduced active Warp count in SM (Occupancy decreases)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Instruction cache pressure: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merged kernel may exceed the hardware instruction cache limit.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Finding the sweet spot between saving memory bandwidth and maintaining sufficient computational parallelism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Negative Example: The Greedy Merging of XLA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https://github.com/openxla/xla/discussions/766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Scene description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inputs forced layout is {3,2,1,0}, and the operator (Custom-call) has a forced layout of {1,0,2,3}.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When computing Add, XLA detects that the two inputs have different layouts. To align them, it must insert a Copy operation.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reduce kernel boot overhead, XLA forcibly merges Add and Copy operations. However, inconsistent I/O layouts disrupt memory merge access, causing memory access to become random and erratic, resulting in a 9-fold performance degradation.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38580" y="4187190"/>
            <a:ext cx="2621915" cy="224091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97985" y="4748530"/>
            <a:ext cx="7413625" cy="9150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negative example: Fused Adam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https://github.com/pytorch/pytorch/issues/121857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Pytorchs auto-enabled Fused AdamW algorithm experiences a dramatic performance drop on A40 GPUs. Potential causes include: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number of registers used in Fuse mode is approximately double that of standard mode.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Fused AdamW is triggered per-tensor, causing excessive Kernel launches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35150" y="3155950"/>
            <a:ext cx="6289675" cy="14097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72310" y="4683125"/>
            <a:ext cx="6185535" cy="138684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Ebrima" panose="02000000000000000000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operator fusion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Example: Fused Softmax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Example: Softmax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741680" y="1353185"/>
            <a:ext cx="7225030" cy="3472815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38810" y="5109210"/>
            <a:ext cx="11075670" cy="9639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304800" indent="-3048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bottleneck: Total reads 5MN+2M elements, writes 3MN+2M elements. Frequent global memory reads/writes cause significant bandwidth waste.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81010" y="2777490"/>
            <a:ext cx="3552825" cy="96393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8023225" y="2010410"/>
            <a:ext cx="3528060" cy="6318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304800" indent="-3048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Formula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Example: Softmax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Basic Idea of Operator Fusion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Load: All threads collaborate in parallel to read data from Global Memory and write it to Shared Memory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Sync &amp; Reduce: Perform multiple iterations within Shared Memory, which is fully executed at high speed on-chip without consuming video memory bandwidth.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CUDA: Synchronize with __syncthreads() at each step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Triton: Automatic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Write: Only the final result is written back to Global Memory.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Softmax_kernel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 Residency: The entire row of data remains on-chip after loading until the computation is completed.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1230" y="2216150"/>
            <a:ext cx="8053705" cy="430149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1482090" y="4676775"/>
            <a:ext cx="4272915" cy="179705"/>
          </a:xfrm>
          <a:prstGeom prst="rect">
            <a:avLst/>
          </a:prstGeom>
          <a:noFill/>
          <a:ln w="12700" cap="flat">
            <a:solidFill>
              <a:srgbClr val="FFFF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82090" y="3537585"/>
            <a:ext cx="5426075" cy="789305"/>
          </a:xfrm>
          <a:prstGeom prst="rect">
            <a:avLst/>
          </a:prstGeom>
          <a:noFill/>
          <a:ln w="12700" cap="flat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54750" y="4582160"/>
            <a:ext cx="1147445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loading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048500" y="3748405"/>
            <a:ext cx="1555115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memory pointer calculation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482090" y="6278245"/>
            <a:ext cx="4272915" cy="179705"/>
          </a:xfrm>
          <a:prstGeom prst="rect">
            <a:avLst/>
          </a:prstGeom>
          <a:noFill/>
          <a:ln w="12700" cap="flat">
            <a:solidFill>
              <a:srgbClr val="FFFF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19520" y="6089650"/>
            <a:ext cx="2244090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Data writeback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Softmax_kernel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Operator Fusion: Merge Max, Sub, Exp, and Sum into a Kernel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1230" y="1878330"/>
            <a:ext cx="8053705" cy="430149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1482090" y="4459605"/>
            <a:ext cx="6150610" cy="1006475"/>
          </a:xfrm>
          <a:prstGeom prst="rect">
            <a:avLst/>
          </a:prstGeom>
          <a:noFill/>
          <a:ln w="12700" cap="flat">
            <a:solidFill>
              <a:srgbClr val="FFFF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749540" y="4627880"/>
            <a:ext cx="1226820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operator fusion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14485" y="4231640"/>
            <a:ext cx="2444750" cy="116078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0" name="AutoShape 10"/>
          <p:cNvSpPr/>
          <p:nvPr/>
        </p:nvSpPr>
        <p:spPr>
          <a:xfrm>
            <a:off x="9186545" y="2595880"/>
            <a:ext cx="2437765" cy="1198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Internal Automatic Realization of Parallel Tree Structure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 Host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698500" y="1256665"/>
            <a:ext cx="6463030" cy="4082415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687310" y="1256665"/>
            <a:ext cx="3954145" cy="46704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rmAutofit lnSpcReduction="10000"/>
          </a:bodyPr>
          <a:lstStyle/>
          <a:p>
            <a:pPr marL="355600" indent="-355600" algn="l">
              <a:lnSpc>
                <a:spcPct val="133000"/>
              </a:lnSpc>
              <a:spcBef>
                <a:spcPts val="1200"/>
              </a:spcBef>
              <a:buClr>
                <a:srgbClr val="40404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static kernel specialization</a:t>
            </a:r>
            <a:endParaRPr lang="en-US" sz="1000"/>
          </a:p>
          <a:p>
            <a:pPr marL="635000" lvl="1" indent="-292100" algn="l">
              <a:lnSpc>
                <a:spcPct val="133000"/>
              </a:lnSpc>
              <a:spcBef>
                <a:spcPts val="12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Align input dimensions to the 2nd power</a:t>
            </a:r>
          </a:p>
          <a:p>
            <a:pPr marL="635000" lvl="1" indent="-292100" algn="l">
              <a:lnSpc>
                <a:spcPct val="133000"/>
              </a:lnSpc>
              <a:spcBef>
                <a:spcPts val="12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Ensure the kernel parameter BLOCK_SIZE is a compile-time constant to allow the compiler to perform full loop unrolling and eliminate runtime branch overhead.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 Host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523875" y="1271905"/>
            <a:ext cx="6798945" cy="4294505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832725" y="1363345"/>
            <a:ext cx="3968750" cy="3409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304800" indent="-304800" algn="l">
              <a:lnSpc>
                <a:spcPct val="150000"/>
              </a:lnSpc>
              <a:spcBef>
                <a:spcPts val="1200"/>
              </a:spcBef>
              <a:buClr>
                <a:srgbClr val="40404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hardware-aware utilization</a:t>
            </a:r>
            <a:endParaRPr lang="en-US" sz="1100"/>
          </a:p>
          <a:p>
            <a:pPr marL="596900" lvl="1" indent="-254000" algn="l">
              <a:lnSpc>
                <a:spcPct val="150000"/>
              </a:lnSpc>
              <a:spcBef>
                <a:spcPts val="12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Detect the actual consumption of registers and SRAM by the warmup kernel</a:t>
            </a:r>
          </a:p>
          <a:p>
            <a:pPr marL="596900" lvl="1" indent="-254000" algn="l">
              <a:lnSpc>
                <a:spcPct val="150000"/>
              </a:lnSpc>
              <a:spcBef>
                <a:spcPts val="12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Maximize the number of active warps per SM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 Host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523677" y="1341120"/>
            <a:ext cx="7683896" cy="4852988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341360" y="1236980"/>
            <a:ext cx="3968750" cy="3409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304800" indent="-304800" algn="l">
              <a:lnSpc>
                <a:spcPct val="150000"/>
              </a:lnSpc>
              <a:spcBef>
                <a:spcPts val="1200"/>
              </a:spcBef>
              <a:buClr>
                <a:srgbClr val="40404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Persistent Grid Startup</a:t>
            </a:r>
            <a:endParaRPr lang="en-US" sz="1100"/>
          </a:p>
          <a:p>
            <a:pPr marL="596900" lvl="1" indent="-254000" algn="l">
              <a:lnSpc>
                <a:spcPct val="117000"/>
              </a:lnSpc>
              <a:spcBef>
                <a:spcPts val="12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Decouple grid size from data volume</a:t>
            </a:r>
          </a:p>
          <a:p>
            <a:pPr marL="596900" lvl="1" indent="-254000" algn="l">
              <a:lnSpc>
                <a:spcPct val="117000"/>
              </a:lnSpc>
              <a:spcBef>
                <a:spcPts val="12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Block processes multiple rows of data serially through the Grid-Stride Loop.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Optimization Behind: Continuous addressing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Interleaved addressing may cause bank conflicts.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1680" y="1998980"/>
            <a:ext cx="6737985" cy="37084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t="-12" r="31028"/>
          <a:stretch>
            <a:fillRect/>
          </a:stretch>
        </p:blipFill>
        <p:spPr>
          <a:xfrm>
            <a:off x="8136890" y="1323975"/>
            <a:ext cx="2333625" cy="503237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Optimization Behind: Continuous addressing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Continuous addressing (where adjacent threads access contiguous data) maximizes memory bandwidth.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1680" y="2172970"/>
            <a:ext cx="6321425" cy="354901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19950" y="5067935"/>
            <a:ext cx="4279900" cy="55308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7219950" y="3613150"/>
            <a:ext cx="4397375" cy="13087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Compared to CUDA, Triton makes it much harder to write erroneous code by explicitly calling tl.arange().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Continuous index was generated automatically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Optimization Behind: Algorithm Cascading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single thread processes multiple data sets, increasing the workload per thread, hiding latency, and reducing Block startup overhead.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If BLOCK_SIZE is significantly larger than the number of physical threads, the Triton compiler automatically executes a loop within each physical thread to process BLOCK_SIZE divided by the number of threads.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theoretical analysis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Simple solution: Allocate O(N) threads, with time complexity O(log N) and total cost O(N log N).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Brent theorem optimization: Using O(N/log N) threads, each thread processes O(log N) elements serially, then all threads collaborate to perform O(log N) parallel reduction steps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Total cost = O(N/log N)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O(log N) = O(N) → Cost-efficient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Comparison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2775" y="2479040"/>
            <a:ext cx="4352925" cy="316801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50485" y="1375410"/>
            <a:ext cx="6461125" cy="42716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References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https://docs.flagos.io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https://developer.download.nvidia.com/assets/cuda/files/reduction.pdf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https://www.bu.edu/pasi/files/2011/07/Lecture31.pdf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http://fleetwood.dev/posts/layernorm-as-fast-as-possible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https://gfxcourses.stanford.edu/cs149/fall25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https://triton-lang.org/main/getting-started/tutorials/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1286</Words>
  <Application>Microsoft Office PowerPoint</Application>
  <PresentationFormat>宽屏</PresentationFormat>
  <Paragraphs>146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Noto Sans SC</vt:lpstr>
      <vt:lpstr>Pretendard</vt:lpstr>
      <vt:lpstr>微软雅黑</vt:lpstr>
      <vt:lpstr>Arial</vt:lpstr>
      <vt:lpstr>Calibri</vt:lpstr>
      <vt:lpstr>Calibri Light</vt:lpstr>
      <vt:lpstr>Ebrima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13</cp:revision>
  <dcterms:created xsi:type="dcterms:W3CDTF">2026-04-17T05:07:00Z</dcterms:created>
  <dcterms:modified xsi:type="dcterms:W3CDTF">2026-05-27T10:17:45Z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C79E56846FEAA2CF55BFE1693E6D39DC_42</vt:lpwstr>
  </property>
  <property fmtid="{D5CDD505-2E9C-101B-9397-08002B2CF9AE}" pid="3" name="KSOProductBuildVer">
    <vt:lpwstr>2052-12.1.0.21915</vt:lpwstr>
  </property>
</Properties>
</file>