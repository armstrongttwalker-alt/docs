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31"/>
  </p:notesMasterIdLst>
  <p:handoutMasterIdLst>
    <p:handoutMasterId r:id="rId32"/>
  </p:handoutMasterIdLst>
  <p:sldIdLst>
    <p:sldId id="256" r:id="rId3"/>
    <p:sldId id="427" r:id="rId4"/>
    <p:sldId id="428" r:id="rId5"/>
    <p:sldId id="429" r:id="rId6"/>
    <p:sldId id="430" r:id="rId7"/>
    <p:sldId id="431" r:id="rId8"/>
    <p:sldId id="432" r:id="rId9"/>
    <p:sldId id="433" r:id="rId10"/>
    <p:sldId id="434" r:id="rId11"/>
    <p:sldId id="435" r:id="rId12"/>
    <p:sldId id="436" r:id="rId13"/>
    <p:sldId id="437" r:id="rId14"/>
    <p:sldId id="438" r:id="rId15"/>
    <p:sldId id="439" r:id="rId16"/>
    <p:sldId id="440" r:id="rId17"/>
    <p:sldId id="441" r:id="rId18"/>
    <p:sldId id="442" r:id="rId19"/>
    <p:sldId id="443" r:id="rId20"/>
    <p:sldId id="444" r:id="rId21"/>
    <p:sldId id="445" r:id="rId22"/>
    <p:sldId id="446" r:id="rId23"/>
    <p:sldId id="447" r:id="rId24"/>
    <p:sldId id="448" r:id="rId25"/>
    <p:sldId id="449" r:id="rId26"/>
    <p:sldId id="450" r:id="rId27"/>
    <p:sldId id="322" r:id="rId28"/>
    <p:sldId id="323" r:id="rId29"/>
    <p:sldId id="324" r:id="rId3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https://github.com/flagos-ai/FlagGems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https://github.com/flagos-ai/FlagGems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id="12" name="AutoShape 12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"/>
          <p:cNvSpPr/>
          <p:nvPr userDrawn="1"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 userDrawn="1"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5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triton-lang.org/main/index.html" TargetMode="External"/><Relationship Id="rId2" Type="http://schemas.openxmlformats.org/officeDocument/2006/relationships/hyperlink" Target="https://github.com/flagos-ai/FlagGems" TargetMode="Externa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blog.ezyang.com/2020/09/lets-talk-about-the-pytorch-dispatcher/" TargetMode="External"/><Relationship Id="rId4" Type="http://schemas.openxmlformats.org/officeDocument/2006/relationships/hyperlink" Target="https://docs.nvidia.com/deeplearning/cudnn/latest/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lagos-ai" TargetMode="External"/><Relationship Id="rId13" Type="http://schemas.openxmlformats.org/officeDocument/2006/relationships/image" Target="../media/image23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2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0.png"/><Relationship Id="rId11" Type="http://schemas.openxmlformats.org/officeDocument/2006/relationships/hyperlink" Target="https://flagos.io/Home" TargetMode="External"/><Relationship Id="rId5" Type="http://schemas.openxmlformats.org/officeDocument/2006/relationships/image" Target="../media/image19.png"/><Relationship Id="rId10" Type="http://schemas.openxmlformats.org/officeDocument/2006/relationships/hyperlink" Target="https://www.zhihu.com/people/95-22-20-18/posts" TargetMode="External"/><Relationship Id="rId4" Type="http://schemas.openxmlformats.org/officeDocument/2006/relationships/image" Target="../media/image18.png"/><Relationship Id="rId9" Type="http://schemas.openxmlformats.org/officeDocument/2006/relationships/hyperlink" Target="https://space.bilibili.com/3546791834290849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5"/>
          </p:nvPr>
        </p:nvPicPr>
        <p:blipFill>
          <a:blip r:embed="rId2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Lecture 17: Architectural Design of Operator Libraries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Ebrima" panose="02000000000000000000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Ebrima" panose="02000000000000000000"/>
                <a:ea typeface="Ebrima" panose="02000000000000000000"/>
                <a:cs typeface="Ebrima" panose="02000000000000000000"/>
                <a:sym typeface="Ebrima" panose="02000000000000000000"/>
              </a:rPr>
              <a:t>Principles</a:t>
            </a:r>
          </a:p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Ebrima" panose="02000000000000000000"/>
                <a:ea typeface="Ebrima" panose="02000000000000000000"/>
                <a:cs typeface="Ebrima" panose="02000000000000000000"/>
                <a:sym typeface="Ebrima" panose="02000000000000000000"/>
              </a:rPr>
              <a:t>Dispatcher</a:t>
            </a:r>
          </a:p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Ebrima" panose="02000000000000000000"/>
                <a:ea typeface="Ebrima" panose="02000000000000000000"/>
                <a:cs typeface="Ebrima" panose="02000000000000000000"/>
                <a:sym typeface="Ebrima" panose="02000000000000000000"/>
              </a:rPr>
              <a:t>DSL</a:t>
            </a:r>
          </a:p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Ebrima" panose="02000000000000000000"/>
                <a:ea typeface="Ebrima" panose="02000000000000000000"/>
                <a:cs typeface="Ebrima" panose="02000000000000000000"/>
                <a:sym typeface="Ebrima" panose="02000000000000000000"/>
              </a:rPr>
              <a:t>Case Study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Operator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7499985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Broadly speaking, applying any specific operation to a given function can be defined as an Operator.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Deep learning algorithms are constructed from individual computational units known as Operators. 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Examples: Add, MatMul, LayerNorm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40370" y="821690"/>
            <a:ext cx="4083685" cy="589978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Operator Library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7527290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collection of highly optimized, reusable computational building blocks (Operators) for neural networks.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Core Roles: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Bridge - Connects high-level AI frameworks with low-level bare-metal hardware.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Performance Extractor - Maximizes hardware utilization via expert-level kernel tuning.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Hardware Abstraction - Shields algorithm developers from complex low-level programming.</a:t>
            </a:r>
          </a:p>
        </p:txBody>
      </p:sp>
      <p:sp>
        <p:nvSpPr>
          <p:cNvPr id="6" name="AutoShape 6"/>
          <p:cNvSpPr/>
          <p:nvPr/>
        </p:nvSpPr>
        <p:spPr>
          <a:xfrm>
            <a:off x="8488259" y="641247"/>
            <a:ext cx="3380509" cy="5575506"/>
          </a:xfrm>
          <a:prstGeom prst="roundRect">
            <a:avLst>
              <a:gd name="adj" fmla="val 16666"/>
            </a:avLst>
          </a:prstGeom>
          <a:solidFill>
            <a:srgbClr val="9DC3E6">
              <a:alpha val="100000"/>
            </a:srgbClr>
          </a:solidFill>
          <a:ln w="12700" cap="flat">
            <a:solidFill>
              <a:srgbClr val="9DC3E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65920" y="873703"/>
            <a:ext cx="2586222" cy="1042082"/>
          </a:xfrm>
          <a:prstGeom prst="roundRect">
            <a:avLst>
              <a:gd name="adj" fmla="val 16666"/>
            </a:avLst>
          </a:prstGeom>
          <a:solidFill>
            <a:srgbClr val="4472C4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Deep Learning Framework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65920" y="2229874"/>
            <a:ext cx="2586222" cy="1042082"/>
          </a:xfrm>
          <a:prstGeom prst="roundRect">
            <a:avLst>
              <a:gd name="adj" fmla="val 16666"/>
            </a:avLst>
          </a:prstGeom>
          <a:solidFill>
            <a:srgbClr val="ED7D31">
              <a:alpha val="100000"/>
            </a:srgbClr>
          </a:solidFill>
          <a:ln w="12700" cap="flat">
            <a:solidFill>
              <a:srgbClr val="64310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Operator Library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73620" y="3586045"/>
            <a:ext cx="2586222" cy="1042082"/>
          </a:xfrm>
          <a:prstGeom prst="roundRect">
            <a:avLst>
              <a:gd name="adj" fmla="val 16666"/>
            </a:avLst>
          </a:prstGeom>
          <a:solidFill>
            <a:srgbClr val="4472C4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Compiler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930432" y="1915785"/>
            <a:ext cx="472598" cy="314089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BDD7EE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922732" y="3271956"/>
            <a:ext cx="472598" cy="314089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BDD7EE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885403" y="4942216"/>
            <a:ext cx="2586222" cy="1042082"/>
          </a:xfrm>
          <a:prstGeom prst="roundRect">
            <a:avLst>
              <a:gd name="adj" fmla="val 16666"/>
            </a:avLst>
          </a:prstGeom>
          <a:solidFill>
            <a:srgbClr val="4472C4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Hardware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922732" y="4628127"/>
            <a:ext cx="472598" cy="314089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BDD7EE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Design Principles - Usability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https://github.com/flagos-ai/FlagGems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>
            <a:lvl1pPr algn="l">
              <a:lnSpc>
                <a:spcPct val="92000"/>
              </a:lnSpc>
              <a:defRPr sz="22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79400" indent="-2794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Seamless Integration with High-Level Frameworks</a:t>
            </a:r>
          </a:p>
          <a:p>
            <a:pPr marL="584200" lvl="1" indent="-2413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9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Register the operator library directly into the framework's internal dispatch mechanism to allow existing models to benefit from acceleration with zero code modifications. </a:t>
            </a:r>
          </a:p>
          <a:p>
            <a:pPr marL="279400" indent="-2794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Automatic Hardware Discovery</a:t>
            </a:r>
          </a:p>
          <a:p>
            <a:pPr marL="584200" lvl="1" indent="-2413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9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Implement runtime detection of the execution environment to automatically load the optimal backend without requiring manual user configuration.</a:t>
            </a:r>
          </a:p>
          <a:p>
            <a:pPr marL="279400" indent="-2794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Uniform Interface for Diverse Backends</a:t>
            </a:r>
          </a:p>
          <a:p>
            <a:pPr marL="584200" lvl="1" indent="-2413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9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Define a standardized abstraction layer so that the same high-level API remains consistent across a wide variety of hardware architectures</a:t>
            </a:r>
          </a:p>
          <a:p>
            <a:pPr marL="279400" indent="-2794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Multi-Level Abstraction Architecture</a:t>
            </a:r>
          </a:p>
          <a:p>
            <a:pPr marL="584200" lvl="1" indent="-2413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9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Offer a tiered abstraction system to meet diverse needs: high-level for rapid prototyping, mid-level for tuning parallelism and tiling, and low-level for expert optimization of hardware specifics like registers and warps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Design Principles - Performance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https://github.com/flagos-ai/FlagGems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Persistent Caching and Pre-Tuning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Store optimized computational configurations and pre-warm kernels to eliminate initialization delays and ensure peak performance from the very first execution.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Hardware-Aware Configuration Mapping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Utilize a configuration system that abstracts hardware-specific constraints, such as memory hierarchy and compute unit limits, into the code generation process.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Adaptive Tiling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Decomposes operators into optimal compute tiles based on input dimensions, minimizing padding overhead and maximizing memory bandwidth utilization across variable sequence lengths.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Trade-off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Dynamic Shape vs. Hardware Alignment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Arbitrary input sizes often limit hardware-aligned peak performance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Solution: Adaptive Tiling</a:t>
            </a:r>
          </a:p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Intuitive Layout vs. Optimal Memory Access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Standard data formats often conflict with hardware-optimized memory patterns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Solution: Layout Transformation</a:t>
            </a:r>
          </a:p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Black-box API vs. Fine-grained Tuning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Simplified interfaces hide the tuning knobs needed for expert optimization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Solution: Heuristic Mapping</a:t>
            </a:r>
          </a:p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</a:t>
            </a: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dispatch mechanism 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is required to manage these automated solutions and bridge the gap between user intent and hardware execution.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Dispatcher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https://blog.ezyang.com/2020/09/lets-talk-about-the-pytorch-dispatcher/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dispatcher is a component that </a:t>
            </a: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routes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an operation to the </a:t>
            </a: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appropriate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implementation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or backend based on runtime criteria such as device type, data properties, or configuration policies.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96000" y="2252364"/>
            <a:ext cx="5958814" cy="446911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Simplified Dispatch Workflow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https://blog.ezyang.com/2020/09/lets-talk-about-the-pytorch-dispatcher/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Metadata Collection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Extract metadata such as device, data type, and layout from input tensors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Key Computation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Combine multiple attributes to generate a unique Dispatch Key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Table Lookup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Search the global Dispatch Table for the corresponding kernel function pointer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 Execution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Invoke the specific backend implementation to perform the computation</a:t>
            </a:r>
          </a:p>
        </p:txBody>
      </p:sp>
      <p:sp>
        <p:nvSpPr>
          <p:cNvPr id="6" name="AutoShape 6"/>
          <p:cNvSpPr/>
          <p:nvPr/>
        </p:nvSpPr>
        <p:spPr>
          <a:xfrm>
            <a:off x="10992634" y="1454783"/>
            <a:ext cx="440278" cy="3948671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8FAADC">
              <a:alpha val="100000"/>
            </a:srgbClr>
          </a:solidFill>
          <a:ln w="12700" cap="flat">
            <a:solidFill>
              <a:srgbClr val="2E75B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Advanced Dispatching Mechanisms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https://blog.ezyang.com/2020/09/lets-talk-about-the-pytorch-dispatcher/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https://github.com/flagos-ai/FlagGems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Sequential Re-dispatching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 single operator call can trigger a chain of handlers by masking processed keys and re-invoking the dispatcher to find the next implementation.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Heuristic Implementation Selection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Profile workload metrics (e.g., shapes) and hardware attributes (e.g., SM counts) to adaptively select optimal algorithm paths and execution parameters.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Dynamic Kernel Instantiation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Specialized kernels can be generated and cached on-the-fly to handle various task dimensions or broadcasting patterns without manual coding.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 DSL to Implement Operator Libraries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https://zhuanlan.zhihu.com/p/1977691609266161545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pic>
        <p:nvPicPr>
          <p:cNvPr id="5" name="Picture 5"/>
          <p:cNvPicPr>
            <a:picLocks noGrp="1" noChangeAspect="1"/>
          </p:cNvPicPr>
          <p:nvPr>
            <p:ph type="body" sz="quarter" idx="9"/>
          </p:nvPr>
        </p:nvPicPr>
        <p:blipFill>
          <a:blip r:embed="rId2"/>
          <a:srcRect/>
          <a:stretch>
            <a:fillRect/>
          </a:stretch>
        </p:blipFill>
        <p:spPr>
          <a:xfrm>
            <a:off x="6194425" y="1490345"/>
            <a:ext cx="5955665" cy="4507865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523875" y="1323974"/>
            <a:ext cx="5572126" cy="539750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  <a:defRPr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Developers describe “what to do,” while the compiler determines “how to do it.”</a:t>
            </a:r>
            <a:endParaRPr lang="en-US" sz="1100"/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total separation between operator logic and physical implementation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Core Objective: Make operator development simpler and more efficient while ensuring cross-platform portability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Examples: Triton, TileLang, Gluon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DSL for Operator Library - Triton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https://triton-lang.org/main/getting-started/tutorials/01-vector-add.html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23875" y="1323974"/>
            <a:ext cx="5572126" cy="539750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  <a:defRPr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Python-Based Tile Programming</a:t>
            </a:r>
            <a:endParaRPr lang="en-US" sz="1100"/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Compiler-Driven Optimization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Hardware-Agnostic Abstraction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37747" y="3146254"/>
            <a:ext cx="2653920" cy="3018677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717540" y="1767205"/>
            <a:ext cx="6474460" cy="411416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Case Study: FlagGems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Transparent ATen dispatcher injection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CUDA-to-Triton kernel replacement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Zero user code modification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308215" y="837565"/>
            <a:ext cx="4434840" cy="551878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Operator Injection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"IMPL" mode override execution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Existing ATen operator interception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Specific dispatch key routing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895518" y="3376158"/>
            <a:ext cx="8534400" cy="27051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Global and Contextual Replacement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FlagGems maintains an operator registry.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enable(): Traverses the registry and registers operators.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use_gems(): Context manager for fine-grained operator replacement control.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895518" y="3300403"/>
            <a:ext cx="8534400" cy="287655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LibEntry: Kernel Cache Manager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Native Triton runtime bypass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Independent kernel cache management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Lightweight cache key computation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Near-zero subsequent Python overhead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16370" y="1478915"/>
            <a:ext cx="5755640" cy="305752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Multi-Hardware Dispatch Strategy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Dynamic runtime environment detection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Hardware-specific dispatch key routing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Unified Triton codebase execution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828800" y="3427601"/>
            <a:ext cx="8534400" cy="25527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Takeaways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API Transparency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Native framework APIs remain completely unchanged while transparently routing to optimized kernels.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Hardware Decoupling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Utilizing dynamic dispatch keys provides a unified, scalable path for supporting diverse backend chips.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Execution Overhead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Custom cache managers like LibEntry bypass native runtimes to nearly eliminate Python dispatch delays.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Kernel Generation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Dynamic decorators present a streamlined approach for automatically generating and tuning fused operations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References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  <a:hlinkClick r:id="rId2" tooltip="https://github.com/flagos-ai/FlagGems"/>
              </a:rPr>
              <a:t>flagos-ai/FlagGems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  <a:hlinkClick r:id="rId3" tooltip="https://triton-lang.org/main/index.html"/>
              </a:rPr>
              <a:t>Triton documentation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  <a:hlinkClick r:id="rId4" tooltip="https://docs.nvidia.com/deeplearning/cudnn/latest/"/>
              </a:rPr>
              <a:t>NVIDIA cuDNN Documentation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  <a:hlinkClick r:id="rId5" tooltip="https://blog.ezyang.com/2020/09/lets-talk-about-the-pytorch-dispatcher/"/>
              </a:rPr>
              <a:t>Let's talk about the PyTorch dispatcher : ezyang's blog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4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4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Lecture 18</a:t>
            </a:r>
            <a:r>
              <a:rPr lang="en-US" sz="4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4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Module II Final Project</a:t>
            </a:r>
            <a:br>
              <a:rPr lang="en-US" sz="4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4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(RMSNorm + Residual  Fused Operator)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Course Projects Overview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  <a:endParaRPr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215900" y="1318604"/>
          <a:ext cx="11760200" cy="517334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96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9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66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9115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600" b="1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Lecture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600" b="1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Project Name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600" b="1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Type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600" b="1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Key Assessment Criteria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5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Environment Setup and Toolchain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Lab Session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Four-Phase Operational Verification + + Lab Report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795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9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Softmax Kernel (Midterm)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Individual Project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Correctness 40pts + Performance70% Threshold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18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RMSNorm+Residual  Fusion (Final)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Individual Project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Performance must reach FlagGems Benchmark 90%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27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FlagTree Pass  Contribution (Final)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Individual Project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Choose from 3 directions, FileCheck Test Verification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2795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36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7B  Multi-Node Distributed Training (Final)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3-Person Team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Comparison of 3 Parallelism Strategies + + Linear Speedup Ratio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46-47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Capstone Project Defense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Group Defense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Proposal Feasibility + + Authenticity of Progress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Project Overview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Project Background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RMSNorm</a:t>
            </a: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Root Mean Square Normalization) and Residual Connection (Residual Connection) are core components of modern large language models (e.g., the  LLaMA  series). Fusing both into a single  Kernel  can significantly reduce  HBM  accesses, a classic operator fusion scenario. Students must implement a high-performance fused operator, with performance target of reaching  FlagGems  of the  90%  benchmark implementation or above.</a:t>
            </a:r>
          </a:p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Project Objectives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Using  Triton  to implement  Add + RMSNorm Fused  Kernel, supporting  float32  and  bfloat16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Support arbitrary  [M, N]  input (N  is the normalization dimension, typical values:  4096/8192</a:t>
            </a: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Correctness: maximum absolute error vs.  PyTorch  step-by-step computation  &lt; 2e-5</a:t>
            </a: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float32</a:t>
            </a: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Performance: on target shape  [4096, 4096]  achieve  FlagGems  of the reference implementation throughput 90%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(Advanced) Support backward pass  Kernel (gradient computation)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Implementation Requirements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Forward Operator Specification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 Optimization Points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Single  Kernel  completes addition and normalization with only one HBM read/write HBM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  Triton 's  tl.rsqrt  to compute  RMS 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Handle  N  misalignment with  Mask  loading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  bfloat16, accumulate internally in  float32  before conversion (precision guarantee)</a:t>
            </a:r>
          </a:p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Performance Analysis Report (Must Include)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Nsight Compute 's  Roofline  Analysis Chart: showing the operator's  Arithmetic Intensity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Throughput comparison across different  BLOCK_SIZE</a:t>
            </a: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64/128/256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overhead comparison with non-fused (step-by-step) implementation Kernel Launch 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4637405" y="1323975"/>
          <a:ext cx="7398385" cy="109728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7398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def fused_add_rms_norm(x, residual, weight, eps=1e-6):</a:t>
                      </a:r>
                      <a:endParaRPr lang="en-US" sz="1100"/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    # x, residual: [M, N]  weight: [N]</a:t>
                      </a:r>
                      <a:endParaRPr lang="en-US" sz="1100"/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    # Returns (normed_output, updated_residual)</a:t>
                      </a:r>
                      <a:endParaRPr lang="en-US" sz="1100"/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Submission Requirements and Grading Criteria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Submission Checklist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fused_rms_norm.py: complete  Kernel  code with correctness tests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benchmark.py: reproducible performance benchmark script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report.pdf: no more than  6  pages, including design decisions, NSC  analysis results, and performance comparison charts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(Advanced) grad_kernel.py: backward pass implementation and gradient verification code</a:t>
            </a:r>
          </a:p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Grading Criteria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704340" y="3997325"/>
          <a:ext cx="9023985" cy="217995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89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5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6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Assessment Dimension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1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Score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1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Grading Criteria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1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Code Correctness (float32/bf16）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30  pts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Both data types pass precision verification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Performance (Throughput)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30  pts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≥90%  benchmark for full score; 75%-90%  scores 20  pts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Optimization Analysis Report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25  pts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Roofline  chart, Block Size  analysis, fusion gain quantification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Code Engineering Quality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10  pts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Complete comments, clear interfaces, no hard-coding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Advanced: Backward Pass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5  pts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Correct gradients with numerical verification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1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2306" r="230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1601</Words>
  <Application>Microsoft Office PowerPoint</Application>
  <PresentationFormat>宽屏</PresentationFormat>
  <Paragraphs>239</Paragraphs>
  <Slides>28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40" baseType="lpstr">
      <vt:lpstr>Noto Sans SC</vt:lpstr>
      <vt:lpstr>Pretendard</vt:lpstr>
      <vt:lpstr>微软雅黑</vt:lpstr>
      <vt:lpstr>Arial</vt:lpstr>
      <vt:lpstr>Calibri</vt:lpstr>
      <vt:lpstr>Calibri Light</vt:lpstr>
      <vt:lpstr>Courier New</vt:lpstr>
      <vt:lpstr>Ebrima</vt:lpstr>
      <vt:lpstr>Garamond</vt:lpstr>
      <vt:lpstr>Montserrat SemiBold</vt:lpstr>
      <vt:lpstr>Office 主题​​</vt:lpstr>
      <vt:lpstr>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Xiang Li</cp:lastModifiedBy>
  <cp:revision>13</cp:revision>
  <dcterms:created xsi:type="dcterms:W3CDTF">2026-04-17T05:07:00Z</dcterms:created>
  <dcterms:modified xsi:type="dcterms:W3CDTF">2026-05-27T10:17:51Z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C79E56846FEAA2CF55BFE1693E6D39DC_42</vt:lpwstr>
  </property>
  <property fmtid="{D5CDD505-2E9C-101B-9397-08002B2CF9AE}" pid="3" name="KSOProductBuildVer">
    <vt:lpwstr>2052-12.1.0.21915</vt:lpwstr>
  </property>
</Properties>
</file>