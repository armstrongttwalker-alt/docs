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56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22" r:id="rId20"/>
    <p:sldId id="323" r:id="rId21"/>
    <p:sldId id="32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0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7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6.png"/><Relationship Id="rId9" Type="http://schemas.openxmlformats.org/officeDocument/2006/relationships/hyperlink" Target="https://space.bilibili.com/3546791834290849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13: Convolution Operator Optimization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Basics of 2D convolution operators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Principles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Inputs: input feature maps, weight matrix, bias (optional)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Outputs: output feature maps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operations: Multiply-Accumulation (MAC)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34909" y="747952"/>
            <a:ext cx="3091999" cy="2381792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7" name="Group 7"/>
          <p:cNvGrpSpPr/>
          <p:nvPr/>
        </p:nvGrpSpPr>
        <p:grpSpPr>
          <a:xfrm>
            <a:off x="7509183" y="3129744"/>
            <a:ext cx="4373324" cy="3591732"/>
            <a:chOff x="7509183" y="3129744"/>
            <a:chExt cx="4373324" cy="3591732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7509183" y="3129744"/>
              <a:ext cx="4373324" cy="1761445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7509184" y="4891189"/>
              <a:ext cx="4373323" cy="1830287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grpSp>
        <p:nvGrpSpPr>
          <p:cNvPr id="10" name="Group 10"/>
          <p:cNvGrpSpPr/>
          <p:nvPr/>
        </p:nvGrpSpPr>
        <p:grpSpPr>
          <a:xfrm>
            <a:off x="1079142" y="3048169"/>
            <a:ext cx="4911112" cy="3218488"/>
            <a:chOff x="1079142" y="3048169"/>
            <a:chExt cx="4911112" cy="3218488"/>
          </a:xfrm>
        </p:grpSpPr>
        <p:grpSp>
          <p:nvGrpSpPr>
            <p:cNvPr id="11" name="Group 11"/>
            <p:cNvGrpSpPr/>
            <p:nvPr/>
          </p:nvGrpSpPr>
          <p:grpSpPr>
            <a:xfrm>
              <a:off x="1079142" y="3048169"/>
              <a:ext cx="4911112" cy="3218488"/>
              <a:chOff x="1079142" y="3048169"/>
              <a:chExt cx="4911112" cy="3218488"/>
            </a:xfrm>
          </p:grpSpPr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1079142" y="3048169"/>
                <a:ext cx="4911112" cy="3218488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  <p:sp>
            <p:nvSpPr>
              <p:cNvPr id="13" name="AutoShape 13"/>
              <p:cNvSpPr/>
              <p:nvPr/>
            </p:nvSpPr>
            <p:spPr>
              <a:xfrm>
                <a:off x="3750906" y="4891189"/>
                <a:ext cx="1959429" cy="1321290"/>
              </a:xfrm>
              <a:prstGeom prst="rect">
                <a:avLst/>
              </a:prstGeom>
              <a:solidFill>
                <a:srgbClr val="232428">
                  <a:alpha val="100000"/>
                </a:srgbClr>
              </a:soli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054226" y="4160283"/>
              <a:ext cx="247650" cy="926067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sp>
        <p:nvSpPr>
          <p:cNvPr id="15" name="AutoShape 15"/>
          <p:cNvSpPr/>
          <p:nvPr/>
        </p:nvSpPr>
        <p:spPr>
          <a:xfrm>
            <a:off x="2890667" y="5223466"/>
            <a:ext cx="2552372" cy="62484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  <a:sym typeface="Bahnschrift" panose="020B0502040204020203"/>
              </a:rPr>
              <a:t>Native Implementation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  <a:sym typeface="Bahnschrift" panose="020B0502040204020203"/>
              </a:rPr>
              <a:t>7-level Loop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Some variants…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3227" y="1747507"/>
            <a:ext cx="3276600" cy="36766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14812" y="1689130"/>
            <a:ext cx="3762375" cy="36290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1194028" y="5424157"/>
            <a:ext cx="2974449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Transposed Convolution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73993" y="5405457"/>
            <a:ext cx="2485250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Dilated Convolution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92175" y="1392225"/>
            <a:ext cx="3918857" cy="407354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9075571" y="5405457"/>
            <a:ext cx="2377846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Convolution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CNNs with stacked convolution layers.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9852" y="1665424"/>
            <a:ext cx="6345454" cy="193833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6252" y="4196775"/>
            <a:ext cx="5777457" cy="164487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35208" y="1448490"/>
            <a:ext cx="3892143" cy="228141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85637" y="3952097"/>
            <a:ext cx="4435929" cy="17343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2988119" y="3597901"/>
            <a:ext cx="1101546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Lenet-5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88119" y="5640305"/>
            <a:ext cx="1096238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AlexNet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78000" y="3596833"/>
            <a:ext cx="695196" cy="3962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VGG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78000" y="5478142"/>
            <a:ext cx="1019492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ResNet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inefficiency of the naive 7-layer loop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the conventional convolution operator as an example.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Mathematically correct. Structurally disastrous.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FLOPs = 2 * OutChannel * InChannel * OutHeight * OutWidth * KernelHeight * KernelWidth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5760" y="2844879"/>
            <a:ext cx="10205038" cy="342177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analysis tool: roofline model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Computing power vs. Memory bandwidth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16204" y="2038768"/>
            <a:ext cx="8037906" cy="42278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Img2Col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Converting geometry to arithmetic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transformed from spatial convolution to general matrix multiply (GEMM).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06625" y="2758440"/>
            <a:ext cx="8328025" cy="36779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Img2Col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Comparisons between the conventional conv. and the img2col conv.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construct the input features and the kernel matrices?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81383" y="2403810"/>
            <a:ext cx="7107547" cy="43111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Img2Col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Leveraging the power of GEMM and BLAS libraries from the vendors.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 MKL, NVIDIA cuBLAS, Ascend catlass, etc.</a:t>
            </a:r>
          </a:p>
          <a:p>
            <a:pPr marL="596900" lvl="1" indent="-2540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GEMM is usually highly-optimized with (1) micro-kernel opt.; </a:t>
            </a:r>
          </a:p>
          <a:p>
            <a:pPr marL="342900" lvl="1" indent="0" algn="l">
              <a:lnSpc>
                <a:spcPct val="15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(2) memory packing and layout ordering; and (3) cache blocking.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61766" y="3652761"/>
            <a:ext cx="10068467" cy="2368800"/>
            <a:chOff x="1061766" y="3652761"/>
            <a:chExt cx="10068467" cy="23688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061766" y="3664431"/>
              <a:ext cx="4481288" cy="2357130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643999" y="3652761"/>
              <a:ext cx="4486234" cy="236880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sp>
        <p:nvSpPr>
          <p:cNvPr id="9" name="AutoShape 9"/>
          <p:cNvSpPr/>
          <p:nvPr/>
        </p:nvSpPr>
        <p:spPr>
          <a:xfrm>
            <a:off x="5754374" y="4586790"/>
            <a:ext cx="653143" cy="25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Img2Col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memory penalty of Img2Col transformation.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98171" y="2073790"/>
            <a:ext cx="8610600" cy="410317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Winograd convolution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epubs.siam.org/doi/abs/10.1137/0209021"/>
              </a:rPr>
              <a:t>https://epubs.siam.org/doi/abs/10.1137/0209021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Basics: computing m outputs with an r-tap FIR filter, which we call F(m, r), requires the numbers of multiplications as: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the 2D convolution operators, computing m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 outputs with an r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 filter, which we call F(m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n, r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s). These require the numbers of multiplications as: 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75232" y="2249462"/>
            <a:ext cx="3412259" cy="490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61698" y="3665637"/>
            <a:ext cx="6268604" cy="10039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Winograd convolution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epubs.siam.org/doi/abs/10.1137/0209021"/>
              </a:rPr>
              <a:t>https://epubs.siam.org/doi/abs/10.1137/0209021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Consider a 1D convolution, F(2, 3), it uses 2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 = 6 multiplications in the conventional algorithm. Winograd rewrites the results using m1 -- m4: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Therefore, it only needs 4 multiplications, 11 additions, and 2 right arithmetic shifts.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g1+g2 can be reused.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71800" y="2291747"/>
            <a:ext cx="5202382" cy="84861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47109" y="3215267"/>
            <a:ext cx="5433291" cy="12790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Winograd convolution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epubs.siam.org/doi/abs/10.1137/0209021"/>
              </a:rPr>
              <a:t>https://epubs.siam.org/doi/abs/10.1137/0209021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Therefore, this fast filtering algorithm can be written in matrix form as: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2D convolution can be written as: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39804" y="1818753"/>
            <a:ext cx="3312391" cy="580969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7" name="Group 7"/>
          <p:cNvGrpSpPr/>
          <p:nvPr/>
        </p:nvGrpSpPr>
        <p:grpSpPr>
          <a:xfrm>
            <a:off x="114935" y="2400300"/>
            <a:ext cx="11800840" cy="1229995"/>
            <a:chOff x="114935" y="2400300"/>
            <a:chExt cx="11800840" cy="1229995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/>
            <a:srcRect t="1321" b="68441"/>
            <a:stretch>
              <a:fillRect/>
            </a:stretch>
          </p:blipFill>
          <p:spPr>
            <a:xfrm>
              <a:off x="114935" y="2400300"/>
              <a:ext cx="3585341" cy="1191398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t="31228" b="38807"/>
            <a:stretch>
              <a:fillRect/>
            </a:stretch>
          </p:blipFill>
          <p:spPr>
            <a:xfrm>
              <a:off x="3394021" y="2449641"/>
              <a:ext cx="3585341" cy="1180654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rcRect t="61863" b="22930"/>
            <a:stretch>
              <a:fillRect/>
            </a:stretch>
          </p:blipFill>
          <p:spPr>
            <a:xfrm>
              <a:off x="6015355" y="2767624"/>
              <a:ext cx="3585341" cy="599158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rcRect t="77056" r="23482" b="2279"/>
            <a:stretch>
              <a:fillRect/>
            </a:stretch>
          </p:blipFill>
          <p:spPr>
            <a:xfrm>
              <a:off x="9172361" y="2632846"/>
              <a:ext cx="2743414" cy="814244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62089" y="4557725"/>
            <a:ext cx="4032643" cy="8569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Winograd convolution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F(2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2, 3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3) is efficient, how about the F(4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4, 3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3)?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can reduce 6.00x multiplications in theoretical. But the transformation matrix is much more complex.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complexity of the transforms will overwhelm any savings in the number of multiplications.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magnitude of the transform matrix elements also increases with increasing tile size.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b="63928"/>
          <a:stretch>
            <a:fillRect/>
          </a:stretch>
        </p:blipFill>
        <p:spPr>
          <a:xfrm>
            <a:off x="390525" y="3489339"/>
            <a:ext cx="4064000" cy="191943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36328" b="27601"/>
          <a:stretch>
            <a:fillRect/>
          </a:stretch>
        </p:blipFill>
        <p:spPr>
          <a:xfrm>
            <a:off x="4454525" y="3489339"/>
            <a:ext cx="4064000" cy="191943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72085" b="1658"/>
          <a:stretch>
            <a:fillRect/>
          </a:stretch>
        </p:blipFill>
        <p:spPr>
          <a:xfrm>
            <a:off x="7737474" y="3750469"/>
            <a:ext cx="4064000" cy="139717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Winograd convolution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comparisons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873" y="2161310"/>
            <a:ext cx="5295902" cy="351689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96000" y="2275972"/>
            <a:ext cx="5191517" cy="305983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Summary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arxiv.org/pdf/1509.09308"/>
              </a:rPr>
              <a:t>https://arxiv.org/pdf/1509.09308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Comparisons among direct convolution, img2col + GEMM, and Winograd.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23875" y="2391410"/>
          <a:ext cx="11277600" cy="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Feature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Direct Convolution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Img2col + GEMM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Winograd F(2x2, 3x3)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Computational Complexity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 (O(N))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Medium (Optimized via GEMM)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Low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 (Fewest multiplications)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Memory Overhead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Minimal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Large (Data redundancy)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Medium (Requires transform matrices)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Implementation Difficulty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Simple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Moderate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Complex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Numerical Precision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Highest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Lower (Floating-point error accumulation)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Core Limitations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Slow performance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 memory consumption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Restricted to Stride=1 &amp; 3x3 kernels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Microsoft Office PowerPoint</Application>
  <PresentationFormat>宽屏</PresentationFormat>
  <Paragraphs>130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Noto Sans SC</vt:lpstr>
      <vt:lpstr>Pretendard</vt:lpstr>
      <vt:lpstr>微软雅黑</vt:lpstr>
      <vt:lpstr>Arial</vt:lpstr>
      <vt:lpstr>Bahnschrift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