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Lst>
  <p:notesMasterIdLst>
    <p:notesMasterId r:id="rId25"/>
  </p:notesMasterIdLst>
  <p:handoutMasterIdLst>
    <p:handoutMasterId r:id="rId26"/>
  </p:handoutMasterIdLst>
  <p:sldIdLst>
    <p:sldId id="256" r:id="rId3"/>
    <p:sldId id="471" r:id="rId4"/>
    <p:sldId id="472" r:id="rId5"/>
    <p:sldId id="473" r:id="rId6"/>
    <p:sldId id="474" r:id="rId7"/>
    <p:sldId id="475" r:id="rId8"/>
    <p:sldId id="476" r:id="rId9"/>
    <p:sldId id="477" r:id="rId10"/>
    <p:sldId id="478" r:id="rId11"/>
    <p:sldId id="479" r:id="rId12"/>
    <p:sldId id="480" r:id="rId13"/>
    <p:sldId id="481" r:id="rId14"/>
    <p:sldId id="482" r:id="rId15"/>
    <p:sldId id="483" r:id="rId16"/>
    <p:sldId id="484" r:id="rId17"/>
    <p:sldId id="485" r:id="rId18"/>
    <p:sldId id="486" r:id="rId19"/>
    <p:sldId id="487" r:id="rId20"/>
    <p:sldId id="488" r:id="rId21"/>
    <p:sldId id="322" r:id="rId22"/>
    <p:sldId id="323" r:id="rId23"/>
    <p:sldId id="324"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90" d="100"/>
          <a:sy n="90" d="100"/>
        </p:scale>
        <p:origin x="632"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2026/5/27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4" name="AutoShape 4"/>
          <p:cNvSpPr>
            <a:spLocks noGrp="1"/>
          </p:cNvSpPr>
          <p:nvPr>
            <p:ph type="body" sz="quarter" idx="8"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5" name="AutoShape 5"/>
          <p:cNvSpPr>
            <a:spLocks noGrp="1"/>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11"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4" name="AutoShape 4"/>
          <p:cNvSpPr>
            <a:spLocks noGrp="1"/>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
        <p:nvSpPr>
          <p:cNvPr id="5" name="AutoShape 5"/>
          <p:cNvSpPr>
            <a:spLocks noGrp="1"/>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6" name="AutoShape 6"/>
          <p:cNvSpPr>
            <a:spLocks noGrp="1"/>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id="2" name="AutoShape 2"/>
          <p:cNvSpPr>
            <a:spLocks noGrp="1"/>
          </p:cNvSpPr>
          <p:nvPr>
            <p:ph type="body" sz="quarter" idx="15" hasCustomPrompt="1"/>
          </p:nvPr>
        </p:nvSpPr>
        <p:spPr>
          <a:xfrm>
            <a:off x="666749" y="457201"/>
            <a:ext cx="2771775" cy="5719762"/>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16"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4" name="AutoShape 4"/>
          <p:cNvSpPr>
            <a:spLocks noGrp="1"/>
          </p:cNvSpPr>
          <p:nvPr>
            <p:ph type="body" sz="quarter" idx="17" hasCustomPrompt="1"/>
          </p:nvPr>
        </p:nvSpPr>
        <p:spPr>
          <a:xfrm>
            <a:off x="3657600" y="457201"/>
            <a:ext cx="8001000" cy="5719763"/>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
        <p:nvSpPr>
          <p:cNvPr id="5" name="AutoShape 5"/>
          <p:cNvSpPr>
            <a:spLocks noGrp="1"/>
          </p:cNvSpPr>
          <p:nvPr>
            <p:ph type="body" sz="quarter" idx="18"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grpSp>
      </p:grpSp>
      <p:sp>
        <p:nvSpPr>
          <p:cNvPr id="12" name="AutoShape 12"/>
          <p:cNvSpPr>
            <a:spLocks noGrp="1"/>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1256418" y="5448300"/>
            <a:ext cx="10396122" cy="447675"/>
          </a:xfrm>
          <a:prstGeom prst="rect">
            <a:avLst/>
          </a:prstGeom>
          <a:noFill/>
          <a:ln w="12700">
            <a:noFill/>
            <a:prstDash val="solid"/>
          </a:ln>
        </p:spPr>
        <p:txBody>
          <a:bodyPr wrap="square" lIns="91440" tIns="45720" rIns="91440" bIns="45720" anchor="t">
            <a:noAutofit/>
          </a:bodyPr>
          <a:lstStyle>
            <a:lvl1pPr algn="ctr">
              <a:lnSpc>
                <a:spcPct val="100000"/>
              </a:lnSpc>
              <a:defRPr sz="2400" b="0" i="0" u="none" strike="noStrike" spc="0">
                <a:solidFill>
                  <a:srgbClr val="1F2329">
                    <a:alpha val="100000"/>
                  </a:srgbClr>
                </a:solidFill>
                <a:latin typeface="Noto Sans SC" panose="020B0200000000000000" charset="-122"/>
              </a:defRPr>
            </a:lvl1pPr>
          </a:lstStyle>
          <a:p>
            <a:pPr indent="0" algn="ctr">
              <a:lnSpc>
                <a:spcPct val="100000"/>
              </a:lnSpc>
            </a:pPr>
            <a:r>
              <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rPr>
              <a:t>日期</a:t>
            </a:r>
          </a:p>
        </p:txBody>
      </p:sp>
      <p:sp>
        <p:nvSpPr>
          <p:cNvPr id="3" name="AutoShape 3"/>
          <p:cNvSpPr>
            <a:spLocks noGrp="1"/>
          </p:cNvSpPr>
          <p:nvPr>
            <p:ph type="body" sz="quarter" idx="22" hasCustomPrompt="1"/>
          </p:nvPr>
        </p:nvSpPr>
        <p:spPr>
          <a:xfrm>
            <a:off x="1256418" y="6356351"/>
            <a:ext cx="10396122"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4" name="AutoShape 4"/>
          <p:cNvSpPr>
            <a:spLocks noGrp="1"/>
          </p:cNvSpPr>
          <p:nvPr>
            <p:ph type="body" sz="quarter" idx="23"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5" name="AutoShape 5"/>
          <p:cNvSpPr>
            <a:spLocks noGrp="1"/>
          </p:cNvSpPr>
          <p:nvPr>
            <p:ph type="body" sz="quarter" idx="24" hasCustomPrompt="1"/>
          </p:nvPr>
        </p:nvSpPr>
        <p:spPr>
          <a:xfrm>
            <a:off x="1260390" y="4846320"/>
            <a:ext cx="10392032" cy="474980"/>
          </a:xfrm>
          <a:prstGeom prst="rect">
            <a:avLst/>
          </a:prstGeom>
          <a:noFill/>
          <a:ln w="12700">
            <a:noFill/>
            <a:prstDash val="solid"/>
          </a:ln>
        </p:spPr>
        <p:txBody>
          <a:bodyPr wrap="square" lIns="91440" tIns="45720" rIns="91440" bIns="45720" anchor="ctr">
            <a:noAutofit/>
          </a:bodyPr>
          <a:lstStyle>
            <a:lvl1pPr algn="ctr">
              <a:lnSpc>
                <a:spcPct val="100000"/>
              </a:lnSpc>
              <a:defRPr sz="24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id="2" name="AutoShape 2"/>
          <p:cNvSpPr>
            <a:spLocks noGrp="1"/>
          </p:cNvSpPr>
          <p:nvPr>
            <p:ph type="pic" sz="quarter" idx="25"/>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 name="AutoShape 3"/>
          <p:cNvSpPr>
            <a:spLocks noGrp="1"/>
          </p:cNvSpPr>
          <p:nvPr>
            <p:ph type="body" sz="quarter" idx="26"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id="2" name="AutoShape 2"/>
          <p:cNvSpPr>
            <a:spLocks noGrp="1"/>
          </p:cNvSpPr>
          <p:nvPr>
            <p:ph type="pic" sz="quarter" idx="27"/>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 name="AutoShape 3"/>
          <p:cNvSpPr>
            <a:spLocks noGrp="1"/>
          </p:cNvSpPr>
          <p:nvPr>
            <p:ph type="body" sz="quarter" idx="28"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Shape 5"/>
        <p:cNvGrpSpPr/>
        <p:nvPr/>
      </p:nvGrpSpPr>
      <p:grpSpPr>
        <a:xfrm>
          <a:off x="0" y="0"/>
          <a:ext cx="0" cy="0"/>
          <a:chOff x="0" y="0"/>
          <a:chExt cx="0" cy="0"/>
        </a:xfrm>
      </p:grpSpPr>
      <p:sp>
        <p:nvSpPr>
          <p:cNvPr id="5" name="Freeform 1"/>
          <p:cNvSpPr/>
          <p:nvPr userDrawn="1"/>
        </p:nvSpPr>
        <p:spPr>
          <a:xfrm flipV="1">
            <a:off x="-4185" y="529393"/>
            <a:ext cx="567982" cy="507999"/>
          </a:xfrm>
          <a:custGeom>
            <a:avLst/>
            <a:gdLst/>
            <a:ahLst/>
            <a:cxnLst/>
            <a:rect l="l" t="t" r="r" b="b"/>
            <a:pathLst>
              <a:path w="567982" h="507999">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2" name="Group 2"/>
          <p:cNvGrpSpPr/>
          <p:nvPr userDrawn="1"/>
        </p:nvGrpSpPr>
        <p:grpSpPr>
          <a:xfrm>
            <a:off x="9221415" y="158476"/>
            <a:ext cx="2580450" cy="547850"/>
            <a:chOff x="9221415" y="158476"/>
            <a:chExt cx="2580450" cy="547850"/>
          </a:xfrm>
        </p:grpSpPr>
        <p:pic>
          <p:nvPicPr>
            <p:cNvPr id="3" name="Picture 3"/>
            <p:cNvPicPr>
              <a:picLocks noChangeAspect="1"/>
            </p:cNvPicPr>
            <p:nvPr/>
          </p:nvPicPr>
          <p:blipFill>
            <a:blip r:embed="rId14"/>
            <a:srcRect/>
            <a:stretch>
              <a:fillRect/>
            </a:stretch>
          </p:blipFill>
          <p:spPr>
            <a:xfrm>
              <a:off x="9221415" y="260529"/>
              <a:ext cx="1096400" cy="336123"/>
            </a:xfrm>
            <a:prstGeom prst="rect">
              <a:avLst/>
            </a:prstGeom>
            <a:ln w="12700">
              <a:noFill/>
              <a:prstDash val="solid"/>
            </a:ln>
          </p:spPr>
        </p:pic>
        <p:pic>
          <p:nvPicPr>
            <p:cNvPr id="4" name="Picture 4"/>
            <p:cNvPicPr>
              <a:picLocks noChangeAspect="1"/>
            </p:cNvPicPr>
            <p:nvPr/>
          </p:nvPicPr>
          <p:blipFill>
            <a:blip r:embed="rId15"/>
            <a:srcRect l="13229" t="29812" r="10430" b="29795"/>
            <a:stretch>
              <a:fillRect/>
            </a:stretch>
          </p:blipFill>
          <p:spPr>
            <a:xfrm>
              <a:off x="10527164" y="158476"/>
              <a:ext cx="1274701" cy="547850"/>
            </a:xfrm>
            <a:prstGeom prst="rect">
              <a:avLst/>
            </a:prstGeom>
            <a:ln w="12700">
              <a:noFill/>
              <a:prstDash val="solid"/>
            </a:ln>
          </p:spPr>
        </p:pic>
      </p:gr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8" Type="http://schemas.openxmlformats.org/officeDocument/2006/relationships/hyperlink" Target="https://github.com/flagos-ai" TargetMode="External"/><Relationship Id="rId13" Type="http://schemas.openxmlformats.org/officeDocument/2006/relationships/image" Target="../media/image29.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28.jpeg"/><Relationship Id="rId2" Type="http://schemas.openxmlformats.org/officeDocument/2006/relationships/image" Target="../media/image22.png"/><Relationship Id="rId1" Type="http://schemas.openxmlformats.org/officeDocument/2006/relationships/slideLayout" Target="../slideLayouts/slideLayout17.xml"/><Relationship Id="rId6" Type="http://schemas.openxmlformats.org/officeDocument/2006/relationships/image" Target="../media/image26.png"/><Relationship Id="rId11" Type="http://schemas.openxmlformats.org/officeDocument/2006/relationships/hyperlink" Target="https://flagos.io/Home" TargetMode="External"/><Relationship Id="rId5" Type="http://schemas.openxmlformats.org/officeDocument/2006/relationships/image" Target="../media/image25.png"/><Relationship Id="rId10" Type="http://schemas.openxmlformats.org/officeDocument/2006/relationships/hyperlink" Target="https://www.zhihu.com/people/95-22-20-18/posts" TargetMode="External"/><Relationship Id="rId4" Type="http://schemas.openxmlformats.org/officeDocument/2006/relationships/image" Target="../media/image24.png"/><Relationship Id="rId9" Type="http://schemas.openxmlformats.org/officeDocument/2006/relationships/hyperlink" Target="https://space.bilibili.com/3546791834290849"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0.jpeg"/><Relationship Id="rId1" Type="http://schemas.openxmlformats.org/officeDocument/2006/relationships/slideLayout" Target="../slideLayouts/slideLayout2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5"/>
          </p:nvPr>
        </p:nvPicPr>
        <p:blipFill>
          <a:blip r:embed="rId2"/>
          <a:srcRect t="349" b="349"/>
          <a:stretch>
            <a:fillRect/>
          </a:stretch>
        </p:blipFill>
        <p:spPr>
          <a:xfrm>
            <a:off x="0" y="1"/>
            <a:ext cx="12192000" cy="6858000"/>
          </a:xfrm>
          <a:prstGeom prst="rect">
            <a:avLst/>
          </a:prstGeom>
        </p:spPr>
      </p:pic>
      <p:sp>
        <p:nvSpPr>
          <p:cNvPr id="3" name="AutoShape 3"/>
          <p:cNvSpPr>
            <a:spLocks noGrp="1"/>
          </p:cNvSpPr>
          <p:nvPr>
            <p:ph type="body" sz="quarter" idx="26" hasCustomPrompt="1"/>
          </p:nvPr>
        </p:nvSpPr>
        <p:spPr>
          <a:xfrm>
            <a:off x="727710" y="1622425"/>
            <a:ext cx="5553710" cy="3028315"/>
          </a:xfrm>
          <a:prstGeom prst="rect">
            <a:avLst/>
          </a:prstGeom>
        </p:spPr>
        <p:txBody>
          <a:bodyPr wrap="square" lIns="91440" tIns="45720" rIns="91440" bIns="45720" anchor="ctr">
            <a:noAutofit/>
          </a:bodyPr>
          <a:lstStyle>
            <a:lvl1pPr algn="l">
              <a:lnSpc>
                <a:spcPct val="92000"/>
              </a:lnSpc>
              <a:defRPr sz="4000" b="0" i="0" u="none" strike="noStrike" spc="0">
                <a:solidFill>
                  <a:srgbClr val="44546A">
                    <a:alpha val="100000"/>
                  </a:srgbClr>
                </a:solidFill>
                <a:latin typeface="Montserrat SemiBold"/>
              </a:defRPr>
            </a:lvl1pPr>
          </a:lstStyle>
          <a:p>
            <a:pPr indent="0" algn="l">
              <a:lnSpc>
                <a:spcPct val="92000"/>
              </a:lnSpc>
            </a:pPr>
            <a:r>
              <a:rPr lang="en-US" sz="4000" b="0" i="0" u="none" strike="noStrike">
                <a:solidFill>
                  <a:srgbClr val="44546A"/>
                </a:solidFill>
                <a:latin typeface="Montserrat SemiBold"/>
                <a:ea typeface="Montserrat SemiBold"/>
                <a:cs typeface="Montserrat SemiBold"/>
                <a:sym typeface="Montserrat SemiBold"/>
              </a:rPr>
              <a:t>Hardware and Software Fundamentals of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Intelligent Computing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Systems</a:t>
            </a:r>
          </a:p>
        </p:txBody>
      </p:sp>
      <p:grpSp>
        <p:nvGrpSpPr>
          <p:cNvPr id="4" name="Group 4"/>
          <p:cNvGrpSpPr/>
          <p:nvPr/>
        </p:nvGrpSpPr>
        <p:grpSpPr>
          <a:xfrm>
            <a:off x="364100" y="6255612"/>
            <a:ext cx="409904" cy="409904"/>
            <a:chOff x="364100" y="6255612"/>
            <a:chExt cx="409904" cy="409904"/>
          </a:xfrm>
        </p:grpSpPr>
        <p:sp>
          <p:nvSpPr>
            <p:cNvPr id="5" name="AutoShape 5"/>
            <p:cNvSpPr/>
            <p:nvPr/>
          </p:nvSpPr>
          <p:spPr>
            <a:xfrm>
              <a:off x="364100" y="6255612"/>
              <a:ext cx="409904" cy="409904"/>
            </a:xfrm>
            <a:prstGeom prst="ellipse">
              <a:avLst/>
            </a:prstGeom>
            <a:solidFill>
              <a:srgbClr val="ED7D31">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5546" y="6397058"/>
              <a:ext cx="127012" cy="127012"/>
            </a:xfrm>
            <a:prstGeom prst="chevron">
              <a:avLst>
                <a:gd name="adj" fmla="val 50000"/>
              </a:avLst>
            </a:prstGeom>
            <a:solidFill>
              <a:srgbClr val="DAE3F3">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grpSp>
        <p:nvGrpSpPr>
          <p:cNvPr id="7" name="Group 7"/>
          <p:cNvGrpSpPr/>
          <p:nvPr/>
        </p:nvGrpSpPr>
        <p:grpSpPr>
          <a:xfrm>
            <a:off x="9247450" y="217531"/>
            <a:ext cx="2580450" cy="547850"/>
            <a:chOff x="9247450" y="217531"/>
            <a:chExt cx="2580450" cy="547850"/>
          </a:xfrm>
        </p:grpSpPr>
        <p:pic>
          <p:nvPicPr>
            <p:cNvPr id="8" name="Picture 8"/>
            <p:cNvPicPr>
              <a:picLocks noChangeAspect="1"/>
            </p:cNvPicPr>
            <p:nvPr/>
          </p:nvPicPr>
          <p:blipFill>
            <a:blip r:embed="rId3"/>
            <a:srcRect/>
            <a:stretch>
              <a:fillRect/>
            </a:stretch>
          </p:blipFill>
          <p:spPr>
            <a:xfrm>
              <a:off x="9247450" y="319584"/>
              <a:ext cx="1096400" cy="336123"/>
            </a:xfrm>
            <a:prstGeom prst="rect">
              <a:avLst/>
            </a:prstGeom>
            <a:ln w="12700">
              <a:noFill/>
              <a:prstDash val="solid"/>
            </a:ln>
          </p:spPr>
        </p:pic>
        <p:pic>
          <p:nvPicPr>
            <p:cNvPr id="9" name="Picture 9"/>
            <p:cNvPicPr>
              <a:picLocks noChangeAspect="1"/>
            </p:cNvPicPr>
            <p:nvPr/>
          </p:nvPicPr>
          <p:blipFill>
            <a:blip r:embed="rId4"/>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20: Intermediate Representation (IR) Fundamentals</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Deep Learning Compilation Framework</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LLVM, Chris Lattner, http://aosabook.org/en/llvm.html</a:t>
            </a: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5443855"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Frontend</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Lexical and Syntactic Analysis, AST Construction, Semantic Checking, IR Transformation</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Middle-End//Optimizer</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Performing various IR -level optimizations</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Backend</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Instruction Selection, Register Allocation, Code Generation</a:t>
            </a:r>
          </a:p>
        </p:txBody>
      </p:sp>
      <p:pic>
        <p:nvPicPr>
          <p:cNvPr id="6" name="Picture 6"/>
          <p:cNvPicPr>
            <a:picLocks noChangeAspect="1"/>
          </p:cNvPicPr>
          <p:nvPr/>
        </p:nvPicPr>
        <p:blipFill>
          <a:blip r:embed="rId2"/>
          <a:srcRect/>
          <a:stretch>
            <a:fillRect/>
          </a:stretch>
        </p:blipFill>
        <p:spPr>
          <a:xfrm>
            <a:off x="6093460" y="1950720"/>
            <a:ext cx="5708015" cy="340296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IR  Design Goals</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Li, Mingzhen, et al. "The deep learning compiler: A comprehensive survey." IEEE Transactions on Parallel and Distributed Systems 32.3 (2020): 708-727.</a:t>
            </a: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042025" cy="4853305"/>
          </a:xfrm>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Decoupling Hardware Constraints:  </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 modern software development, there is a huge semantic gap between frontend languages and underlying hardware.</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IR 's core role is to completely decouple high-level framework intent from low-level silicon instructions.</a:t>
            </a: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Resolving the Catastrophic M x N Problem: </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Suppose there are M  deep learning frontend frameworks and N  different hardware accelerators.</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Without a unified IR, the industry would need to develop M x N  independent compilers.</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After introducing a standard IR , only M  frontend translators and N  backend code generators, reducing engineering complexity to M + N.</a:t>
            </a:r>
          </a:p>
        </p:txBody>
      </p:sp>
      <p:pic>
        <p:nvPicPr>
          <p:cNvPr id="6" name="Picture 6"/>
          <p:cNvPicPr>
            <a:picLocks noChangeAspect="1"/>
          </p:cNvPicPr>
          <p:nvPr/>
        </p:nvPicPr>
        <p:blipFill>
          <a:blip r:embed="rId2"/>
          <a:srcRect/>
          <a:stretch>
            <a:fillRect/>
          </a:stretch>
        </p:blipFill>
        <p:spPr>
          <a:xfrm>
            <a:off x="6719570" y="1833880"/>
            <a:ext cx="5219065" cy="354203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IR Design Goals</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Preserving High-Level Semantics, Rejecting Premature Lowering</a:t>
            </a: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Value of Semantic Information: </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In traditional general-purpose compilers (e.g., GCC/LLVM), an operation is typically lowered to scalar loops and pointer arithmetic. But in deep learning IR , a 2D convolution must be preserved as an atomic conv2d(input, weight)  nodes .</a:t>
            </a: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Foundation for Global Optimization:  </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If neural network operations are prematurely lowered to for  loops, the compiler loses the“this is a convolution” macro-level understanding, preventing invocation of convolution-specific hardware acceleration libraries.</a:t>
            </a: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Macro-Level Graph Optimization:  </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Leveraging this high-level semantic-preserving IR  data structure, the compiler can perform computation graph-level algebraic simplification, operator fusion, and memory planning from a global perspective .</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Execution Model — Control Flow Graph (CFG)</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https://www.csl.cornell.edu/~zhiruz/5997/pdf/lecture04.pdf</a:t>
            </a: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519545" cy="4853305"/>
          </a:xfrm>
          <a:prstGeom prst="rect">
            <a:avLst/>
          </a:prstGeom>
        </p:spPr>
        <p:txBody>
          <a:bodyPr wrap="square" lIns="91440" tIns="45720" rIns="91440" bIns="45720" anchor="t">
            <a:noAutofit/>
          </a:bodyPr>
          <a:lstStyle>
            <a:lvl1pPr algn="l">
              <a:lnSpc>
                <a:spcPct val="150000"/>
              </a:lnSpc>
              <a:defRPr sz="2000" b="0" i="0" u="none" strike="noStrike" spc="0">
                <a:solidFill>
                  <a:srgbClr val="404040">
                    <a:alpha val="100000"/>
                  </a:srgbClr>
                </a:solidFill>
                <a:latin typeface="Calibri" panose="020F0502020204030204"/>
              </a:defRPr>
            </a:lvl1pPr>
          </a:lstStyle>
          <a:p>
            <a:pPr marL="254000" indent="-254000" algn="l">
              <a:lnSpc>
                <a:spcPct val="15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Program Counter-Based (PC)  Traditional Logic</a:t>
            </a:r>
          </a:p>
          <a:p>
            <a:pPr marL="571500" lvl="1" indent="-2286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Node Definition: as Basic Blocks (Basic Blocks): Graph nodes are segments of“branch-free” continuous straight-line instruction sequences. Once entered, instructions execute from beginning to end.</a:t>
            </a:r>
          </a:p>
          <a:p>
            <a:pPr marL="571500" lvl="1" indent="-2286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Graph Edgesas Control Flow Directions:  Directed edges in the graph represent the temporal execution sequence logic and jump targets (corresponding to if/else, while, for  and other control statements in high-level languages).</a:t>
            </a:r>
          </a:p>
          <a:p>
            <a:pPr marL="571500" lvl="1" indent="-2286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Execution Driving Mechanism:  Highly dependent on the von· Neumann architecture's core program counter (PC</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t>
            </a:r>
          </a:p>
        </p:txBody>
      </p:sp>
      <p:pic>
        <p:nvPicPr>
          <p:cNvPr id="6" name="Picture 6"/>
          <p:cNvPicPr>
            <a:picLocks noChangeAspect="1"/>
          </p:cNvPicPr>
          <p:nvPr/>
        </p:nvPicPr>
        <p:blipFill>
          <a:blip r:embed="rId2"/>
          <a:srcRect/>
          <a:stretch>
            <a:fillRect/>
          </a:stretch>
        </p:blipFill>
        <p:spPr>
          <a:xfrm>
            <a:off x="7191375" y="2221865"/>
            <a:ext cx="4806950" cy="356235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Execution Model — Data Flow Graph (DFG)</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https://www.researchgate.net/figure/Data-flow-graph-example_fig2_224517165</a:t>
            </a: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934200" cy="4853305"/>
          </a:xfrm>
          <a:prstGeom prst="rect">
            <a:avLst/>
          </a:prstGeom>
        </p:spPr>
        <p:txBody>
          <a:bodyPr wrap="square" lIns="91440" tIns="45720" rIns="91440" bIns="45720" anchor="t">
            <a:noAutofit/>
          </a:bodyPr>
          <a:lstStyle>
            <a:lvl1pPr algn="l">
              <a:lnSpc>
                <a:spcPct val="150000"/>
              </a:lnSpc>
              <a:defRPr sz="2000" b="0" i="0" u="none" strike="noStrike" spc="0">
                <a:solidFill>
                  <a:srgbClr val="404040">
                    <a:alpha val="100000"/>
                  </a:srgbClr>
                </a:solidFill>
                <a:latin typeface="Calibri" panose="020F0502020204030204"/>
              </a:defRPr>
            </a:lvl1pPr>
          </a:lstStyle>
          <a:p>
            <a:pPr marL="254000" indent="-254000" algn="l">
              <a:lnSpc>
                <a:spcPct val="15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Data-Driven Computation Discarding Temporal Ordering</a:t>
            </a:r>
          </a:p>
          <a:p>
            <a:pPr marL="571500" lvl="1" indent="-2286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Node Definition: Mathematical Operations:  Graph nodes are no longer basic blocks but represent specific mathematical operations or primitives.</a:t>
            </a:r>
          </a:p>
          <a:p>
            <a:pPr marL="571500" lvl="1" indent="-2286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Graph Edgesas Data Lifecycles:  Directed edges represent the pure mathematical dependencies and flow paths of data (i.e., multi-dimensional tensors in deep learning) between operation nodes.</a:t>
            </a:r>
          </a:p>
          <a:p>
            <a:pPr marL="571500" lvl="1" indent="-2286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Execution Driving Mechanism:  Completely discarding code-line sequential constraints. The sole condition for triggering a computation node is: all its required upstream input data is ready.</a:t>
            </a:r>
          </a:p>
        </p:txBody>
      </p:sp>
      <p:pic>
        <p:nvPicPr>
          <p:cNvPr id="6" name="Picture 6"/>
          <p:cNvPicPr>
            <a:picLocks noChangeAspect="1"/>
          </p:cNvPicPr>
          <p:nvPr/>
        </p:nvPicPr>
        <p:blipFill>
          <a:blip r:embed="rId2"/>
          <a:srcRect/>
          <a:stretch>
            <a:fillRect/>
          </a:stretch>
        </p:blipFill>
        <p:spPr>
          <a:xfrm>
            <a:off x="7675245" y="1493520"/>
            <a:ext cx="4389755" cy="251841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CFG  v.s. DFG</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Generated by Gemini 3.1 Pro.</a:t>
            </a: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endParaRPr/>
          </a:p>
        </p:txBody>
      </p:sp>
      <p:graphicFrame>
        <p:nvGraphicFramePr>
          <p:cNvPr id="6" name="Table 6"/>
          <p:cNvGraphicFramePr>
            <a:graphicFrameLocks noGrp="1"/>
          </p:cNvGraphicFramePr>
          <p:nvPr/>
        </p:nvGraphicFramePr>
        <p:xfrm>
          <a:off x="215900" y="1254469"/>
          <a:ext cx="11760200" cy="5301615"/>
        </p:xfrm>
        <a:graphic>
          <a:graphicData uri="http://schemas.openxmlformats.org/drawingml/2006/table">
            <a:tbl>
              <a:tblPr>
                <a:effectLst/>
              </a:tblPr>
              <a:tblGrid>
                <a:gridCol w="2548255">
                  <a:extLst>
                    <a:ext uri="{9D8B030D-6E8A-4147-A177-3AD203B41FA5}">
                      <a16:colId xmlns:a16="http://schemas.microsoft.com/office/drawing/2014/main" val="20000"/>
                    </a:ext>
                  </a:extLst>
                </a:gridCol>
                <a:gridCol w="4706620">
                  <a:extLst>
                    <a:ext uri="{9D8B030D-6E8A-4147-A177-3AD203B41FA5}">
                      <a16:colId xmlns:a16="http://schemas.microsoft.com/office/drawing/2014/main" val="20001"/>
                    </a:ext>
                  </a:extLst>
                </a:gridCol>
                <a:gridCol w="4505325">
                  <a:extLst>
                    <a:ext uri="{9D8B030D-6E8A-4147-A177-3AD203B41FA5}">
                      <a16:colId xmlns:a16="http://schemas.microsoft.com/office/drawing/2014/main" val="20002"/>
                    </a:ext>
                  </a:extLst>
                </a:gridCol>
              </a:tblGrid>
              <a:tr h="525145">
                <a:tc>
                  <a:txBody>
                    <a:bodyPr/>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Characteristic</a:t>
                      </a:r>
                      <a:endParaRPr lang="en-US" sz="1100"/>
                    </a:p>
                  </a:txBody>
                  <a:tcPr marL="177800" marR="177800" marT="107950" marB="107950">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8B0012">
                        <a:alpha val="100000"/>
                      </a:srgbClr>
                    </a:solidFill>
                  </a:tcPr>
                </a:tc>
                <a:tc>
                  <a:txBody>
                    <a:bodyPr/>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Control Flow Graph (CFG)</a:t>
                      </a:r>
                      <a:endParaRPr lang="en-US" sz="1100"/>
                    </a:p>
                  </a:txBody>
                  <a:tcPr marL="177800" marR="177800" marT="107950" marB="107950">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8B0012">
                        <a:alpha val="100000"/>
                      </a:srgbClr>
                    </a:solidFill>
                  </a:tcPr>
                </a:tc>
                <a:tc>
                  <a:txBody>
                    <a:bodyPr/>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Data Flow Graph (DFG)</a:t>
                      </a:r>
                      <a:endParaRPr lang="en-US" sz="1100"/>
                    </a:p>
                  </a:txBody>
                  <a:tcPr marL="177800" marR="177800" marT="107950" marB="107950">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8B0012">
                        <a:alpha val="100000"/>
                      </a:srgbClr>
                    </a:solidFill>
                  </a:tcPr>
                </a:tc>
                <a:extLst>
                  <a:ext uri="{0D108BD9-81ED-4DB2-BD59-A6C34878D82A}">
                    <a16:rowId xmlns:a16="http://schemas.microsoft.com/office/drawing/2014/main" val="10000"/>
                  </a:ext>
                </a:extLst>
              </a:tr>
              <a:tr h="751840">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Core Modeling Object</a:t>
                      </a:r>
                      <a:endParaRPr lang="en-US" sz="1100"/>
                    </a:p>
                  </a:txBody>
                  <a:tcPr marL="177800" marR="177800" marT="107950" marB="107950">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B5BE">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Program execution order and logical branch paths.</a:t>
                      </a:r>
                      <a:endParaRPr lang="en-US" sz="1100"/>
                    </a:p>
                  </a:txBody>
                  <a:tcPr marL="177800" marR="177800" marT="107950" marB="107950">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Data value transfer paths and mathematical operation dependencies.</a:t>
                      </a:r>
                      <a:endParaRPr lang="en-US" sz="1100"/>
                    </a:p>
                  </a:txBody>
                  <a:tcPr marL="177800" marR="177800" marT="107950" marB="107950">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1"/>
                  </a:ext>
                </a:extLst>
              </a:tr>
              <a:tr h="751840">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Graph Nodes (Nodes) Represent</a:t>
                      </a:r>
                      <a:endParaRPr lang="en-US" sz="1100"/>
                    </a:p>
                  </a:txBody>
                  <a:tcPr marL="177800" marR="177800" marT="107950" marB="107950">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B5BE">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Basic blocks (contiguous instruction sequences without branches).</a:t>
                      </a:r>
                      <a:endParaRPr lang="en-US" sz="1100"/>
                    </a:p>
                  </a:txBody>
                  <a:tcPr marL="177800" marR="177800" marT="107950" marB="107950">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Mathematical operators (e.g., matrix multiplication, convolution).</a:t>
                      </a:r>
                      <a:endParaRPr lang="en-US" sz="1100"/>
                    </a:p>
                  </a:txBody>
                  <a:tcPr marL="177800" marR="177800" marT="107950" marB="107950">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2"/>
                  </a:ext>
                </a:extLst>
              </a:tr>
              <a:tr h="752475">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Graph Edges (Edges) Represent</a:t>
                      </a:r>
                      <a:endParaRPr lang="en-US" sz="1100"/>
                    </a:p>
                  </a:txBody>
                  <a:tcPr marL="177800" marR="177800" marT="107950" marB="107950">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B5BE">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Control flow directions, loop jumps, conditional branch targets.</a:t>
                      </a:r>
                      <a:endParaRPr lang="en-US" sz="1100"/>
                    </a:p>
                  </a:txBody>
                  <a:tcPr marL="177800" marR="177800" marT="107950" marB="107950">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Data definition (output) flowing to data usage (input).</a:t>
                      </a:r>
                      <a:endParaRPr lang="en-US" sz="1100"/>
                    </a:p>
                  </a:txBody>
                  <a:tcPr marL="177800" marR="177800" marT="107950" marB="107950">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3"/>
                  </a:ext>
                </a:extLst>
              </a:tr>
              <a:tr h="751840">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Execution Trigger Condition</a:t>
                      </a:r>
                      <a:endParaRPr lang="en-US" sz="1100"/>
                    </a:p>
                  </a:txBody>
                  <a:tcPr marL="177800" marR="177800" marT="107950" marB="107950">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B5BE">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Program counter (PC) sequentially pointing to the node.</a:t>
                      </a:r>
                      <a:endParaRPr lang="en-US" sz="1100"/>
                    </a:p>
                  </a:txBody>
                  <a:tcPr marL="177800" marR="177800" marT="107950" marB="107950">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All required upstream input data has been computed and is ready.</a:t>
                      </a:r>
                      <a:endParaRPr lang="en-US" sz="1100"/>
                    </a:p>
                  </a:txBody>
                  <a:tcPr marL="177800" marR="177800" marT="107950" marB="107950">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4"/>
                  </a:ext>
                </a:extLst>
              </a:tr>
              <a:tr h="1016635">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Parallelization Potential</a:t>
                      </a:r>
                      <a:endParaRPr lang="en-US" sz="1100"/>
                    </a:p>
                  </a:txBody>
                  <a:tcPr marL="177800" marR="177800" marT="107950" marB="107950">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B5BE">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Very low. Constrained by strict instruction execution order and hard-to-predict branches.</a:t>
                      </a:r>
                      <a:endParaRPr lang="en-US" sz="1100"/>
                    </a:p>
                  </a:txBody>
                  <a:tcPr marL="177800" marR="177800" marT="107950" marB="107950">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Very high. Naturally exposes maximum parallelism at both operator and instruction levels.</a:t>
                      </a:r>
                      <a:endParaRPr lang="en-US" sz="1100"/>
                    </a:p>
                  </a:txBody>
                  <a:tcPr marL="177800" marR="177800" marT="107950" marB="107950">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5"/>
                  </a:ext>
                </a:extLst>
              </a:tr>
              <a:tr h="751840">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Typical Application Scenarios</a:t>
                      </a:r>
                      <a:endParaRPr lang="en-US" sz="1100"/>
                    </a:p>
                  </a:txBody>
                  <a:tcPr marL="177800" marR="177800" marT="107950" marB="107950">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B5BE">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General software, OS kernels, business logic control.</a:t>
                      </a:r>
                      <a:endParaRPr lang="en-US" sz="1100"/>
                    </a:p>
                  </a:txBody>
                  <a:tcPr marL="177800" marR="177800" marT="107950" marB="107950">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Deep learning tensor computation graphs, digital signal processing.</a:t>
                      </a:r>
                      <a:endParaRPr lang="en-US" sz="1100"/>
                    </a:p>
                  </a:txBody>
                  <a:tcPr marL="177800" marR="177800" marT="107950" marB="107950">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Static Single Assignment (SSA)  Form</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https://en.wikipedia.org/wiki/Static_single-assignment_form</a:t>
            </a: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727825" cy="4853305"/>
          </a:xfrm>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Nightmare of Traditional Code:  </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Variables can be repeatedly overwritten (e.g., x = 1; x = x + 1), making it difficult for the compiler to track “which line generated the current x ” .</a:t>
            </a: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SSA  Requirement:  </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 SSA  form, the IR , every variable in the program can be assigned exactly once throughout its entire lifetime .</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Version Splitting Mechanism:  If a variable is assigned multiple times in the original code, the compiler automatically generates multiple new versions with incrementing subscripts (e.g., $x_1, x_2, x_3$</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Functional Transparency:  in SSA , “a variable name” is equivalent to“the unique instruction that produced it”, making the code mathematically unambiguous .</a:t>
            </a:r>
          </a:p>
        </p:txBody>
      </p:sp>
      <p:pic>
        <p:nvPicPr>
          <p:cNvPr id="6" name="Picture 6"/>
          <p:cNvPicPr>
            <a:picLocks noChangeAspect="1"/>
          </p:cNvPicPr>
          <p:nvPr/>
        </p:nvPicPr>
        <p:blipFill>
          <a:blip r:embed="rId2"/>
          <a:srcRect/>
          <a:stretch>
            <a:fillRect/>
          </a:stretch>
        </p:blipFill>
        <p:spPr>
          <a:xfrm>
            <a:off x="7433310" y="1430020"/>
            <a:ext cx="1905000" cy="2762250"/>
          </a:xfrm>
          <a:prstGeom prst="rect">
            <a:avLst/>
          </a:prstGeom>
          <a:ln w="12700">
            <a:noFill/>
            <a:prstDash val="solid"/>
          </a:ln>
        </p:spPr>
      </p:pic>
      <p:pic>
        <p:nvPicPr>
          <p:cNvPr id="7" name="Picture 7"/>
          <p:cNvPicPr>
            <a:picLocks noChangeAspect="1"/>
          </p:cNvPicPr>
          <p:nvPr/>
        </p:nvPicPr>
        <p:blipFill>
          <a:blip r:embed="rId3"/>
          <a:srcRect/>
          <a:stretch>
            <a:fillRect/>
          </a:stretch>
        </p:blipFill>
        <p:spPr>
          <a:xfrm>
            <a:off x="9608820" y="1430020"/>
            <a:ext cx="1905000" cy="276225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Φ (Phi)  Function</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https://en.wikipedia.org/wiki/Static_single-assignment_form</a:t>
            </a: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8176260" cy="4853305"/>
          </a:xfrm>
          <a:prstGeom prst="rect">
            <a:avLst/>
          </a:prstGeom>
        </p:spPr>
        <p:txBody>
          <a:bodyPr wrap="square" lIns="91440" tIns="45720" rIns="91440" bIns="45720" anchor="t">
            <a:noAutofit/>
          </a:bodyPr>
          <a:lstStyle>
            <a:lvl1pPr algn="l">
              <a:lnSpc>
                <a:spcPct val="108000"/>
              </a:lnSpc>
              <a:defRPr sz="2000" b="0" i="0" u="none" strike="noStrike" spc="0">
                <a:solidFill>
                  <a:srgbClr val="404040">
                    <a:alpha val="100000"/>
                  </a:srgbClr>
                </a:solidFill>
                <a:latin typeface="Calibri" panose="020F0502020204030204"/>
              </a:defRPr>
            </a:lvl1pPr>
          </a:lstStyle>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Logical Conflict:  </a:t>
            </a: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When execution flow passes through if/else  branches and reconverges at a basic block, which version of the variable should subsequent code use? (e.g., if if  produces x_1, else  produces x_2</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t>
            </a: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Φ  Function (Phi-node): </a:t>
            </a: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To maintain the SSA  single-assignment rule, the compiler inserts a virtual instruction at the join point, e.g., x_3 = Φ(x_1, x_2) .</a:t>
            </a: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Runtime Dynamic Routing:  </a:t>
            </a: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Φ  function acts as a multiplexer. During actual program execution, it selects the correct source variable based on which control flow edge was taken (x_1 or x_2), and assigns the value to a brand new variable x_3.</a:t>
            </a:r>
          </a:p>
        </p:txBody>
      </p:sp>
      <p:pic>
        <p:nvPicPr>
          <p:cNvPr id="6" name="Picture 6"/>
          <p:cNvPicPr>
            <a:picLocks noChangeAspect="1"/>
          </p:cNvPicPr>
          <p:nvPr/>
        </p:nvPicPr>
        <p:blipFill>
          <a:blip r:embed="rId2"/>
          <a:srcRect/>
          <a:stretch>
            <a:fillRect/>
          </a:stretch>
        </p:blipFill>
        <p:spPr>
          <a:xfrm>
            <a:off x="9425940" y="1491615"/>
            <a:ext cx="1905000" cy="283845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Def-Use chains</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https://www.researchgate.net/figure/Comparison-of-data-flow-representations-a-def-use-chains-b-SSA-and-c-Gated_fig4_2729044</a:t>
            </a: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779895" cy="4853305"/>
          </a:xfrm>
          <a:prstGeom prst="rect">
            <a:avLst/>
          </a:prstGeom>
        </p:spPr>
        <p:txBody>
          <a:bodyPr wrap="square" lIns="91440" tIns="45720" rIns="91440" bIns="45720" anchor="t">
            <a:norm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Traditional Non- SSA  Combinatorial Explosion:  </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Since state can be overwritten, finding all possible sources of a variable requires complex bit-vector dataflow analysis, with time and space complexity reaching macroscopic O(N^2).</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State Transfer Equations:</a:t>
            </a:r>
          </a:p>
          <a:p>
            <a:pPr marL="342900" lvl="1" indent="0" algn="l">
              <a:lnSpc>
                <a:spcPct val="100000"/>
              </a:lnSpc>
              <a:spcBef>
                <a:spcPts val="750"/>
              </a:spcBef>
            </a:pP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SSA   O(N)  Complexity:  </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For any variable usage (Use), its uniquely corresponding source definition (Definition) in the code is absolutely determined.</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Every variable definition point can clearly hold a list directly pointing to all its use points in the global graph</a:t>
            </a:r>
          </a:p>
        </p:txBody>
      </p:sp>
      <p:pic>
        <p:nvPicPr>
          <p:cNvPr id="6" name="Picture 6"/>
          <p:cNvPicPr>
            <a:picLocks noChangeAspect="1"/>
          </p:cNvPicPr>
          <p:nvPr/>
        </p:nvPicPr>
        <p:blipFill>
          <a:blip r:embed="rId2"/>
          <a:srcRect/>
          <a:stretch>
            <a:fillRect/>
          </a:stretch>
        </p:blipFill>
        <p:spPr>
          <a:xfrm>
            <a:off x="1871980" y="3248660"/>
            <a:ext cx="4036695" cy="520700"/>
          </a:xfrm>
          <a:prstGeom prst="rect">
            <a:avLst/>
          </a:prstGeom>
          <a:ln w="12700">
            <a:noFill/>
            <a:prstDash val="solid"/>
          </a:ln>
        </p:spPr>
      </p:pic>
      <p:pic>
        <p:nvPicPr>
          <p:cNvPr id="7" name="Picture 7"/>
          <p:cNvPicPr>
            <a:picLocks noChangeAspect="1"/>
          </p:cNvPicPr>
          <p:nvPr/>
        </p:nvPicPr>
        <p:blipFill>
          <a:blip r:embed="rId3"/>
          <a:srcRect/>
          <a:stretch>
            <a:fillRect/>
          </a:stretch>
        </p:blipFill>
        <p:spPr>
          <a:xfrm>
            <a:off x="7430770" y="1479550"/>
            <a:ext cx="4700270" cy="268224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SSA  inConstant Folding and Propagation</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https://www.cs.utexas.edu/~pingali/CS380C/2013/lectures/ssa-slides.pdf</a:t>
            </a: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Concept:  Pre-computing at compile time expressions that would otherwise be computed at runtime.</a:t>
            </a: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SSA 's:  When the compiler encounters y = x + 2 , it can be directly folded to 3. Because SSA  guarantees that x 's value will never be accidentally altered downstream.</a:t>
            </a: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Constant Propagation (Constant Propagation): Following the SSA -provided O(N)  complexity DU  chain, the compiler can propagate this constant 3  to all places in the global graph using y  and replace them, significantly reducing computation and potentially simplifyingcontrol flow.</a:t>
            </a:r>
          </a:p>
        </p:txBody>
      </p:sp>
      <p:pic>
        <p:nvPicPr>
          <p:cNvPr id="6" name="Picture 6"/>
          <p:cNvPicPr>
            <a:picLocks noChangeAspect="1"/>
          </p:cNvPicPr>
          <p:nvPr/>
        </p:nvPicPr>
        <p:blipFill>
          <a:blip r:embed="rId2"/>
          <a:srcRect/>
          <a:stretch>
            <a:fillRect/>
          </a:stretch>
        </p:blipFill>
        <p:spPr>
          <a:xfrm>
            <a:off x="3444240" y="4064000"/>
            <a:ext cx="5659755" cy="195262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SSA  inDead Code Elimination</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https://www.cs.utexas.edu/~pingali/CS380C/2013/lectures/ssa-slides.pdf</a:t>
            </a: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Concept:  Removing redundant instructions whose computation results never substantively impact the final program output.</a:t>
            </a: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 SSA , identifying dead code becomes a simple operation:: If an SSA  variable's Use-chain list is empty, it is eliminable dead code.</a:t>
            </a: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Cascading Elimination Effect:  After removing the node, its upstream input variables' use-chains also become empty, causing dead code marking to propagate backward through the graph instantly, triggering cascading elimination. This is crucial for cleaning up the massive redundant nodes generated by automatic differentiation (Autograd) .</a:t>
            </a:r>
          </a:p>
        </p:txBody>
      </p:sp>
      <p:pic>
        <p:nvPicPr>
          <p:cNvPr id="6" name="Picture 6"/>
          <p:cNvPicPr>
            <a:picLocks noChangeAspect="1"/>
          </p:cNvPicPr>
          <p:nvPr/>
        </p:nvPicPr>
        <p:blipFill>
          <a:blip r:embed="rId2"/>
          <a:srcRect/>
          <a:stretch>
            <a:fillRect/>
          </a:stretch>
        </p:blipFill>
        <p:spPr>
          <a:xfrm>
            <a:off x="3335655" y="4303395"/>
            <a:ext cx="6355715" cy="183324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Computation Graph Optimization Techniques</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Core Objective:  </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Improving hardware execution efficiency, reducing GPU memory usage, and minimizing kernel (Kernel) launch overhead while preserving model mathematical equivalence .</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Optimization Level Hierarchy: </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Node-level Optimization (Node-level): Examining individual computation nodes in isolation .</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Block-level Optimization (Block-level): Analyzing adjacent node sequences or computation blocks .</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Dataflow//Graph-level Optimization (Dataflow/Graph-level): Macro-level optimization surveying the global topology .</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Computation Graph Optimization Techniques</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Grp="1" noChangeAspect="1"/>
          </p:cNvPicPr>
          <p:nvPr>
            <p:ph type="body" sz="quarter" idx="9"/>
          </p:nvPr>
        </p:nvPicPr>
        <p:blipFill>
          <a:blip r:embed="rId2"/>
          <a:srcRect/>
          <a:stretch>
            <a:fillRect/>
          </a:stretch>
        </p:blipFill>
        <p:spPr>
          <a:xfrm>
            <a:off x="1552338" y="1413549"/>
            <a:ext cx="9220674" cy="46738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Computation Graph Optimization Techniques</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https://zhuanlan.zhihu.com/p/661774755</a:t>
            </a: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7434580" cy="4853305"/>
          </a:xfrm>
          <a:prstGeom prst="rect">
            <a:avLst/>
          </a:prstGeom>
        </p:spPr>
        <p:txBody>
          <a:bodyPr wrap="square" lIns="91440" tIns="45720" rIns="91440" bIns="45720" anchor="t">
            <a:noAutofit/>
          </a:bodyPr>
          <a:lstStyle>
            <a:lvl1pPr algn="l">
              <a:lnSpc>
                <a:spcPct val="150000"/>
              </a:lnSpc>
              <a:defRPr sz="2000" b="0" i="0" u="none" strike="noStrike" spc="0">
                <a:solidFill>
                  <a:srgbClr val="404040">
                    <a:alpha val="100000"/>
                  </a:srgbClr>
                </a:solidFill>
                <a:latin typeface="Calibri" panose="020F0502020204030204"/>
              </a:defRPr>
            </a:lvl1pPr>
          </a:lstStyle>
          <a:p>
            <a:pPr marL="254000" indent="-254000" algn="l">
              <a:lnSpc>
                <a:spcPct val="15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Node-level Optimization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Nop Elimination (Nop Elimination):  Removing redundant nodes that have no substantive impact on results.</a:t>
            </a:r>
          </a:p>
          <a:p>
            <a:pPr marL="546100" lvl="1" indent="-2032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Zero-dim-tensor Elimination (Zero-dim-tensor Elimination):  Safely removing computations on tensors with shape 0  (e.g., shape=(0, 5, 3))'s computation.</a:t>
            </a:r>
          </a:p>
          <a:p>
            <a:pPr marL="254000" indent="-254000" algn="l">
              <a:lnSpc>
                <a:spcPct val="15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Block-level Optimization:Algebraic Simplification</a:t>
            </a:r>
          </a:p>
          <a:p>
            <a:pPr marL="546100" lvl="1" indent="-2032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Concept:   Using mathematical rules such as commutativity, associativity, and distributivity to replace complex local node sequences with computationally cheaper equivalent forms .</a:t>
            </a:r>
          </a:p>
          <a:p>
            <a:pPr marL="546100" lvl="1" indent="-2032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Constant Folding (Constant Folding):  Identifying all constant expressions known at compile time, pre-computing the results, and folding them into a single constant value in the graph .</a:t>
            </a:r>
          </a:p>
        </p:txBody>
      </p:sp>
      <p:pic>
        <p:nvPicPr>
          <p:cNvPr id="6" name="Picture 6"/>
          <p:cNvPicPr>
            <a:picLocks noChangeAspect="1"/>
          </p:cNvPicPr>
          <p:nvPr/>
        </p:nvPicPr>
        <p:blipFill>
          <a:blip r:embed="rId2"/>
          <a:srcRect/>
          <a:stretch>
            <a:fillRect/>
          </a:stretch>
        </p:blipFill>
        <p:spPr>
          <a:xfrm>
            <a:off x="8155940" y="1580515"/>
            <a:ext cx="3975735" cy="196850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Computation Graph Optimization Techniques</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https://zhuanlan.zhihu.com/p/661774755</a:t>
            </a: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Block-level Optimization:Operator Fusion</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Problem:  Each small operator needs to read/write data from global memory, causing memory bandwidth bottleneck and GPU Kernel  launch latency.</a:t>
            </a: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Vertical Fusion: </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Merging sequentially dependent operations into a single Kernel, with data flowing directly through registers, reducing global memory accesses.</a:t>
            </a: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Horizontal Fusion: </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Merging adjacent operators that can be processed in parallel into a single Kernel, improving the utilization of underlying hardware compute units.</a:t>
            </a:r>
          </a:p>
        </p:txBody>
      </p:sp>
      <p:pic>
        <p:nvPicPr>
          <p:cNvPr id="6" name="Picture 6"/>
          <p:cNvPicPr>
            <a:picLocks noChangeAspect="1"/>
          </p:cNvPicPr>
          <p:nvPr/>
        </p:nvPicPr>
        <p:blipFill>
          <a:blip r:embed="rId2"/>
          <a:srcRect/>
          <a:stretch>
            <a:fillRect/>
          </a:stretch>
        </p:blipFill>
        <p:spPr>
          <a:xfrm>
            <a:off x="4331335" y="4737100"/>
            <a:ext cx="6548755" cy="185610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Computation Graph Optimization Techniques</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https://zhuanlan.zhihu.com/p/661774755</a:t>
            </a: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Graph-level Optimization:Dataflow Structure Reshaping</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Common Subexpression Elimination (Common Subexpression Elimination, CSE):  Identifying identical substructures repeatedly computed in the graph, replacing them with references to a single common output to avoid wasting computational resources.</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Dead Code Elimination (Dead Code Elimination, DCE):  Combining Def-Use  chain analysis, from the graph deleting useless operation branches .</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Operator Sinking (Operator Sinking):  Deferring certain dimension transformation operations (e.g., Transpose) along the graph's dataflow direction to merge potential subsequent redundant transformation operations.</a:t>
            </a:r>
          </a:p>
        </p:txBody>
      </p:sp>
      <p:pic>
        <p:nvPicPr>
          <p:cNvPr id="6" name="Picture 6"/>
          <p:cNvPicPr>
            <a:picLocks noChangeAspect="1"/>
          </p:cNvPicPr>
          <p:nvPr/>
        </p:nvPicPr>
        <p:blipFill>
          <a:blip r:embed="rId2"/>
          <a:srcRect/>
          <a:stretch>
            <a:fillRect/>
          </a:stretch>
        </p:blipFill>
        <p:spPr>
          <a:xfrm>
            <a:off x="4386580" y="4052570"/>
            <a:ext cx="5628640" cy="259461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Hardware-RelatedOptimization</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Li, Mingzhen, et al. "The deep learning compiler: A comprehensive survey." IEEE Transactions on Parallel and Distributed Systems 32.3 (2020): 708-727.</a:t>
            </a: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Grp="1" noChangeAspect="1"/>
          </p:cNvPicPr>
          <p:nvPr>
            <p:ph type="body" sz="quarter" idx="9"/>
          </p:nvPr>
        </p:nvPicPr>
        <p:blipFill>
          <a:blip r:embed="rId2"/>
          <a:srcRect/>
          <a:stretch>
            <a:fillRect/>
          </a:stretch>
        </p:blipFill>
        <p:spPr>
          <a:xfrm>
            <a:off x="2432487" y="1323975"/>
            <a:ext cx="7460376" cy="485298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Solution: FlagOS, a Unified AI Software Stack</a:t>
            </a:r>
          </a:p>
        </p:txBody>
      </p:sp>
      <p:pic>
        <p:nvPicPr>
          <p:cNvPr id="3" name="Picture 3"/>
          <p:cNvPicPr>
            <a:picLocks noChangeAspect="1"/>
          </p:cNvPicPr>
          <p:nvPr/>
        </p:nvPicPr>
        <p:blipFill>
          <a:blip r:embed="rId2"/>
          <a:srcRect/>
          <a:stretch>
            <a:fillRect/>
          </a:stretch>
        </p:blipFill>
        <p:spPr>
          <a:xfrm>
            <a:off x="852170" y="1318260"/>
            <a:ext cx="9408795" cy="485330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9535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440023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790511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89535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440023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790511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2298364" y="1689569"/>
            <a:ext cx="356915" cy="356915"/>
          </a:xfrm>
          <a:prstGeom prst="ellipse">
            <a:avLst/>
          </a:prstGeom>
          <a:blipFill rotWithShape="1">
            <a:blip r:embed="rId2"/>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5803244" y="1689569"/>
            <a:ext cx="356915" cy="356915"/>
          </a:xfrm>
          <a:prstGeom prst="ellipse">
            <a:avLst/>
          </a:prstGeom>
          <a:blipFill rotWithShape="1">
            <a:blip r:embed="rId3"/>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08124" y="1689569"/>
            <a:ext cx="356915" cy="356915"/>
          </a:xfrm>
          <a:prstGeom prst="ellipse">
            <a:avLst/>
          </a:prstGeom>
          <a:blipFill rotWithShape="1">
            <a:blip r:embed="rId4"/>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2298364" y="3577269"/>
            <a:ext cx="356915" cy="356915"/>
          </a:xfrm>
          <a:prstGeom prst="ellipse">
            <a:avLst/>
          </a:prstGeom>
          <a:blipFill rotWithShape="1">
            <a:blip r:embed="rId5"/>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803244" y="3577269"/>
            <a:ext cx="356915" cy="356915"/>
          </a:xfrm>
          <a:prstGeom prst="ellipse">
            <a:avLst/>
          </a:prstGeom>
          <a:blipFill rotWithShape="1">
            <a:blip r:embed="rId6"/>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9308124" y="3577269"/>
            <a:ext cx="356915" cy="356915"/>
          </a:xfrm>
          <a:prstGeom prst="ellipse">
            <a:avLst/>
          </a:prstGeom>
          <a:blipFill rotWithShape="1">
            <a:blip r:embed="rId7"/>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219842" y="251790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8" tooltip="https://github.com/flagos-ai"/>
              </a:rPr>
              <a:t>https://github.com/flagos-ai</a:t>
            </a:r>
            <a:endParaRPr lang="en-US" sz="1100"/>
          </a:p>
          <a:p>
            <a:pPr indent="0" algn="l">
              <a:lnSpc>
                <a:spcPct val="150000"/>
              </a:lnSpc>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rPr>
              <a:t> </a:t>
            </a:r>
          </a:p>
        </p:txBody>
      </p:sp>
      <p:sp>
        <p:nvSpPr>
          <p:cNvPr id="15" name="AutoShape 15"/>
          <p:cNvSpPr/>
          <p:nvPr/>
        </p:nvSpPr>
        <p:spPr>
          <a:xfrm>
            <a:off x="8015605" y="2341245"/>
            <a:ext cx="2882265"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9" tooltip="https://space.bilibili.com/3546791834290849"/>
              </a:rPr>
              <a:t>https://space.bilibili.com/3546791834290849</a:t>
            </a:r>
            <a:endParaRPr lang="en-US" sz="1100"/>
          </a:p>
        </p:txBody>
      </p:sp>
      <p:sp>
        <p:nvSpPr>
          <p:cNvPr id="16" name="AutoShape 16"/>
          <p:cNvSpPr/>
          <p:nvPr/>
        </p:nvSpPr>
        <p:spPr>
          <a:xfrm>
            <a:off x="1219842" y="440385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0" tooltip="https://www.zhihu.com/people/95-22-20-18/posts"/>
              </a:rPr>
              <a:t>https://www.zhihu.com/people/95-22-20-18/posts</a:t>
            </a:r>
            <a:endParaRPr lang="en-US" sz="1100"/>
          </a:p>
        </p:txBody>
      </p:sp>
      <p:sp>
        <p:nvSpPr>
          <p:cNvPr id="17" name="AutoShape 17"/>
          <p:cNvSpPr/>
          <p:nvPr/>
        </p:nvSpPr>
        <p:spPr>
          <a:xfrm>
            <a:off x="4724722" y="4403854"/>
            <a:ext cx="2513958" cy="39687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1" tooltip="https://flagos.io/Home"/>
              </a:rPr>
              <a:t>https://flagos.io/Home</a:t>
            </a:r>
            <a:endParaRPr lang="en-US" sz="1100"/>
          </a:p>
        </p:txBody>
      </p:sp>
      <p:pic>
        <p:nvPicPr>
          <p:cNvPr id="18" name="Picture 18"/>
          <p:cNvPicPr>
            <a:picLocks noChangeAspect="1"/>
          </p:cNvPicPr>
          <p:nvPr/>
        </p:nvPicPr>
        <p:blipFill>
          <a:blip r:embed="rId12"/>
          <a:srcRect/>
          <a:stretch>
            <a:fillRect/>
          </a:stretch>
        </p:blipFill>
        <p:spPr>
          <a:xfrm>
            <a:off x="5408930" y="2046605"/>
            <a:ext cx="1255395" cy="1255395"/>
          </a:xfrm>
          <a:prstGeom prst="rect">
            <a:avLst/>
          </a:prstGeom>
          <a:ln w="12700">
            <a:noFill/>
            <a:prstDash val="solid"/>
          </a:ln>
        </p:spPr>
      </p:pic>
      <p:pic>
        <p:nvPicPr>
          <p:cNvPr id="19" name="Picture 19"/>
          <p:cNvPicPr>
            <a:picLocks noChangeAspect="1"/>
          </p:cNvPicPr>
          <p:nvPr/>
        </p:nvPicPr>
        <p:blipFill>
          <a:blip r:embed="rId13"/>
          <a:srcRect/>
          <a:stretch>
            <a:fillRect/>
          </a:stretch>
        </p:blipFill>
        <p:spPr>
          <a:xfrm>
            <a:off x="8903970" y="3953510"/>
            <a:ext cx="1299210" cy="130873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7"/>
          </p:nvPr>
        </p:nvPicPr>
        <p:blipFill>
          <a:blip r:embed="rId2"/>
          <a:srcRect l="2306" r="2305"/>
          <a:stretch>
            <a:fillRect/>
          </a:stretch>
        </p:blipFill>
        <p:spPr>
          <a:xfrm>
            <a:off x="0" y="1"/>
            <a:ext cx="12192000" cy="6858000"/>
          </a:xfrm>
          <a:prstGeom prst="rect">
            <a:avLst/>
          </a:prstGeom>
        </p:spPr>
      </p:pic>
      <p:sp>
        <p:nvSpPr>
          <p:cNvPr id="3" name="AutoShape 3"/>
          <p:cNvSpPr>
            <a:spLocks noGrp="1"/>
          </p:cNvSpPr>
          <p:nvPr>
            <p:ph type="body" sz="quarter" idx="28" hasCustomPrompt="1"/>
          </p:nvPr>
        </p:nvSpPr>
        <p:spPr>
          <a:xfrm>
            <a:off x="5625465" y="2373630"/>
            <a:ext cx="5739130" cy="2664460"/>
          </a:xfrm>
          <a:prstGeom prst="rect">
            <a:avLst/>
          </a:prstGeom>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微软雅黑" panose="020B0503020204020204" charset="-122"/>
              </a:defRPr>
            </a:lvl1pPr>
          </a:lstStyle>
          <a:p>
            <a:pPr indent="0" algn="l">
              <a:lnSpc>
                <a:spcPct val="92000"/>
              </a:lnSpc>
            </a:pPr>
            <a:r>
              <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rPr>
              <a:t>Thanks for your time！</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3"/>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4"/>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1931</Words>
  <Application>Microsoft Office PowerPoint</Application>
  <PresentationFormat>宽屏</PresentationFormat>
  <Paragraphs>149</Paragraphs>
  <Slides>22</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22</vt:i4>
      </vt:variant>
    </vt:vector>
  </HeadingPairs>
  <TitlesOfParts>
    <vt:vector size="32" baseType="lpstr">
      <vt:lpstr>Noto Sans SC</vt:lpstr>
      <vt:lpstr>Pretendard</vt:lpstr>
      <vt:lpstr>微软雅黑</vt:lpstr>
      <vt:lpstr>Arial</vt:lpstr>
      <vt:lpstr>Calibri</vt:lpstr>
      <vt:lpstr>Calibri Light</vt:lpstr>
      <vt:lpstr>Garamond</vt:lpstr>
      <vt:lpstr>Montserrat SemiBold</vt:lpstr>
      <vt:lpstr>Office 主题​​</vt:lpstr>
      <vt:lpstr>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Xiang Li</cp:lastModifiedBy>
  <cp:revision>13</cp:revision>
  <dcterms:created xsi:type="dcterms:W3CDTF">2026-04-17T05:07:00Z</dcterms:created>
  <dcterms:modified xsi:type="dcterms:W3CDTF">2026-05-27T10:18:04Z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C79E56846FEAA2CF55BFE1693E6D39DC_42</vt:lpwstr>
  </property>
  <property fmtid="{D5CDD505-2E9C-101B-9397-08002B2CF9AE}" pid="3" name="KSOProductBuildVer">
    <vt:lpwstr>2052-12.1.0.21915</vt:lpwstr>
  </property>
</Properties>
</file>