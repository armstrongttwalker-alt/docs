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5"/>
  </p:notesMasterIdLst>
  <p:handoutMasterIdLst>
    <p:handoutMasterId r:id="rId26"/>
  </p:handoutMasterIdLst>
  <p:sldIdLst>
    <p:sldId id="256" r:id="rId3"/>
    <p:sldId id="520" r:id="rId4"/>
    <p:sldId id="521" r:id="rId5"/>
    <p:sldId id="522" r:id="rId6"/>
    <p:sldId id="523" r:id="rId7"/>
    <p:sldId id="524" r:id="rId8"/>
    <p:sldId id="525" r:id="rId9"/>
    <p:sldId id="526" r:id="rId10"/>
    <p:sldId id="527" r:id="rId11"/>
    <p:sldId id="528" r:id="rId12"/>
    <p:sldId id="529" r:id="rId13"/>
    <p:sldId id="530" r:id="rId14"/>
    <p:sldId id="531" r:id="rId15"/>
    <p:sldId id="532" r:id="rId16"/>
    <p:sldId id="533" r:id="rId17"/>
    <p:sldId id="534" r:id="rId18"/>
    <p:sldId id="535" r:id="rId19"/>
    <p:sldId id="536" r:id="rId20"/>
    <p:sldId id="537" r:id="rId21"/>
    <p:sldId id="322" r:id="rId22"/>
    <p:sldId id="323" r:id="rId23"/>
    <p:sldId id="324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18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15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14.png"/><Relationship Id="rId9" Type="http://schemas.openxmlformats.org/officeDocument/2006/relationships/hyperlink" Target="https://space.bilibili.com/3546791834290849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23</a:t>
            </a: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Loop-Invariant Code Motion (LICM)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Invariant Code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Code that produces the same result regardless of which loop iteration it runs in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Invariant Code Motion, LICM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Hoisting loop-invariant code outside the loop to reduce the number of executions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Positioned toward the earlier/frontend stage in compilation process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 Influence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Before: Execute N times 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Time = N 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After: 1 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 + Execute N times 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0 = T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Save: (N-1) 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362075" y="3154045"/>
            <a:ext cx="8521065" cy="1162685"/>
            <a:chOff x="1362075" y="3154045"/>
            <a:chExt cx="8521065" cy="1162685"/>
          </a:xfrm>
        </p:grpSpPr>
        <p:sp>
          <p:nvSpPr>
            <p:cNvPr id="7" name="AutoShape 7"/>
            <p:cNvSpPr/>
            <p:nvPr/>
          </p:nvSpPr>
          <p:spPr>
            <a:xfrm>
              <a:off x="1362075" y="3910011"/>
              <a:ext cx="1508513" cy="406719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172C51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Source Code</a:t>
              </a:r>
            </a:p>
          </p:txBody>
        </p:sp>
        <p:sp>
          <p:nvSpPr>
            <p:cNvPr id="8" name="AutoShape 8"/>
            <p:cNvSpPr/>
            <p:nvPr/>
          </p:nvSpPr>
          <p:spPr>
            <a:xfrm>
              <a:off x="3699592" y="3910011"/>
              <a:ext cx="1508513" cy="406719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172C51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IR</a:t>
              </a:r>
            </a:p>
          </p:txBody>
        </p:sp>
        <p:sp>
          <p:nvSpPr>
            <p:cNvPr id="9" name="AutoShape 9"/>
            <p:cNvSpPr/>
            <p:nvPr/>
          </p:nvSpPr>
          <p:spPr>
            <a:xfrm>
              <a:off x="6037109" y="3910011"/>
              <a:ext cx="1508513" cy="406719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172C51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OptimizationPass</a:t>
              </a: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8374627" y="3910011"/>
              <a:ext cx="1508513" cy="406719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172C51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Target Code</a:t>
              </a:r>
            </a:p>
          </p:txBody>
        </p:sp>
        <p:cxnSp>
          <p:nvCxnSpPr>
            <p:cNvPr id="11" name="Connector 11"/>
            <p:cNvCxnSpPr/>
            <p:nvPr/>
          </p:nvCxnSpPr>
          <p:spPr>
            <a:xfrm>
              <a:off x="2870588" y="4113370"/>
              <a:ext cx="829004" cy="0"/>
            </a:xfrm>
            <a:prstGeom prst="straightConnector1">
              <a:avLst/>
            </a:prstGeom>
            <a:noFill/>
            <a:ln w="12700" cap="flat">
              <a:solidFill>
                <a:srgbClr val="4472C4">
                  <a:alpha val="100000"/>
                </a:srgbClr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2" name="Connector 12"/>
            <p:cNvCxnSpPr/>
            <p:nvPr/>
          </p:nvCxnSpPr>
          <p:spPr>
            <a:xfrm>
              <a:off x="5208106" y="4113370"/>
              <a:ext cx="829004" cy="0"/>
            </a:xfrm>
            <a:prstGeom prst="straightConnector1">
              <a:avLst/>
            </a:prstGeom>
            <a:noFill/>
            <a:ln w="12700" cap="flat">
              <a:solidFill>
                <a:srgbClr val="4472C4">
                  <a:alpha val="100000"/>
                </a:srgbClr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3" name="Connector 13"/>
            <p:cNvCxnSpPr/>
            <p:nvPr/>
          </p:nvCxnSpPr>
          <p:spPr>
            <a:xfrm>
              <a:off x="7545623" y="4113370"/>
              <a:ext cx="829004" cy="0"/>
            </a:xfrm>
            <a:prstGeom prst="straightConnector1">
              <a:avLst/>
            </a:prstGeom>
            <a:noFill/>
            <a:ln w="12700" cap="flat">
              <a:solidFill>
                <a:srgbClr val="4472C4">
                  <a:alpha val="100000"/>
                </a:srgbClr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14" name="AutoShape 14"/>
            <p:cNvSpPr/>
            <p:nvPr/>
          </p:nvSpPr>
          <p:spPr>
            <a:xfrm>
              <a:off x="3699592" y="3154045"/>
              <a:ext cx="1508513" cy="406719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172C51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LICM</a:t>
              </a:r>
            </a:p>
          </p:txBody>
        </p:sp>
        <p:cxnSp>
          <p:nvCxnSpPr>
            <p:cNvPr id="15" name="Connector 15"/>
            <p:cNvCxnSpPr/>
            <p:nvPr/>
          </p:nvCxnSpPr>
          <p:spPr>
            <a:xfrm rot="10800000" flipV="1">
              <a:off x="3285091" y="3357404"/>
              <a:ext cx="414502" cy="755966"/>
            </a:xfrm>
            <a:prstGeom prst="bentConnector2">
              <a:avLst/>
            </a:prstGeom>
            <a:noFill/>
            <a:ln w="12700" cap="flat">
              <a:solidFill>
                <a:srgbClr val="4472C4">
                  <a:alpha val="100000"/>
                </a:srgbClr>
              </a:solidFill>
              <a:prstDash val="dash"/>
              <a:headEnd type="none" w="med" len="med"/>
              <a:tailEnd type="triangle" w="med" len="med"/>
            </a:ln>
          </p:spPr>
        </p:cxnSp>
        <p:cxnSp>
          <p:nvCxnSpPr>
            <p:cNvPr id="16" name="Connector 16"/>
            <p:cNvCxnSpPr/>
            <p:nvPr/>
          </p:nvCxnSpPr>
          <p:spPr>
            <a:xfrm>
              <a:off x="5208106" y="3357405"/>
              <a:ext cx="414502" cy="755965"/>
            </a:xfrm>
            <a:prstGeom prst="bentConnector2">
              <a:avLst/>
            </a:prstGeom>
            <a:noFill/>
            <a:ln w="12700" cap="flat">
              <a:solidFill>
                <a:srgbClr val="4472C4">
                  <a:alpha val="100000"/>
                </a:srgbClr>
              </a:solidFill>
              <a:prstDash val="dash"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Invariant Code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 Code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Hoist the computation of x and y outside the loop.</a:t>
            </a:r>
          </a:p>
        </p:txBody>
      </p:sp>
      <p:sp>
        <p:nvSpPr>
          <p:cNvPr id="6" name="AutoShape 6"/>
          <p:cNvSpPr/>
          <p:nvPr/>
        </p:nvSpPr>
        <p:spPr>
          <a:xfrm>
            <a:off x="610775" y="1840675"/>
            <a:ext cx="9791291" cy="1588325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int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 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800" b="0" i="0" u="none" strike="noStrike">
                <a:solidFill>
                  <a:srgbClr val="EBC88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0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 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&lt;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n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++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{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int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x 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a 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+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b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8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// Loop-Invariant varaibles: a, b not changed in loop</a:t>
            </a:r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int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y 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x  c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8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// Loop-Invariant varaibles: dependent on x</a:t>
            </a:r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arr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[i] 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y 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+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8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// Loop-variant</a:t>
            </a:r>
            <a:r>
              <a:rPr lang="en-US" sz="1800" b="0" i="1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18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depend on i</a:t>
            </a:r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}</a:t>
            </a:r>
          </a:p>
        </p:txBody>
      </p:sp>
      <p:sp>
        <p:nvSpPr>
          <p:cNvPr id="7" name="AutoShape 7"/>
          <p:cNvSpPr/>
          <p:nvPr/>
        </p:nvSpPr>
        <p:spPr>
          <a:xfrm>
            <a:off x="610775" y="4181447"/>
            <a:ext cx="2500560" cy="1588325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 ...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x=a+b</a:t>
            </a:r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y=x*c</a:t>
            </a:r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use(y)</a:t>
            </a:r>
          </a:p>
        </p:txBody>
      </p:sp>
      <p:sp>
        <p:nvSpPr>
          <p:cNvPr id="8" name="AutoShape 8"/>
          <p:cNvSpPr/>
          <p:nvPr/>
        </p:nvSpPr>
        <p:spPr>
          <a:xfrm>
            <a:off x="5323300" y="4095006"/>
            <a:ext cx="2500560" cy="809503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x=a+b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y=x*c</a:t>
            </a:r>
          </a:p>
        </p:txBody>
      </p:sp>
      <p:sp>
        <p:nvSpPr>
          <p:cNvPr id="9" name="AutoShape 9"/>
          <p:cNvSpPr/>
          <p:nvPr/>
        </p:nvSpPr>
        <p:spPr>
          <a:xfrm>
            <a:off x="5323300" y="5165763"/>
            <a:ext cx="2500560" cy="809503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 ...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use(y)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198236" y="4963734"/>
            <a:ext cx="1971304" cy="17288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LICM Flow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 Reaching Definitions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Find Loop Ivariants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 Dominators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Check Safety Conditions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Move to Preheader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23873" y="4159304"/>
            <a:ext cx="7772400" cy="106137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and Domination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Structure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Header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Only entry to the loop, dominating all nodes in loop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Back Edge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Node Jumping back to header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Body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Nodes between header and back edge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Domination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 Dominates B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 path from entry to B must pass A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 Dominates B strictly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dominates B and A ≠ B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19100" y="4986494"/>
            <a:ext cx="5563771" cy="1099664"/>
            <a:chOff x="419100" y="4986494"/>
            <a:chExt cx="5563771" cy="1099664"/>
          </a:xfrm>
        </p:grpSpPr>
        <p:sp>
          <p:nvSpPr>
            <p:cNvPr id="8" name="AutoShape 8"/>
            <p:cNvSpPr/>
            <p:nvPr/>
          </p:nvSpPr>
          <p:spPr>
            <a:xfrm>
              <a:off x="419100" y="4986496"/>
              <a:ext cx="1053440" cy="486889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172C51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Entry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933512" y="4986496"/>
              <a:ext cx="1053440" cy="486889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172C51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header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3447924" y="4986495"/>
              <a:ext cx="1053440" cy="486889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172C51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Body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4929431" y="4986494"/>
              <a:ext cx="1053440" cy="486889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2700" cap="flat">
              <a:solidFill>
                <a:srgbClr val="172C51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Exit</a:t>
              </a:r>
              <a:endParaRPr lang="en-US" sz="1100"/>
            </a:p>
          </p:txBody>
        </p:sp>
        <p:cxnSp>
          <p:nvCxnSpPr>
            <p:cNvPr id="12" name="Connector 12"/>
            <p:cNvCxnSpPr/>
            <p:nvPr/>
          </p:nvCxnSpPr>
          <p:spPr>
            <a:xfrm>
              <a:off x="1472540" y="5229941"/>
              <a:ext cx="460972" cy="0"/>
            </a:xfrm>
            <a:prstGeom prst="straightConnector1">
              <a:avLst/>
            </a:prstGeom>
            <a:noFill/>
            <a:ln w="12700" cap="flat">
              <a:solidFill>
                <a:srgbClr val="4472C4">
                  <a:alpha val="100000"/>
                </a:srgbClr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3" name="Connector 13"/>
            <p:cNvCxnSpPr/>
            <p:nvPr/>
          </p:nvCxnSpPr>
          <p:spPr>
            <a:xfrm flipV="1">
              <a:off x="2986952" y="5229940"/>
              <a:ext cx="460972" cy="1"/>
            </a:xfrm>
            <a:prstGeom prst="straightConnector1">
              <a:avLst/>
            </a:prstGeom>
            <a:noFill/>
            <a:ln w="12700" cap="flat">
              <a:solidFill>
                <a:srgbClr val="4472C4">
                  <a:alpha val="100000"/>
                </a:srgbClr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4" name="Connector 14"/>
            <p:cNvCxnSpPr/>
            <p:nvPr/>
          </p:nvCxnSpPr>
          <p:spPr>
            <a:xfrm flipV="1">
              <a:off x="4501364" y="5229939"/>
              <a:ext cx="428067" cy="1"/>
            </a:xfrm>
            <a:prstGeom prst="straightConnector1">
              <a:avLst/>
            </a:prstGeom>
            <a:noFill/>
            <a:ln w="12700" cap="flat">
              <a:solidFill>
                <a:srgbClr val="4472C4">
                  <a:alpha val="100000"/>
                </a:srgbClr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5" name="Connector 15"/>
            <p:cNvCxnSpPr/>
            <p:nvPr/>
          </p:nvCxnSpPr>
          <p:spPr>
            <a:xfrm rot="5400000">
              <a:off x="3217438" y="4716178"/>
              <a:ext cx="1" cy="1514412"/>
            </a:xfrm>
            <a:prstGeom prst="bentConnector3">
              <a:avLst/>
            </a:prstGeom>
            <a:noFill/>
            <a:ln w="12700" cap="flat">
              <a:solidFill>
                <a:srgbClr val="4472C4">
                  <a:alpha val="100000"/>
                </a:srgbClr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16" name="AutoShape 16"/>
            <p:cNvSpPr/>
            <p:nvPr/>
          </p:nvSpPr>
          <p:spPr>
            <a:xfrm>
              <a:off x="2567260" y="5716826"/>
              <a:ext cx="1300356" cy="36933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none" lIns="91440" tIns="45720" rIns="91440" bIns="45720" rtlCol="0" anchor="t">
              <a:sp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Back Edge</a:t>
              </a:r>
              <a:endParaRPr lang="en-US" sz="1100"/>
            </a:p>
          </p:txBody>
        </p:sp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05328" y="3609027"/>
            <a:ext cx="3745439" cy="311240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and Domination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9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68300" indent="-3683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Domination represented in Tree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Parent node dominates all children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LICM use domination to check safety conditions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sz="2800"/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sz="2800"/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28263" y="2962808"/>
            <a:ext cx="3745439" cy="311240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6265967" y="2806195"/>
            <a:ext cx="6254337" cy="3425537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def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compute_dominators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400" b="0" i="1" u="none" strike="noStrike">
                <a:solidFill>
                  <a:srgbClr val="F8C762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cfg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):</a:t>
            </a:r>
            <a:endParaRPr lang="en-US" sz="1100"/>
          </a:p>
          <a:p>
            <a:pPr indent="0" algn="l">
              <a:lnSpc>
                <a:spcPct val="100000"/>
              </a:lnSpc>
            </a:pPr>
            <a:endParaRPr lang="en-US" sz="1100"/>
          </a:p>
          <a:p>
            <a:pPr marL="457200" lvl="1" indent="0" algn="l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1. Calculate DFS tree and DFS index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dfs_tree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dfnum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dfs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cfg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entry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</a:p>
          <a:p>
            <a:pPr marL="457200" lvl="1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D6D6DD"/>
              </a:solidFill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  <a:p>
            <a:pPr marL="457200" lvl="1" indent="0" algn="l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2. Calculate semi-dominator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sdom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{}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v </a:t>
            </a:r>
            <a:r>
              <a:rPr lang="en-US" sz="14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reverse_dfs_order: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sdom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v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]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min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dfnum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u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]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u </a:t>
            </a:r>
            <a:r>
              <a:rPr lang="en-US" sz="14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predecessors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v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))</a:t>
            </a:r>
          </a:p>
          <a:p>
            <a:pPr marL="914400" lvl="2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D6D6DD"/>
              </a:solidFill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  <a:p>
            <a:pPr marL="457200" lvl="1" indent="0" algn="l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3. Calculate dominator from semi-dominant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idom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{}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v </a:t>
            </a:r>
            <a:r>
              <a:rPr lang="en-US" sz="14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dfs_order: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idom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v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]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compute_idom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v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sdom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</a:p>
          <a:p>
            <a:pPr marL="457200" lvl="1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D6D6DD"/>
              </a:solidFill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  <a:p>
            <a:pPr marL="457200" lvl="1" indent="0" algn="l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return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idom</a:t>
            </a:r>
          </a:p>
        </p:txBody>
      </p:sp>
      <p:sp>
        <p:nvSpPr>
          <p:cNvPr id="8" name="AutoShape 8"/>
          <p:cNvSpPr/>
          <p:nvPr/>
        </p:nvSpPr>
        <p:spPr>
          <a:xfrm>
            <a:off x="6361326" y="1413383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Lengauer-Tarjan Algorithm</a:t>
            </a:r>
            <a:endParaRPr lang="en-US" sz="1200"/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Based on DFS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Semidominator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sz="1200"/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sz="1200"/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Reaching Definitions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Analyze the variable definitions that may reach each point in the program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IN[B] = ∪(OUT[P]) for all predecessors P of B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OUT[B] = GEN[B] ∪ (IN[B] - KILL[B])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Reaching Definitions in LICM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Determine where operands are defined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Check whether a definition originates from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outside the loop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Detect whether a variable has multiple 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definitions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22440" y="2453640"/>
            <a:ext cx="4658995" cy="350774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Loop-Invariant Detection Algorithm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Initialization: Mark all instructions whose operands are defined outside the loop as "invariant"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Iterate until a fixed point is reached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 each instruction I: "x = y op z" inside the loop: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If any of the following conditions are met, mark it as "invariant":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All reaching definitions of y are outside the loop, or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There is exactly one reaching definition, and 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that definition is loop-invariant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And: z satisfies the same conditions (if applicable)</a:t>
            </a:r>
          </a:p>
        </p:txBody>
      </p:sp>
      <p:sp>
        <p:nvSpPr>
          <p:cNvPr id="6" name="AutoShape 6"/>
          <p:cNvSpPr/>
          <p:nvPr/>
        </p:nvSpPr>
        <p:spPr>
          <a:xfrm>
            <a:off x="6803065" y="3562250"/>
            <a:ext cx="5149115" cy="2614778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def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find_loop_invariants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400" b="0" i="1" u="none" strike="noStrike">
                <a:solidFill>
                  <a:srgbClr val="F8C762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loop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):</a:t>
            </a:r>
            <a:endParaRPr lang="en-US" sz="1100"/>
          </a:p>
          <a:p>
            <a:pPr marL="457200" lvl="1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invariant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set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()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changed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True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while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changed: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changed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False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instr </a:t>
            </a:r>
            <a:r>
              <a:rPr lang="en-US" sz="14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loop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instructions:</a:t>
            </a:r>
          </a:p>
          <a:p>
            <a:pPr marL="1371600" lvl="3" indent="0" algn="l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if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is_invariant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instr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invariant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:</a:t>
            </a:r>
          </a:p>
          <a:p>
            <a:pPr marL="1828800" lvl="4" indent="0" algn="l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if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instr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not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invariant:</a:t>
            </a:r>
          </a:p>
          <a:p>
            <a:pPr marL="2286000" lvl="5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invariant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400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add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instr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</a:p>
          <a:p>
            <a:pPr marL="2286000" lvl="5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changed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True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return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invariant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Loop-Invariant Detection Algorithm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Initialization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Iterate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Round 1: {x = a+b} → INVARIANT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Round 2: {y = x*c} → INVARIANT 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Round 3: No newly added → Fixed Point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Final Invariant Set: {x = a+b, y = x*c} 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7" name="AutoShape 7"/>
          <p:cNvSpPr/>
          <p:nvPr/>
        </p:nvSpPr>
        <p:spPr>
          <a:xfrm>
            <a:off x="523873" y="2551471"/>
            <a:ext cx="5266400" cy="2982553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// a, b, c defined outside the loop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6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6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int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 </a:t>
            </a:r>
            <a:r>
              <a:rPr lang="en-US" sz="16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600" b="0" i="0" u="none" strike="noStrike">
                <a:solidFill>
                  <a:srgbClr val="EBC88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0</a:t>
            </a:r>
            <a:r>
              <a:rPr lang="en-US" sz="16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 </a:t>
            </a:r>
            <a:r>
              <a:rPr lang="en-US" sz="16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&lt;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n</a:t>
            </a:r>
            <a:r>
              <a:rPr lang="en-US" sz="16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</a:t>
            </a:r>
            <a:r>
              <a:rPr lang="en-US" sz="16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++</a:t>
            </a:r>
            <a:r>
              <a:rPr lang="en-US" sz="16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6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{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x </a:t>
            </a:r>
            <a:r>
              <a:rPr lang="en-US" sz="16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a </a:t>
            </a:r>
            <a:r>
              <a:rPr lang="en-US" sz="16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+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b</a:t>
            </a:r>
            <a:r>
              <a:rPr lang="en-US" sz="16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6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// It 1</a:t>
            </a:r>
            <a:r>
              <a:rPr lang="en-US" sz="1600" b="0" i="1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16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Invariable (a,b defined outside)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y </a:t>
            </a:r>
            <a:r>
              <a:rPr lang="en-US" sz="16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x  c</a:t>
            </a:r>
            <a:r>
              <a:rPr lang="en-US" sz="16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6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// It 2</a:t>
            </a:r>
            <a:r>
              <a:rPr lang="en-US" sz="1600" b="0" i="1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16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Invariable (x invariable, c defined outside)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z </a:t>
            </a:r>
            <a:r>
              <a:rPr lang="en-US" sz="16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y </a:t>
            </a:r>
            <a:r>
              <a:rPr lang="en-US" sz="16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+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</a:t>
            </a:r>
            <a:r>
              <a:rPr lang="en-US" sz="16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6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// Variable (depend on i)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w </a:t>
            </a:r>
            <a:r>
              <a:rPr lang="en-US" sz="16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z  </a:t>
            </a:r>
            <a:r>
              <a:rPr lang="en-US" sz="1600" b="0" i="0" u="none" strike="noStrike">
                <a:solidFill>
                  <a:srgbClr val="EBC88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2</a:t>
            </a:r>
            <a:r>
              <a:rPr lang="en-US" sz="16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6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// Variable (depend on z)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Dependence Type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True/Flow Dependence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Anti Dependence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Output Dependence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958645" y="1961535"/>
            <a:ext cx="4395035" cy="82591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S1: x = ...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S2: ... = x // S2 depends on S1 </a:t>
            </a:r>
          </a:p>
        </p:txBody>
      </p:sp>
      <p:sp>
        <p:nvSpPr>
          <p:cNvPr id="7" name="AutoShape 7"/>
          <p:cNvSpPr/>
          <p:nvPr/>
        </p:nvSpPr>
        <p:spPr>
          <a:xfrm>
            <a:off x="958644" y="3578941"/>
            <a:ext cx="4395020" cy="82591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S1: ... = x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S2: x = ... // S2 executed after S1</a:t>
            </a:r>
          </a:p>
        </p:txBody>
      </p:sp>
      <p:sp>
        <p:nvSpPr>
          <p:cNvPr id="8" name="AutoShape 8"/>
          <p:cNvSpPr/>
          <p:nvPr/>
        </p:nvSpPr>
        <p:spPr>
          <a:xfrm>
            <a:off x="958644" y="5196347"/>
            <a:ext cx="4395020" cy="825911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S1: x = ...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S2: x = ... // maintain write sequence</a:t>
            </a:r>
          </a:p>
        </p:txBody>
      </p:sp>
      <p:sp>
        <p:nvSpPr>
          <p:cNvPr id="9" name="AutoShape 9"/>
          <p:cNvSpPr/>
          <p:nvPr/>
        </p:nvSpPr>
        <p:spPr>
          <a:xfrm>
            <a:off x="6597445" y="1311942"/>
            <a:ext cx="5204030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Input Dependence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1100"/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1100"/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Loop-Carried Dependence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Cannot apply LICM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597445" y="1961535"/>
            <a:ext cx="4773560" cy="82591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S1: ... = x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S2: ... = x // can be executed in parallel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597444" y="4347475"/>
            <a:ext cx="4773561" cy="1817455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 (i = 1; i &lt; n; i++) {</a:t>
            </a:r>
            <a:endParaRPr lang="en-US" sz="1100"/>
          </a:p>
          <a:p>
            <a:pPr marL="457200" lvl="1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a[i] = a[i-1] + 1; 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// Loop-carried: a[i] ← a[i-1]</a:t>
            </a:r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Safety Conditions for Code Motion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Dominate All Exits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Instruction's basic block must dominate all exits of the loop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Guarantees the instruction will always be executed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Unique Definition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variable has only this one definition within the loop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Avoids conflicts with other definitions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Dominate All Uses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definition dominates all uses of the variable within the loop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Or: this is the only definition that reaches the use points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95561" y="1604135"/>
            <a:ext cx="4635500" cy="20701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7387812" y="3674236"/>
            <a:ext cx="1046480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Feasible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971339" y="3674236"/>
            <a:ext cx="1160780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Infeasible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Preheader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special basic block placed 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before the loop entry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Has exactly one successor (i.e., the header)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location where loop-invariant code is placed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LICM Pseudo Code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97803" y="1132554"/>
            <a:ext cx="1716548" cy="314367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873487" y="1132554"/>
            <a:ext cx="2200423" cy="3910704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8758344" y="2704393"/>
            <a:ext cx="1115143" cy="15438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900548" y="2369358"/>
            <a:ext cx="736099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LICM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41397" y="3956105"/>
            <a:ext cx="5497164" cy="2400199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candidates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[]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instr </a:t>
            </a:r>
            <a:r>
              <a:rPr lang="en-US" sz="14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invariants: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if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dominates_all_exits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instr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block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exits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and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\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is_only_definition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instr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and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\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dominates_all_uses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instr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: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candidates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400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append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instr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D6D6DD"/>
              </a:solidFill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Move to preheader based on dependency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instr </a:t>
            </a:r>
            <a:r>
              <a:rPr lang="en-US" sz="14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topological_sort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candidates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: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move_to_preheader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instr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loop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preheader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LICM in LLVM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lib/Transforms/Scalar/LICM.cpp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Loop-Invariant Code Motion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Hoisting memory accesses into registers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Sinking code to loop exits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LoopInfo Analysis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LoopInfo &amp;LI = getAnalysis&lt;LoopInfoWrapperPass&gt;().getLoopInfo();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DominatorTree for Dominance Analysis 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DominatorTree &amp;DT = getAnalysis&lt;DominatorTreeWrapperPass&gt;().getDomTree();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AliasAnalysis for Mameory Operation Analysis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AliasAnalysis &amp;AA = getAnalysis&lt;AAResultsWrapperPass&gt;().getAAResults();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Special Handling of Memory Operations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operations may have side effects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Must-Alias Analysis: Identify pointers that definitively point to the same memory location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Scalar Promotion: Lift memory operations within the loop into scalar operations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参考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https://llvm.gnu.ac.cn/docs/AliasAnalysis.html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741404" y="2669458"/>
            <a:ext cx="8264187" cy="91440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int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 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800" b="0" i="0" u="none" strike="noStrike">
                <a:solidFill>
                  <a:srgbClr val="EBC88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0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 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&lt;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n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++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{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*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p 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p 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+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arr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[i]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8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// Each iteration read and writes*p</a:t>
            </a:r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}</a:t>
            </a:r>
          </a:p>
        </p:txBody>
      </p:sp>
      <p:sp>
        <p:nvSpPr>
          <p:cNvPr id="7" name="AutoShape 7"/>
          <p:cNvSpPr/>
          <p:nvPr/>
        </p:nvSpPr>
        <p:spPr>
          <a:xfrm>
            <a:off x="741404" y="3996815"/>
            <a:ext cx="8264218" cy="148818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int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temp 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p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8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// Read outside the loop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int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 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800" b="0" i="0" u="none" strike="noStrike">
                <a:solidFill>
                  <a:srgbClr val="EBC88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0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 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&lt;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n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++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{</a:t>
            </a:r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temp 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temp 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+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arr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[i]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8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// Scalar operation</a:t>
            </a:r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}</a:t>
            </a:r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p 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temp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;</a:t>
            </a:r>
            <a:r>
              <a:rPr lang="en-US" sz="18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// Write back outside the loop</a:t>
            </a:r>
          </a:p>
        </p:txBody>
      </p:sp>
      <p:sp>
        <p:nvSpPr>
          <p:cNvPr id="8" name="AutoShape 8"/>
          <p:cNvSpPr/>
          <p:nvPr/>
        </p:nvSpPr>
        <p:spPr>
          <a:xfrm>
            <a:off x="4247534" y="3601015"/>
            <a:ext cx="235975" cy="37864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Optimization in Triton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Compilation Flow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Python → Triton IR (TTIR) → TritonGPU IR → LLVM IR → PTX/CUBIN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General Optimization Methods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Pipelining: Software Pipeline, Latency Hiding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Unrolling: Loop unrolling, Reduce Control Cost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LICM generally carried on at TTIR and TritonGPU IR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Based on MLIR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Reuse MLIR Analysis Pass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Optimize at different abstract levels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Loop Structure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Matrix Multiplication</a:t>
            </a: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Optimization Opportunities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Base address of pointer might be loop invariant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stride calculation is usually loop invariant</a:t>
            </a: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991870" y="1737995"/>
            <a:ext cx="7030085" cy="2892425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b="0" i="0" u="none" strike="noStrike">
                <a:solidFill>
                  <a:srgbClr val="A8CC7C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@triton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b="0" i="0" u="none" strike="noStrike">
                <a:solidFill>
                  <a:srgbClr val="A8CC7C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jit</a:t>
            </a:r>
            <a:endParaRPr lang="en-US" sz="1000"/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def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matmul_kernel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b="0" i="1" u="none" strike="noStrike">
                <a:solidFill>
                  <a:srgbClr val="F8C762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 </a:t>
            </a:r>
            <a:r>
              <a:rPr lang="en-US" b="0" i="1" u="none" strike="noStrike">
                <a:solidFill>
                  <a:srgbClr val="F8C762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B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 </a:t>
            </a:r>
            <a:r>
              <a:rPr lang="en-US" b="0" i="1" u="none" strike="noStrike">
                <a:solidFill>
                  <a:srgbClr val="F8C762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 </a:t>
            </a:r>
            <a:r>
              <a:rPr lang="en-US" b="0" i="1" u="none" strike="noStrike">
                <a:solidFill>
                  <a:srgbClr val="F8C762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M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 </a:t>
            </a:r>
            <a:r>
              <a:rPr lang="en-US" b="0" i="1" u="none" strike="noStrike">
                <a:solidFill>
                  <a:srgbClr val="F8C762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N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 </a:t>
            </a:r>
            <a:r>
              <a:rPr lang="en-US" b="0" i="1" u="none" strike="noStrike">
                <a:solidFill>
                  <a:srgbClr val="F8C762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K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 ...):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Initialize Accumulator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acc 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tl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zeros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((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BLOCK_M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BLOCK_N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),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b="0" i="1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dtype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tl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float32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Main loop - K-dimension iteration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k </a:t>
            </a:r>
            <a:r>
              <a:rPr lang="en-US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range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b="0" i="0" u="none" strike="noStrike">
                <a:solidFill>
                  <a:srgbClr val="EBC88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0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K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BLOCK_K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: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Load blocks of A, B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 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tl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load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A_ptr 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+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k  stride_ak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Possible Loop Invariant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b 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tl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load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B_ptr 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+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k  stride_bk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acc 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+=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tl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dot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b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Store result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tl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store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C_ptr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acc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LICM in MLIR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Refere to mlir/lib/Transforms/LoopInvariantCodeMotion.cpp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741404" y="1798100"/>
            <a:ext cx="10231396" cy="4453809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void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800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LoopInvariantCodeMotion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::</a:t>
            </a:r>
            <a:r>
              <a:rPr lang="en-US" sz="1800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runOnOperation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() {</a:t>
            </a:r>
            <a:endParaRPr lang="en-US" sz="1100"/>
          </a:p>
          <a:p>
            <a:pPr marL="457200" lvl="1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LoopLikeOpInterface loopOp 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getOperation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()-&gt;</a:t>
            </a:r>
            <a:r>
              <a:rPr lang="en-US" sz="1800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getParentOfType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&lt;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LoopLikeOpInterface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&gt;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();</a:t>
            </a:r>
          </a:p>
          <a:p>
            <a:pPr marL="457200" lvl="1" indent="0" algn="l">
              <a:lnSpc>
                <a:spcPct val="100000"/>
              </a:lnSpc>
            </a:pPr>
            <a:endParaRPr lang="en-US" sz="1800" b="0" i="0" u="none" strike="noStrike">
              <a:solidFill>
                <a:srgbClr val="E4E4E4"/>
              </a:solidFill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  <a:p>
            <a:pPr marL="457200" lvl="1" indent="0" algn="l">
              <a:lnSpc>
                <a:spcPct val="100000"/>
              </a:lnSpc>
            </a:pPr>
            <a:r>
              <a:rPr lang="en-US" sz="18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// Collect loop invariant operations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SmallVector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&lt;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Operation</a:t>
            </a: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&gt;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invariantOps;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(Operation 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&amp;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op : 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loopOp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800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getLoopBody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().</a:t>
            </a:r>
            <a:r>
              <a:rPr lang="en-US" sz="1800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getOps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()) 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{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if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(</a:t>
            </a:r>
            <a:r>
              <a:rPr lang="en-US" sz="1800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isLoopInvariant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&amp;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op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loopOp))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	invariantOps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800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push_back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&amp;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op);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}</a:t>
            </a:r>
          </a:p>
          <a:p>
            <a:pPr marL="457200" lvl="1" indent="0" algn="l">
              <a:lnSpc>
                <a:spcPct val="100000"/>
              </a:lnSpc>
            </a:pPr>
            <a:endParaRPr lang="en-US" sz="1800" b="0" i="0" u="none" strike="noStrike">
              <a:solidFill>
                <a:srgbClr val="D6D6DD"/>
              </a:solidFill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  <a:p>
            <a:pPr marL="457200" lvl="1" indent="0" algn="l">
              <a:lnSpc>
                <a:spcPct val="100000"/>
              </a:lnSpc>
            </a:pPr>
            <a:r>
              <a:rPr lang="en-US" sz="18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// Move to preheader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(Operation op : invariantOps) </a:t>
            </a: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{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op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-&gt;</a:t>
            </a:r>
            <a:r>
              <a:rPr lang="en-US" sz="1800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moveBefore</a:t>
            </a: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(loopOp);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}</a:t>
            </a:r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Limitation and Improvements of LICM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Limitations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Exception Handling: Moving code that may throw exceptions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Speculative Execution: If the loop may not execute, moving code could introduce additional overhead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Side Effects: Complex memory aliasing relationships are difficult to analyze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Improvements: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Unswitching: Move conditional checks inside the loop to outside the loop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Versioning: Create multiple versions of the loop to enable further optimizations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Speculative LICM: Perform speculative hoisting when provably safe</a:t>
            </a:r>
          </a:p>
          <a:p>
            <a:pPr marL="685800" lvl="2" indent="0" algn="l">
              <a:lnSpc>
                <a:spcPct val="100000"/>
              </a:lnSpc>
              <a:spcBef>
                <a:spcPts val="750"/>
              </a:spcBef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1757</Words>
  <Application>Microsoft Office PowerPoint</Application>
  <PresentationFormat>宽屏</PresentationFormat>
  <Paragraphs>328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Menlo</vt:lpstr>
      <vt:lpstr>Noto Sans SC</vt:lpstr>
      <vt:lpstr>Pretendard</vt:lpstr>
      <vt:lpstr>微软雅黑</vt:lpstr>
      <vt:lpstr>Arial</vt:lpstr>
      <vt:lpstr>Calibri</vt:lpstr>
      <vt:lpstr>Calibri Light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13</cp:revision>
  <dcterms:created xsi:type="dcterms:W3CDTF">2026-04-17T05:07:00Z</dcterms:created>
  <dcterms:modified xsi:type="dcterms:W3CDTF">2026-05-27T10:18:13Z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C79E56846FEAA2CF55BFE1693E6D39DC_42</vt:lpwstr>
  </property>
  <property fmtid="{D5CDD505-2E9C-101B-9397-08002B2CF9AE}" pid="3" name="KSOProductBuildVer">
    <vt:lpwstr>2052-12.1.0.21915</vt:lpwstr>
  </property>
</Properties>
</file>