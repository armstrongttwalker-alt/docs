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27"/>
  </p:notesMasterIdLst>
  <p:handoutMasterIdLst>
    <p:handoutMasterId r:id="rId28"/>
  </p:handoutMasterIdLst>
  <p:sldIdLst>
    <p:sldId id="256" r:id="rId3"/>
    <p:sldId id="451" r:id="rId4"/>
    <p:sldId id="452" r:id="rId5"/>
    <p:sldId id="453" r:id="rId6"/>
    <p:sldId id="454" r:id="rId7"/>
    <p:sldId id="455" r:id="rId8"/>
    <p:sldId id="456" r:id="rId9"/>
    <p:sldId id="457" r:id="rId10"/>
    <p:sldId id="458" r:id="rId11"/>
    <p:sldId id="459" r:id="rId12"/>
    <p:sldId id="460" r:id="rId13"/>
    <p:sldId id="461" r:id="rId14"/>
    <p:sldId id="462" r:id="rId15"/>
    <p:sldId id="463" r:id="rId16"/>
    <p:sldId id="464" r:id="rId17"/>
    <p:sldId id="465" r:id="rId18"/>
    <p:sldId id="466" r:id="rId19"/>
    <p:sldId id="467" r:id="rId20"/>
    <p:sldId id="468" r:id="rId21"/>
    <p:sldId id="469" r:id="rId22"/>
    <p:sldId id="470" r:id="rId23"/>
    <p:sldId id="322" r:id="rId24"/>
    <p:sldId id="323" r:id="rId25"/>
    <p:sldId id="324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为什么需要AI编译器？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内存墙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(Memory Wall)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危机：近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20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年来，硬件算力（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FLOPS</a:t>
            </a:r>
            <a:r>
              <a:rPr lang="en-US" sz="1200" b="0" i="0" u="none" strike="noStrike">
                <a:solidFill>
                  <a:srgbClr val="000000"/>
                </a:solidFill>
              </a:rPr>
              <a:t>）的增长速度远超内存带宽的增长，导致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AI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模型（特别是大模型推理）在执行时受限于内存读写而非计算能力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算子爆炸问题：深度学习框架中的算子数量呈指数级增长（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PyTorch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算子已达数千个），依靠硬件厂商（如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NVIDIA cuDNN</a:t>
            </a:r>
            <a:r>
              <a:rPr lang="en-US" sz="1200" b="0" i="0" u="none" strike="noStrike">
                <a:solidFill>
                  <a:srgbClr val="000000"/>
                </a:solidFill>
              </a:rPr>
              <a:t>）手工编写和优化每一个算子变得不再现实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传统框架的困境：动态图（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Eager Mode</a:t>
            </a:r>
            <a:r>
              <a:rPr lang="en-US" sz="1200" b="0" i="0" u="none" strike="noStrike">
                <a:solidFill>
                  <a:srgbClr val="000000"/>
                </a:solidFill>
              </a:rPr>
              <a:t>）易于调试但存在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Python </a:t>
            </a: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解释器开销大、难以进行全局图优化等性能瓶颈；静态图（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Graph Mode</a:t>
            </a:r>
            <a:r>
              <a:rPr lang="en-US" sz="1200" b="0" i="0" u="none" strike="noStrike">
                <a:solidFill>
                  <a:srgbClr val="000000"/>
                </a:solidFill>
              </a:rPr>
              <a:t>）性能高但缺乏灵活性</a:t>
            </a: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 userDrawn="1"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 userDrawn="1"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5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lagos-ai" TargetMode="External"/><Relationship Id="rId13" Type="http://schemas.openxmlformats.org/officeDocument/2006/relationships/image" Target="../media/image34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3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1.png"/><Relationship Id="rId11" Type="http://schemas.openxmlformats.org/officeDocument/2006/relationships/hyperlink" Target="https://flagos.io/Home" TargetMode="External"/><Relationship Id="rId5" Type="http://schemas.openxmlformats.org/officeDocument/2006/relationships/image" Target="../media/image30.png"/><Relationship Id="rId10" Type="http://schemas.openxmlformats.org/officeDocument/2006/relationships/hyperlink" Target="https://www.zhihu.com/people/95-22-20-18/posts" TargetMode="External"/><Relationship Id="rId4" Type="http://schemas.openxmlformats.org/officeDocument/2006/relationships/image" Target="../media/image29.png"/><Relationship Id="rId9" Type="http://schemas.openxmlformats.org/officeDocument/2006/relationships/hyperlink" Target="https://space.bilibili.com/3546791834290849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19: Overview of AI Compilers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 Wall Crisis and Idle Compute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Gholami, A., Yao, Z., Kim, S., Hooper, C., Mahoney, M. W., &amp; Keutzer, K. (2024). Ai and memory wall. IEEE Micro, 44(3), 33-39.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5867400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2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79400" indent="-2794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Imbalanced Hardware Development: 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Over the past 20  years, peak server compute has grown 3.0 x every two years, while DRAM  memory bandwidth has only grown 1.6 x.</a:t>
            </a:r>
          </a:p>
          <a:p>
            <a:pPr marL="279400" indent="-2794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Large Language Model (LLM)  Performance Bottleneck:  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 autoregressive decoding operations, arithmetic intensity is extremely low, GPU massive tensor cores are left data-starved.</a:t>
            </a:r>
          </a:p>
          <a:p>
            <a:pPr marL="279400" indent="-2794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Only Way Out:  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Cannot rely solely on arithmetic instructions; compiler-level scheduling is needed to merge multiple memory accesses and reduce intermediate activation tensor reads/writes toHBM 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62725" y="984250"/>
            <a:ext cx="5289550" cy="278765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64325" y="3601720"/>
            <a:ext cx="5196840" cy="27565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Operator Explosion and Hand-written Kernel Crisis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https://docs.google.com/spreadsheets/d/e/2PACX-1vQQFW0T_bucT5KZn0BHYTC1KYhkL6ZMG5ZxQWc6UmAkHUDYpqkpzXnsb59uv2TB0Jgc1Q6qO63bx6WQ/pubhtml#gid=1944851651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026785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>
            <a:lvl1pPr algn="l">
              <a:lnSpc>
                <a:spcPct val="100000"/>
              </a:lnSpc>
              <a:defRPr sz="23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92100" indent="-2921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3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Operator Scale is Massive: 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 PyTorch  framework, the number of core operators has exceeded 1200, including all overloads and variants reaching 3500+ </a:t>
            </a:r>
          </a:p>
          <a:p>
            <a:pPr marL="292100" indent="-2921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3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Enormous Implementation Matrix:  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Over a thousand operators 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×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multiple numeric types 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×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fragmented target hardware (GPU, TPU, NPU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  <a:p>
            <a:pPr marL="292100" indent="-2921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3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Unsustainable Manual Optimization:  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Relying on hardware vendor engineers to hand-write CUDA C++  kernels to cover all combinations is not practically feasible at engineering scale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002145" y="3614420"/>
            <a:ext cx="4799330" cy="2792730"/>
          </a:xfrm>
          <a:prstGeom prst="rect">
            <a:avLst/>
          </a:prstGeom>
          <a:ln w="12700">
            <a:noFill/>
            <a:prstDash val="solid"/>
          </a:ln>
        </p:spPr>
      </p:pic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6747170" y="1208012"/>
          <a:ext cx="5309235" cy="2209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116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OperatorCategory</a:t>
                      </a:r>
                      <a:endParaRPr lang="en-US" sz="1100"/>
                    </a:p>
                  </a:txBody>
                  <a:tcPr marL="152717" marR="152717" marT="101917" marB="101917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1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NumberofBaseOperators</a:t>
                      </a:r>
                      <a:endParaRPr lang="en-US" sz="1100"/>
                    </a:p>
                  </a:txBody>
                  <a:tcPr marL="152717" marR="152717" marT="101917" marB="101917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1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TensorIterator(Pointwise&amp;Reduction)</a:t>
                      </a:r>
                      <a:endParaRPr lang="en-US" sz="1100"/>
                    </a:p>
                  </a:txBody>
                  <a:tcPr marL="152717" marR="152717" marT="101917" marB="101917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D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505</a:t>
                      </a:r>
                      <a:endParaRPr lang="en-US" sz="1100"/>
                    </a:p>
                  </a:txBody>
                  <a:tcPr marL="152717" marR="152717" marT="101917" marB="101917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Fixed(Fixed-dimensionComputation)</a:t>
                      </a:r>
                      <a:endParaRPr lang="en-US" sz="1100"/>
                    </a:p>
                  </a:txBody>
                  <a:tcPr marL="152717" marR="152717" marT="101917" marB="101917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D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273</a:t>
                      </a:r>
                      <a:endParaRPr lang="en-US" sz="1100"/>
                    </a:p>
                  </a:txBody>
                  <a:tcPr marL="152717" marR="152717" marT="101917" marB="101917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Convolution(ConvolutionVariants)</a:t>
                      </a:r>
                      <a:endParaRPr lang="en-US" sz="1100"/>
                    </a:p>
                  </a:txBody>
                  <a:tcPr marL="152717" marR="152717" marT="101917" marB="101917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D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67</a:t>
                      </a:r>
                      <a:endParaRPr lang="en-US" sz="1100"/>
                    </a:p>
                  </a:txBody>
                  <a:tcPr marL="152717" marR="152717" marT="101917" marB="101917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Pooling/BatchNorm</a:t>
                      </a:r>
                      <a:endParaRPr lang="en-US" sz="1100"/>
                    </a:p>
                  </a:txBody>
                  <a:tcPr marL="152717" marR="152717" marT="101917" marB="101917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D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57</a:t>
                      </a:r>
                      <a:endParaRPr lang="en-US" sz="1100"/>
                    </a:p>
                  </a:txBody>
                  <a:tcPr marL="152717" marR="152717" marT="101917" marB="101917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Private/Foreach</a:t>
                      </a:r>
                      <a:endParaRPr lang="en-US" sz="1100"/>
                    </a:p>
                  </a:txBody>
                  <a:tcPr marL="152717" marR="152717" marT="101917" marB="101917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D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233</a:t>
                      </a:r>
                      <a:endParaRPr lang="en-US" sz="1100"/>
                    </a:p>
                  </a:txBody>
                  <a:tcPr marL="152717" marR="152717" marT="101917" marB="101917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Dilemma of Traditional Frameworks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https://docs.pytorch.org/assets/pytorch2-2.pdf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7620635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22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79400" indent="-2794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Eager Mode Performance Bottleneck: </a:t>
            </a:r>
          </a:p>
          <a:p>
            <a:pPr marL="571500" lvl="1" indent="-2286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Highly flexible and easy to debug, but each operator call must traverse the massive Python  interpreter overhead; the framework can only see a single operator, losing the ability for global graph optimization (e.g., operator fusion).</a:t>
            </a:r>
          </a:p>
          <a:p>
            <a:pPr marL="279400" indent="-2794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Graph Mode Lacks Flexibility:  </a:t>
            </a:r>
          </a:p>
          <a:p>
            <a:pPr marL="571500" lvl="1" indent="-2286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 eliminate interpreter overhead, users must sacrifice Python  native control flow, even requiring code rewrites.</a:t>
            </a:r>
          </a:p>
          <a:p>
            <a:pPr marL="279400" indent="-2794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Recompilation Problem:  </a:t>
            </a:r>
          </a:p>
          <a:p>
            <a:pPr marL="571500" lvl="1" indent="-228600" algn="l">
              <a:lnSpc>
                <a:spcPct val="150000"/>
              </a:lnSpc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Early static tracing systems easily trigger repeated recompilation when facing dynamic shapes, negating the benefits of low-level optimizations.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386416" y="2187233"/>
            <a:ext cx="3630654" cy="291114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 Model Development Facing Crises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22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79400" indent="-279400" algn="l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Shift of the Core Contradiction in Computing:  </a:t>
            </a:r>
          </a:p>
          <a:p>
            <a:pPr marL="571500" lvl="1" indent="-228600" algn="l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As large model parameters scale beyond trillions, the bottleneck shifts from pure algorithm design to the gap between hardware physical limits and software framework abstractions.</a:t>
            </a:r>
          </a:p>
          <a:p>
            <a:pPr marL="279400" indent="-279400" algn="l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Three Intertwined Underlying Crises:  </a:t>
            </a:r>
          </a:p>
          <a:p>
            <a:pPr marL="571500" lvl="1" indent="-228600" algn="l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Deep learning systems currently face "Memory Wal" problem, "Operator Explosion" problem, and the traditional execution mode dilemma between eager and graph modes problem.</a:t>
            </a:r>
          </a:p>
          <a:p>
            <a:pPr marL="279400" indent="-279400" algn="l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 The Rise of Compilers:  </a:t>
            </a:r>
          </a:p>
          <a:p>
            <a:pPr marL="571500" lvl="1" indent="-228600" algn="l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 Compiler technology has evolved from early graph optimization auxiliary tools into the core infrastructure that dominates computation graph capture, hardware scheduling, and machine code generation.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TensorFlow Introduction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参考自：《智能计算系统》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8006715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22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79400" indent="-2794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Multiple Language Bindings</a:t>
            </a:r>
          </a:p>
          <a:p>
            <a:pPr marL="279400" indent="-2794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C/C++  Interface</a:t>
            </a:r>
          </a:p>
          <a:p>
            <a:pPr marL="279400" indent="-2794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TensorFlowBackend</a:t>
            </a:r>
          </a:p>
          <a:p>
            <a:pPr marL="571500" lvl="1" indent="-2286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Runtime, Framework, Computation Graph, Graph Optimization, Compute Kernels, Compute Nodes</a:t>
            </a:r>
          </a:p>
          <a:p>
            <a:pPr marL="279400" indent="-2794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Different underlying hardwareOpKernel have different implementations</a:t>
            </a:r>
          </a:p>
          <a:p>
            <a:pPr marL="571500" lvl="1" indent="-2286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CPU, GPU, Deep Learning Processor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b="6188"/>
          <a:stretch>
            <a:fillRect/>
          </a:stretch>
        </p:blipFill>
        <p:spPr>
          <a:xfrm>
            <a:off x="8552180" y="1049020"/>
            <a:ext cx="3249295" cy="4902022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TensorFlow XLA Overview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https://openxla.org/xla/architecture?hl=zh-cn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490335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33000"/>
              </a:lnSpc>
              <a:defRPr sz="22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79400" indent="-279400" algn="l">
              <a:lnSpc>
                <a:spcPct val="133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Objective:  </a:t>
            </a:r>
          </a:p>
          <a:p>
            <a:pPr marL="571500" lvl="1" indent="-228600" algn="l">
              <a:lnSpc>
                <a:spcPct val="13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Targeting TPU/GPU  and other hardware platforms, performing extreme low-level hardware graph fusion on highly regular static computation graphs .</a:t>
            </a:r>
          </a:p>
          <a:p>
            <a:pPr marL="279400" indent="-279400" algn="l">
              <a:lnSpc>
                <a:spcPct val="133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UnifiedFrontend-Backend Ecosystem: </a:t>
            </a:r>
          </a:p>
          <a:p>
            <a:pPr marL="571500" lvl="1" indent="-228600" algn="l">
              <a:lnSpc>
                <a:spcPct val="13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Aiming to provide PyTorch, JAX  and TensorFlow  with a unified high-performance backend featuring portability.</a:t>
            </a:r>
          </a:p>
          <a:p>
            <a:pPr marL="279400" indent="-279400" algn="l">
              <a:lnSpc>
                <a:spcPct val="133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DesignGoals: </a:t>
            </a:r>
          </a:p>
          <a:p>
            <a:pPr marL="571500" lvl="1" indent="-228600" algn="l">
              <a:lnSpc>
                <a:spcPct val="13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Breaking free from frontend framework syntax constraints, building high-level graph abstractions to achieve mathematical semantic fidelity and global optimization.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030131" y="3527425"/>
            <a:ext cx="4771344" cy="2550556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030081" y="1377315"/>
            <a:ext cx="4772664" cy="190681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Multi-level IR Architecture and Graph Transformation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413501"/>
            <a:ext cx="11277601" cy="36512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https://hku-systems.github.io/events/iscas2021/1-2-Hongbin%20Zhang%20MLIR.pdf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279525"/>
            <a:ext cx="6591300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8000"/>
              </a:lnSpc>
              <a:defRPr sz="22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79400" indent="-2794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Hierarchical Lowering Mechanism:  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StableHLO (Cross-framework Protocol Layer) --&gt; HLO (High-Level Optimizer Internal Representation) --&gt; LLVM IR --&gt;  low-level machine code.</a:t>
            </a:r>
          </a:p>
          <a:p>
            <a:pPr marL="279400" indent="-2794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Hardware-Independent High-Level Graph Optimization:  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Performing algebraic simplification (Algebraic Simplifier, e.g., division to reciprocal multiplication), dead code elimination (CSE)  etc..</a:t>
            </a:r>
          </a:p>
          <a:p>
            <a:pPr marL="279400" indent="-2794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HloRematerialization: 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Trading compute time for GPU memory space, proactively discarding inexpensive intermediate tensors and recomputing when needed, reducing peak GPU memory consumption for large models.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312578" y="2189526"/>
            <a:ext cx="4683705" cy="2671572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Optimization Technique: Operator Fusion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https://openxla.org/xla/gpu_architecture?hl=zh-cn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478905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50000"/>
              </a:lnSpc>
              <a:defRPr sz="22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79400" indent="-279400" algn="l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XLA  can merge multiple HLO  instructions and compile them into a single GPU Kernel,  reducing kernel launch overhead.</a:t>
            </a:r>
          </a:p>
          <a:p>
            <a:pPr marL="279400" indent="-279400" algn="l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inFusion Computation, intermediate temporary tensors typically do not need to be written back to off-chipHBM.</a:t>
            </a:r>
          </a:p>
          <a:p>
            <a:pPr marL="279400" indent="-279400" algn="l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 flows only within the GPU  extremely fast registers or shared memory, bypassing memory access limitations.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300595" y="1210310"/>
            <a:ext cx="4500880" cy="539496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XLA Optimization Pipeline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8000"/>
              </a:lnSpc>
              <a:defRPr sz="22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79400" indent="-2794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HLO  Fusion Analysis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kLoop (Loop Fusion):  For element-wise operations with identical output shapes, chaining pure mathematical mappings per element and dispatching to parallel thread grids .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kInput (Input Fusion):  Allows reduction operators that significantly reshape data (Reduction)  to pull upstream input operators for merging, mandating the reduction output as the computation endpoint .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kOutput (Output Fusion):  Specifically for merging high compute-density matrix multiplication operations with subsequent operators, maximizing cache utilization .</a:t>
            </a:r>
          </a:p>
          <a:p>
            <a:pPr marL="279400" indent="-2794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Hero Op  Emitter Mechanism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compiler identifies the instruction with the greatest global performance impact and strictest scheduling requirements as the Hero Op</a:t>
            </a: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, which dominates the code generation strategy for the entire fused body.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After emitter processing, it is converted to low-level LLVM IR, , and micro-architecture optimizations are performed based on specific hardware ISAs, including instruction pipeline scheduling and vectorization, ultimately generating executable PTX  assembly or SPIR-V  binary code 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Using XLA to Accelerate TensorFlow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XLA: TensorFlow, Compiled!, TensorFlow Dev Summit 2017.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pic>
        <p:nvPicPr>
          <p:cNvPr id="5" name="Picture 5"/>
          <p:cNvPicPr>
            <a:picLocks noGrp="1" noChangeAspect="1"/>
          </p:cNvPicPr>
          <p:nvPr>
            <p:ph type="body" sz="quarter" idx="9"/>
          </p:nvPr>
        </p:nvPicPr>
        <p:blipFill>
          <a:blip r:embed="rId2"/>
          <a:srcRect/>
          <a:stretch>
            <a:fillRect/>
          </a:stretch>
        </p:blipFill>
        <p:spPr>
          <a:xfrm>
            <a:off x="265430" y="1381125"/>
            <a:ext cx="6638290" cy="3310255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068185" y="1381125"/>
            <a:ext cx="5123815" cy="229108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 of optimizations using Tensorflow XLA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Li, Mingzhen, et al. "The deep learning compiler: A comprehensive survey." IEEE Transactions on Parallel and Distributed Systems 32.3 (2020): 708-727.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pic>
        <p:nvPicPr>
          <p:cNvPr id="5" name="Picture 5"/>
          <p:cNvPicPr>
            <a:picLocks noGrp="1" noChangeAspect="1"/>
          </p:cNvPicPr>
          <p:nvPr>
            <p:ph type="body" sz="quarter" idx="9"/>
          </p:nvPr>
        </p:nvPicPr>
        <p:blipFill>
          <a:blip r:embed="rId2"/>
          <a:srcRect/>
          <a:stretch>
            <a:fillRect/>
          </a:stretch>
        </p:blipFill>
        <p:spPr>
          <a:xfrm>
            <a:off x="1514236" y="1407198"/>
            <a:ext cx="9296878" cy="46865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Apache TVM Overview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Chen, T., Moreau, T., Jiang, Z., Zheng, L., Yan, E., Shen, H., ... &amp; Krishnamurthy, A. (2018). {TVM}: An automated {End-to-End} optimizing compiler for deep learning. In 13th USENIX symposium on operating systems design and implementation (OSDI 18) (pp. 578-594).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579235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22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79400" indent="-2794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Addressing Full-Spectrum Hardware Fragmentation:  </a:t>
            </a:r>
          </a:p>
          <a:p>
            <a:pPr marL="571500" lvl="1" indent="-2286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XLA  which targets cloud-scale clusters, TVM  is committed to bridging the gap between CPU, ARM, GPU  and various heterogeneous edge NPU  architecture barriers.</a:t>
            </a:r>
          </a:p>
          <a:p>
            <a:pPr marL="279400" indent="-2794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Write once, run anywhere: </a:t>
            </a:r>
          </a:p>
          <a:p>
            <a:pPr marL="571500" lvl="1" indent="-2286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Providing a unified compiler frontend framework, achieving seamless cross-platform high-performance deployment through hardware-specialized code generation.</a:t>
            </a:r>
          </a:p>
          <a:p>
            <a:pPr marL="279400" indent="-2794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Scheduling NP -Hard Challenge:  </a:t>
            </a:r>
          </a:p>
          <a:p>
            <a:pPr marL="571500" lvl="1" indent="-2286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Any tensor operation on specific hardware has nearly infinite loop unrolling and tiling strategy combinations, making it impossible to exhaustively find the optimal solution.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261860" y="1430020"/>
            <a:ext cx="4539615" cy="464375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TVM Multi-level IR  Architecture System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433185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2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79400" indent="-2794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High-level  Relay IR: 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Incorporating functional programming paradigms, managing coarse-grained dead code elimination, high-order operator fusion, and complex control flow graph optimization.</a:t>
            </a:r>
          </a:p>
          <a:p>
            <a:pPr marL="279400" indent="-2794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Low-level  TIR (Tensor IR): 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Abandoning graph-layer concepts, translating operations into microscopic low-level nested loop structures, with fine-grained register and instruction mapping management .</a:t>
            </a:r>
          </a:p>
          <a:p>
            <a:pPr marL="279400" indent="-2794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TVM Unity and Relax Architecture:  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next-generation system introduces symbolic shapes and allows high-level graph derivation and low-level loop primitives to coexist in the same module, enabling cross-level joint optimization.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957367" y="1323975"/>
            <a:ext cx="5079058" cy="346288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TVM  Automated Scheduling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Zheng, Lianmin, et al. "Ansor: Generating {High-Performance} tensor programs for deep learning." 14th USENIX symposium on operating systems design and implementation (OSDI 20). 2020.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83000"/>
              </a:lnSpc>
              <a:defRPr sz="22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79400" indent="-279400" algn="l">
              <a:lnSpc>
                <a:spcPct val="83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AutoTVM: </a:t>
            </a:r>
          </a:p>
          <a:p>
            <a:pPr marL="571500" lvl="1" indent="-228600" algn="l">
              <a:lnSpc>
                <a:spcPct val="8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Highly dependent on top hardware experts hand-writing scheduling templates; when encountering undefined new operators, development cost is very high.</a:t>
            </a:r>
          </a:p>
          <a:p>
            <a:pPr marL="279400" indent="-279400" algn="l">
              <a:lnSpc>
                <a:spcPct val="83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Ansor (AutoScheduler) Architecture:  </a:t>
            </a:r>
          </a:p>
          <a:p>
            <a:pPr marL="571500" lvl="1" indent="-228600" algn="l">
              <a:lnSpc>
                <a:spcPct val="83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Abandoning manual templates, automatically generating operator loop architecture frameworks from fundamental mathematical expression derivation rules.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127416" y="3287171"/>
            <a:ext cx="8070535" cy="306922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Ansor Hierarchical Search Space Construction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Zheng, Lianmin, et al. "Ansor: Generating {High-Performance} tensor programs for deep learning." 14th USENIX symposium on operating systems design and implementation (OSDI 20). 2020.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076950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28600" indent="-2286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Sketch Generation: Ansor Constructing the program's macro-level skeleton by reverse topological traversal of the computation graph, recursively applying derivation rules.</a:t>
            </a:r>
          </a:p>
          <a:p>
            <a:pPr marL="228600" indent="-2286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Annotation Sampling: Building on sketches, Ansor performing random sampling in the annotation space to determine specific tile sizes, parallelization boundaries, loop unrolling limits, and other low-level configurations.</a:t>
            </a:r>
          </a:p>
          <a:p>
            <a:pPr marL="228600" indent="-2286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Introducing a machine learning GBDT  cost model to rapidly predict and evaluate hardware throughput for scheduling strategies.</a:t>
            </a:r>
          </a:p>
          <a:p>
            <a:pPr marL="228600" indent="-2286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Employing evolutionary search algorithms: GBDT  filters the Top-K  Scheduling candidates and dispatches them to target hardware for actual benchmarking. Measured data is then used to fine-tune the GBDT  model, progressively adapting it to the target hardware.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02120" y="1385570"/>
            <a:ext cx="4895850" cy="424815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2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Examples of generated sketches and sampled programs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Zheng, Lianmin, et al. "Ansor: Generating {High-Performance} tensor programs for deep learning." 14th USENIX symposium on operating systems design and implementation (OSDI 20). 2020.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pic>
        <p:nvPicPr>
          <p:cNvPr id="5" name="Picture 5"/>
          <p:cNvPicPr>
            <a:picLocks noGrp="1" noChangeAspect="1"/>
          </p:cNvPicPr>
          <p:nvPr>
            <p:ph type="body" sz="quarter" idx="9"/>
          </p:nvPr>
        </p:nvPicPr>
        <p:blipFill>
          <a:blip r:embed="rId2"/>
          <a:srcRect/>
          <a:stretch>
            <a:fillRect/>
          </a:stretch>
        </p:blipFill>
        <p:spPr>
          <a:xfrm>
            <a:off x="813103" y="1362075"/>
            <a:ext cx="6444643" cy="48529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TorchDynamo Overview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Ansel, Jason, et al. "Pytorch 2: Faster machine learning through dynamic python bytecode transformation and graph compilation." Proceedings of the 29th ACM international conference on architectural support for programming languages and operating systems, volume 2. 2024.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Eager  Mode Pros and Cons: 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PyTorch   define-by-run  mechanism is highly flexible and well-loved by researchers . However, the framework can only see one operator at a time, making cross-operator graph-level optimization (e.g., operator fusion, memory scheduling) difficult.</a:t>
            </a:r>
          </a:p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Compromises of Previous Approaches: 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TorchScript: Attempts static parsing of Python AST, facing“all-or-nothing” dilemma, easily failing because it doesn't support complete Python  semantics .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Lazy Tensors: High runtime overhead, delaying low-level kernel launch and causing frequent recompilation .</a:t>
            </a:r>
          </a:p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TorchDynamo  Core Motivation: 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As a Python -level Just-In-Time compiler, the goal is to achieve Python graph compilation without sacrificing any PyTorch flexibility 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87360" y="2263140"/>
            <a:ext cx="3735705" cy="297434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TorchDynamo Example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https://chips-compilers-mlsys-22.github.io/assets/slides/PyTorch%20Compilers%20(Compiler%20&amp;%20Chips%20Symposium%202022).pdf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pic>
        <p:nvPicPr>
          <p:cNvPr id="5" name="Picture 5"/>
          <p:cNvPicPr>
            <a:picLocks noGrp="1" noChangeAspect="1"/>
          </p:cNvPicPr>
          <p:nvPr>
            <p:ph type="body" sz="quarter" idx="9"/>
          </p:nvPr>
        </p:nvPicPr>
        <p:blipFill>
          <a:blip r:embed="rId2"/>
          <a:srcRect/>
          <a:stretch>
            <a:fillRect/>
          </a:stretch>
        </p:blipFill>
        <p:spPr>
          <a:xfrm>
            <a:off x="1566459" y="1323975"/>
            <a:ext cx="9192432" cy="48529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Frame Evaluation Bytecode Transformation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Ansel, Jason, et al. "Pytorch 2: Faster machine learning through dynamic python bytecode transformation and graph compilation." Proceedings of the 29th ACM international conference on architectural support for programming languages and operating systems, volume 2. 2024.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604635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17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PEP 523 Extension Point: </a:t>
            </a:r>
          </a:p>
          <a:p>
            <a:pPr marL="571500" lvl="1" indent="-2286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TorchDynamo  delves deep into CPython  internals, leveraging the PEP 523 -introduced frame evaluation API eval_frame .</a:t>
            </a:r>
          </a:p>
          <a:p>
            <a:pPr marL="254000" indent="-2540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DynamicInterpretation and Rewriting: </a:t>
            </a:r>
          </a:p>
          <a:p>
            <a:pPr marL="571500" lvl="1" indent="-2286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 CPython  to create PyFrameObject , TorchDynamo  replaces the default interpreter loop, instead performing JIT compilation on the Python  bytecode about to be executed JIT  compilation .</a:t>
            </a:r>
          </a:p>
          <a:p>
            <a:pPr marL="254000" indent="-2540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FX Graph Extraction: </a:t>
            </a:r>
          </a:p>
          <a:p>
            <a:pPr marL="571500" lvl="1" indent="-2286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By rewriting bytecode,  PyTorch operation sequences are extracted as backend input (FX Graph).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335520" y="1250950"/>
            <a:ext cx="4066540" cy="263715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335520" y="3608070"/>
            <a:ext cx="4126865" cy="256921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1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306" r="230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2021</Words>
  <Application>Microsoft Office PowerPoint</Application>
  <PresentationFormat>宽屏</PresentationFormat>
  <Paragraphs>166</Paragraphs>
  <Slides>24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Noto Sans SC</vt:lpstr>
      <vt:lpstr>Pretendard</vt:lpstr>
      <vt:lpstr>等线</vt:lpstr>
      <vt:lpstr>微软雅黑</vt:lpstr>
      <vt:lpstr>Arial</vt:lpstr>
      <vt:lpstr>Calibri</vt:lpstr>
      <vt:lpstr>Calibri Light</vt:lpstr>
      <vt:lpstr>Garamond</vt:lpstr>
      <vt:lpstr>Montserrat SemiBold</vt:lpstr>
      <vt:lpstr>Office 主题​​</vt:lpstr>
      <vt:lpstr>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Xiang Li</cp:lastModifiedBy>
  <cp:revision>13</cp:revision>
  <dcterms:created xsi:type="dcterms:W3CDTF">2026-04-17T05:07:00Z</dcterms:created>
  <dcterms:modified xsi:type="dcterms:W3CDTF">2026-05-27T10:18:02Z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C79E56846FEAA2CF55BFE1693E6D39DC_42</vt:lpwstr>
  </property>
  <property fmtid="{D5CDD505-2E9C-101B-9397-08002B2CF9AE}" pid="3" name="KSOProductBuildVer">
    <vt:lpwstr>2052-12.1.0.21915</vt:lpwstr>
  </property>
</Properties>
</file>