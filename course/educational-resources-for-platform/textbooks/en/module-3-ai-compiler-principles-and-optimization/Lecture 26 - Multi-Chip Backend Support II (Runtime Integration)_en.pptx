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5"/>
  </p:notesMasterIdLst>
  <p:handoutMasterIdLst>
    <p:handoutMasterId r:id="rId26"/>
  </p:handoutMasterIdLst>
  <p:sldIdLst>
    <p:sldId id="256" r:id="rId3"/>
    <p:sldId id="582" r:id="rId4"/>
    <p:sldId id="583" r:id="rId5"/>
    <p:sldId id="584" r:id="rId6"/>
    <p:sldId id="585" r:id="rId7"/>
    <p:sldId id="586" r:id="rId8"/>
    <p:sldId id="587" r:id="rId9"/>
    <p:sldId id="588" r:id="rId10"/>
    <p:sldId id="589" r:id="rId11"/>
    <p:sldId id="590" r:id="rId12"/>
    <p:sldId id="591" r:id="rId13"/>
    <p:sldId id="592" r:id="rId14"/>
    <p:sldId id="593" r:id="rId15"/>
    <p:sldId id="594" r:id="rId16"/>
    <p:sldId id="595" r:id="rId17"/>
    <p:sldId id="596" r:id="rId18"/>
    <p:sldId id="597" r:id="rId19"/>
    <p:sldId id="598" r:id="rId20"/>
    <p:sldId id="599" r:id="rId21"/>
    <p:sldId id="322" r:id="rId22"/>
    <p:sldId id="323" r:id="rId23"/>
    <p:sldId id="324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24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3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1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20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19.png"/><Relationship Id="rId9" Type="http://schemas.openxmlformats.org/officeDocument/2006/relationships/hyperlink" Target="https://space.bilibili.com/3546791834290849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4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4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26: Multi-Chip Backend Support II </a:t>
            </a:r>
            <a:br>
              <a:rPr lang="en-US" sz="4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4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(Runtime Integration)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Runtime Multi-Backend Support Layer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https://github.com/flagos-ai/KernelGen/blob/main/AtenOperator.md, visualized by Claucd Sonnet 4.6 Extended.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198235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8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28600" indent="-2286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Necessity</a:t>
            </a:r>
          </a:p>
          <a:p>
            <a:pPr marL="546100" lvl="1" indent="-2032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Taking PyTorch  as an example, the native framework contains over 2600  low-level operators .</a:t>
            </a:r>
          </a:p>
          <a:p>
            <a:pPr marL="546100" lvl="1" indent="-2032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 hardware vendors to integrate, the traditional approach requires writing C++  backend implementations one by one and modifying the framework's core code.</a:t>
            </a:r>
          </a:p>
          <a:p>
            <a:pPr marL="546100" lvl="1" indent="-2032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ecosystem is severely fragmented, and the cost of compute migration is extremely high.</a:t>
            </a:r>
          </a:p>
          <a:p>
            <a:pPr marL="228600" indent="-2286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FlagTree/FlagGems Solution Approach</a:t>
            </a:r>
          </a:p>
          <a:p>
            <a:pPr marL="546100" lvl="1" indent="-2032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Decouple compile-time and runtime through a unified Runtime 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904355" y="1457960"/>
            <a:ext cx="4897755" cy="4396105"/>
            <a:chOff x="6904355" y="1457960"/>
            <a:chExt cx="4897755" cy="4396105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6904355" y="1457960"/>
              <a:ext cx="4896485" cy="3451225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6904355" y="4909185"/>
              <a:ext cx="4897755" cy="94488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Runtime System Responsibility Boundaries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https://www.techtarget.com/searchsoftwarequality/definition/runtime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913880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8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Device Management: Initialization and state maintenance of hardware contexts.</a:t>
            </a: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Scheduling: Managing the allocation and deallocation of device memory.</a:t>
            </a: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Transfer: Host-to-Device (H2D) and Device-to-Host (D2H) data movement.</a:t>
            </a: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Instruction Dispatch: 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Distributing compiled kernel binaries to the correct physical devices and synchronizing execution streams.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Providing a highly abstracted layer of API  Wrapping, shielding the vast differences in low-level driver API s across different hardware vendors.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 l="10167" t="22724" r="10191" b="12148"/>
          <a:stretch>
            <a:fillRect/>
          </a:stretch>
        </p:blipFill>
        <p:spPr>
          <a:xfrm>
            <a:off x="7439660" y="1630045"/>
            <a:ext cx="4361815" cy="359791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API Wrapping Paradigm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https://github.com/pytorch/pytorch/issues/139602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356985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8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28600" indent="-2286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Case Study: FlagGems's ATen  Transparent Interception</a:t>
            </a:r>
          </a:p>
          <a:p>
            <a:pPr marL="546100" lvl="1" indent="-2032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Design Philosophy: Avoid modifying users' existing model code; expose a fully consistent API.</a:t>
            </a:r>
          </a:p>
          <a:p>
            <a:pPr marL="546100" lvl="1" indent="-2032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Out-of-Tree Registration Mechanism: FlagGems  leverages torch.Library  and other low-level API  for out-of-tree (Out-of-tree) extension .</a:t>
            </a:r>
          </a:p>
          <a:p>
            <a:pPr marL="546100" lvl="1" indent="-2032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Interception Workflow:  Intercept native ATen  operator calls -&gt;  Provide backend-specific Triton  implementation -&gt;  Forcibly override native behavior .</a:t>
            </a:r>
          </a:p>
          <a:p>
            <a:pPr marL="546100" lvl="1" indent="-2032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Enable seamless compute migration for model developers, without modifying any existing code.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035800" y="803275"/>
            <a:ext cx="4662170" cy="555307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ReducingOverhead:Runtime Optimization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236335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Problem:  Frequent Python API  calls and Just-In-Time compilation (JIT) introduce significant runtime overhead.</a:t>
            </a:r>
          </a:p>
          <a:p>
            <a:pPr marL="254000" indent="-2540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Solution: Introduce LibEntry  runtime wrapper.</a:t>
            </a:r>
          </a:p>
          <a:p>
            <a:pPr marL="254000" indent="-2540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Advantages:  Eliminate Python GIL  contention.</a:t>
            </a:r>
          </a:p>
          <a:p>
            <a:pPr marL="254000" indent="-2540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Fully offload operator wrapping logic, registration mechanisms, and execution stream management to the C++  layer, deeply integrating CUDA/low-level driver workflows 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17055" y="1624330"/>
            <a:ext cx="4820285" cy="39630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Environment Variable-Driven Backend Routing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https://github.com/flagos-ai/FlagGems/blob/master/docs/how_to_use_flaggems.md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8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FlagTree  compiler and FlagGems  operator library integrate over 10  hardware platforms: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NVIDIA GPU, Kunlunxin (Kunlunxin), Iluvatar (Iluvatar), MetaX (MetaX), Moore Threads (MThreads), Huawei Ascend (Ascend), and Tsingmicro (Tsingmicro) and other.</a:t>
            </a: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Lazy Loading Lazy Loading backend support:</a:t>
            </a:r>
          </a:p>
          <a:p>
            <a:pPr marL="571500" lvl="1" indent="-228600" algn="l">
              <a:lnSpc>
                <a:spcPct val="108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user interface is unified as </a:t>
            </a:r>
            <a:r>
              <a:rPr lang="en-US" sz="1800" b="0" i="0" u="none" strike="noStrike">
                <a:solidFill>
                  <a:srgbClr val="40404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import flag_gems; flag_gems.enable()</a:t>
            </a: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.</a:t>
            </a: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Auto-detection and Manual Override:  The system attempts to automatically detect hardware; if it fails, it relies on environment variables .</a:t>
            </a: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Routing Switch:  Use export GEMS_VENDOR=&lt;vendor_name&gt;  to forcibly specify the dispatch target (e.g., nvidia, tsingmicro).</a:t>
            </a:r>
          </a:p>
          <a:p>
            <a:pPr marL="254000" indent="-254000" algn="l">
              <a:lnSpc>
                <a:spcPct val="108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Ensure strict isolation of multi-branch physical files to reduce code conflicts.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FlagGems Hardware Specialization Priority Dispatch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https://github.com/flagos-ai/FlagGems/blob/master/src/flag_gems/runtime/backend/_tsingmicro/heuristics_config_utils.py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674485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42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4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Generic MLIR  lowering code is functionally correct but may not achieve the specific hardware's optimal performance.</a:t>
            </a:r>
          </a:p>
          <a:p>
            <a:pPr marL="254000" indent="-254000" algn="l">
              <a:lnSpc>
                <a:spcPct val="14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Specialization Dispatch Logic:  Before dispatch, the system first checks whether vendor-optimized versions exist under backend/&lt;vendor&gt;/ops/  or fused/  .</a:t>
            </a:r>
          </a:p>
          <a:p>
            <a:pPr marL="254000" indent="-254000" algn="l">
              <a:lnSpc>
                <a:spcPct val="14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If a specialized version exists, the generic cross-platform logic is short-circuited (Short-circuit), routing directly to the specialized code.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408545" y="1487170"/>
            <a:ext cx="4300855" cy="452628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Case Analysis: Tsingmicro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https://docs.pytorch.org/docs/stable/generated/torch.nn.CrossEntropyLoss.html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521450" cy="4853305"/>
          </a:xfrm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Cross-Entropy is central to LLM training.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Mathematical Expansion: 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Hidden state projection to compute Logits -&gt; Softmax  normalization extraction -&gt;  negative log-likelihood evaluation.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Modern LLM  have large vocabulary sizes (32K-128K), making intermediate variable matrices grow significantly.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Default Execution:Replaceintermediate variable matrices back to HBM, and reload them for the next computation..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Memory access becomes a bottleneck,significant waste of compute resources.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41540" y="1627505"/>
            <a:ext cx="4402455" cy="427799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Case Analysis: Tsingmicro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Code Location: src/flag_gems/runtime/backend/_tsingmicro/fused/cross_entropy_loss.py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Online Log-Sum-Exp  Algorithm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Tsingmicro implements a specialized fused linear cross-entropy Triton  kernel.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Avoid materializing intermediate Logits  tensor materialization, leverages SRAM  to perform efficient Online LSE.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Optimize with Tsingmicro chip-specific shared memory management instructions and warp (Warp) synchronization strategies for optimization.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892935" y="3429000"/>
            <a:ext cx="2995930" cy="274828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374005" y="3429000"/>
            <a:ext cx="5142865" cy="274764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Case Analysis: Tsingmicro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https://docs.flagos.io/en/latest/overview.html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System-Level Significance of Specialization Priority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An advanced Runtime  integration mechanism is essentially a router that intelligently balances generality and specialization.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FlagTree  is responsible for generic graph lowering and code generation (generalization).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FlagGems 's Backend  folder provides a Short-circuit (specialization).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166745" y="3155315"/>
            <a:ext cx="5858510" cy="302196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3010535" y="4478020"/>
            <a:ext cx="1993265" cy="1699260"/>
          </a:xfrm>
          <a:prstGeom prst="rect">
            <a:avLst/>
          </a:prstGeom>
          <a:noFill/>
          <a:ln w="38100" cap="flat">
            <a:solidFill>
              <a:srgbClr val="8B0012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Lab: Adding a New Hardware Backend to FlagTree 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https://github.com/flagos-ai/FlagTree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418580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Lab Description: New Chip NeuroX  Integration Plan</a:t>
            </a:r>
          </a:p>
          <a:p>
            <a:pPr marL="571500" lvl="1" indent="-2286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Lab Objective:  Learn how to use FlagGems  plugin mechanism to add Runtime backend support for a fictional new AI  chip NeuroX  and add Runtime  backend support.</a:t>
            </a:r>
          </a:p>
          <a:p>
            <a:pPr marL="571500" lvl="1" indent="-2286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Applicable Scenario:  Simulate the real engineering process of a chip vendor integrating into a unified large model infrastructure.</a:t>
            </a:r>
          </a:p>
          <a:p>
            <a:pPr marL="571500" lvl="1" indent="-2286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Requirements:  Follow unified API  wrapping and enable independent maintenance.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55155" y="1932305"/>
            <a:ext cx="4956175" cy="424497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Lab Phase 1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1">
                <a:solidFill>
                  <a:srgbClr val="262626"/>
                </a:solidFill>
                <a:ea typeface="Calibri" panose="020F0502020204030204"/>
                <a:cs typeface="Calibri" panose="020F0502020204030204"/>
                <a:sym typeface="Calibri" panose="020F0502020204030204"/>
              </a:rPr>
              <a:t>Low-Level Compilation Support and Build Environment Initialization</a:t>
            </a:r>
            <a:endParaRPr lang="en-US" sz="2000" b="1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Confirm that the underlying FlagTree  compiler has merged the target chip's branch.</a:t>
            </a:r>
          </a:p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Set host environment variables to force routing directives to the detection mechanism: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export FLAGTREE_BACKEND=neurox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export GEMS_VENDOR=neurox </a:t>
            </a:r>
          </a:p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Execute in the source root directory: </a:t>
            </a:r>
            <a:r>
              <a:rPr lang="en-US" sz="2000" b="0" i="0" u="none" strike="noStrike">
                <a:solidFill>
                  <a:srgbClr val="404040"/>
                </a:solidFill>
                <a:latin typeface="Courier New Regular" panose="02070409020205090404"/>
                <a:ea typeface="Courier New Regular" panose="02070409020205090404"/>
                <a:cs typeface="Courier New Regular" panose="02070409020205090404"/>
                <a:sym typeface="Courier New Regular" panose="02070409020205090404"/>
              </a:rPr>
              <a:t>pip install --no-build-isolation -e.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Lab Phase 2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17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1">
                <a:solidFill>
                  <a:srgbClr val="262626"/>
                </a:solidFill>
                <a:ea typeface="Calibri" panose="020F0502020204030204"/>
                <a:cs typeface="Calibri" panose="020F0502020204030204"/>
                <a:sym typeface="Calibri" panose="020F0502020204030204"/>
              </a:rPr>
              <a:t>Building the Hardware Plugin Directory Architecture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Under src/flag_gems/runtime/backend/ , strictly create an independent namespace _neurox .</a:t>
            </a:r>
          </a:p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Directory structure breakdown: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__init__.py: Registration binding layer.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device.py: Driver wrapping layer.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ops/  and fused/: Specialized primitive operators and composite optimized operators .</a:t>
            </a:r>
          </a:p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Achieve separation of concerns at the physical code level.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Lab Phase 3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1">
                <a:solidFill>
                  <a:srgbClr val="262626"/>
                </a:solidFill>
                <a:ea typeface="Calibri" panose="020F0502020204030204"/>
                <a:cs typeface="Calibri" panose="020F0502020204030204"/>
                <a:sym typeface="Calibri" panose="020F0502020204030204"/>
              </a:rPr>
              <a:t>Device Abstraction Layer (Device API)  Wrapping</a:t>
            </a:r>
            <a:endParaRPr lang="en-US" sz="2000" b="0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Implement the _neurox/device.py  file.</a:t>
            </a:r>
          </a:p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Follow the system-specified Backend  interface abstraction contract.</a:t>
            </a:r>
          </a:p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Specific Implementation: Obtain the current device's asynchronous execution stream (Stream) and other low-level primitives.</a:t>
            </a:r>
          </a:p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Ensure precise mapping between upper-layer Python  calls and the underlying NeuroX  private driver API 's precise mapping.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Lab Phase 4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1">
                <a:solidFill>
                  <a:srgbClr val="262626"/>
                </a:solidFill>
                <a:ea typeface="Calibri" panose="020F0502020204030204"/>
                <a:cs typeface="Calibri" panose="020F0502020204030204"/>
                <a:sym typeface="Calibri" panose="020F0502020204030204"/>
              </a:rPr>
              <a:t>Specialized Operator Development and Dispatch System Registration</a:t>
            </a:r>
            <a:endParaRPr lang="en-US" sz="2000" b="1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Under fused/  directory, develop optimized operators for NeuroX  (e.g., layer_norm.py).</a:t>
            </a:r>
          </a:p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Core Action:  leverages torch.Library  to mount functions onto the PrivateUse1  dispatch key reserved for custom extensions .</a:t>
            </a:r>
          </a:p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Under __init__.py , trigger registration injection to forcibly intercept the framework's default operator dispatch logic .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Import the Triton  language and optimized for the NeuroX  chip's cache hierarchy with tuned parameters: layer_norm  function.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Create a wrapper function matching the native signature of aten::native_layer_norm 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Execute the registration injection logic to notify PyTorch  system: when any computation graph performs layer normalization within this hardware context, abandon generic C++  derivation and instead execute the just-loaded Triton  high-speed kernel 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Lab Phase 5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17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1">
                <a:solidFill>
                  <a:srgbClr val="262626"/>
                </a:solidFill>
                <a:ea typeface="Calibri" panose="020F0502020204030204"/>
                <a:cs typeface="Calibri" panose="020F0502020204030204"/>
                <a:sym typeface="Calibri" panose="020F0502020204030204"/>
              </a:rPr>
              <a:t>Automated Benchmarking</a:t>
            </a:r>
            <a:endParaRPr lang="en-US" sz="2000" b="1" i="0" u="none" strike="noStrik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Based on Pytest  Accuracy Verification</a:t>
            </a:r>
          </a:p>
          <a:p>
            <a:pPr marL="571500" lvl="1" indent="-228600" algn="l">
              <a:lnSpc>
                <a:spcPct val="117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Constrain the absolute error between the output tensors of new hardware-specialized operators and the CPU reference implementation strictly following IEEE 754  standard CPU  within the preset tolerance range.</a:t>
            </a:r>
          </a:p>
          <a:p>
            <a:pPr marL="254000" indent="-254000" algn="l">
              <a:lnSpc>
                <a:spcPct val="117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Throughput Analysis and Performance Feedback:Run performance test scripts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Summary and Outlook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Generated by Gemini 3.1 Pro.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FlagGems Key Optimization Techniques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15900" y="1811999"/>
          <a:ext cx="11760200" cy="418655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672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8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8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Abstraction Level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Core Component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Technical Mechanism and Objective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Framework Interface Layer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ATen Dispatcher Hook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Use torch.Library  registry to override native operators, enabling transparent interception without modifying user code </a:t>
                      </a:r>
                      <a:r>
                        <a:rPr lang="en-US" sz="1400" b="0" i="0" u="none" strike="noStrike" spc="120" baseline="300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1 </a:t>
                      </a: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.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3615"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Logic Control Layer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C++ LibEntry Wrapper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Eliminate Python GIL  bottleneck; at the C++  layer for tensor shape validation, contiguity checks, and memory pointer extraction </a:t>
                      </a:r>
                      <a:r>
                        <a:rPr lang="en-US" sz="1400" b="0" i="0" u="none" strike="noStrike" spc="120" baseline="300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2 </a:t>
                      </a: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.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3615"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Hardware Dispatch Layer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GEMS_VENDOR  Routing Mechanism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Parse environment variables to dynamically map unified operator calls to the dedicated backend execution modules of specific hardware vendors </a:t>
                      </a:r>
                      <a:r>
                        <a:rPr lang="en-US" sz="1400" b="0" i="0" u="none" strike="noStrike" spc="120" baseline="300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3 </a:t>
                      </a: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.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3615"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Driver Adaptation Layer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Backend Device  Interface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Unify device context abstraction, converting logical execution streams (Stream) into hardware-specific command queues (Command Queue) calls </a:t>
                      </a:r>
                      <a:r>
                        <a:rPr lang="en-US" sz="1400" b="0" i="0" u="none" strike="noStrike" spc="120" baseline="300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4 </a:t>
                      </a: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.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Summary and Outlook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858000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18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28600" indent="-2286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Write Once, Run Anywhere</a:t>
            </a:r>
          </a:p>
          <a:p>
            <a:pPr marL="228600" indent="-2286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A highly robust Runtime  requires support for both“ generality” and“ specificity (hardware specialization priority)”'s support.</a:t>
            </a:r>
          </a:p>
          <a:p>
            <a:pPr marL="228600" indent="-2286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Plugin-based directory isolation and ATen  out-of-tree registration truly decentralize ecosystem development, enabling hardware vendors to independently maintain and optimize.</a:t>
            </a:r>
          </a:p>
          <a:p>
            <a:pPr marL="228600" indent="-2286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FlagTree/FlagGems  is reshaping the large model compute infrastructure through this architecture, reducing industry R&amp;D and migration costs.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531735" y="958850"/>
            <a:ext cx="4269740" cy="508635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1629</Words>
  <Application>Microsoft Office PowerPoint</Application>
  <PresentationFormat>宽屏</PresentationFormat>
  <Paragraphs>149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Courier New Regular</vt:lpstr>
      <vt:lpstr>Noto Sans SC</vt:lpstr>
      <vt:lpstr>Pretendard</vt:lpstr>
      <vt:lpstr>微软雅黑</vt:lpstr>
      <vt:lpstr>Arial</vt:lpstr>
      <vt:lpstr>Calibri</vt:lpstr>
      <vt:lpstr>Calibri Light</vt:lpstr>
      <vt:lpstr>Garamond</vt:lpstr>
      <vt:lpstr>Montserrat SemiBold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13</cp:revision>
  <dcterms:created xsi:type="dcterms:W3CDTF">2026-04-17T05:07:00Z</dcterms:created>
  <dcterms:modified xsi:type="dcterms:W3CDTF">2026-05-27T10:18:21Z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C79E56846FEAA2CF55BFE1693E6D39DC_42</vt:lpwstr>
  </property>
  <property fmtid="{D5CDD505-2E9C-101B-9397-08002B2CF9AE}" pid="3" name="KSOProductBuildVer">
    <vt:lpwstr>2052-12.1.0.21915</vt:lpwstr>
  </property>
</Properties>
</file>