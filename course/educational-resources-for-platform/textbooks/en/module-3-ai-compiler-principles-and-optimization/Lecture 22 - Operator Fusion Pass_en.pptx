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19"/>
  </p:notesMasterIdLst>
  <p:handoutMasterIdLst>
    <p:handoutMasterId r:id="rId20"/>
  </p:handoutMasterIdLst>
  <p:sldIdLst>
    <p:sldId id="256" r:id="rId3"/>
    <p:sldId id="508" r:id="rId4"/>
    <p:sldId id="509" r:id="rId5"/>
    <p:sldId id="510" r:id="rId6"/>
    <p:sldId id="511" r:id="rId7"/>
    <p:sldId id="512" r:id="rId8"/>
    <p:sldId id="513" r:id="rId9"/>
    <p:sldId id="514" r:id="rId10"/>
    <p:sldId id="515" r:id="rId11"/>
    <p:sldId id="516" r:id="rId12"/>
    <p:sldId id="517" r:id="rId13"/>
    <p:sldId id="518" r:id="rId14"/>
    <p:sldId id="519" r:id="rId15"/>
    <p:sldId id="322" r:id="rId16"/>
    <p:sldId id="323" r:id="rId17"/>
    <p:sldId id="324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3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xfrm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xfrm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" hasCustomPrompt="1"/>
          </p:nvPr>
        </p:nvSpPr>
        <p:spPr>
          <a:xfrm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xfrm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939800" lvl="2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231900" lvl="3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id="4" name="Connector 4"/>
            <p:cNvCxnSpPr/>
            <p:nvPr/>
          </p:nvCxnSpPr>
          <p:spPr>
            <a:xfrm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id="5" name="Group 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l="l" t="t" r="r" b="b"/>
                <a:pathLst>
                  <a:path w="301824" h="1154112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8940" h="155575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91049" h="188912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l="l" t="t" r="r" b="b"/>
                <a:pathLst>
                  <a:path w="311457" h="1801812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92654" h="188913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id="12" name="AutoShape 12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日期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5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7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r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"/>
          <p:cNvSpPr/>
          <p:nvPr userDrawn="1"/>
        </p:nvSpPr>
        <p:spPr>
          <a:xfrm flipV="1">
            <a:off x="-4185" y="529393"/>
            <a:ext cx="567982" cy="507999"/>
          </a:xfrm>
          <a:custGeom>
            <a:avLst/>
            <a:gdLst/>
            <a:ahLst/>
            <a:cxnLst/>
            <a:rect l="l" t="t" r="r" b="b"/>
            <a:pathLst>
              <a:path w="567982" h="507999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grpSp>
        <p:nvGrpSpPr>
          <p:cNvPr id="2" name="Group 2"/>
          <p:cNvGrpSpPr/>
          <p:nvPr userDrawn="1"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5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lagos-ai" TargetMode="External"/><Relationship Id="rId13" Type="http://schemas.openxmlformats.org/officeDocument/2006/relationships/image" Target="../media/image23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2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0.png"/><Relationship Id="rId11" Type="http://schemas.openxmlformats.org/officeDocument/2006/relationships/hyperlink" Target="https://flagos.io/Home" TargetMode="External"/><Relationship Id="rId5" Type="http://schemas.openxmlformats.org/officeDocument/2006/relationships/image" Target="../media/image19.png"/><Relationship Id="rId10" Type="http://schemas.openxmlformats.org/officeDocument/2006/relationships/hyperlink" Target="https://www.zhihu.com/people/95-22-20-18/posts" TargetMode="External"/><Relationship Id="rId4" Type="http://schemas.openxmlformats.org/officeDocument/2006/relationships/image" Target="../media/image18.png"/><Relationship Id="rId9" Type="http://schemas.openxmlformats.org/officeDocument/2006/relationships/hyperlink" Target="https://space.bilibili.com/3546791834290849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5"/>
          </p:nvPr>
        </p:nvPicPr>
        <p:blipFill>
          <a:blip r:embed="rId2"/>
          <a:srcRect t="349" b="34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710" y="1622425"/>
            <a:ext cx="5553710" cy="3028315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000" b="0" i="0" u="none" strike="noStrike" spc="0">
                <a:solidFill>
                  <a:srgbClr val="44546A">
                    <a:alpha val="100000"/>
                  </a:srgbClr>
                </a:solidFill>
                <a:latin typeface="Montserrat SemiBol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Hardware and Software Fundamentals of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Intelligent Computing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id="5" name="AutoShape 5"/>
            <p:cNvSpPr/>
            <p:nvPr/>
          </p:nvSpPr>
          <p:spPr>
            <a:xfrm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Lecture 22: Operator Fusion Pass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Why Perform Operator Fusion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Gholami, A., Yao, Z., Kim, S., Hooper, C., Mahoney, M. W., &amp; Keutzer, K. (2024). Ai and memory wall. IEEE Micro, 44(3), 33-39.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5771515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Memory Wall (Memory Wall)  Phenomenon: The computational bottleneck has shifted from ALU  ALU compute power to memory bandwidth and data transfer latency.</a:t>
            </a:r>
          </a:p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Cost of Frequent Memory Access: In unoptimized computation graphs, each operator must go through the complete“read main memory -&gt;  compute -&gt; write main memory” lifecycle.</a:t>
            </a:r>
          </a:p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Introducing Operator Fusion: By merging computation kernels, keeping intermediate results in L1/L2 Cache  or registers, breaking through memory bottlenecks 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11925" y="984250"/>
            <a:ext cx="5289550" cy="278765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664325" y="3601720"/>
            <a:ext cx="5196840" cy="27565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Operator Fusion (Operator Fusion)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Dao, Tri, et al. "Flashattention: Fast and memory-efficient exact attention with io-awareness." Advances in neural information processing systems 35 (2022): 16344-16359.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834505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28600" indent="-2286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Core Definition: </a:t>
            </a:r>
          </a:p>
          <a:p>
            <a:pPr marL="546100" lvl="1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Merging multiple adjacent independent operators in the computation graph (e.g., Conv + BN + ReLU) into a single, more efficient execution kernel .</a:t>
            </a:r>
          </a:p>
          <a:p>
            <a:pPr marL="228600" indent="-2286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 Benefits: </a:t>
            </a:r>
          </a:p>
          <a:p>
            <a:pPr marL="546100" lvl="1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Eliminating intermediate feature map read/write DRAM  bandwidth consumption .</a:t>
            </a:r>
          </a:p>
          <a:p>
            <a:pPr marL="546100" lvl="1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Significantly reducing kernel launch (Kernel Launch)  overhead .</a:t>
            </a:r>
          </a:p>
          <a:p>
            <a:pPr marL="546100" lvl="1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Lowering peak memory usage during inference deployment.</a:t>
            </a:r>
          </a:p>
          <a:p>
            <a:pPr marL="228600" indent="-2286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Three Core Stages: </a:t>
            </a:r>
          </a:p>
          <a:p>
            <a:pPr marL="546100" lvl="1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Graph Matching: Finding specific topological structures in the computation graph.</a:t>
            </a:r>
          </a:p>
          <a:p>
            <a:pPr marL="546100" lvl="1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Pattern Recognition: Validating semantic legality and physical constraints.</a:t>
            </a:r>
          </a:p>
          <a:p>
            <a:pPr marL="546100" lvl="1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Subgraph Rewriting: Performing equivalent graph transformations.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358380" y="1323975"/>
            <a:ext cx="4567555" cy="46609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Graph Matching Algorithm (Graph Matching)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https://thinklab.sjtu.edu.cn/project/GANN-GM/index.html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50000"/>
              </a:lnSpc>
              <a:defRPr sz="18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28600" indent="-228600" algn="l">
              <a:lnSpc>
                <a:spcPct val="15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Directed Acyclic Graph (DAG):</a:t>
            </a:r>
          </a:p>
          <a:p>
            <a:pPr marL="546100" lvl="1" indent="-203200" algn="l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 structure for neural networks in compilers, with nodes representing operators and edges representing tensor data flow.</a:t>
            </a:r>
          </a:p>
          <a:p>
            <a:pPr marL="228600" indent="-228600" algn="l">
              <a:lnSpc>
                <a:spcPct val="15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Subgraph Isomorphism Problem: </a:t>
            </a:r>
          </a:p>
          <a:p>
            <a:pPr marL="546100" lvl="1" indent="-203200" algn="l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Defining fusion rules as a pattern graph (Pattern Graph), and searching for exact matches in the host computation graph (Host Graph)  .</a:t>
            </a:r>
          </a:p>
          <a:p>
            <a:pPr marL="228600" indent="-228600" algn="l">
              <a:lnSpc>
                <a:spcPct val="15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Computational Complexity: </a:t>
            </a:r>
          </a:p>
          <a:p>
            <a:pPr marL="546100" lvl="1" indent="-203200" algn="l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Traditional full graph matching is an NP -Complete problem, but deep learning computation graphs have strong domain-specific properties enabling significant pruning 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581265" y="2644140"/>
            <a:ext cx="4345305" cy="262255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Graph Matching Acceleration Strategies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Cutler, Joseph W., et al. "Pattern Matching in AI Compilers and its Formalization (Extended Version)." arXiv preprint arXiv:2412.13398 (2024).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Liu, Xuanzhou, et al. "D2match: leveraging deep learning and degeneracy for subgraph matching." International Conference on Machine Learning. PMLR, 2023.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5681980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42000"/>
              </a:lnSpc>
              <a:defRPr sz="18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28600" indent="-228600" algn="l">
              <a:lnSpc>
                <a:spcPct val="14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Strong Type Label Filtering: Hash-based filtering by operator type (e.g., Conv2D, BatchNorm), quickly excluding incompatible nodes.</a:t>
            </a:r>
          </a:p>
          <a:p>
            <a:pPr marL="228600" indent="-228600" algn="l">
              <a:lnSpc>
                <a:spcPct val="14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Topological Sort and Use-Def  Chains: Traversing along or against the tensor's“Using-Definition” chain for local depth-first traversal, limiting the search space.</a:t>
            </a:r>
          </a:p>
          <a:p>
            <a:pPr marL="228600" indent="-228600" algn="l">
              <a:lnSpc>
                <a:spcPct val="14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Approximate and Degenerate Matching: Some advanced compilers employ graph neural networks or structural degeneracy properties, reducing matching time complexity to linear level 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774180" y="1132840"/>
            <a:ext cx="3954780" cy="222440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05855" y="3605530"/>
            <a:ext cx="5801995" cy="2070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Pattern Recognition (Pattern Recognition)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18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28600" indent="-2286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Dataflow Constraints and Exclusivity Analysis</a:t>
            </a:r>
          </a:p>
          <a:p>
            <a:pPr marL="546100" lvl="1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DAG, an operator's output may be consumed by multiple downstream operators, , when performing vertical fusion, the compiler must conduct strict liveness and multi-user checks.</a:t>
            </a:r>
          </a:p>
          <a:p>
            <a:pPr marL="228600" indent="-2286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Operation Attributes and Shape Constraints</a:t>
            </a:r>
          </a:p>
          <a:p>
            <a:pPr marL="546100" lvl="1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Tensor Dimension Verification: Matching logic must verify whether input tensor shapes and dimensions meet fusion requirements (e.g., alignment requirements).</a:t>
            </a:r>
          </a:p>
          <a:p>
            <a:pPr marL="546100" lvl="1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Memory Layout: Hardware acceleration libraries (e.g., cuDNN) typically have strict NCHW or NHWC  have strict data layout requirements.</a:t>
            </a:r>
          </a:p>
          <a:p>
            <a:pPr marL="228600" indent="-2286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Cost Model-Based Benefit Assessment</a:t>
            </a:r>
          </a:p>
          <a:p>
            <a:pPr marL="546100" lvl="1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Fusion is not always optimal: Excessive fusion may cause local variable explosion and register spilling.</a:t>
            </a:r>
          </a:p>
          <a:p>
            <a:pPr marL="546100" lvl="1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Hardware-Aware Cost Model: Automatically evaluating the balance between computation, data transfer, and launch overhead.</a:t>
            </a:r>
          </a:p>
          <a:p>
            <a:pPr marL="546100" lvl="1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Benefit Constraint: If the cost model predicts negative benefit from fusion, the recognition engine proactively abandons the merge 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Subgraph Rewriting (Subgraph Rewriting)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https://www.cas.mcmaster.ca/~kahl/CAS701/2007/P/DPO.pdf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716395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8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Semantically Equivalent Graph Transformation Theory</a:t>
            </a:r>
          </a:p>
          <a:p>
            <a:pPr marL="571500" lvl="1" indent="-2286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L --&gt; R</a:t>
            </a: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where L  called the pattern graph (Pattern Graph), representing the subgraph structure to be replaced;R  called the replacement graph (Replacement Graph), representing the efficient fused structure.</a:t>
            </a:r>
          </a:p>
          <a:p>
            <a:pPr marL="254000" indent="-2540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Double-Pushout (DPO)  Semantic Framework: The host graph is partitioned into the match portion (Match), context (Context) , and patch/interface edges connecting the two (Patch/Interface) .</a:t>
            </a:r>
          </a:p>
          <a:p>
            <a:pPr marL="254000" indent="-2540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Core Principle: Semantic equivalence must be guaranteed, i.e., given the same input, computation output before and after rewriting must remain absolutely identical.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419340" y="1938020"/>
            <a:ext cx="4382135" cy="274891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MLIR  Pattern Rewrite Engine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https://mlir.llvm.org/docs/PatternRewriter/#matchandrewrite-implementation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610985" cy="4853305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17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Decoupled Design: </a:t>
            </a:r>
          </a:p>
          <a:p>
            <a:pPr marL="571500" lvl="1" indent="-228600" algn="l">
              <a:lnSpc>
                <a:spcPct val="117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MLIR  strictly decouples pattern definition from pattern application (e.g., Greedy Pattern Rewrite Driver).</a:t>
            </a:r>
          </a:p>
          <a:p>
            <a:pPr marL="254000" indent="-2540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Imperative Writing: </a:t>
            </a:r>
          </a:p>
          <a:p>
            <a:pPr marL="571500" lvl="1" indent="-228600" algn="l">
              <a:lnSpc>
                <a:spcPct val="117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C++ RewritePattern: inheriting from OpRewritePattern, overriding thematchAndRewrite  Function</a:t>
            </a:r>
          </a:p>
          <a:p>
            <a:pPr marL="254000" indent="-2540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Characteristics: </a:t>
            </a:r>
          </a:p>
          <a:p>
            <a:pPr marL="571500" lvl="1" indent="-228600" algn="l">
              <a:lnSpc>
                <a:spcPct val="117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Full freedom to directly manipulate low-level IR  and compute complex mathematical logic.</a:t>
            </a:r>
          </a:p>
          <a:p>
            <a:pPr marL="571500" lvl="1" indent="-228600" algn="l">
              <a:lnSpc>
                <a:spcPct val="117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Drawbacks: Excessive boilerplate code, manual type conversion and safety checks required, graph topology not intuitive.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343140" y="2254250"/>
            <a:ext cx="4614545" cy="292354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MLIR  Pattern Rewrite Engine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https://mlir.llvm.org/docs/DeclarativeRewrites/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https://mlir.llvm.org/docs/PDLL/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8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DRR (Table-driven Declarative Rewrite Rule, DRR):</a:t>
            </a:r>
          </a:p>
          <a:p>
            <a:pPr marL="596900" lvl="1" indent="-2540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Using DAG  syntax (Source DAG) -&gt; (Result DAG)  syntax for declaring rules, expanded to C++  code at compile time, greatly reducing boilerplate .</a:t>
            </a:r>
          </a:p>
          <a:p>
            <a:pPr marL="304800" indent="-3048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More modern PDLL: Specifically designed for MLIR  syntax-designed pattern description language .</a:t>
            </a:r>
          </a:p>
          <a:p>
            <a:pPr marL="596900" lvl="1" indent="-2540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Natively supporting multi-result operations, regions, and variadic arguments .</a:t>
            </a:r>
          </a:p>
          <a:p>
            <a:pPr marL="596900" lvl="1" indent="-2540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Allowing constraint conditions and mathematical logic expressions to be declared directly within the language .</a:t>
            </a:r>
          </a:p>
          <a:p>
            <a:pPr marL="596900" lvl="1" indent="-2540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Supporting AOT Compile-time and runtime JIT  bytecode interpretation execution 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 MLIR Writing in Conv+BN Fusion Pass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Pattern Definition and Root Node Selection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Inheriting Base Class: In C++  create a class inheriting from OpRewritePattern&lt;BatchNormOp&gt;  class .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Anchoring the Root Node (Root Node): Setting the pattern matching trigger point to the downstream BatchNormOp.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Reverse Tracing Advantage: From consumer (BN)  tracing upstream to producer (Conv2D)  is deterministic and unique, greatly reducing the logical complexity of multi-path search.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283585" y="3429000"/>
            <a:ext cx="5996305" cy="274828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 MLIR Writing in Conv+BN Fusion Pass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Graph Traversal and Safety Verification (Match  Logic)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Node Location: Via getDefiningOp()  from BN 's input node and verifying whether it comes from Conv2DOp 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Multi-User Blocking Mechanism: The most critical safety check. Verifying whether the convolution output tensor result is exclusively used by this single BN  node.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API  Call: Mandating that convOp.getResult().hasOneUse()  returns True, preventing weight rewriting from polluting external dependency branches (e.g., residual connections) 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 MLIR Writing in Conv+BN Fusion Pass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Execute Rewriting and Dataflow Switching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Constant Reading and Computation: Reading global BN  statistical attributes at compile time, using C++  to compute new W</a:t>
            </a:r>
            <a:r>
              <a:rPr lang="en-US" sz="2000" b="0" i="0" u="none" strike="noStrike" baseline="-250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fold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and b</a:t>
            </a:r>
            <a:r>
              <a:rPr lang="en-US" sz="2000" b="0" i="0" u="none" strike="noStrike" baseline="-25000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fold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dense tensors.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Graph Materialization and Switching: Calling rewriter.create  to instantiate new constant nodes and the fused Conv2DOp.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call rewriter.replaceOp(bnOp, fusedConvOp.getResult())  to switch all downstream connections to the new node 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Clean up old nodes rewriter.eraseOp(convOp).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48755" y="2111375"/>
            <a:ext cx="5007610" cy="289052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Solution: FlagOS, a Unified AI Software Stack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7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8" tooltip="https://github.com/flagos-ai"/>
              </a:rPr>
              <a:t>https://github.com/flagos-ai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9" tooltip="https://space.bilibili.com/3546791834290849"/>
              </a:rPr>
              <a:t>https://space.bilibili.com/3546791834290849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0" tooltip="https://www.zhihu.com/people/95-22-20-18/posts"/>
              </a:rPr>
              <a:t>https://www.zhihu.com/people/95-22-20-18/posts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1" tooltip="https://flagos.io/Home"/>
              </a:rPr>
              <a:t>https://flagos.io/Home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2306" r="230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5625465" y="2373630"/>
            <a:ext cx="5739130" cy="266446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Thanks for your time！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1348</Words>
  <Application>Microsoft Office PowerPoint</Application>
  <PresentationFormat>宽屏</PresentationFormat>
  <Paragraphs>104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Noto Sans SC</vt:lpstr>
      <vt:lpstr>Pretendard</vt:lpstr>
      <vt:lpstr>微软雅黑</vt:lpstr>
      <vt:lpstr>Arial</vt:lpstr>
      <vt:lpstr>Calibri</vt:lpstr>
      <vt:lpstr>Calibri Light</vt:lpstr>
      <vt:lpstr>Garamond</vt:lpstr>
      <vt:lpstr>Montserrat SemiBold</vt:lpstr>
      <vt:lpstr>Office 主题​​</vt:lpstr>
      <vt:lpstr>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Xiang Li</cp:lastModifiedBy>
  <cp:revision>13</cp:revision>
  <dcterms:created xsi:type="dcterms:W3CDTF">2026-04-17T05:07:00Z</dcterms:created>
  <dcterms:modified xsi:type="dcterms:W3CDTF">2026-05-27T10:18:10Z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C79E56846FEAA2CF55BFE1693E6D39DC_42</vt:lpwstr>
  </property>
  <property fmtid="{D5CDD505-2E9C-101B-9397-08002B2CF9AE}" pid="3" name="KSOProductBuildVer">
    <vt:lpwstr>2052-12.1.0.21915</vt:lpwstr>
  </property>
</Properties>
</file>