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56" r:id="rId3"/>
    <p:sldId id="539" r:id="rId4"/>
    <p:sldId id="540" r:id="rId5"/>
    <p:sldId id="541" r:id="rId6"/>
    <p:sldId id="542" r:id="rId7"/>
    <p:sldId id="543" r:id="rId8"/>
    <p:sldId id="544" r:id="rId9"/>
    <p:sldId id="545" r:id="rId10"/>
    <p:sldId id="546" r:id="rId11"/>
    <p:sldId id="547" r:id="rId12"/>
    <p:sldId id="548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6" r:id="rId21"/>
    <p:sldId id="322" r:id="rId22"/>
    <p:sldId id="323" r:id="rId23"/>
    <p:sldId id="32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9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8.png"/><Relationship Id="rId9" Type="http://schemas.openxmlformats.org/officeDocument/2006/relationships/hyperlink" Target="https://space.bilibili.com/354679183429084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24</a:t>
            </a: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Layout and Memory Planning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 Memory Hierarchy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Bandwidth increases 10-100x from left to right 10-100x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Capacity decreases 100-1000x from right to left 100-1000x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key to layout optimization is maximizing high-speed memory utilization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programs for efficient memory usage, minimizing excessive data movement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FlashAttention core design philosophy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3873" y="2497302"/>
            <a:ext cx="7772400" cy="156243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Memory Transaction Mechanism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accesses Global Memory  not byte-by-byte, but in fixed-size "transactions":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memory transaction transfers 32  bytes or 128  bytes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Transactions must be aligned to their size boundaries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warp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32 threads) are coalesced into as few transactions as possible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Maximum concurrent transactions are limited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constrained by memory controller queue depth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Number of transactions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latency =  total wait time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Coalesced Access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When a warp 's 32  threads access addresses meeting the following conditions, they can be coalesced into minimal transactions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Addresses fall within the same or adjacent cache lines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thread accesses contiguous elements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Memory Transaction Mechanism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Contiguous access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transaction(s) suffice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Strided access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 transactions</a:t>
            </a:r>
          </a:p>
        </p:txBody>
      </p:sp>
      <p:sp>
        <p:nvSpPr>
          <p:cNvPr id="7" name="AutoShape 7"/>
          <p:cNvSpPr/>
          <p:nvPr/>
        </p:nvSpPr>
        <p:spPr>
          <a:xfrm>
            <a:off x="6210297" y="1814051"/>
            <a:ext cx="5761703" cy="63418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idx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threadIdx.x  </a:t>
            </a:r>
            <a:r>
              <a:rPr lang="en-US" sz="14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2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T0→0, T1→2, T2→4, ...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data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[idx]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</a:p>
        </p:txBody>
      </p:sp>
      <p:sp>
        <p:nvSpPr>
          <p:cNvPr id="8" name="AutoShape 8"/>
          <p:cNvSpPr/>
          <p:nvPr/>
        </p:nvSpPr>
        <p:spPr>
          <a:xfrm>
            <a:off x="725736" y="1814051"/>
            <a:ext cx="5187449" cy="63418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idx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threadIdx.x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T0→0, T1→1, T2→2, ...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data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[idx]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 Contiguous addresses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2789" y="2624444"/>
            <a:ext cx="4453341" cy="283394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99012" y="2532255"/>
            <a:ext cx="5613746" cy="301832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Memory Transaction Mechanism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Random access: worst case 32 transactions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Efficiency Comparison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09952" y="2133330"/>
            <a:ext cx="5105570" cy="70453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idx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index_table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threadIdx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x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 Random addresses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data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[idx]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89327" y="3638136"/>
          <a:ext cx="3949704" cy="22250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1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Stride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Transactions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Bandwidth Utilization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100%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50%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25%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3.125%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Random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Up to 32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～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3.125%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Matrix Access: Row-Major vs  Column-Major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warp reads one row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warp reads one column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523874" y="1757083"/>
            <a:ext cx="4980456" cy="555812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threadIdx.x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0,1,2,...,31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[row  </a:t>
            </a:r>
            <a:r>
              <a:rPr lang="en-US" sz="14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32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col]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</a:p>
        </p:txBody>
      </p:sp>
      <p:sp>
        <p:nvSpPr>
          <p:cNvPr id="8" name="AutoShape 8"/>
          <p:cNvSpPr/>
          <p:nvPr/>
        </p:nvSpPr>
        <p:spPr>
          <a:xfrm>
            <a:off x="6210297" y="1757082"/>
            <a:ext cx="4690785" cy="555813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row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threadIdx.x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0,1,2,...,31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[row  </a:t>
            </a:r>
            <a:r>
              <a:rPr lang="en-US" sz="14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32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col]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3872" y="2320535"/>
            <a:ext cx="4702614" cy="410583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0297" y="2495205"/>
            <a:ext cx="4835958" cy="393116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Shared Memory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~100x faster than Global Memory ~100 x, but ~1000x smaller in capacity~1000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Programmers can explicitly control data placement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Shares space with L1 Cache Cache; ratio is manually configurable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33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Shared Memory  is divided into 32  independent Bank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Can simultaneously serve 32  requests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Ideal case: 32  threads simultaneously access 32  different Bank</a:t>
            </a:r>
          </a:p>
          <a:p>
            <a:pPr marL="254000" indent="-2540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Efficient utilization of Shared Memory is the core of memory layout planning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When multiple threads within the same Warp  map to the same Bank , serialized access is required</a:t>
            </a: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43025" y="3357245"/>
            <a:ext cx="4513580" cy="29991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Shared Memory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Ideal Case vs. Worst Case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 patterns causing Bank Conflict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 with specific stride values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 with specific stride value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32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68935" y="2364740"/>
            <a:ext cx="5594985" cy="2508250"/>
            <a:chOff x="368935" y="2364740"/>
            <a:chExt cx="5594985" cy="25082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 r="1310"/>
            <a:stretch>
              <a:fillRect/>
            </a:stretch>
          </p:blipFill>
          <p:spPr>
            <a:xfrm>
              <a:off x="368935" y="2372730"/>
              <a:ext cx="2757056" cy="2500260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988"/>
            <a:stretch>
              <a:fillRect/>
            </a:stretch>
          </p:blipFill>
          <p:spPr>
            <a:xfrm>
              <a:off x="3125991" y="2364740"/>
              <a:ext cx="2837929" cy="250026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sp>
        <p:nvSpPr>
          <p:cNvPr id="10" name="AutoShape 10"/>
          <p:cNvSpPr/>
          <p:nvPr/>
        </p:nvSpPr>
        <p:spPr>
          <a:xfrm>
            <a:off x="6724952" y="2711480"/>
            <a:ext cx="5076216" cy="71774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row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threadIdx.x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0 to 31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smem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[row][</a:t>
            </a:r>
            <a:r>
              <a:rPr lang="en-US" sz="14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 All threads access column 0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725285" y="4244340"/>
            <a:ext cx="5076190" cy="14795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idx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threadIdx.x  </a:t>
            </a:r>
            <a:r>
              <a:rPr lang="en-US" sz="14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32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val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smem_1d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[idx]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b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idx = 0, 32, 64, 96, ...  All mapped to Bank 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Resolving Bank Conflict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Padding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Increase actual storage size per row, staggering column elements to different Bank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Swizzling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Dynamically alter address mapping via XOR  operations, so the same column in different rows maps to different Bank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Original:	 addr = row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stride + col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Swizzle:	 addr = row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stride + (col XOR row)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626110" y="2787650"/>
            <a:ext cx="5488940" cy="151257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__shared__ float smem[32][32];</a:t>
            </a:r>
            <a:b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0: [B0 ][B1 ][B2 ]...[B31] ← 128  bytes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1: [B0 ][B1 ][B2 ]...[B31] ← 128  bytes, starts at Bank 0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2: [B0 ][B1 ][B2 ]...[B31]</a:t>
            </a:r>
            <a:b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Column access: : smem[0][0], smem[1][0], smem[2][0], ...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All in Bank 0 → 32-way conflict</a:t>
            </a:r>
          </a:p>
        </p:txBody>
      </p:sp>
      <p:sp>
        <p:nvSpPr>
          <p:cNvPr id="8" name="AutoShape 8"/>
          <p:cNvSpPr/>
          <p:nvPr/>
        </p:nvSpPr>
        <p:spPr>
          <a:xfrm>
            <a:off x="625947" y="4719320"/>
            <a:ext cx="5489103" cy="1808958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__shared__ float smem[32][33]; // Each row has 1 extra element(s)</a:t>
            </a:r>
            <a:b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0: [B0 ][B1 ][B2 ]...[B31][B0 ] ← 132  bytes (33 float)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1: [B1 ][B2 ][B3 ]...[B0 ][B1 ] ← starts at Bank 1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2: [B2 ][B3 ][B4 ]...[B1 ][B2 ] ← starts at Bank 2</a:t>
            </a:r>
            <a:b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Column access: : smem[0][0] → Bank 0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smem[1][0] → Bank 1 ← Different Bank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smem[2][0] → Bank 2 ← Different Bank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No conflict</a:t>
            </a:r>
          </a:p>
        </p:txBody>
      </p:sp>
      <p:sp>
        <p:nvSpPr>
          <p:cNvPr id="9" name="AutoShape 9"/>
          <p:cNvSpPr/>
          <p:nvPr/>
        </p:nvSpPr>
        <p:spPr>
          <a:xfrm>
            <a:off x="3241632" y="4300093"/>
            <a:ext cx="155657" cy="40976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36057" y="3263265"/>
            <a:ext cx="5132070" cy="13144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Accessing column 0: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0, col 0 → addr 0 → Bank 0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1, col 0 → addr 128 → Bank 0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2, col 0 → addr 256 → Bank 0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3, col 0 → addr 384 → Bank 0 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32-way conflict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536057" y="4931603"/>
            <a:ext cx="5132070" cy="13144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Accessing column 0 (col XOR row):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0, col 0^0=0 → Bank 0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1, col 0^1=1 → Bank 1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2, col 0^2=2 → Bank 2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row 3, col 0^3=3 → Bank 3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No conflict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14055" y="4651506"/>
            <a:ext cx="171450" cy="2249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Automatic Layout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compiler automatically generates swizzled  access code based on these parameters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vec: Number of contiguously accessed elements, affects vectorization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perPhase and maxPhase: Control swizzle  period</a:t>
            </a:r>
          </a:p>
          <a:p>
            <a:pPr marL="1714500" lvl="5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 compiler automatically handles Shared Memory  layout optimization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2765425" y="2973705"/>
            <a:ext cx="6257925" cy="153670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#shared = #triton_gpu.shared&lt;{</a:t>
            </a:r>
            <a:endParaRPr lang="en-US" sz="1100"/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vec = 4, // Vectorization width (accesses 4 elements at once)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perPhase = 2, // Rows per phase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maxPhase = 8, // Maximum phase count (for swizzle)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order = [1, 0], // Memory traversal order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hasLeadingOffset = false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2765425" y="5126990"/>
            <a:ext cx="6257925" cy="159448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@triton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200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jit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kernel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(...):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Triton  automatically selects optimal layout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 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2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A_ptr 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offs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Global → Register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Explicitly using shared memory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Triton  automatically applies swizzling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a_shared 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2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trans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 Auto-optimized during transpose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Layout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Mapping from logical tensor elements to physical storage locations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arrangement order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Distribution of elements across hardware units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Common Layout Types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Row-major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Row-contiguous storage,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C/C++  default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Column-major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Column-contiguous storage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Fortran, MATLAB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Blocked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Block storage,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 parallelism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Strided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Strided storage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Slicing operations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6453505" y="4057650"/>
            <a:ext cx="5605780" cy="250126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2x4  matrix: : 		Row-major: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┌─┬─┬─┬─┐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   [0,1,2,3,4,5,6,7]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1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2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├─┼─┼─┼─┤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Column-major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4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5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6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7</a:t>
            </a: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   [0,4,1,5,2,6,3,7]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└─┴─┴─┴─┘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 Layout Encoding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Using MLIR Attribute  to represent layouts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2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2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2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84200" lvl="1" indent="-2413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BlockedEncodingAttr: GPU Global memory access pattern</a:t>
            </a:r>
          </a:p>
          <a:p>
            <a:pPr marL="584200" lvl="1" indent="-2413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SharedEncodingAttr: Shared memory access pattern (swizzle)</a:t>
            </a:r>
          </a:p>
          <a:p>
            <a:pPr marL="584200" lvl="1" indent="-2413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NvidiaMmaEncodingAttr: Tensor Core  operation layout</a:t>
            </a:r>
          </a:p>
          <a:p>
            <a:pPr marL="584200" lvl="1" indent="-2413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DotOperandEncodingAttr: Matrix multiplication operand layout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Layout Representation</a:t>
            </a:r>
          </a:p>
          <a:p>
            <a:pPr marL="584200" lvl="1" indent="-2413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Represent layouts as mappings from hardware positions (warp, thread, register) to logical indices (m, n) </a:t>
            </a:r>
          </a:p>
          <a:p>
            <a:pPr marL="584200" lvl="1" indent="-2413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binary bits for strides, XOR  operation composition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9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9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19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19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2055219" y="1830229"/>
            <a:ext cx="6614160" cy="129016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#blocked = #triton_gpu.blocked&lt;{</a:t>
            </a:r>
            <a:endParaRPr lang="en-US" sz="1000"/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sizePerThread = [4], 	 // Elements per thread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threadsPerWarp = [32], // Threads per warp 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warpsPerCTA = [4], 	// Threads per CTA warp  count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order = [0] 			// Dimension traversal order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MMA (Matrix Multiply-Accumulate)  Layout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arrangement designed for GPU Tensor Core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Core computes D = A 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B + C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Fragment size is fixed (e.g., Volta architecture 16*16), conforming to TC  hardware requirements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thread holds 8  elements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0: A[0,0:2], A[8,0:2], A[0,8:10], A[8,8:10]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；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1: A[0,2:4], A[8,2:4], A[0,10:12]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；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 </a:t>
            </a:r>
          </a:p>
          <a:p>
            <a:pPr marL="342900" lvl="1" indent="0" algn="l">
              <a:lnSpc>
                <a:spcPct val="108000"/>
              </a:lnSpc>
              <a:spcBef>
                <a:spcPts val="75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8000"/>
              </a:lnSpc>
              <a:spcBef>
                <a:spcPts val="75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8000"/>
              </a:lnSpc>
              <a:spcBef>
                <a:spcPts val="150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8540" y="3277870"/>
            <a:ext cx="6893560" cy="307857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MMA (Matrix Multiply-Accumulate)  layout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From Blocked  to MMA  Layout Conversion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ldmatrix instruction, loads from shared memory and rearranges to MMA  layout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 8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  matrix fragment from shared memory-&gt;Distribute to registers of threads within the warp -&gt;Rearrange to MMA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 in TritonMMA  Encoding Attribute</a:t>
            </a:r>
          </a:p>
          <a:p>
            <a:pPr marL="685800" lvl="2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 Layout Conversion in Triton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1591945" y="3429000"/>
            <a:ext cx="6973570" cy="113284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#mma = #triton_gpu.nvidia_mma&lt;{</a:t>
            </a:r>
            <a:endParaRPr lang="en-US" sz="1100"/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versionMajor = 2, // MMA version (1=Volta, 2=Ampere, 3=Hopper)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versionMinor = 0,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warpsPerCTA = [2, 2], // Warp  grid layout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instrShape = [16, 8, 16] // M </a:t>
            </a:r>
            <a:r>
              <a:rPr lang="en-US" sz="12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N </a:t>
            </a:r>
            <a:r>
              <a:rPr lang="en-US" sz="12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K  instruction shape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}&gt;</a:t>
            </a:r>
          </a:p>
        </p:txBody>
      </p:sp>
      <p:sp>
        <p:nvSpPr>
          <p:cNvPr id="7" name="AutoShape 7"/>
          <p:cNvSpPr/>
          <p:nvPr/>
        </p:nvSpPr>
        <p:spPr>
          <a:xfrm>
            <a:off x="1591669" y="5205730"/>
            <a:ext cx="6973846" cy="9715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From blocked  layout to mma  layout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%0 = triton_gpu.convert_layout %arg : 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tensor&lt;128x64xf16, #blocked&gt; -&gt; tensor&lt;128x64xf16, #mma&gt;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Allocation Strategies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Static Allocation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Compile-time allocation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 runtime overhead, predictable fragmentation, low flexibility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tensor sizes known at compile time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Allocation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Runtime allocation, with malloc overhead, high flexibility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 Compiler Strategy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Compile-time analysis -&gt; determine tensor lifetimes -&gt; compute optimal allocation plan -&gt; generate allocation code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memory pools to support dynamic shapes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Reuse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Tensors with non-overlapping lifetimes can share memory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ABC can be reused among each other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 and ABC cannot be reused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Common Algorithms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Coloring:  Build interference graph,  minimize number of colors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Greedy Algorithm:  Sort tensors by size,  maximize reuse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ILP  Method:  Integer Linear Programming for optimal solution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Minimize: : max(offset[i] + size[i]) for all i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Constraints: :	1. offset[i] &gt;= 0 (Non-negative offset)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offset[i] + size[i] &lt;= offset[j] (if i, j  non-overlapping and i  precedes)  or offset[j] + size[j] &lt;= offset[i] (if j  precedes)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Tensors with overlapping lifetimes must have distinct address spaces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981698" y="1703705"/>
            <a:ext cx="5223510" cy="109728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Tensor A: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████████████</a:t>
            </a:r>
            <a:endParaRPr lang="en-US" sz="9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Tensor B: 			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████████████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Tensor C: 						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██████████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Tensor D: 		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████████████████████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Rematerialization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Image Source: Capuchin: Tensor-based GPU Memory Management for Deep Learning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 memory insufficient to store all intermediate tensors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Selectively discard and recompute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Input-&gt;A-&gt;B-&gt;C-&gt;Output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 not store A, retain B and C for backward pass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Recompute during backward pass: A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Objective: Minimize (computation time +  peak memory)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Runtime dynamic decision-making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problem solving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96973" y="4325122"/>
            <a:ext cx="4932237" cy="154608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Layout and Memory Planning Optimization Strategies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Layout Conversion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Defer conversions as late as possible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Detect and remove redundant conversions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Merge adjacent conversions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Prefer layouts favorable to dominant operations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Consider the entire computation graph, not just individual operators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Conversions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Unify to the same layout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 conversions at compute-intensive points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Combined with Dead Code Elimination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memory allocation: Remove dead variables -&gt; no allocation needed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Shorten lifetimes: Remove useless operations -&gt; free memory earlier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Enable more reuse: Shorter lifetimes -&gt; more reuse opportunities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</Words>
  <Application>Microsoft Office PowerPoint</Application>
  <PresentationFormat>宽屏</PresentationFormat>
  <Paragraphs>313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Menlo</vt:lpstr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