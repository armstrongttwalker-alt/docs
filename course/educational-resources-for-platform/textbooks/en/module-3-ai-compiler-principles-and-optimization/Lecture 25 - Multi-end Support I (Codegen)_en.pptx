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9"/>
  </p:notesMasterIdLst>
  <p:handoutMasterIdLst>
    <p:handoutMasterId r:id="rId30"/>
  </p:handoutMasterIdLst>
  <p:sldIdLst>
    <p:sldId id="256" r:id="rId3"/>
    <p:sldId id="560" r:id="rId4"/>
    <p:sldId id="561" r:id="rId5"/>
    <p:sldId id="562" r:id="rId6"/>
    <p:sldId id="563" r:id="rId7"/>
    <p:sldId id="564" r:id="rId8"/>
    <p:sldId id="565" r:id="rId9"/>
    <p:sldId id="566" r:id="rId10"/>
    <p:sldId id="567" r:id="rId11"/>
    <p:sldId id="568" r:id="rId12"/>
    <p:sldId id="569" r:id="rId13"/>
    <p:sldId id="570" r:id="rId14"/>
    <p:sldId id="571" r:id="rId15"/>
    <p:sldId id="572" r:id="rId16"/>
    <p:sldId id="573" r:id="rId17"/>
    <p:sldId id="574" r:id="rId18"/>
    <p:sldId id="575" r:id="rId19"/>
    <p:sldId id="576" r:id="rId20"/>
    <p:sldId id="577" r:id="rId21"/>
    <p:sldId id="578" r:id="rId22"/>
    <p:sldId id="579" r:id="rId23"/>
    <p:sldId id="580" r:id="rId24"/>
    <p:sldId id="581" r:id="rId25"/>
    <p:sldId id="322" r:id="rId26"/>
    <p:sldId id="323" r:id="rId27"/>
    <p:sldId id="324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0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17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16.png"/><Relationship Id="rId9" Type="http://schemas.openxmlformats.org/officeDocument/2006/relationships/hyperlink" Target="https://space.bilibili.com/3546791834290849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25</a:t>
            </a: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Multi-end Support I</a:t>
            </a:r>
            <a:b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Codegen</a:t>
            </a: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21747" b="27785"/>
          <a:stretch>
            <a:fillRect/>
          </a:stretch>
        </p:blipFill>
        <p:spPr>
          <a:xfrm>
            <a:off x="523875" y="1863090"/>
            <a:ext cx="5531485" cy="91694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Multi-end Compilation Flow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 Compilation Flow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Multi-end Support in Triton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1404" y="3488405"/>
            <a:ext cx="5499376" cy="252895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AutoShape 8"/>
          <p:cNvSpPr/>
          <p:nvPr/>
        </p:nvSpPr>
        <p:spPr>
          <a:xfrm>
            <a:off x="6210297" y="1323977"/>
            <a:ext cx="5981703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Compiler Backend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IR-&gt;Machine Code</a:t>
            </a:r>
            <a:endParaRPr lang="en-US" sz="1100"/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Adapting to different target architectures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Generating efficient target code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Leveraging hardware features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Main Pipeline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Instruction Selection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Register Allocation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Instruction Scheduling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Code Emission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Fragmentation of AI Computing Hardware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same algorithm requires generating different code for different hardware targets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Instruction Selection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process of translating IR into target machine instructions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single IR instruction may correspond to multiple machine instruction combinations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Selecting the optimal instruction sequence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Tree Covering Algorithm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Cover the entire tree with the fewest and fastest instructions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Dynamic Programming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Cost Model: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Cost(node) = min over all matching patterns {pattern_cost + Σ Cost(children not covered)}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Calculate Optimal Coverage Bottom-Up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SelectionDAG Matching in LLVM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Define patterns using TableGen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Automatically generate matching code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Support complex instruction fusion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7" name="AutoShape 7"/>
          <p:cNvSpPr/>
          <p:nvPr/>
        </p:nvSpPr>
        <p:spPr>
          <a:xfrm>
            <a:off x="523875" y="4262120"/>
            <a:ext cx="5353685" cy="191516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IR Tree: 		Machine Code: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add 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/ \ 		add r1, r2, r3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load mul 		add r1, r2, imm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| 	 / \ 		madd r1,r2,r3,r4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ptr a   b 		ld.add r1, [ptr]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Register Allocation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Inifinite Virtual Register → Finite Physical Registers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Variables that are live simultaneously cannot share a register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Interference Graph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Nodes = Variables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 = Simultaneously live (conflicting)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92000"/>
              </a:lnSpc>
              <a:defRPr sz="22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Graph Coloring Algorithm</a:t>
            </a:r>
          </a:p>
          <a:p>
            <a:pPr marL="571500" lvl="1" indent="-2286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Input: Interference graph G, k physical registers</a:t>
            </a:r>
          </a:p>
          <a:p>
            <a:pPr marL="571500" lvl="1" indent="-2286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Goal: k-coloring (adjacent nodes get different colors)</a:t>
            </a:r>
          </a:p>
          <a:p>
            <a:pPr marL="279400" indent="-2794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Chaitin's Algorithm:</a:t>
            </a:r>
          </a:p>
          <a:p>
            <a:pPr marL="571500" lvl="1" indent="-2286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Remove nodes with degree &lt; k onto the stack</a:t>
            </a:r>
          </a:p>
          <a:p>
            <a:pPr marL="571500" lvl="1" indent="-2286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If all nodes have degree &gt;= k, select one to spill to memory</a:t>
            </a:r>
          </a:p>
          <a:p>
            <a:pPr marL="571500" lvl="1" indent="-2286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Pop stack and assign colors</a:t>
            </a:r>
          </a:p>
          <a:p>
            <a:pPr marL="571500" lvl="1" indent="-2286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Insert load/store to handle spills</a:t>
            </a:r>
          </a:p>
          <a:p>
            <a:pPr marL="279400" indent="-2794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Linear Scan: O(n) complexity, commonly used in JIT compilation</a:t>
            </a:r>
          </a:p>
          <a:p>
            <a:pPr marL="279400" indent="-2794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PBQP: Partitioned Boolean Quadratic Programming</a:t>
            </a:r>
          </a:p>
        </p:txBody>
      </p:sp>
      <p:sp>
        <p:nvSpPr>
          <p:cNvPr id="7" name="AutoShape 7"/>
          <p:cNvSpPr/>
          <p:nvPr/>
        </p:nvSpPr>
        <p:spPr>
          <a:xfrm>
            <a:off x="2786955" y="4528461"/>
            <a:ext cx="3280410" cy="145161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a: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████████</a:t>
            </a:r>
            <a:endParaRPr lang="en-US" sz="700"/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b: 		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████████████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c: 		 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████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d: 				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████████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e:					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████</a:t>
            </a:r>
          </a:p>
        </p:txBody>
      </p:sp>
      <p:sp>
        <p:nvSpPr>
          <p:cNvPr id="8" name="AutoShape 8"/>
          <p:cNvSpPr/>
          <p:nvPr/>
        </p:nvSpPr>
        <p:spPr>
          <a:xfrm>
            <a:off x="523852" y="4812729"/>
            <a:ext cx="2263140" cy="883128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───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b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───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c</a:t>
            </a:r>
            <a:endParaRPr lang="en-US" sz="700"/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 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  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   d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───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Register Allocation-GPU Cases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Unique Characteristics of GPU Register Allocation</a:t>
            </a:r>
          </a:p>
          <a:p>
            <a:pPr indent="0" algn="l">
              <a:lnSpc>
                <a:spcPct val="92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92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92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92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More registers (fewer warps)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Fewer spills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May reduce parallelism; all data has zero latency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Latency cannot be hidden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83000"/>
              </a:lnSpc>
              <a:defRPr sz="22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8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 Register Allocation</a:t>
            </a:r>
          </a:p>
          <a:p>
            <a:pPr marL="584200" lvl="1" indent="-241300" algn="l">
              <a:lnSpc>
                <a:spcPct val="8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Indirectly controls register pressure via num_warps</a:t>
            </a:r>
          </a:p>
          <a:p>
            <a:pPr marL="342900" lvl="1" indent="0" algn="l">
              <a:lnSpc>
                <a:spcPct val="83000"/>
              </a:lnSpc>
              <a:spcBef>
                <a:spcPts val="750"/>
              </a:spcBef>
            </a:pPr>
            <a:endParaRPr sz="1200"/>
          </a:p>
          <a:p>
            <a:pPr marL="342900" lvl="1" indent="0" algn="l">
              <a:lnSpc>
                <a:spcPct val="83000"/>
              </a:lnSpc>
              <a:spcBef>
                <a:spcPts val="750"/>
              </a:spcBef>
            </a:pPr>
            <a:endParaRPr sz="1200"/>
          </a:p>
          <a:p>
            <a:pPr marL="342900" lvl="1" indent="0" algn="l">
              <a:lnSpc>
                <a:spcPct val="83000"/>
              </a:lnSpc>
              <a:spcBef>
                <a:spcPts val="750"/>
              </a:spcBef>
            </a:pPr>
            <a:endParaRPr sz="1200"/>
          </a:p>
          <a:p>
            <a:pPr marL="342900" lvl="1" indent="0" algn="l">
              <a:lnSpc>
                <a:spcPct val="83000"/>
              </a:lnSpc>
              <a:spcBef>
                <a:spcPts val="750"/>
              </a:spcBef>
            </a:pPr>
            <a:endParaRPr sz="1200"/>
          </a:p>
          <a:p>
            <a:pPr marL="279400" indent="-279400" algn="l">
              <a:lnSpc>
                <a:spcPct val="8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Configuration Tradeoffs</a:t>
            </a:r>
          </a:p>
          <a:p>
            <a:pPr marL="584200" lvl="1" indent="-241300" algn="l">
              <a:lnSpc>
                <a:spcPct val="8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64 registers per thread, Occupancy 50%</a:t>
            </a:r>
          </a:p>
          <a:p>
            <a:pPr marL="876300" lvl="2" indent="-190500" algn="l">
              <a:lnSpc>
                <a:spcPct val="8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 spills, sufficient warps to hide latency, good performance</a:t>
            </a:r>
          </a:p>
          <a:p>
            <a:pPr marL="584200" lvl="1" indent="-241300" algn="l">
              <a:lnSpc>
                <a:spcPct val="8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32 registers per thread, Occupancy 100%</a:t>
            </a:r>
          </a:p>
          <a:p>
            <a:pPr marL="876300" lvl="2" indent="-190500" algn="l">
              <a:lnSpc>
                <a:spcPct val="8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Some data spills to Local Memory; although more warps, the spill penalty is large, poor performance</a:t>
            </a:r>
          </a:p>
          <a:p>
            <a:pPr marL="584200" lvl="1" indent="-241300" algn="l">
              <a:lnSpc>
                <a:spcPct val="8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200 registers per thread, Occupancy 15%</a:t>
            </a:r>
          </a:p>
          <a:p>
            <a:pPr marL="876300" lvl="2" indent="-190500" algn="l">
              <a:lnSpc>
                <a:spcPct val="8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 spills, but too few warps to hide memory latency, poor performance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741412" y="2137528"/>
          <a:ext cx="5123180" cy="1854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07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7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Feature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CPU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GPU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Register Size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~16-32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~255 per thread 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Parallelism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Small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Thousands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Overflow Cost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Occupation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No harm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Direct Influence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6746240" y="2257425"/>
            <a:ext cx="4594860" cy="983615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def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200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kernel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(...):</a:t>
            </a:r>
            <a:b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</a:b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</a:t>
            </a:r>
            <a:r>
              <a:rPr lang="en-US" sz="12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Many warps → each warp has fewer register → High Occupancy</a:t>
            </a:r>
            <a:endParaRPr lang="en-US" sz="10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kernel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[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grid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](</a:t>
            </a:r>
            <a:r>
              <a:rPr lang="en-US" sz="1200" b="0" i="0" u="none" strike="noStrike">
                <a:solidFill>
                  <a:srgbClr val="CCCCCC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...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200" b="0" i="1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num_warps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200" b="0" i="0" u="none" strike="noStrike">
                <a:solidFill>
                  <a:srgbClr val="EBC88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8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Instruction Scheduling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Minimize execution time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Hide latency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Exploit Instruction-Level Parallelism (ILP)</a:t>
            </a:r>
          </a:p>
        </p:txBody>
      </p:sp>
      <p:sp>
        <p:nvSpPr>
          <p:cNvPr id="6" name="AutoShape 6"/>
          <p:cNvSpPr/>
          <p:nvPr/>
        </p:nvSpPr>
        <p:spPr>
          <a:xfrm>
            <a:off x="251090" y="3534887"/>
            <a:ext cx="4133592" cy="222885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Instruction Sequence:</a:t>
            </a:r>
            <a:endParaRPr lang="en-US" sz="1000"/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1: r1 = load [ptr1] Delay: 300 cycles</a:t>
            </a:r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2: r2 = load [ptr2] Delay: 300 cycles</a:t>
            </a:r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3: r3 = r1 + r2 depend on 1, 2</a:t>
            </a:r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4: r4 = r3 * 2 depend on 3</a:t>
            </a:r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5: store [ptr3], r4 depend on 4</a:t>
            </a:r>
          </a:p>
        </p:txBody>
      </p:sp>
      <p:sp>
        <p:nvSpPr>
          <p:cNvPr id="7" name="AutoShape 7"/>
          <p:cNvSpPr/>
          <p:nvPr/>
        </p:nvSpPr>
        <p:spPr>
          <a:xfrm>
            <a:off x="4469130" y="3534887"/>
            <a:ext cx="3131820" cy="222885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Dependency graph:</a:t>
            </a:r>
            <a:endParaRPr lang="en-US" sz="1000"/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load1 (300) load2 (300)</a:t>
            </a:r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\ 			/</a:t>
            </a:r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   add (4)</a:t>
            </a:r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	   |</a:t>
            </a:r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	mul (4)</a:t>
            </a:r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	   |</a:t>
            </a:r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	 store</a:t>
            </a:r>
          </a:p>
        </p:txBody>
      </p:sp>
      <p:sp>
        <p:nvSpPr>
          <p:cNvPr id="8" name="AutoShape 8"/>
          <p:cNvSpPr/>
          <p:nvPr/>
        </p:nvSpPr>
        <p:spPr>
          <a:xfrm>
            <a:off x="7772399" y="3534887"/>
            <a:ext cx="4122421" cy="222885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Scheduling Result (2-issue):</a:t>
            </a:r>
            <a:endParaRPr lang="en-US" sz="1000"/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Cycle 0: load1, load2 (parallel)</a:t>
            </a:r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Cycle 300: add (wait load)</a:t>
            </a:r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Cycle 304: mul</a:t>
            </a:r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Cycle 308: store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Instruction Scheduling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3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92100" indent="-2921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List Scheduling</a:t>
            </a:r>
          </a:p>
          <a:p>
            <a:pPr marL="292100" indent="-2921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Priority Queue Scheduling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 the priority of each instruction (critical path length)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Maintain a ready queue (dependencies satisfied)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Each cycle, select the highest-priority ready instruction to issue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Update dependency state</a:t>
            </a:r>
          </a:p>
          <a:p>
            <a:pPr marL="292100" indent="-2921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Software Pipelining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Overlap instruction execution from different iterations within a loop.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Software Pipelining Implementation on GPU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 uses the num_stages parameter to control pipelining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Asynchronous memory copy (cp.async)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Hopper TMA natively supports multi-stage pipelining</a:t>
            </a:r>
          </a:p>
        </p:txBody>
      </p:sp>
      <p:sp>
        <p:nvSpPr>
          <p:cNvPr id="7" name="AutoShape 7"/>
          <p:cNvSpPr/>
          <p:nvPr/>
        </p:nvSpPr>
        <p:spPr>
          <a:xfrm>
            <a:off x="741652" y="5044379"/>
            <a:ext cx="4973957" cy="1566546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┌──────────────────────────────────────────────────┐</a:t>
            </a:r>
            <a:endParaRPr lang="en-US" sz="1000"/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Iter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Stage1(Load)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Stage2(Compute)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Stage3(Store)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├──────┼────────────┼───────────────┼──────────────┤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T=0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load[0]  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            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           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T=1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load[1]  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compute[0]  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           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T=2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load[2]  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compute[1]  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store[0]   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T=3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load[3]  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compute[2]  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store[1]   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...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...      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...         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...         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│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└──────────────────────────────────────────────────┘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8" name="AutoShape 8"/>
          <p:cNvSpPr/>
          <p:nvPr/>
        </p:nvSpPr>
        <p:spPr>
          <a:xfrm>
            <a:off x="6590166" y="3647399"/>
            <a:ext cx="5211282" cy="270891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A8CC7C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@triton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sz="1200" b="0" i="0" u="none" strike="noStrike">
                <a:solidFill>
                  <a:srgbClr val="A8CC7C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jit</a:t>
            </a:r>
            <a:endParaRPr lang="en-US" sz="10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def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200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matmul_kernel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(...):</a:t>
            </a:r>
          </a:p>
          <a:p>
            <a:pPr indent="0" algn="l">
              <a:lnSpc>
                <a:spcPct val="100000"/>
              </a:lnSpc>
            </a:pPr>
            <a:endParaRPr sz="1200"/>
          </a:p>
          <a:p>
            <a:pPr marL="457200" lvl="1" indent="0" algn="l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num_stages control pipeline depth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k </a:t>
            </a:r>
            <a:r>
              <a:rPr lang="en-US" sz="1200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in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200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range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200" b="0" i="0" u="none" strike="noStrike">
                <a:solidFill>
                  <a:srgbClr val="EBC88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0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K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BLOCK_K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:</a:t>
            </a:r>
          </a:p>
          <a:p>
            <a:pPr marL="457200" lvl="1" indent="0" algn="l">
              <a:lnSpc>
                <a:spcPct val="100000"/>
              </a:lnSpc>
            </a:pPr>
            <a:endParaRPr sz="1200"/>
          </a:p>
          <a:p>
            <a:pPr marL="914400" lvl="2" indent="0" algn="l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Stage 1: Prefetch next tile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tl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sz="1200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load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A_ptr_next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200" b="0" i="0" u="none" strike="noStrike">
                <a:solidFill>
                  <a:srgbClr val="CCCCCC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...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2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asynchrous</a:t>
            </a:r>
          </a:p>
          <a:p>
            <a:pPr marL="914400" lvl="2" indent="0" algn="l">
              <a:lnSpc>
                <a:spcPct val="100000"/>
              </a:lnSpc>
            </a:pPr>
            <a:endParaRPr sz="1200"/>
          </a:p>
          <a:p>
            <a:pPr marL="914400" lvl="2" indent="0" algn="l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Stage 2: Compute current tile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acc 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tl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sz="1200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dot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b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sz="12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acc</a:t>
            </a:r>
            <a:r>
              <a:rPr lang="en-US" sz="12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Hidden pipeline: load and compute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LLVM Code Generation Framework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LLVM IR -&gt; SelectionDAG -&gt; Machine IR (MIR) -&gt; MC Layer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741404" y="1953491"/>
            <a:ext cx="768741" cy="3990109"/>
          </a:xfrm>
          <a:prstGeom prst="rect">
            <a:avLst/>
          </a:prstGeom>
          <a:solidFill>
            <a:srgbClr val="4472C4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Arial Bold" panose="020B0604020202090204" charset="0"/>
                <a:ea typeface="Arial" panose="020B0604020202020204"/>
                <a:cs typeface="Arial Bold" panose="020B0604020202090204" charset="0"/>
                <a:sym typeface="Arial" panose="020B0604020202020204"/>
              </a:rPr>
              <a:t>LLVM</a:t>
            </a:r>
            <a:endParaRPr lang="en-US" sz="1000" b="1">
              <a:latin typeface="Arial Bold" panose="020B0604020202090204" charset="0"/>
              <a:cs typeface="Arial Bold" panose="020B0604020202090204" charset="0"/>
            </a:endParaRPr>
          </a:p>
          <a:p>
            <a:pPr indent="0" algn="ctr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Arial Bold" panose="020B0604020202090204" charset="0"/>
                <a:ea typeface="Arial" panose="020B0604020202020204"/>
                <a:cs typeface="Arial Bold" panose="020B0604020202090204" charset="0"/>
                <a:sym typeface="Arial" panose="020B0604020202020204"/>
              </a:rPr>
              <a:t>IR</a:t>
            </a:r>
          </a:p>
        </p:txBody>
      </p:sp>
      <p:sp>
        <p:nvSpPr>
          <p:cNvPr id="7" name="AutoShape 7"/>
          <p:cNvSpPr/>
          <p:nvPr/>
        </p:nvSpPr>
        <p:spPr>
          <a:xfrm>
            <a:off x="1932894" y="1953491"/>
            <a:ext cx="4163105" cy="3990109"/>
          </a:xfrm>
          <a:prstGeom prst="rect">
            <a:avLst/>
          </a:prstGeom>
          <a:solidFill>
            <a:srgbClr val="ED7D31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Arial Bold" panose="020B0604020202090204" charset="0"/>
                <a:ea typeface="Arial" panose="020B0604020202020204"/>
                <a:cs typeface="Arial Bold" panose="020B0604020202090204" charset="0"/>
                <a:sym typeface="Arial" panose="020B0604020202020204"/>
              </a:rPr>
              <a:t>SelectionDAG</a:t>
            </a:r>
            <a:endParaRPr lang="en-US" sz="1000" b="1">
              <a:latin typeface="Arial Bold" panose="020B0604020202090204" charset="0"/>
              <a:cs typeface="Arial Bold" panose="020B0604020202090204" charset="0"/>
            </a:endParaRPr>
          </a:p>
          <a:p>
            <a:pPr indent="0" algn="ctr">
              <a:lnSpc>
                <a:spcPct val="100000"/>
              </a:lnSpc>
            </a:pPr>
            <a:endParaRPr sz="1200" b="1">
              <a:latin typeface="Arial Bold" panose="020B0604020202090204" charset="0"/>
              <a:cs typeface="Arial Bold" panose="020B0604020202090204" charset="0"/>
            </a:endParaRPr>
          </a:p>
          <a:p>
            <a:pPr indent="0" algn="ctr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Arial Bold" panose="020B0604020202090204" charset="0"/>
                <a:ea typeface="Arial" panose="020B0604020202020204"/>
                <a:cs typeface="Arial Bold" panose="020B0604020202090204" charset="0"/>
                <a:sym typeface="Arial" panose="020B0604020202020204"/>
              </a:rPr>
              <a:t>1. DAG Construction (Build DAG)</a:t>
            </a:r>
          </a:p>
          <a:p>
            <a:pPr indent="0" algn="ctr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Arial Bold" panose="020B0604020202090204" charset="0"/>
                <a:ea typeface="Arial" panose="020B0604020202020204"/>
                <a:cs typeface="Arial Bold" panose="020B0604020202090204" charset="0"/>
                <a:sym typeface="Arial" panose="020B0604020202020204"/>
              </a:rPr>
              <a:t>2. Type Legalization</a:t>
            </a:r>
          </a:p>
          <a:p>
            <a:pPr indent="0" algn="ctr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Arial Bold" panose="020B0604020202090204" charset="0"/>
                <a:ea typeface="Arial" panose="020B0604020202020204"/>
                <a:cs typeface="Arial Bold" panose="020B0604020202090204" charset="0"/>
                <a:sym typeface="Arial" panose="020B0604020202020204"/>
              </a:rPr>
              <a:t>3. Operation Legalization</a:t>
            </a:r>
          </a:p>
          <a:p>
            <a:pPr indent="0" algn="ctr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Arial Bold" panose="020B0604020202090204" charset="0"/>
                <a:ea typeface="Arial" panose="020B0604020202020204"/>
                <a:cs typeface="Arial Bold" panose="020B0604020202090204" charset="0"/>
                <a:sym typeface="Arial" panose="020B0604020202020204"/>
              </a:rPr>
              <a:t>4. DAG Optimization (DAG Combine)</a:t>
            </a:r>
          </a:p>
          <a:p>
            <a:pPr indent="0" algn="ctr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Arial Bold" panose="020B0604020202090204" charset="0"/>
                <a:ea typeface="Arial" panose="020B0604020202020204"/>
                <a:cs typeface="Arial Bold" panose="020B0604020202090204" charset="0"/>
                <a:sym typeface="Arial" panose="020B0604020202020204"/>
              </a:rPr>
              <a:t>5. Instruction Selection</a:t>
            </a:r>
          </a:p>
          <a:p>
            <a:pPr indent="0" algn="ctr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Arial Bold" panose="020B0604020202090204" charset="0"/>
                <a:ea typeface="Arial" panose="020B0604020202020204"/>
                <a:cs typeface="Arial Bold" panose="020B0604020202090204" charset="0"/>
                <a:sym typeface="Arial" panose="020B0604020202020204"/>
              </a:rPr>
              <a:t>6. Scheduling</a:t>
            </a:r>
          </a:p>
        </p:txBody>
      </p:sp>
      <p:sp>
        <p:nvSpPr>
          <p:cNvPr id="8" name="AutoShape 8"/>
          <p:cNvSpPr/>
          <p:nvPr/>
        </p:nvSpPr>
        <p:spPr>
          <a:xfrm>
            <a:off x="6518748" y="1953490"/>
            <a:ext cx="2999325" cy="3990109"/>
          </a:xfrm>
          <a:prstGeom prst="rect">
            <a:avLst/>
          </a:prstGeom>
          <a:solidFill>
            <a:srgbClr val="70AD47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Arial Bold" panose="020B0604020202090204" charset="0"/>
                <a:ea typeface="Arial" panose="020B0604020202020204"/>
                <a:cs typeface="Arial Bold" panose="020B0604020202090204" charset="0"/>
                <a:sym typeface="Arial" panose="020B0604020202020204"/>
              </a:rPr>
              <a:t>Machine IR (MIR) </a:t>
            </a:r>
            <a:endParaRPr lang="en-US" sz="1000" b="1">
              <a:latin typeface="Arial Bold" panose="020B0604020202090204" charset="0"/>
              <a:cs typeface="Arial Bold" panose="020B0604020202090204" charset="0"/>
            </a:endParaRPr>
          </a:p>
          <a:p>
            <a:pPr marL="228600" indent="-228600" algn="ctr">
              <a:lnSpc>
                <a:spcPct val="100000"/>
              </a:lnSpc>
              <a:buClr>
                <a:srgbClr val="FFFFFF"/>
              </a:buClr>
              <a:buFont typeface="+mj-lt"/>
              <a:buAutoNum type="arabicPeriod"/>
            </a:pPr>
            <a:r>
              <a:rPr lang="en-US" sz="1600" b="1" i="0" u="none" strike="noStrike">
                <a:solidFill>
                  <a:srgbClr val="FFFFFF"/>
                </a:solidFill>
                <a:latin typeface="Arial Bold" panose="020B0604020202090204" charset="0"/>
                <a:ea typeface="Arial" panose="020B0604020202020204"/>
                <a:cs typeface="Arial Bold" panose="020B0604020202090204" charset="0"/>
                <a:sym typeface="Arial" panose="020B0604020202020204"/>
              </a:rPr>
              <a:t>Machine Instructions in SSA Form</a:t>
            </a:r>
          </a:p>
          <a:p>
            <a:pPr marL="228600" indent="-228600" algn="ctr">
              <a:lnSpc>
                <a:spcPct val="100000"/>
              </a:lnSpc>
              <a:buClr>
                <a:srgbClr val="FFFFFF"/>
              </a:buClr>
              <a:buFont typeface="+mj-lt"/>
              <a:buAutoNum type="arabicPeriod"/>
            </a:pPr>
            <a:r>
              <a:rPr lang="en-US" sz="1600" b="1" i="0" u="none" strike="noStrike">
                <a:solidFill>
                  <a:srgbClr val="FFFFFF"/>
                </a:solidFill>
                <a:latin typeface="Arial Bold" panose="020B0604020202090204" charset="0"/>
                <a:ea typeface="Arial" panose="020B0604020202020204"/>
                <a:cs typeface="Arial Bold" panose="020B0604020202090204" charset="0"/>
                <a:sym typeface="Arial" panose="020B0604020202020204"/>
              </a:rPr>
              <a:t>Register Allocation</a:t>
            </a:r>
          </a:p>
          <a:p>
            <a:pPr marL="228600" indent="-228600" algn="ctr">
              <a:lnSpc>
                <a:spcPct val="100000"/>
              </a:lnSpc>
              <a:buClr>
                <a:srgbClr val="FFFFFF"/>
              </a:buClr>
              <a:buFont typeface="+mj-lt"/>
              <a:buAutoNum type="arabicPeriod"/>
            </a:pPr>
            <a:r>
              <a:rPr lang="en-US" sz="1600" b="1" i="0" u="none" strike="noStrike">
                <a:solidFill>
                  <a:srgbClr val="FFFFFF"/>
                </a:solidFill>
                <a:latin typeface="Arial Bold" panose="020B0604020202090204" charset="0"/>
                <a:ea typeface="Arial" panose="020B0604020202020204"/>
                <a:cs typeface="Arial Bold" panose="020B0604020202090204" charset="0"/>
                <a:sym typeface="Arial" panose="020B0604020202020204"/>
              </a:rPr>
              <a:t>Prologue/Epilogue Insertion</a:t>
            </a:r>
          </a:p>
          <a:p>
            <a:pPr marL="228600" indent="-228600" algn="ctr">
              <a:lnSpc>
                <a:spcPct val="100000"/>
              </a:lnSpc>
              <a:buClr>
                <a:srgbClr val="FFFFFF"/>
              </a:buClr>
              <a:buFont typeface="+mj-lt"/>
              <a:buAutoNum type="arabicPeriod"/>
            </a:pPr>
            <a:r>
              <a:rPr lang="en-US" sz="1600" b="1" i="0" u="none" strike="noStrike">
                <a:solidFill>
                  <a:srgbClr val="FFFFFF"/>
                </a:solidFill>
                <a:latin typeface="Arial Bold" panose="020B0604020202090204" charset="0"/>
                <a:ea typeface="Arial" panose="020B0604020202020204"/>
                <a:cs typeface="Arial Bold" panose="020B0604020202090204" charset="0"/>
                <a:sym typeface="Arial" panose="020B0604020202020204"/>
              </a:rPr>
              <a:t>Late Machine Code Optimization</a:t>
            </a:r>
          </a:p>
        </p:txBody>
      </p:sp>
      <p:sp>
        <p:nvSpPr>
          <p:cNvPr id="9" name="AutoShape 9"/>
          <p:cNvSpPr/>
          <p:nvPr/>
        </p:nvSpPr>
        <p:spPr>
          <a:xfrm>
            <a:off x="9940823" y="1953490"/>
            <a:ext cx="1860652" cy="3990109"/>
          </a:xfrm>
          <a:prstGeom prst="rect">
            <a:avLst/>
          </a:prstGeom>
          <a:solidFill>
            <a:srgbClr val="FFC000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Arial Bold" panose="020B0604020202090204" charset="0"/>
                <a:ea typeface="Arial" panose="020B0604020202020204"/>
                <a:cs typeface="Arial Bold" panose="020B0604020202090204" charset="0"/>
                <a:sym typeface="Arial" panose="020B0604020202020204"/>
              </a:rPr>
              <a:t>Assembly Emission</a:t>
            </a:r>
            <a:endParaRPr lang="en-US" sz="1000" b="1">
              <a:latin typeface="Arial Bold" panose="020B0604020202090204" charset="0"/>
              <a:cs typeface="Arial Bold" panose="020B0604020202090204" charset="0"/>
            </a:endParaRPr>
          </a:p>
          <a:p>
            <a:pPr indent="0" algn="ctr">
              <a:lnSpc>
                <a:spcPct val="100000"/>
              </a:lnSpc>
            </a:pPr>
            <a:endParaRPr sz="1200" b="1">
              <a:latin typeface="Arial Bold" panose="020B0604020202090204" charset="0"/>
              <a:cs typeface="Arial Bold" panose="020B0604020202090204" charset="0"/>
            </a:endParaRPr>
          </a:p>
          <a:p>
            <a:pPr indent="0" algn="ctr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Arial Bold" panose="020B0604020202090204" charset="0"/>
                <a:ea typeface="Arial" panose="020B0604020202020204"/>
                <a:cs typeface="Arial Bold" panose="020B0604020202090204" charset="0"/>
                <a:sym typeface="Arial" panose="020B0604020202020204"/>
              </a:rPr>
              <a:t>Object File Generation</a:t>
            </a:r>
          </a:p>
        </p:txBody>
      </p:sp>
      <p:cxnSp>
        <p:nvCxnSpPr>
          <p:cNvPr id="10" name="Connector 10"/>
          <p:cNvCxnSpPr/>
          <p:nvPr/>
        </p:nvCxnSpPr>
        <p:spPr>
          <a:xfrm>
            <a:off x="1510145" y="3948546"/>
            <a:ext cx="422749" cy="0"/>
          </a:xfrm>
          <a:prstGeom prst="straightConnector1">
            <a:avLst/>
          </a:prstGeom>
          <a:noFill/>
          <a:ln w="635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1" name="Connector 11"/>
          <p:cNvCxnSpPr/>
          <p:nvPr/>
        </p:nvCxnSpPr>
        <p:spPr>
          <a:xfrm flipV="1">
            <a:off x="6095999" y="3948545"/>
            <a:ext cx="422749" cy="1"/>
          </a:xfrm>
          <a:prstGeom prst="straightConnector1">
            <a:avLst/>
          </a:prstGeom>
          <a:noFill/>
          <a:ln w="635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2" name="Connector 12"/>
          <p:cNvCxnSpPr/>
          <p:nvPr/>
        </p:nvCxnSpPr>
        <p:spPr>
          <a:xfrm>
            <a:off x="9518073" y="3948545"/>
            <a:ext cx="422750" cy="0"/>
          </a:xfrm>
          <a:prstGeom prst="straightConnector1">
            <a:avLst/>
          </a:prstGeom>
          <a:noFill/>
          <a:ln w="635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SelectionDAG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Node Types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Opcode: ADD, MUL, LOAD, STORE, ...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Value Type: i32, f32, v4f32, ...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Operand Chain: Dependency relationships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Debug Information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Type Legalization (when the target machine does not support certain types)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Original: add i128 %a, %b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Legalized (split into two i64s):</a:t>
            </a: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%lo = add i64 %a.lo, %b.lo</a:t>
            </a: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%carry = ...</a:t>
            </a: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%hi = add i64 %a.hi, %b.hi</a:t>
            </a: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%hi = add i64 %hi, %carry</a:t>
            </a: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897657" y="3646573"/>
            <a:ext cx="2114163" cy="242533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Machine IR and Target Description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MIR Stage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Still uses virtual registers (%vreg0, %vreg1, ...)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After register allocation, converted to physical registers (%eax, %r0, ...)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Add function prologue/epilogue (stack frame setup)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92000"/>
              </a:lnSpc>
              <a:defRPr sz="22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Target.td - Target Architecture Description</a:t>
            </a:r>
          </a:p>
          <a:p>
            <a:pPr marL="279400" indent="-2794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Register Defination</a:t>
            </a: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 R0 : Register&lt;"r0"&gt;;</a:t>
            </a: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 R1 : Register&lt;"r1"&gt;; </a:t>
            </a: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 GPR : RegisterClass&lt;"GPR", [i32], 32, (add R0, R1, R2, ...)&gt;;</a:t>
            </a:r>
          </a:p>
          <a:p>
            <a:pPr marL="279400" indent="-2794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Instruction Defination</a:t>
            </a: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 ADDrr : Instruction {</a:t>
            </a: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let OutOperandList = (outs GPR:$dst);</a:t>
            </a: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let InOperandList = (ins GPR:$src1, GPR:$src2);</a:t>
            </a: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let AsmString = "add $dst, $src1, $src2";</a:t>
            </a: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	let Pattern = [(set GPR:$dst, (add GPR:$src1, GPR:$src2))];}</a:t>
            </a: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7" name="AutoShape 7"/>
          <p:cNvSpPr/>
          <p:nvPr/>
        </p:nvSpPr>
        <p:spPr>
          <a:xfrm>
            <a:off x="900545" y="3928930"/>
            <a:ext cx="4156364" cy="464127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%1 = add i32 %a, %b</a:t>
            </a:r>
          </a:p>
        </p:txBody>
      </p:sp>
      <p:sp>
        <p:nvSpPr>
          <p:cNvPr id="8" name="AutoShape 8"/>
          <p:cNvSpPr/>
          <p:nvPr/>
        </p:nvSpPr>
        <p:spPr>
          <a:xfrm>
            <a:off x="900545" y="5070848"/>
            <a:ext cx="4156364" cy="464127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ADD32rr %vreg1, %vreg2</a:t>
            </a:r>
          </a:p>
        </p:txBody>
      </p:sp>
      <p:sp>
        <p:nvSpPr>
          <p:cNvPr id="9" name="AutoShape 9"/>
          <p:cNvSpPr/>
          <p:nvPr/>
        </p:nvSpPr>
        <p:spPr>
          <a:xfrm>
            <a:off x="2867891" y="4448475"/>
            <a:ext cx="221672" cy="56695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LLVM NVPTX Backend Structure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Copilation from LLVM IR to NVIDIA GPU</a:t>
            </a:r>
          </a:p>
        </p:txBody>
      </p:sp>
      <p:sp>
        <p:nvSpPr>
          <p:cNvPr id="6" name="AutoShape 6"/>
          <p:cNvSpPr/>
          <p:nvPr/>
        </p:nvSpPr>
        <p:spPr>
          <a:xfrm>
            <a:off x="1611815" y="1995060"/>
            <a:ext cx="8968483" cy="1025237"/>
          </a:xfrm>
          <a:prstGeom prst="rect">
            <a:avLst/>
          </a:prstGeom>
          <a:solidFill>
            <a:srgbClr val="4472C4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E4E4E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LLVM IR       Internal Functions: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llvm.nvvm.read.ptx.sreg.tid.x (Thread ID)</a:t>
            </a:r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llvm.nvvm.barrier0 (Sychronization)</a:t>
            </a:r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llvm.nvvm.shfl.* (warp shuffle) </a:t>
            </a:r>
          </a:p>
        </p:txBody>
      </p:sp>
      <p:sp>
        <p:nvSpPr>
          <p:cNvPr id="7" name="AutoShape 7"/>
          <p:cNvSpPr/>
          <p:nvPr/>
        </p:nvSpPr>
        <p:spPr>
          <a:xfrm>
            <a:off x="1611863" y="3442754"/>
            <a:ext cx="8968387" cy="1025237"/>
          </a:xfrm>
          <a:prstGeom prst="rect">
            <a:avLst/>
          </a:prstGeom>
          <a:solidFill>
            <a:srgbClr val="ED7D31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NVPTX Instrution Selection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Memory Address Mapping: addrspace(1)=global, addrspace(3)=shared</a:t>
            </a:r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Tensor Core Instruction Mapping</a:t>
            </a:r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Special Function Calls </a:t>
            </a:r>
          </a:p>
        </p:txBody>
      </p:sp>
      <p:sp>
        <p:nvSpPr>
          <p:cNvPr id="8" name="AutoShape 8"/>
          <p:cNvSpPr/>
          <p:nvPr/>
        </p:nvSpPr>
        <p:spPr>
          <a:xfrm>
            <a:off x="1611815" y="4896288"/>
            <a:ext cx="8968483" cy="1025237"/>
          </a:xfrm>
          <a:prstGeom prst="rect">
            <a:avLst/>
          </a:prstGeom>
          <a:solidFill>
            <a:srgbClr val="70AD47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PTX Assembly Issue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Registers Prefixed with %r, %f, %p</a:t>
            </a:r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Memory operations with address space qualifiers</a:t>
            </a:r>
          </a:p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Output .ptx file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6096000" y="3020932"/>
            <a:ext cx="0" cy="422275"/>
          </a:xfrm>
          <a:prstGeom prst="straightConnector1">
            <a:avLst/>
          </a:prstGeom>
          <a:noFill/>
          <a:ln w="635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" name="Connector 10"/>
          <p:cNvCxnSpPr/>
          <p:nvPr/>
        </p:nvCxnSpPr>
        <p:spPr>
          <a:xfrm>
            <a:off x="6096000" y="4468371"/>
            <a:ext cx="0" cy="427990"/>
          </a:xfrm>
          <a:prstGeom prst="straightConnector1">
            <a:avLst/>
          </a:prstGeom>
          <a:noFill/>
          <a:ln w="635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Code Generation Visualization Tools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LLVM IR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triton-opt --dump-llir kernel.py &gt; kernel.ll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SelectionDAG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llc -view-dag-combine1-dags kernel.ll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MIR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llc -print-after-all kernel.ll 2&gt;&amp;1 | less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PTX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triton-opt --dump-ptx kernel.py &gt; kernel.ptx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 Compilation Results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741404" y="4003964"/>
            <a:ext cx="7931541" cy="2050472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compiled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triton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sz="1400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compile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add_kernel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1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signature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394DC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"*fp32,*fp32,*fp32,i32"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constants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{</a:t>
            </a:r>
            <a:r>
              <a:rPr lang="en-US" sz="1400" b="0" i="0" u="none" strike="noStrike">
                <a:solidFill>
                  <a:srgbClr val="E394DC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"BLOCK"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: </a:t>
            </a:r>
            <a:r>
              <a:rPr lang="en-US" sz="1400" b="0" i="0" u="none" strike="noStrike">
                <a:solidFill>
                  <a:srgbClr val="EBC88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1024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}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b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</a:br>
            <a:r>
              <a:rPr lang="en-US" sz="14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Obtain IR of different stages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ttir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compiled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asm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[</a:t>
            </a:r>
            <a:r>
              <a:rPr lang="en-US" sz="1400" b="0" i="0" u="none" strike="noStrike">
                <a:solidFill>
                  <a:srgbClr val="E394DC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'ttir'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]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Triton IR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ttgir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compiled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asm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[</a:t>
            </a:r>
            <a:r>
              <a:rPr lang="en-US" sz="1400" b="0" i="0" u="none" strike="noStrike">
                <a:solidFill>
                  <a:srgbClr val="E394DC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'ttgir'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]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TritonGPU IR 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llir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compiled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asm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[</a:t>
            </a:r>
            <a:r>
              <a:rPr lang="en-US" sz="1400" b="0" i="0" u="none" strike="noStrike">
                <a:solidFill>
                  <a:srgbClr val="E394DC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'llir'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]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sz="1400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LLVM IR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ptx 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compiled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sz="14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asm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[</a:t>
            </a:r>
            <a:r>
              <a:rPr lang="en-US" sz="1400" b="0" i="0" u="none" strike="noStrike">
                <a:solidFill>
                  <a:srgbClr val="E394DC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'ptx'</a:t>
            </a:r>
            <a:r>
              <a:rPr lang="en-US" sz="1400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MLIR: Multi-Level Intermediate Representation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92000"/>
              </a:lnSpc>
              <a:defRPr sz="23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92100" indent="-2921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3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Supports multi-level, extensible IR, suitable for DSL and accelerator compilation</a:t>
            </a:r>
          </a:p>
          <a:p>
            <a:pPr marL="292100" indent="-2921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3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Dialect is the core design unit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set of related Operations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Types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Attributes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Lowering implementation</a:t>
            </a:r>
          </a:p>
          <a:p>
            <a:pPr marL="292100" indent="-2921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3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Common MLIR Dialects: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arith — arithmetic operations; scf — structured control flow; triton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Dialects used by the Triton compiler</a:t>
            </a:r>
          </a:p>
          <a:p>
            <a:pPr marL="292100" indent="-2921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3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 — tensor operations, block-level abstraction →TritonGPU — GPU parallelism, layout, memory hierarchy →LLVM — low-level operations, close to machine code</a:t>
            </a:r>
          </a:p>
          <a:p>
            <a:pPr indent="0" algn="l">
              <a:lnSpc>
                <a:spcPct val="92000"/>
              </a:lnSpc>
              <a:spcBef>
                <a:spcPts val="1500"/>
              </a:spcBef>
            </a:pPr>
            <a:endParaRPr lang="en-US" sz="23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92000"/>
              </a:lnSpc>
              <a:spcBef>
                <a:spcPts val="1500"/>
              </a:spcBef>
            </a:pPr>
            <a:r>
              <a:rPr lang="en-US" sz="23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77051" y="1929130"/>
            <a:ext cx="2597785" cy="25654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9109026" y="1918335"/>
            <a:ext cx="685800" cy="267335"/>
          </a:xfrm>
          <a:prstGeom prst="rect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993456" y="2410460"/>
            <a:ext cx="917575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attribute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277051" y="1929130"/>
            <a:ext cx="396875" cy="267335"/>
          </a:xfrm>
          <a:prstGeom prst="rect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35446" y="2360295"/>
            <a:ext cx="680085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969076" y="3077845"/>
            <a:ext cx="3759835" cy="889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2" name="AutoShape 12"/>
          <p:cNvSpPr/>
          <p:nvPr/>
        </p:nvSpPr>
        <p:spPr>
          <a:xfrm>
            <a:off x="8307656" y="3027045"/>
            <a:ext cx="2179955" cy="267335"/>
          </a:xfrm>
          <a:prstGeom prst="rect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10800000">
            <a:off x="9451926" y="2185670"/>
            <a:ext cx="635" cy="224790"/>
          </a:xfrm>
          <a:prstGeom prst="line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4" name="Connector 14"/>
          <p:cNvCxnSpPr/>
          <p:nvPr/>
        </p:nvCxnSpPr>
        <p:spPr>
          <a:xfrm flipV="1">
            <a:off x="9397951" y="2747645"/>
            <a:ext cx="54610" cy="279400"/>
          </a:xfrm>
          <a:prstGeom prst="line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5" name="Connector 15"/>
          <p:cNvCxnSpPr/>
          <p:nvPr/>
        </p:nvCxnSpPr>
        <p:spPr>
          <a:xfrm flipV="1">
            <a:off x="7475806" y="2196465"/>
            <a:ext cx="0" cy="163830"/>
          </a:xfrm>
          <a:prstGeom prst="line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9109026" y="3952875"/>
            <a:ext cx="929005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operand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483551" y="3294380"/>
            <a:ext cx="1249045" cy="246380"/>
          </a:xfrm>
          <a:prstGeom prst="rect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10800000">
            <a:off x="9108391" y="3540760"/>
            <a:ext cx="465455" cy="412115"/>
          </a:xfrm>
          <a:prstGeom prst="line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MLIR: Multi-Level Intermediate Representation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Supports conversions between dialects, allowing users to focus only on the optimization and lowering logic at the current level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08910" y="2186305"/>
            <a:ext cx="6774180" cy="453517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MLIR: CodeGen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573659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Create OpBuilder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 Op can Only be Created by Builder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MLIR will manage some internal types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 Type by builder.getXXXType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 XXXType::get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Set InsertionPoint in builder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 fill the Block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61100" y="958850"/>
            <a:ext cx="5775325" cy="54229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 and MLIR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Dialect-&gt;Triton IR-&gt;LLVM IR-&gt;PTX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 Automatic Parallelism by SM and by Instance</a:t>
            </a:r>
          </a:p>
        </p:txBody>
      </p:sp>
      <p:sp>
        <p:nvSpPr>
          <p:cNvPr id="7" name="AutoShape 7"/>
          <p:cNvSpPr/>
          <p:nvPr/>
        </p:nvSpPr>
        <p:spPr>
          <a:xfrm>
            <a:off x="289093" y="1735345"/>
            <a:ext cx="2080527" cy="11142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@jit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def add(X, Y, Z, N):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pid = program_id(0)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idx= pid * 512 + arange(512)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mask = idx &lt; N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x = load(X + idx, mask=mask)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y = load(Y + idx, mask=mask)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store(Z + idx, x + y, mask=mask)</a:t>
            </a:r>
          </a:p>
        </p:txBody>
      </p:sp>
      <p:sp>
        <p:nvSpPr>
          <p:cNvPr id="8" name="AutoShape 8"/>
          <p:cNvSpPr/>
          <p:nvPr/>
        </p:nvSpPr>
        <p:spPr>
          <a:xfrm>
            <a:off x="289093" y="2958569"/>
            <a:ext cx="2961798" cy="33946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def void add(i32* X .aligned(16) , i32* Y .aligned(16) , i32* Z .aligned(16) , i32 N .multipleof(2) ) {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entry: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%0 = get_program_id[0] i32;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%1 = mul i32 %0, 512;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%3 = make_range[0 : 512] i32&lt;512&gt;;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%4 = splat i32&lt;512&gt; %1;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%6 = add i32&lt;512&gt; %4, %3;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%9 = splat i32&lt;512&gt; N;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%11 = icmp_slt i1&lt;512&gt; %6, %9;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%14 = splat i32*&lt;512&gt; X;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%16 = getelementptr i32*&lt;512&gt; %14, %6;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%19 = broadcast i1&lt;512&gt; %11;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%21 = splat i32&lt;512&gt; undef;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%22 = masked_load i32&lt;512&gt; %16, %19, %21;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%26 = splat i32*&lt;512&gt; Y;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%28 = getelementptr i32*&lt;512&gt; %26, %6;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%31 = broadcast i1&lt;512&gt; %11;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%33 = splat i32&lt;512&gt; undef;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%34 = masked_load i32&lt;512&gt; %28, %31, %33;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%38 = splat i32*&lt;512&gt; Z;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%40 = getelementptr i32*&lt;512&gt; %38, %6;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%43 = add i32&lt;512&gt; %22, %34;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%46 = broadcast i32&lt;512&gt; %43;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%48 = broadcast i1&lt;512&gt; %11;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masked_store void %40, %46, %48;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ret void;}</a:t>
            </a:r>
          </a:p>
        </p:txBody>
      </p:sp>
      <p:sp>
        <p:nvSpPr>
          <p:cNvPr id="9" name="AutoShape 9"/>
          <p:cNvSpPr/>
          <p:nvPr/>
        </p:nvSpPr>
        <p:spPr>
          <a:xfrm>
            <a:off x="3114419" y="1735328"/>
            <a:ext cx="3207101" cy="44236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visible .entry add(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.param .u64 add_param_0, .param .u64 add_param_1,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.param .u64 add_param_2, .param .u32 add_param_3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)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.maxntid 128, 1, 1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{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.reg .pred     %p&lt;4&gt;;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.reg .b32     %r&lt;18&gt;;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.reg .b64     %rd&lt;8&gt;;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ld.param.u64     %rd4, [add_param_0];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ld.param.u64     %rd5, [add_param_1];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mov.u32     %r13, %tid.x;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ld.param.u32     %r14, [add_param_3];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shl.b32     %r15, %r13, 2;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mov.u32     %r16, %ctaid.x;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mad.lo.s32     %r17, %r16, 512, %r15;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setp.ge.s32     %p3, %r17, %r14;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setp.lt.s32     %p1, %r17, %r14;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mul.wide.s32     %rd7, %r17, 4;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add.s64     %rd2, %rd4, %rd7;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@%p1 ld.global.cg.v4.b32 {%r5,%r6,%r7,%r8}, [ %rd2 + 0];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add.s64     %rd3, %rd5, %rd7;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@%p1 ld.global.cg.v4.b32 {%r9,%r10,%r11,%r12}, [ %rd3 + 0];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@%p3 bra     LBB0_2;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ld.param.u64     %rd6, [add_param_2];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add.s64     %rd1, %rd6, %rd7;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add.s32     %r1, %r5, %r9;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add.s32     %r2, %r6, %r10;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add.s32     %r3, %r7, %r11;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add.s32     %r4, %r8, %r12;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st.global.v4.u32     [%rd1], {%r1, %r2, %r3, %r4};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LBB0_2: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ret;</a:t>
            </a:r>
          </a:p>
          <a:p>
            <a:pPr indent="0" algn="l">
              <a:lnSpc>
                <a:spcPct val="100000"/>
              </a:lnSpc>
            </a:pPr>
            <a:r>
              <a:rPr lang="en-US" sz="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}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601086" y="2789237"/>
            <a:ext cx="105116" cy="16933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 rot="-5400000">
            <a:off x="3032074" y="4442563"/>
            <a:ext cx="105116" cy="16933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91827" y="2601767"/>
            <a:ext cx="5592486" cy="319021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 Dialects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Most Triton dialects inherits from MLIR native dialects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Arith: addf, addi, constant, cmpf, cmpi, ...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Math: exp, sin, cos, log, absi, absf, sqrt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StructuredControlFlow: for, if, while, yield, condition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Reduce effort to LLVM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Leverage LLVM optimizer for nvcc-like optimization after lowring to LLVM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TTIR: From python AST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 operation abstraction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Block-level parallelism representation</a:t>
            </a:r>
          </a:p>
        </p:txBody>
      </p:sp>
      <p:sp>
        <p:nvSpPr>
          <p:cNvPr id="7" name="AutoShape 7"/>
          <p:cNvSpPr/>
          <p:nvPr/>
        </p:nvSpPr>
        <p:spPr>
          <a:xfrm>
            <a:off x="6316345" y="2854960"/>
            <a:ext cx="5591175" cy="340995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module {</a:t>
            </a:r>
            <a:endParaRPr lang="en-US" sz="1000"/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tt.func @add_kernel(%arg0: !tt.ptr&lt;f32&gt;, 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		%arg1: !tt.ptr&lt;f32&gt;,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		%arg2: !tt.ptr&lt;f32&gt;, 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		%arg3: i32) {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%c1024 = arith.constant 1024 : i32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%pid = tt.get_program_id x : i32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%offset = arith.muli %pid, %c1024 : i32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%range = tt.make_range {end = 1024, start = 0} : tensor&lt;1024xi32&gt;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%offsets = arith.addi %offset_splat, %range : tensor&lt;1024xi32&gt;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//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加载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%x = tt.load %ptr_x : tensor&lt;1024x!tt.ptr&lt;f32&gt;&gt;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%y = tt.load %ptr_y : tensor&lt;1024x!tt.ptr&lt;f32&gt;&gt;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//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计算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%z = arith.addf %x, %y : tensor&lt;1024xf32&gt;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//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存储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tt.store %ptr_z, %z : tensor&lt;1024x!tt.ptr&lt;f32&gt;&gt;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tt.return}}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 Dialect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TritonGPU IR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TTGIR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Add layout information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Incorporate hardware target and warp configuration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NVIDIA PTX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Virtual instruction set for NVIDIA GPUs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Platform-independent intermediate representation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Compiled into actual machine code by ptxas (Streaming ASSembler)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PTX Instruction Examples</a:t>
            </a:r>
          </a:p>
        </p:txBody>
      </p:sp>
      <p:sp>
        <p:nvSpPr>
          <p:cNvPr id="7" name="AutoShape 7"/>
          <p:cNvSpPr/>
          <p:nvPr/>
        </p:nvSpPr>
        <p:spPr>
          <a:xfrm>
            <a:off x="390525" y="2935605"/>
            <a:ext cx="5705475" cy="3244215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#blocked = #triton_gpu.blocked&lt;{</a:t>
            </a:r>
            <a:endParaRPr lang="en-US" sz="1000"/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sizePerThread = [4], 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threadsPerWarp = [32], 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warpsPerCTA = [4], 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order = [0]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}&gt;</a:t>
            </a:r>
            <a:b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</a:b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module attributes {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"triton_gpu.num-warps" = 4 : i32,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triton_gpu.target = "cuda:80" // Ampere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} {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tt.func @add_kernel(...) {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// </a:t>
            </a:r>
            <a:r>
              <a:rPr lang="en-US" sz="1000" b="0" i="0" u="none" strike="noStrike">
                <a:solidFill>
                  <a:srgbClr val="E4E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现在张量带有布局属性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%x = tt.load %ptr : tensor&lt;1024x!tt.ptr&lt;f32&gt;, #blocked&gt;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%y = tt.load %ptr : tensor&lt;1024x!tt.ptr&lt;f32&gt;, #blocked&gt;%z = arith.addf %x, %y : tensor&lt;1024xf32, #blocked&gt;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}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}</a:t>
            </a:r>
          </a:p>
        </p:txBody>
      </p:sp>
      <p:sp>
        <p:nvSpPr>
          <p:cNvPr id="8" name="AutoShape 8"/>
          <p:cNvSpPr/>
          <p:nvPr/>
        </p:nvSpPr>
        <p:spPr>
          <a:xfrm>
            <a:off x="6296077" y="4244426"/>
            <a:ext cx="5419729" cy="939114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wmma.mma.sync.aligned.m16n16k16.row.col.f32.f32</a:t>
            </a:r>
            <a:endParaRPr lang="en-US" sz="1000"/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{%d0, %d1, %d2, %d3, %d4, %d5, %d6, %d7},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{%a0, %a1, %a2, %a3, %a4, %a5, %a6, %a7},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{%b0, %b1, %b2, %b3, %b4, %b5, %b6, %b7},</a:t>
            </a: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{%c0, %c1, %c2, %c3, %c4, %c5, %c6, %c7};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Other GPU Backend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AMD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LLVM IR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AMDGPUISelDAGToDAG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SIInstrInfo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GCNRegisterInfo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GCN/CDNA Assembly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llvm-mc/ROCM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AMD GPU Binary (ELF)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AMD Matrix Core: Like Tensorcore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 Significant Difference at TritonIR</a:t>
            </a:r>
          </a:p>
          <a:p>
            <a:pPr indent="0" algn="l">
              <a:lnSpc>
                <a:spcPct val="92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Intel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MLIR SPIR-V Dialects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spirv.Load, spirv.Store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spirv.GroupOperation (SIMD)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spirv.CooperativeMatrix (XMX)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SPIR-V Binary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Intel Graphics Compiler - IGC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Gen ISA Binary (ELF)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Special SPIR-V extentions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Cross-Backend Code Generation Challenges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2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Execution Model Difference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NVIDIA: Warp = 32 threads, lockstep execution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AMD: Wave = 64 threads (CDNA), or 32 (RDNA)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Intel: SIMD width editable(8/16/32)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Abstracted as an "execution width" parameter at the TritonGPU IR level</a:t>
            </a:r>
          </a:p>
          <a:p>
            <a:pPr marL="279400" indent="-2794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Hierarchy Difference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NVIDIA: Shared Memory (explicitly managed)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AMD: LDS (similar, but different size/bank count)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Intel: SLM (Shared Local Memory, smaller)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Shared memory abstraction + backend-specific size configuration</a:t>
            </a:r>
          </a:p>
          <a:p>
            <a:pPr marL="685800" lvl="2" indent="0" algn="l">
              <a:lnSpc>
                <a:spcPct val="100000"/>
              </a:lnSpc>
              <a:spcBef>
                <a:spcPts val="750"/>
              </a:spcBef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Differences in Matrix Acceleration Units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NVIDIA: Tensor Core (mma.sync, wgmma)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AMD: Matrix Core (v_mfma_*)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Intel: XMX (dpas, joint_matrix)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tt.dot unified interface, backend maps to specific instructions</a:t>
            </a:r>
          </a:p>
        </p:txBody>
      </p:sp>
      <p:sp>
        <p:nvSpPr>
          <p:cNvPr id="7" name="AutoShape 7"/>
          <p:cNvSpPr/>
          <p:nvPr/>
        </p:nvSpPr>
        <p:spPr>
          <a:xfrm>
            <a:off x="6730777" y="4221529"/>
            <a:ext cx="4893276" cy="1853514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class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b="0" i="0" u="none" strike="noStrike">
                <a:solidFill>
                  <a:srgbClr val="87C3FF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NVIDIABackend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Backend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):</a:t>
            </a:r>
            <a:endParaRPr lang="en-US" sz="1000"/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def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get_wave_size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b="0" i="1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self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): </a:t>
            </a:r>
            <a:r>
              <a:rPr lang="en-US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return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b="0" i="0" u="none" strike="noStrike">
                <a:solidFill>
                  <a:srgbClr val="EBC88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32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def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lower_dot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b="0" i="1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self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 </a:t>
            </a:r>
            <a:r>
              <a:rPr lang="en-US" b="0" i="1" u="none" strike="noStrike">
                <a:solidFill>
                  <a:srgbClr val="F8C762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op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):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if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b="0" i="0" u="none" strike="noStrike">
                <a:solidFill>
                  <a:srgbClr val="CC7C8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self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capability 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&gt;=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b="0" i="0" u="none" strike="noStrike">
                <a:solidFill>
                  <a:srgbClr val="EBC88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90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: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return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emit_wgmma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op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else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:</a:t>
            </a:r>
          </a:p>
          <a:p>
            <a:pPr marL="914400" lvl="2" indent="0" algn="l">
              <a:lnSpc>
                <a:spcPct val="100000"/>
              </a:lnSpc>
            </a:pPr>
            <a:r>
              <a:rPr lang="en-US" b="0" i="1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return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emit_mma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op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Code Generation Optimizations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Vectorization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Scalar version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Vector version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Vectorization in Triton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Loop Unrolling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Reduce loop overhead (branches, counters)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Expose more instruction-level parallelism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Better register reuse</a:t>
            </a:r>
          </a:p>
        </p:txBody>
      </p:sp>
      <p:sp>
        <p:nvSpPr>
          <p:cNvPr id="7" name="AutoShape 7"/>
          <p:cNvSpPr/>
          <p:nvPr/>
        </p:nvSpPr>
        <p:spPr>
          <a:xfrm>
            <a:off x="1017270" y="2160270"/>
            <a:ext cx="5097780" cy="626745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 i in range(N):</a:t>
            </a:r>
            <a:endParaRPr lang="en-US" sz="1000"/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c[i] = a[i] + b[i]</a:t>
            </a:r>
          </a:p>
        </p:txBody>
      </p:sp>
      <p:sp>
        <p:nvSpPr>
          <p:cNvPr id="8" name="AutoShape 8"/>
          <p:cNvSpPr/>
          <p:nvPr/>
        </p:nvSpPr>
        <p:spPr>
          <a:xfrm>
            <a:off x="1017270" y="3156585"/>
            <a:ext cx="5078730" cy="626745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 i in range(0, N, 4):</a:t>
            </a:r>
            <a:endParaRPr lang="en-US" sz="1000"/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c[i:i+4] = a[i:i+4] + b[i:i+4]</a:t>
            </a:r>
          </a:p>
        </p:txBody>
      </p:sp>
      <p:sp>
        <p:nvSpPr>
          <p:cNvPr id="9" name="AutoShape 9"/>
          <p:cNvSpPr/>
          <p:nvPr/>
        </p:nvSpPr>
        <p:spPr>
          <a:xfrm>
            <a:off x="167005" y="4458970"/>
            <a:ext cx="5928995" cy="189738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b="0" i="0" u="none" strike="noStrike">
                <a:solidFill>
                  <a:srgbClr val="A8CC7C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@triton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b="0" i="0" u="none" strike="noStrike">
                <a:solidFill>
                  <a:srgbClr val="A8CC7C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jit</a:t>
            </a:r>
            <a:endParaRPr lang="en-US" sz="1000"/>
          </a:p>
          <a:p>
            <a:pPr marL="457200" lvl="1"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82D2CE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def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b="0" i="0" u="none" strike="noStrike">
                <a:solidFill>
                  <a:srgbClr val="EFB080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kernel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b="0" i="1" u="none" strike="noStrike">
                <a:solidFill>
                  <a:srgbClr val="F8C762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ptr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 </a:t>
            </a:r>
            <a:r>
              <a:rPr lang="en-US" b="0" i="1" u="none" strike="noStrike">
                <a:solidFill>
                  <a:srgbClr val="F8C762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N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 </a:t>
            </a:r>
            <a:r>
              <a:rPr lang="en-US" b="0" i="1" u="none" strike="noStrike">
                <a:solidFill>
                  <a:srgbClr val="F8C762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BLOCK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: tl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constexpr):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offs 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tl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arange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b="0" i="0" u="none" strike="noStrike">
                <a:solidFill>
                  <a:srgbClr val="EBC88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0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,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BLOCK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  <a:r>
              <a:rPr lang="en-US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Generate vector index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Triton select vector size automatically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based on BLOCK size and data type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x 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=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tl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.</a:t>
            </a:r>
            <a:r>
              <a:rPr lang="en-US" b="0" i="0" u="none" strike="noStrike">
                <a:solidFill>
                  <a:srgbClr val="AAA0FA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load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(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ptr 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+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offs</a:t>
            </a:r>
            <a:r>
              <a:rPr lang="en-US" b="0" i="0" u="none" strike="noStrike">
                <a:solidFill>
                  <a:srgbClr val="D6D6DD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)</a:t>
            </a: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 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b="0" i="1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# Compile as vector oprtation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90310" y="3449320"/>
            <a:ext cx="5791200" cy="626745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 k in range(0, K, 16):</a:t>
            </a:r>
            <a:endParaRPr lang="en-US" sz="1000"/>
          </a:p>
          <a:p>
            <a:pPr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	acc = dot(a[k:k+16], b[k:k+16], acc)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90310" y="4687570"/>
            <a:ext cx="5791200" cy="1659255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for k in range(0, K, 64):</a:t>
            </a:r>
            <a:endParaRPr lang="en-US" sz="1000"/>
          </a:p>
          <a:p>
            <a:pPr marL="457200" lvl="1"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acc = dot(a[k:k+16], b[k:k+16], acc)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acc = dot(a[k+16:k+32], b[k+16:k+32], acc)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acc = dot(a[k+32:k+48], b[k+32:k+48], acc)</a:t>
            </a:r>
          </a:p>
          <a:p>
            <a:pPr marL="457200" lvl="1" indent="0" algn="l">
              <a:lnSpc>
                <a:spcPct val="100000"/>
              </a:lnSpc>
            </a:pPr>
            <a:r>
              <a:rPr lang="en-US" b="0" i="0" u="none" strike="noStrike">
                <a:solidFill>
                  <a:srgbClr val="E4E4E4"/>
                </a:solidFill>
                <a:latin typeface="Menlo" panose="020B0609030804020204"/>
                <a:ea typeface="Menlo" panose="020B0609030804020204"/>
                <a:cs typeface="Menlo" panose="020B0609030804020204"/>
                <a:sym typeface="Menlo" panose="020B0609030804020204"/>
              </a:rPr>
              <a:t>acc = dot(a[k+48:k+64], b[k+48:k+64], acc)</a:t>
            </a:r>
          </a:p>
        </p:txBody>
      </p:sp>
      <p:sp>
        <p:nvSpPr>
          <p:cNvPr id="12" name="AutoShape 12"/>
          <p:cNvSpPr/>
          <p:nvPr/>
        </p:nvSpPr>
        <p:spPr>
          <a:xfrm>
            <a:off x="9045890" y="4191000"/>
            <a:ext cx="140017" cy="44577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Group Discussion: How does Triton support different NVIDIA architectures?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3756</Words>
  <Application>Microsoft Office PowerPoint</Application>
  <PresentationFormat>宽屏</PresentationFormat>
  <Paragraphs>518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Menlo</vt:lpstr>
      <vt:lpstr>Noto Sans SC</vt:lpstr>
      <vt:lpstr>Pretendard</vt:lpstr>
      <vt:lpstr>微软雅黑</vt:lpstr>
      <vt:lpstr>Arial</vt:lpstr>
      <vt:lpstr>Arial Bold</vt:lpstr>
      <vt:lpstr>Calibri</vt:lpstr>
      <vt:lpstr>Calibri Light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13</cp:revision>
  <dcterms:created xsi:type="dcterms:W3CDTF">2026-04-17T05:07:00Z</dcterms:created>
  <dcterms:modified xsi:type="dcterms:W3CDTF">2026-05-27T10:18:18Z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C79E56846FEAA2CF55BFE1693E6D39DC_42</vt:lpwstr>
  </property>
  <property fmtid="{D5CDD505-2E9C-101B-9397-08002B2CF9AE}" pid="3" name="KSOProductBuildVer">
    <vt:lpwstr>2052-12.1.0.21915</vt:lpwstr>
  </property>
</Properties>
</file>